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8"/>
  </p:notesMasterIdLst>
  <p:sldIdLst>
    <p:sldId id="442" r:id="rId2"/>
    <p:sldId id="443" r:id="rId3"/>
    <p:sldId id="462" r:id="rId4"/>
    <p:sldId id="461" r:id="rId5"/>
    <p:sldId id="463" r:id="rId6"/>
    <p:sldId id="464" r:id="rId7"/>
    <p:sldId id="465" r:id="rId8"/>
    <p:sldId id="466" r:id="rId9"/>
    <p:sldId id="581" r:id="rId10"/>
    <p:sldId id="775" r:id="rId11"/>
    <p:sldId id="584" r:id="rId12"/>
    <p:sldId id="585" r:id="rId13"/>
    <p:sldId id="935" r:id="rId14"/>
    <p:sldId id="586" r:id="rId15"/>
    <p:sldId id="587" r:id="rId16"/>
    <p:sldId id="588" r:id="rId17"/>
    <p:sldId id="589" r:id="rId18"/>
    <p:sldId id="590" r:id="rId19"/>
    <p:sldId id="591" r:id="rId20"/>
    <p:sldId id="592" r:id="rId21"/>
    <p:sldId id="593" r:id="rId22"/>
    <p:sldId id="594" r:id="rId23"/>
    <p:sldId id="595" r:id="rId24"/>
    <p:sldId id="597" r:id="rId25"/>
    <p:sldId id="598" r:id="rId26"/>
    <p:sldId id="599" r:id="rId27"/>
    <p:sldId id="600" r:id="rId28"/>
    <p:sldId id="601" r:id="rId29"/>
    <p:sldId id="603" r:id="rId30"/>
    <p:sldId id="604" r:id="rId31"/>
    <p:sldId id="447" r:id="rId32"/>
    <p:sldId id="934" r:id="rId33"/>
    <p:sldId id="478" r:id="rId34"/>
    <p:sldId id="487" r:id="rId35"/>
    <p:sldId id="480" r:id="rId36"/>
    <p:sldId id="481" r:id="rId37"/>
  </p:sldIdLst>
  <p:sldSz cx="9144000" cy="6858000" type="screen4x3"/>
  <p:notesSz cx="6858000" cy="9144000"/>
  <p:custDataLst>
    <p:tags r:id="rId39"/>
  </p:custDataLst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20000"/>
      </a:spcBef>
      <a:spcAft>
        <a:spcPct val="0"/>
      </a:spcAft>
      <a:buClr>
        <a:schemeClr val="hlink"/>
      </a:buClr>
      <a:buFont typeface="Wingdings" panose="05000000000000000000" pitchFamily="2" charset="2"/>
      <a:buNone/>
      <a:defRPr sz="28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20000"/>
      </a:spcBef>
      <a:spcAft>
        <a:spcPct val="0"/>
      </a:spcAft>
      <a:buClr>
        <a:schemeClr val="hlink"/>
      </a:buClr>
      <a:buFont typeface="Wingdings" panose="05000000000000000000" pitchFamily="2" charset="2"/>
      <a:buNone/>
      <a:defRPr sz="28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20000"/>
      </a:spcBef>
      <a:spcAft>
        <a:spcPct val="0"/>
      </a:spcAft>
      <a:buClr>
        <a:schemeClr val="hlink"/>
      </a:buClr>
      <a:buFont typeface="Wingdings" panose="05000000000000000000" pitchFamily="2" charset="2"/>
      <a:buNone/>
      <a:defRPr sz="28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20000"/>
      </a:spcBef>
      <a:spcAft>
        <a:spcPct val="0"/>
      </a:spcAft>
      <a:buClr>
        <a:schemeClr val="hlink"/>
      </a:buClr>
      <a:buFont typeface="Wingdings" panose="05000000000000000000" pitchFamily="2" charset="2"/>
      <a:buNone/>
      <a:defRPr sz="28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20000"/>
      </a:spcBef>
      <a:spcAft>
        <a:spcPct val="0"/>
      </a:spcAft>
      <a:buClr>
        <a:schemeClr val="hlink"/>
      </a:buClr>
      <a:buFont typeface="Wingdings" panose="05000000000000000000" pitchFamily="2" charset="2"/>
      <a:buNone/>
      <a:defRPr sz="28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20000"/>
      </a:spcBef>
      <a:spcAft>
        <a:spcPct val="0"/>
      </a:spcAft>
      <a:buClr>
        <a:schemeClr val="hlink"/>
      </a:buClr>
      <a:buFont typeface="Wingdings" panose="05000000000000000000" pitchFamily="2" charset="2"/>
      <a:buNone/>
      <a:defRPr sz="28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20000"/>
      </a:spcBef>
      <a:spcAft>
        <a:spcPct val="0"/>
      </a:spcAft>
      <a:buClr>
        <a:schemeClr val="hlink"/>
      </a:buClr>
      <a:buFont typeface="Wingdings" panose="05000000000000000000" pitchFamily="2" charset="2"/>
      <a:buNone/>
      <a:defRPr sz="28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20000"/>
      </a:spcBef>
      <a:spcAft>
        <a:spcPct val="0"/>
      </a:spcAft>
      <a:buClr>
        <a:schemeClr val="hlink"/>
      </a:buClr>
      <a:buFont typeface="Wingdings" panose="05000000000000000000" pitchFamily="2" charset="2"/>
      <a:buNone/>
      <a:defRPr sz="28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20000"/>
      </a:spcBef>
      <a:spcAft>
        <a:spcPct val="0"/>
      </a:spcAft>
      <a:buClr>
        <a:schemeClr val="hlink"/>
      </a:buClr>
      <a:buFont typeface="Wingdings" panose="05000000000000000000" pitchFamily="2" charset="2"/>
      <a:buNone/>
      <a:defRPr sz="28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94" userDrawn="1">
          <p15:clr>
            <a:srgbClr val="A4A3A4"/>
          </p15:clr>
        </p15:guide>
        <p15:guide id="2" pos="291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6D3919"/>
    <a:srgbClr val="FF3300"/>
    <a:srgbClr val="03030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howGuides="1">
      <p:cViewPr varScale="1">
        <p:scale>
          <a:sx n="81" d="100"/>
          <a:sy n="81" d="100"/>
        </p:scale>
        <p:origin x="1498" y="58"/>
      </p:cViewPr>
      <p:guideLst>
        <p:guide orient="horz" pos="2294"/>
        <p:guide pos="291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100" d="100"/>
        <a:sy n="100" d="100"/>
      </p:scale>
      <p:origin x="0" y="1468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gs" Target="tags/tag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0.emf"/><Relationship Id="rId1" Type="http://schemas.openxmlformats.org/officeDocument/2006/relationships/image" Target="../media/image9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image" Target="../media/image13.wmf"/><Relationship Id="rId1" Type="http://schemas.openxmlformats.org/officeDocument/2006/relationships/image" Target="../media/image12.wmf"/><Relationship Id="rId4" Type="http://schemas.openxmlformats.org/officeDocument/2006/relationships/image" Target="../media/image15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e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image" Target="../media/image18.emf"/><Relationship Id="rId1" Type="http://schemas.openxmlformats.org/officeDocument/2006/relationships/image" Target="../media/image22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spcBef>
                <a:spcPct val="0"/>
              </a:spcBef>
              <a:buClrTx/>
              <a:buFontTx/>
              <a:buNone/>
              <a:defRPr sz="1200"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spcBef>
                <a:spcPct val="0"/>
              </a:spcBef>
              <a:buClrTx/>
              <a:buFontTx/>
              <a:buNone/>
              <a:defRPr sz="1200"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340" name="Rectangle 4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532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32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spcBef>
                <a:spcPct val="0"/>
              </a:spcBef>
              <a:buClrTx/>
              <a:buFontTx/>
              <a:buNone/>
              <a:defRPr sz="1200"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32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/>
          <a:p>
            <a:pPr lvl="0" algn="r" eaLnBrk="1" hangingPunct="1">
              <a:spcBef>
                <a:spcPct val="0"/>
              </a:spcBef>
              <a:buClrTx/>
              <a:buFontTx/>
            </a:pPr>
            <a:fld id="{9A0DB2DC-4C9A-4742-B13C-FB6460FD3503}" type="slidenum">
              <a:rPr lang="en-US" altLang="zh-CN" sz="1200" dirty="0"/>
              <a:t>‹#›</a:t>
            </a:fld>
            <a:endParaRPr lang="en-US" altLang="zh-CN" sz="12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宋体" panose="02010600030101010101" pitchFamily="2" charset="-122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VC维，全称为Vapnik-Chervonenkis Dimension，它反映了模型的学习能力，VC维越大，则模型的容量越大。</a:t>
            </a:r>
          </a:p>
          <a:p>
            <a:endParaRPr lang="zh-CN" altLang="en-US"/>
          </a:p>
          <a:p>
            <a:r>
              <a:rPr lang="zh-CN" altLang="en-US"/>
              <a:t>通俗定义</a:t>
            </a:r>
          </a:p>
          <a:p>
            <a:r>
              <a:rPr lang="zh-CN" altLang="en-US"/>
              <a:t>        VC维的通俗定义是：对于一个指示函数集，如果存在 H 个样本能够被函数集中的函数按所有可能的  2^{H} 种形式分开，则称函数集能够将 H 个样本打散，函数集的VC维就是它能够打散的最大样本数目 H m a x。如果对任意数目的样本，在该函数集中都能找到函数将它们打散，则称该函数集的VC维是无穷大。</a:t>
            </a:r>
          </a:p>
          <a:p>
            <a:endParaRPr lang="zh-CN" altLang="en-US"/>
          </a:p>
          <a:p>
            <a:r>
              <a:rPr lang="zh-CN" altLang="en-US"/>
              <a:t>原文链接：https://blog.csdn.net/u013745804/article/details/80834743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28650" y="1122680"/>
            <a:ext cx="78867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628650" y="3602356"/>
            <a:ext cx="7886700" cy="1655445"/>
          </a:xfrm>
        </p:spPr>
        <p:txBody>
          <a:bodyPr/>
          <a:lstStyle>
            <a:lvl1pPr marL="0" indent="0" algn="ctr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E04DF-5DAF-8942-8809-7549A96DA271}" type="datetimeFigureOut">
              <a:rPr lang="zh-CN" altLang="en-US" smtClean="0"/>
              <a:t>2024/7/12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eaLnBrk="1" hangingPunct="1">
              <a:spcBef>
                <a:spcPct val="0"/>
              </a:spcBef>
              <a:buClrTx/>
            </a:pPr>
            <a:fld id="{9A0DB2DC-4C9A-4742-B13C-FB6460FD3503}" type="slidenum">
              <a:rPr lang="en-US" altLang="zh-CN" dirty="0"/>
              <a:t>‹#›</a:t>
            </a:fld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advClick="0"/>
    </mc:Choice>
    <mc:Fallback xmlns="">
      <p:transition advClick="0"/>
    </mc:Fallback>
  </mc:AlternateContent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197485"/>
            <a:ext cx="7886700" cy="1325563"/>
          </a:xfrm>
        </p:spPr>
        <p:txBody>
          <a:bodyPr anchor="b" anchorCtr="0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628650" y="1702436"/>
            <a:ext cx="7886700" cy="4474845"/>
          </a:xfrm>
        </p:spPr>
        <p:txBody>
          <a:bodyPr/>
          <a:lstStyle>
            <a:lvl2pPr>
              <a:defRPr/>
            </a:lvl2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04AE7-26EC-0148-A357-DD3C7FD71093}" type="datetimeFigureOut">
              <a:rPr lang="zh-CN" altLang="en-US" smtClean="0"/>
              <a:t>2024/7/12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eaLnBrk="1" hangingPunct="1">
              <a:spcBef>
                <a:spcPct val="0"/>
              </a:spcBef>
              <a:buClrTx/>
            </a:pPr>
            <a:fld id="{9A0DB2DC-4C9A-4742-B13C-FB6460FD3503}" type="slidenum">
              <a:rPr lang="en-US" altLang="zh-CN" dirty="0"/>
              <a:t>‹#›</a:t>
            </a:fld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advClick="0"/>
    </mc:Choice>
    <mc:Fallback xmlns="">
      <p:transition advClick="0"/>
    </mc:Fallback>
  </mc:AlternateContent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959100"/>
            <a:ext cx="7886700" cy="2781300"/>
          </a:xfrm>
        </p:spPr>
        <p:txBody>
          <a:bodyPr anchor="t" anchorCtr="0"/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28650" y="1722121"/>
            <a:ext cx="7886700" cy="1102995"/>
          </a:xfrm>
        </p:spPr>
        <p:txBody>
          <a:bodyPr lIns="144145" anchor="b" anchorCtr="0"/>
          <a:lstStyle>
            <a:lvl1pPr marL="0" indent="0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1EEEB-2E2A-DF4A-9E58-105270FF4219}" type="datetimeFigureOut">
              <a:rPr lang="zh-CN" altLang="en-US" smtClean="0"/>
              <a:t>2024/7/12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eaLnBrk="1" hangingPunct="1">
              <a:spcBef>
                <a:spcPct val="0"/>
              </a:spcBef>
              <a:buClrTx/>
            </a:pPr>
            <a:fld id="{9A0DB2DC-4C9A-4742-B13C-FB6460FD3503}" type="slidenum">
              <a:rPr lang="en-US" altLang="zh-CN" dirty="0"/>
              <a:t>‹#›</a:t>
            </a:fld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advClick="0"/>
    </mc:Choice>
    <mc:Fallback xmlns="">
      <p:transition advClick="0"/>
    </mc:Fallback>
  </mc:AlternateContent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5DA5F-FC16-9841-AD03-8B8DB561F239}" type="datetimeFigureOut">
              <a:rPr lang="zh-CN" altLang="en-US" smtClean="0"/>
              <a:t>2024/7/12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eaLnBrk="1" hangingPunct="1">
              <a:spcBef>
                <a:spcPct val="0"/>
              </a:spcBef>
              <a:buClrTx/>
            </a:pPr>
            <a:fld id="{9A0DB2DC-4C9A-4742-B13C-FB6460FD3503}" type="slidenum">
              <a:rPr lang="en-US" altLang="zh-CN" dirty="0"/>
              <a:t>‹#›</a:t>
            </a:fld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advClick="0"/>
    </mc:Choice>
    <mc:Fallback xmlns="">
      <p:transition advClick="0"/>
    </mc:Fallback>
  </mc:AlternateContent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079" y="365125"/>
            <a:ext cx="7886700" cy="800100"/>
          </a:xfrm>
        </p:spPr>
        <p:txBody>
          <a:bodyPr anchor="ctr" anchorCtr="0"/>
          <a:lstStyle>
            <a:lvl1pPr algn="ctr"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29602" y="1482091"/>
            <a:ext cx="3915728" cy="823595"/>
          </a:xfrm>
        </p:spPr>
        <p:txBody>
          <a:bodyPr anchor="ctr" anchorCtr="0"/>
          <a:lstStyle>
            <a:lvl1pPr marL="0" indent="0">
              <a:buNone/>
              <a:defRPr sz="2400">
                <a:solidFill>
                  <a:srgbClr val="0070C0"/>
                </a:solidFill>
              </a:defRPr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28650" y="2368551"/>
            <a:ext cx="3916680" cy="3820795"/>
          </a:xfrm>
        </p:spPr>
        <p:txBody>
          <a:bodyPr/>
          <a:lstStyle>
            <a:lvl1pPr>
              <a:defRPr sz="2100"/>
            </a:lvl1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4692492" y="1482091"/>
            <a:ext cx="3822859" cy="823595"/>
          </a:xfrm>
        </p:spPr>
        <p:txBody>
          <a:bodyPr anchor="ctr" anchorCtr="0"/>
          <a:lstStyle>
            <a:lvl1pPr marL="0" indent="0">
              <a:buNone/>
              <a:defRPr sz="2400">
                <a:solidFill>
                  <a:srgbClr val="0070C0"/>
                </a:solidFill>
              </a:defRPr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4692492" y="2368551"/>
            <a:ext cx="3822859" cy="3820795"/>
          </a:xfrm>
        </p:spPr>
        <p:txBody>
          <a:bodyPr/>
          <a:lstStyle>
            <a:lvl1pPr>
              <a:defRPr sz="2100"/>
            </a:lvl1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E08765-4B7D-2143-8328-FBBE326002BF}" type="datetimeFigureOut">
              <a:rPr lang="zh-CN" altLang="en-US" smtClean="0"/>
              <a:t>2024/7/12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eaLnBrk="1" hangingPunct="1">
              <a:spcBef>
                <a:spcPct val="0"/>
              </a:spcBef>
              <a:buClrTx/>
            </a:pPr>
            <a:fld id="{9A0DB2DC-4C9A-4742-B13C-FB6460FD3503}" type="slidenum">
              <a:rPr lang="en-US" altLang="zh-CN" dirty="0"/>
              <a:t>‹#›</a:t>
            </a:fld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advClick="0"/>
    </mc:Choice>
    <mc:Fallback xmlns="">
      <p:transition advClick="0"/>
    </mc:Fallback>
  </mc:AlternateContent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197485"/>
            <a:ext cx="7886700" cy="1325563"/>
          </a:xfrm>
        </p:spPr>
        <p:txBody>
          <a:bodyPr anchor="b" anchorCtr="0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F4F64-6D8C-8A48-B4BA-523317561A37}" type="datetimeFigureOut">
              <a:rPr lang="zh-CN" altLang="en-US" smtClean="0"/>
              <a:t>2024/7/12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5E037-E3E3-064B-AF78-C17DBF3D044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advClick="0"/>
    </mc:Choice>
    <mc:Fallback xmlns="">
      <p:transition advClick="0"/>
    </mc:Fallback>
  </mc:AlternateContent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 + 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-9525" y="-1905"/>
            <a:ext cx="5263039" cy="6861810"/>
          </a:xfrm>
          <a:noFill/>
        </p:spPr>
        <p:txBody>
          <a:bodyPr lIns="252095" tIns="144145"/>
          <a:lstStyle>
            <a:lvl1pPr marL="0" indent="0" algn="ctr">
              <a:buNone/>
              <a:defRPr sz="13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512594" y="457200"/>
            <a:ext cx="3294221" cy="1055370"/>
          </a:xfrm>
        </p:spPr>
        <p:txBody>
          <a:bodyPr anchor="b" anchorCtr="0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5512118" y="1694180"/>
            <a:ext cx="3295174" cy="4480560"/>
          </a:xfrm>
        </p:spPr>
        <p:txBody>
          <a:bodyPr/>
          <a:lstStyle>
            <a:lvl1pPr marL="0" indent="0">
              <a:buNone/>
              <a:defRPr sz="2100">
                <a:solidFill>
                  <a:schemeClr val="tx1"/>
                </a:solidFill>
              </a:defRPr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F4F64-6D8C-8A48-B4BA-523317561A37}" type="datetimeFigureOut">
              <a:rPr lang="zh-CN" altLang="en-US" smtClean="0"/>
              <a:t>2024/7/12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eaLnBrk="1" hangingPunct="1">
              <a:spcBef>
                <a:spcPct val="0"/>
              </a:spcBef>
              <a:buClrTx/>
            </a:pPr>
            <a:fld id="{9A0DB2DC-4C9A-4742-B13C-FB6460FD3503}" type="slidenum">
              <a:rPr lang="en-US" altLang="zh-CN" dirty="0"/>
              <a:t>‹#›</a:t>
            </a:fld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advClick="0"/>
    </mc:Choice>
    <mc:Fallback xmlns="">
      <p:transition advClick="0"/>
    </mc:Fallback>
  </mc:AlternateContent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文本 + 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629" y="-7620"/>
            <a:ext cx="5263039" cy="6861810"/>
          </a:xfrm>
          <a:noFill/>
        </p:spPr>
        <p:txBody>
          <a:bodyPr lIns="252095" tIns="144145"/>
          <a:lstStyle>
            <a:lvl1pPr marL="0" indent="0" algn="ctr">
              <a:buNone/>
              <a:defRPr sz="13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07181" y="457200"/>
            <a:ext cx="3209925" cy="1055370"/>
          </a:xfrm>
        </p:spPr>
        <p:txBody>
          <a:bodyPr anchor="t" anchorCtr="0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307182" y="1694180"/>
            <a:ext cx="3210401" cy="4480560"/>
          </a:xfrm>
        </p:spPr>
        <p:txBody>
          <a:bodyPr/>
          <a:lstStyle>
            <a:lvl1pPr marL="0" indent="0">
              <a:buNone/>
              <a:defRPr sz="2100">
                <a:solidFill>
                  <a:schemeClr val="tx1"/>
                </a:solidFill>
              </a:defRPr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F4F64-6D8C-8A48-B4BA-523317561A37}" type="datetimeFigureOut">
              <a:rPr lang="zh-CN" altLang="en-US" smtClean="0"/>
              <a:t>2024/7/12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5E037-E3E3-064B-AF78-C17DBF3D044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advClick="0"/>
    </mc:Choice>
    <mc:Fallback xmlns="">
      <p:transition advClick="0"/>
    </mc:Fallback>
  </mc:AlternateContent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F4F64-6D8C-8A48-B4BA-523317561A37}" type="datetimeFigureOut">
              <a:rPr lang="zh-CN" altLang="en-US" smtClean="0"/>
              <a:t>2024/7/12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5E037-E3E3-064B-AF78-C17DBF3D0442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7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advClick="0"/>
    </mc:Choice>
    <mc:Fallback xmlns="">
      <p:transition advClick="0"/>
    </mc:Fallback>
  </mc:AlternateContent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628650" y="327026"/>
            <a:ext cx="7886700" cy="5850255"/>
          </a:xfrm>
        </p:spPr>
        <p:txBody>
          <a:bodyPr/>
          <a:lstStyle>
            <a:lvl2pPr>
              <a:defRPr/>
            </a:lvl2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F4F64-6D8C-8A48-B4BA-523317561A37}" type="datetimeFigureOut">
              <a:rPr lang="zh-CN" altLang="en-US" smtClean="0"/>
              <a:t>2024/7/12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5E037-E3E3-064B-AF78-C17DBF3D0442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7" name="直接连接符 25"/>
          <p:cNvCxnSpPr/>
          <p:nvPr/>
        </p:nvCxnSpPr>
        <p:spPr>
          <a:xfrm>
            <a:off x="206036" y="6466563"/>
            <a:ext cx="720539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3405" y="6237278"/>
            <a:ext cx="1688365" cy="426849"/>
          </a:xfrm>
          <a:prstGeom prst="rect">
            <a:avLst/>
          </a:prstGeom>
        </p:spPr>
      </p:pic>
      <p:grpSp>
        <p:nvGrpSpPr>
          <p:cNvPr id="9" name="组合 8"/>
          <p:cNvGrpSpPr/>
          <p:nvPr/>
        </p:nvGrpSpPr>
        <p:grpSpPr>
          <a:xfrm>
            <a:off x="332185" y="866028"/>
            <a:ext cx="8452247" cy="1"/>
            <a:chOff x="442913" y="4600577"/>
            <a:chExt cx="11269662" cy="1"/>
          </a:xfrm>
        </p:grpSpPr>
        <p:cxnSp>
          <p:nvCxnSpPr>
            <p:cNvPr id="10" name="直接连接符 31"/>
            <p:cNvCxnSpPr/>
            <p:nvPr/>
          </p:nvCxnSpPr>
          <p:spPr>
            <a:xfrm>
              <a:off x="3714750" y="4600578"/>
              <a:ext cx="7997825" cy="0"/>
            </a:xfrm>
            <a:prstGeom prst="line">
              <a:avLst/>
            </a:prstGeom>
            <a:noFill/>
            <a:ln w="38100" cap="flat" cmpd="sng" algn="ctr">
              <a:gradFill>
                <a:gsLst>
                  <a:gs pos="0">
                    <a:srgbClr val="004299"/>
                  </a:gs>
                  <a:gs pos="100000">
                    <a:srgbClr val="004299">
                      <a:alpha val="0"/>
                    </a:srgbClr>
                  </a:gs>
                </a:gsLst>
                <a:lin ang="0" scaled="0"/>
              </a:gradFill>
              <a:prstDash val="solid"/>
              <a:miter lim="800000"/>
            </a:ln>
            <a:effectLst/>
          </p:spPr>
        </p:cxnSp>
        <p:cxnSp>
          <p:nvCxnSpPr>
            <p:cNvPr id="11" name="直接连接符 32"/>
            <p:cNvCxnSpPr/>
            <p:nvPr/>
          </p:nvCxnSpPr>
          <p:spPr>
            <a:xfrm>
              <a:off x="442913" y="4600577"/>
              <a:ext cx="3184207" cy="0"/>
            </a:xfrm>
            <a:prstGeom prst="line">
              <a:avLst/>
            </a:prstGeom>
            <a:noFill/>
            <a:ln w="381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</p:cxn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advClick="0"/>
    </mc:Choice>
    <mc:Fallback xmlns="">
      <p:transition advClick="0"/>
    </mc:Fallback>
  </mc:AlternateContent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F4F64-6D8C-8A48-B4BA-523317561A37}" type="datetimeFigureOut">
              <a:rPr lang="zh-CN" altLang="en-US" smtClean="0"/>
              <a:t>2024/7/12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5E037-E3E3-064B-AF78-C17DBF3D0442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7" name="直接连接符 25"/>
          <p:cNvCxnSpPr/>
          <p:nvPr/>
        </p:nvCxnSpPr>
        <p:spPr>
          <a:xfrm>
            <a:off x="206036" y="6466563"/>
            <a:ext cx="720539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3405" y="6237278"/>
            <a:ext cx="1688365" cy="426849"/>
          </a:xfrm>
          <a:prstGeom prst="rect">
            <a:avLst/>
          </a:prstGeom>
        </p:spPr>
      </p:pic>
      <p:grpSp>
        <p:nvGrpSpPr>
          <p:cNvPr id="9" name="组合 8"/>
          <p:cNvGrpSpPr/>
          <p:nvPr/>
        </p:nvGrpSpPr>
        <p:grpSpPr>
          <a:xfrm>
            <a:off x="332185" y="866028"/>
            <a:ext cx="8452247" cy="1"/>
            <a:chOff x="442913" y="4600577"/>
            <a:chExt cx="11269662" cy="1"/>
          </a:xfrm>
        </p:grpSpPr>
        <p:cxnSp>
          <p:nvCxnSpPr>
            <p:cNvPr id="10" name="直接连接符 31"/>
            <p:cNvCxnSpPr/>
            <p:nvPr/>
          </p:nvCxnSpPr>
          <p:spPr>
            <a:xfrm>
              <a:off x="3714750" y="4600578"/>
              <a:ext cx="7997825" cy="0"/>
            </a:xfrm>
            <a:prstGeom prst="line">
              <a:avLst/>
            </a:prstGeom>
            <a:noFill/>
            <a:ln w="38100" cap="flat" cmpd="sng" algn="ctr">
              <a:gradFill>
                <a:gsLst>
                  <a:gs pos="0">
                    <a:srgbClr val="004299"/>
                  </a:gs>
                  <a:gs pos="100000">
                    <a:srgbClr val="004299">
                      <a:alpha val="0"/>
                    </a:srgbClr>
                  </a:gs>
                </a:gsLst>
                <a:lin ang="0" scaled="0"/>
              </a:gradFill>
              <a:prstDash val="solid"/>
              <a:miter lim="800000"/>
            </a:ln>
            <a:effectLst/>
          </p:spPr>
        </p:cxnSp>
        <p:cxnSp>
          <p:nvCxnSpPr>
            <p:cNvPr id="11" name="直接连接符 32"/>
            <p:cNvCxnSpPr/>
            <p:nvPr/>
          </p:nvCxnSpPr>
          <p:spPr>
            <a:xfrm>
              <a:off x="442913" y="4600577"/>
              <a:ext cx="3184207" cy="0"/>
            </a:xfrm>
            <a:prstGeom prst="line">
              <a:avLst/>
            </a:prstGeom>
            <a:noFill/>
            <a:ln w="381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</p:cxn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advClick="0"/>
    </mc:Choice>
    <mc:Fallback xmlns="">
      <p:transition advClick="0"/>
    </mc:Fallback>
  </mc:AlternateContent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6"/>
          <p:cNvSpPr>
            <a:spLocks noChangeArrowheads="1"/>
          </p:cNvSpPr>
          <p:nvPr/>
        </p:nvSpPr>
        <p:spPr bwMode="auto">
          <a:xfrm>
            <a:off x="8786813" y="6596063"/>
            <a:ext cx="357187" cy="3968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pPr eaLnBrk="0" hangingPunct="0">
              <a:defRPr/>
            </a:pPr>
            <a:fld id="{4FFFBBFF-3D68-4277-A251-593CA0C24BE1}" type="slidenum">
              <a:rPr lang="zh-CN" altLang="en-US" sz="1000">
                <a:solidFill>
                  <a:srgbClr val="000000"/>
                </a:solidFill>
                <a:latin typeface="Arial" panose="020B0604020202020204" pitchFamily="34" charset="0"/>
                <a:ea typeface="华文楷体" panose="02010600040101010101" pitchFamily="2" charset="-122"/>
                <a:sym typeface="Arial" panose="020B0604020202020204" pitchFamily="34" charset="0"/>
              </a:rPr>
              <a:t>‹#›</a:t>
            </a:fld>
            <a:endParaRPr lang="zh-CN" altLang="en-US">
              <a:solidFill>
                <a:srgbClr val="000000"/>
              </a:solidFill>
              <a:latin typeface="Arial" panose="020B0604020202020204" pitchFamily="34" charset="0"/>
              <a:ea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8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fld id="{530820CF-B880-4189-942D-D702A7CBA730}" type="datetimeFigureOut">
              <a:rPr lang="zh-CN" altLang="en-US" smtClean="0"/>
              <a:t>2024/7/12</a:t>
            </a:fld>
            <a:endParaRPr lang="zh-CN" altLang="en-US"/>
          </a:p>
        </p:txBody>
      </p:sp>
      <p:sp>
        <p:nvSpPr>
          <p:cNvPr id="9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endParaRPr lang="zh-CN" altLang="en-US"/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2" name="Picture 12" descr="图片1副本"/>
          <p:cNvPicPr>
            <a:picLocks noChangeAspect="1" noChangeArrowheads="1"/>
          </p:cNvPicPr>
          <p:nvPr/>
        </p:nvPicPr>
        <p:blipFill>
          <a:blip r:embed="rId2" cstate="print">
            <a:duotone>
              <a:prstClr val="black"/>
              <a:srgbClr val="FF00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8979"/>
          <a:stretch>
            <a:fillRect/>
          </a:stretch>
        </p:blipFill>
        <p:spPr bwMode="auto">
          <a:xfrm>
            <a:off x="-1836712" y="908720"/>
            <a:ext cx="10657184" cy="1327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advClick="0"/>
    </mc:Choice>
    <mc:Fallback xmlns="">
      <p:transition advClick="0"/>
    </mc:Fallback>
  </mc:AlternateContent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2B3A974-94E0-784F-B3DA-96F1FF8FB45F}" type="datetimeFigureOut">
              <a:rPr lang="zh-CN" altLang="en-US"/>
              <a:t>2024/7/12</a:t>
            </a:fld>
            <a:endParaRPr lang="zh-CN" altLang="en-US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幻灯片编号占位符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E80919B-B4AB-9741-8558-9504775A5039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advClick="0"/>
    </mc:Choice>
    <mc:Fallback xmlns="">
      <p:transition advClick="0"/>
    </mc:Fallback>
  </mc:AlternateContent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923FF57-9DF0-4B44-A3E0-A5834B15D24F}" type="datetimeFigureOut">
              <a:rPr lang="zh-CN" altLang="en-US"/>
              <a:t>2024/7/12</a:t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algn="r" eaLnBrk="1" hangingPunct="1">
              <a:spcBef>
                <a:spcPct val="0"/>
              </a:spcBef>
              <a:buClrTx/>
            </a:pPr>
            <a:fld id="{9A0DB2DC-4C9A-4742-B13C-FB6460FD3503}" type="slidenum">
              <a:rPr lang="en-US" altLang="zh-CN" dirty="0"/>
              <a:t>‹#›</a:t>
            </a:fld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advClick="0"/>
    </mc:Choice>
    <mc:Fallback xmlns="">
      <p:transition advClick="0"/>
    </mc:Fallback>
  </mc:AlternateContent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C6DB4B6-99EF-E34F-A458-571EFDA1439C}" type="datetimeFigureOut">
              <a:rPr lang="zh-CN" altLang="en-US"/>
              <a:t>2024/7/12</a:t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algn="r" eaLnBrk="1" hangingPunct="1">
              <a:spcBef>
                <a:spcPct val="0"/>
              </a:spcBef>
              <a:buClrTx/>
            </a:pPr>
            <a:fld id="{9A0DB2DC-4C9A-4742-B13C-FB6460FD3503}" type="slidenum">
              <a:rPr lang="en-US" altLang="zh-CN" dirty="0"/>
              <a:t>‹#›</a:t>
            </a:fld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advClick="0"/>
    </mc:Choice>
    <mc:Fallback xmlns="">
      <p:transition advClick="0"/>
    </mc:Fallback>
  </mc:AlternateContent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6"/>
          <p:cNvSpPr>
            <a:spLocks noChangeArrowheads="1"/>
          </p:cNvSpPr>
          <p:nvPr/>
        </p:nvSpPr>
        <p:spPr bwMode="auto">
          <a:xfrm>
            <a:off x="8786813" y="6596063"/>
            <a:ext cx="357187" cy="3968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pPr eaLnBrk="0" hangingPunct="0">
              <a:defRPr/>
            </a:pPr>
            <a:fld id="{4FFFBBFF-3D68-4277-A251-593CA0C24BE1}" type="slidenum">
              <a:rPr lang="zh-CN" altLang="en-US" sz="1000">
                <a:solidFill>
                  <a:srgbClr val="000000"/>
                </a:solidFill>
                <a:latin typeface="Arial" panose="020B0604020202020204" pitchFamily="34" charset="0"/>
                <a:ea typeface="华文楷体" panose="02010600040101010101" pitchFamily="2" charset="-122"/>
                <a:sym typeface="Arial" panose="020B0604020202020204" pitchFamily="34" charset="0"/>
              </a:rPr>
              <a:t>‹#›</a:t>
            </a:fld>
            <a:endParaRPr lang="zh-CN" altLang="en-US">
              <a:solidFill>
                <a:srgbClr val="000000"/>
              </a:solidFill>
              <a:latin typeface="Arial" panose="020B0604020202020204" pitchFamily="34" charset="0"/>
              <a:ea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8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fld id="{530820CF-B880-4189-942D-D702A7CBA730}" type="datetimeFigureOut">
              <a:rPr lang="zh-CN" altLang="en-US" smtClean="0"/>
              <a:t>2024/7/12</a:t>
            </a:fld>
            <a:endParaRPr lang="zh-CN" altLang="en-US"/>
          </a:p>
        </p:txBody>
      </p:sp>
      <p:sp>
        <p:nvSpPr>
          <p:cNvPr id="9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endParaRPr lang="zh-CN" altLang="en-US"/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2" name="Picture 12" descr="图片1副本"/>
          <p:cNvPicPr>
            <a:picLocks noChangeAspect="1" noChangeArrowheads="1"/>
          </p:cNvPicPr>
          <p:nvPr/>
        </p:nvPicPr>
        <p:blipFill>
          <a:blip r:embed="rId2" cstate="print">
            <a:duotone>
              <a:prstClr val="black"/>
              <a:srgbClr val="FF00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8979"/>
          <a:stretch>
            <a:fillRect/>
          </a:stretch>
        </p:blipFill>
        <p:spPr bwMode="auto">
          <a:xfrm>
            <a:off x="-1836712" y="908720"/>
            <a:ext cx="10657184" cy="1327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advClick="0"/>
    </mc:Choice>
    <mc:Fallback xmlns="">
      <p:transition advClick="0"/>
    </mc:Fallback>
  </mc:AlternateContent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6"/>
          <p:cNvSpPr>
            <a:spLocks noChangeArrowheads="1"/>
          </p:cNvSpPr>
          <p:nvPr/>
        </p:nvSpPr>
        <p:spPr bwMode="auto">
          <a:xfrm>
            <a:off x="8786813" y="6596063"/>
            <a:ext cx="357187" cy="3968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pPr eaLnBrk="0" hangingPunct="0">
              <a:defRPr/>
            </a:pPr>
            <a:fld id="{4FFFBBFF-3D68-4277-A251-593CA0C24BE1}" type="slidenum">
              <a:rPr lang="zh-CN" altLang="en-US" sz="1000">
                <a:solidFill>
                  <a:srgbClr val="000000"/>
                </a:solidFill>
                <a:latin typeface="Arial" panose="020B0604020202020204" pitchFamily="34" charset="0"/>
                <a:ea typeface="华文楷体" panose="02010600040101010101" pitchFamily="2" charset="-122"/>
                <a:sym typeface="Arial" panose="020B0604020202020204" pitchFamily="34" charset="0"/>
              </a:rPr>
              <a:t>‹#›</a:t>
            </a:fld>
            <a:endParaRPr lang="zh-CN" altLang="en-US">
              <a:solidFill>
                <a:srgbClr val="000000"/>
              </a:solidFill>
              <a:latin typeface="Arial" panose="020B0604020202020204" pitchFamily="34" charset="0"/>
              <a:ea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8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fld id="{530820CF-B880-4189-942D-D702A7CBA730}" type="datetimeFigureOut">
              <a:rPr lang="zh-CN" altLang="en-US" smtClean="0"/>
              <a:t>2024/7/12</a:t>
            </a:fld>
            <a:endParaRPr lang="zh-CN" altLang="en-US"/>
          </a:p>
        </p:txBody>
      </p:sp>
      <p:sp>
        <p:nvSpPr>
          <p:cNvPr id="9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endParaRPr lang="zh-CN" altLang="en-US"/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2" name="Picture 12" descr="图片1副本"/>
          <p:cNvPicPr>
            <a:picLocks noChangeAspect="1" noChangeArrowheads="1"/>
          </p:cNvPicPr>
          <p:nvPr/>
        </p:nvPicPr>
        <p:blipFill>
          <a:blip r:embed="rId2" cstate="print">
            <a:duotone>
              <a:prstClr val="black"/>
              <a:srgbClr val="FF00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8979"/>
          <a:stretch>
            <a:fillRect/>
          </a:stretch>
        </p:blipFill>
        <p:spPr bwMode="auto">
          <a:xfrm>
            <a:off x="-1836712" y="908720"/>
            <a:ext cx="10657184" cy="1327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advClick="0"/>
    </mc:Choice>
    <mc:Fallback xmlns="">
      <p:transition advClick="0"/>
    </mc:Fallback>
  </mc:AlternateContent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5"/>
          <p:cNvSpPr txBox="1"/>
          <p:nvPr/>
        </p:nvSpPr>
        <p:spPr>
          <a:xfrm>
            <a:off x="6875463" y="6519863"/>
            <a:ext cx="2133600" cy="365125"/>
          </a:xfrm>
          <a:prstGeom prst="rect">
            <a:avLst/>
          </a:prstGeom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fld id="{49D632F2-D304-9B40-98EA-D3D58DA80E65}" type="slidenum">
              <a:rPr lang="zh-CN" altLang="en-US" sz="1600">
                <a:latin typeface="Arial Unicode MS" panose="020B0604020202020204" charset="-122"/>
                <a:cs typeface="Arial Unicode MS" panose="020B0604020202020204" charset="-122"/>
              </a:rPr>
              <a:t>‹#›</a:t>
            </a:fld>
            <a:r>
              <a:rPr lang="en-US" altLang="zh-CN" sz="1600">
                <a:latin typeface="Arial Unicode MS" panose="020B0604020202020204" charset="-122"/>
                <a:cs typeface="Arial Unicode MS" panose="020B0604020202020204" charset="-122"/>
              </a:rPr>
              <a:t>/43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advClick="0"/>
    </mc:Choice>
    <mc:Fallback xmlns="">
      <p:transition advClick="0"/>
    </mc:Fallback>
  </mc:AlternateContent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6"/>
          <p:cNvSpPr>
            <a:spLocks noChangeArrowheads="1"/>
          </p:cNvSpPr>
          <p:nvPr/>
        </p:nvSpPr>
        <p:spPr bwMode="auto">
          <a:xfrm>
            <a:off x="8786813" y="6596063"/>
            <a:ext cx="357187" cy="3968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pPr eaLnBrk="0" hangingPunct="0">
              <a:defRPr/>
            </a:pPr>
            <a:fld id="{4FFFBBFF-3D68-4277-A251-593CA0C24BE1}" type="slidenum">
              <a:rPr lang="zh-CN" altLang="en-US" sz="1000">
                <a:solidFill>
                  <a:srgbClr val="000000"/>
                </a:solidFill>
                <a:latin typeface="Arial" panose="020B0604020202020204" pitchFamily="34" charset="0"/>
                <a:ea typeface="华文楷体" panose="02010600040101010101" pitchFamily="2" charset="-122"/>
                <a:sym typeface="Arial" panose="020B0604020202020204" pitchFamily="34" charset="0"/>
              </a:rPr>
              <a:t>‹#›</a:t>
            </a:fld>
            <a:endParaRPr lang="zh-CN" altLang="en-US">
              <a:solidFill>
                <a:srgbClr val="000000"/>
              </a:solidFill>
              <a:latin typeface="Arial" panose="020B0604020202020204" pitchFamily="34" charset="0"/>
              <a:ea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8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fld id="{530820CF-B880-4189-942D-D702A7CBA730}" type="datetimeFigureOut">
              <a:rPr lang="zh-CN" altLang="en-US" smtClean="0"/>
              <a:t>2024/7/12</a:t>
            </a:fld>
            <a:endParaRPr lang="zh-CN" altLang="en-US"/>
          </a:p>
        </p:txBody>
      </p:sp>
      <p:sp>
        <p:nvSpPr>
          <p:cNvPr id="9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endParaRPr lang="zh-CN" altLang="en-US"/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2" name="Picture 12" descr="图片1副本"/>
          <p:cNvPicPr>
            <a:picLocks noChangeAspect="1" noChangeArrowheads="1"/>
          </p:cNvPicPr>
          <p:nvPr/>
        </p:nvPicPr>
        <p:blipFill>
          <a:blip r:embed="rId2" cstate="print">
            <a:duotone>
              <a:prstClr val="black"/>
              <a:srgbClr val="FF00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8979"/>
          <a:stretch>
            <a:fillRect/>
          </a:stretch>
        </p:blipFill>
        <p:spPr bwMode="auto">
          <a:xfrm>
            <a:off x="-1836712" y="908720"/>
            <a:ext cx="10657184" cy="1327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advClick="0"/>
    </mc:Choice>
    <mc:Fallback xmlns="">
      <p:transition advClick="0"/>
    </mc:Fallback>
  </mc:AlternateContent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6"/>
          <p:cNvSpPr>
            <a:spLocks noChangeArrowheads="1"/>
          </p:cNvSpPr>
          <p:nvPr/>
        </p:nvSpPr>
        <p:spPr bwMode="auto">
          <a:xfrm>
            <a:off x="8786813" y="6596063"/>
            <a:ext cx="357187" cy="3968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pPr eaLnBrk="0" hangingPunct="0">
              <a:defRPr/>
            </a:pPr>
            <a:fld id="{4FFFBBFF-3D68-4277-A251-593CA0C24BE1}" type="slidenum">
              <a:rPr lang="zh-CN" altLang="en-US" sz="1000">
                <a:solidFill>
                  <a:srgbClr val="000000"/>
                </a:solidFill>
                <a:latin typeface="Arial" panose="020B0604020202020204" pitchFamily="34" charset="0"/>
                <a:ea typeface="华文楷体" panose="02010600040101010101" pitchFamily="2" charset="-122"/>
                <a:sym typeface="Arial" panose="020B0604020202020204" pitchFamily="34" charset="0"/>
              </a:rPr>
              <a:t>‹#›</a:t>
            </a:fld>
            <a:endParaRPr lang="zh-CN" altLang="en-US">
              <a:solidFill>
                <a:srgbClr val="000000"/>
              </a:solidFill>
              <a:latin typeface="Arial" panose="020B0604020202020204" pitchFamily="34" charset="0"/>
              <a:ea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8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fld id="{530820CF-B880-4189-942D-D702A7CBA730}" type="datetimeFigureOut">
              <a:rPr lang="zh-CN" altLang="en-US" smtClean="0"/>
              <a:t>2024/7/12</a:t>
            </a:fld>
            <a:endParaRPr lang="zh-CN" altLang="en-US"/>
          </a:p>
        </p:txBody>
      </p:sp>
      <p:sp>
        <p:nvSpPr>
          <p:cNvPr id="9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endParaRPr lang="zh-CN" altLang="en-US"/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2" name="Picture 12" descr="图片1副本"/>
          <p:cNvPicPr>
            <a:picLocks noChangeAspect="1" noChangeArrowheads="1"/>
          </p:cNvPicPr>
          <p:nvPr/>
        </p:nvPicPr>
        <p:blipFill>
          <a:blip r:embed="rId2" cstate="print">
            <a:duotone>
              <a:prstClr val="black"/>
              <a:srgbClr val="FF00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8979"/>
          <a:stretch>
            <a:fillRect/>
          </a:stretch>
        </p:blipFill>
        <p:spPr bwMode="auto">
          <a:xfrm>
            <a:off x="-1836712" y="908720"/>
            <a:ext cx="10657184" cy="1327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advClick="0"/>
    </mc:Choice>
    <mc:Fallback xmlns="">
      <p:transition advClick="0"/>
    </mc:Fallback>
  </mc:AlternateContent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6"/>
          <p:cNvSpPr>
            <a:spLocks noChangeArrowheads="1"/>
          </p:cNvSpPr>
          <p:nvPr/>
        </p:nvSpPr>
        <p:spPr bwMode="auto">
          <a:xfrm>
            <a:off x="8786813" y="6596063"/>
            <a:ext cx="357187" cy="3968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pPr eaLnBrk="0" hangingPunct="0">
              <a:defRPr/>
            </a:pPr>
            <a:fld id="{4FFFBBFF-3D68-4277-A251-593CA0C24BE1}" type="slidenum">
              <a:rPr lang="zh-CN" altLang="en-US" sz="1000">
                <a:solidFill>
                  <a:srgbClr val="000000"/>
                </a:solidFill>
                <a:latin typeface="Arial" panose="020B0604020202020204" pitchFamily="34" charset="0"/>
                <a:ea typeface="华文楷体" panose="02010600040101010101" pitchFamily="2" charset="-122"/>
                <a:sym typeface="Arial" panose="020B0604020202020204" pitchFamily="34" charset="0"/>
              </a:rPr>
              <a:t>‹#›</a:t>
            </a:fld>
            <a:endParaRPr lang="zh-CN" altLang="en-US">
              <a:solidFill>
                <a:srgbClr val="000000"/>
              </a:solidFill>
              <a:latin typeface="Arial" panose="020B0604020202020204" pitchFamily="34" charset="0"/>
              <a:ea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8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fld id="{530820CF-B880-4189-942D-D702A7CBA730}" type="datetimeFigureOut">
              <a:rPr lang="zh-CN" altLang="en-US" smtClean="0"/>
              <a:t>2024/7/12</a:t>
            </a:fld>
            <a:endParaRPr lang="zh-CN" altLang="en-US"/>
          </a:p>
        </p:txBody>
      </p:sp>
      <p:sp>
        <p:nvSpPr>
          <p:cNvPr id="9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endParaRPr lang="zh-CN" altLang="en-US"/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2" name="Picture 12" descr="图片1副本"/>
          <p:cNvPicPr>
            <a:picLocks noChangeAspect="1" noChangeArrowheads="1"/>
          </p:cNvPicPr>
          <p:nvPr/>
        </p:nvPicPr>
        <p:blipFill>
          <a:blip r:embed="rId2" cstate="print">
            <a:duotone>
              <a:prstClr val="black"/>
              <a:srgbClr val="FF00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8979"/>
          <a:stretch>
            <a:fillRect/>
          </a:stretch>
        </p:blipFill>
        <p:spPr bwMode="auto">
          <a:xfrm>
            <a:off x="-1836712" y="908720"/>
            <a:ext cx="10657184" cy="1327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advClick="0"/>
    </mc:Choice>
    <mc:Fallback xmlns="">
      <p:transition advClick="0"/>
    </mc:Fallback>
  </mc:AlternateContent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6"/>
          <p:cNvSpPr>
            <a:spLocks noChangeArrowheads="1"/>
          </p:cNvSpPr>
          <p:nvPr/>
        </p:nvSpPr>
        <p:spPr bwMode="auto">
          <a:xfrm>
            <a:off x="8786813" y="6596063"/>
            <a:ext cx="357187" cy="3968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pPr eaLnBrk="0" hangingPunct="0">
              <a:defRPr/>
            </a:pPr>
            <a:fld id="{4FFFBBFF-3D68-4277-A251-593CA0C24BE1}" type="slidenum">
              <a:rPr lang="zh-CN" altLang="en-US" sz="1000">
                <a:solidFill>
                  <a:srgbClr val="000000"/>
                </a:solidFill>
                <a:latin typeface="Arial" panose="020B0604020202020204" pitchFamily="34" charset="0"/>
                <a:ea typeface="华文楷体" panose="02010600040101010101" pitchFamily="2" charset="-122"/>
                <a:sym typeface="Arial" panose="020B0604020202020204" pitchFamily="34" charset="0"/>
              </a:rPr>
              <a:t>‹#›</a:t>
            </a:fld>
            <a:endParaRPr lang="zh-CN" altLang="en-US">
              <a:solidFill>
                <a:srgbClr val="000000"/>
              </a:solidFill>
              <a:latin typeface="Arial" panose="020B0604020202020204" pitchFamily="34" charset="0"/>
              <a:ea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8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fld id="{530820CF-B880-4189-942D-D702A7CBA730}" type="datetimeFigureOut">
              <a:rPr lang="zh-CN" altLang="en-US" smtClean="0"/>
              <a:t>2024/7/12</a:t>
            </a:fld>
            <a:endParaRPr lang="zh-CN" altLang="en-US"/>
          </a:p>
        </p:txBody>
      </p:sp>
      <p:sp>
        <p:nvSpPr>
          <p:cNvPr id="9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endParaRPr lang="zh-CN" altLang="en-US"/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2" name="Picture 12" descr="图片1副本"/>
          <p:cNvPicPr>
            <a:picLocks noChangeAspect="1" noChangeArrowheads="1"/>
          </p:cNvPicPr>
          <p:nvPr/>
        </p:nvPicPr>
        <p:blipFill>
          <a:blip r:embed="rId2" cstate="print">
            <a:duotone>
              <a:prstClr val="black"/>
              <a:srgbClr val="FF00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8979"/>
          <a:stretch>
            <a:fillRect/>
          </a:stretch>
        </p:blipFill>
        <p:spPr bwMode="auto">
          <a:xfrm>
            <a:off x="-1836712" y="908720"/>
            <a:ext cx="10657184" cy="1327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advClick="0"/>
    </mc:Choice>
    <mc:Fallback xmlns="">
      <p:transition advClick="0"/>
    </mc:Fallback>
  </mc:AlternateContent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6"/>
          <p:cNvSpPr>
            <a:spLocks noChangeArrowheads="1"/>
          </p:cNvSpPr>
          <p:nvPr/>
        </p:nvSpPr>
        <p:spPr bwMode="auto">
          <a:xfrm>
            <a:off x="8786813" y="6596063"/>
            <a:ext cx="357187" cy="3968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pPr eaLnBrk="0" hangingPunct="0">
              <a:defRPr/>
            </a:pPr>
            <a:fld id="{4FFFBBFF-3D68-4277-A251-593CA0C24BE1}" type="slidenum">
              <a:rPr lang="zh-CN" altLang="en-US" sz="1000">
                <a:solidFill>
                  <a:srgbClr val="000000"/>
                </a:solidFill>
                <a:latin typeface="Arial" panose="020B0604020202020204" pitchFamily="34" charset="0"/>
                <a:ea typeface="华文楷体" panose="02010600040101010101" pitchFamily="2" charset="-122"/>
                <a:sym typeface="Arial" panose="020B0604020202020204" pitchFamily="34" charset="0"/>
              </a:rPr>
              <a:t>‹#›</a:t>
            </a:fld>
            <a:endParaRPr lang="zh-CN" altLang="en-US">
              <a:solidFill>
                <a:srgbClr val="000000"/>
              </a:solidFill>
              <a:latin typeface="Arial" panose="020B0604020202020204" pitchFamily="34" charset="0"/>
              <a:ea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8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fld id="{530820CF-B880-4189-942D-D702A7CBA730}" type="datetimeFigureOut">
              <a:rPr lang="zh-CN" altLang="en-US" smtClean="0"/>
              <a:t>2024/7/12</a:t>
            </a:fld>
            <a:endParaRPr lang="zh-CN" altLang="en-US"/>
          </a:p>
        </p:txBody>
      </p:sp>
      <p:sp>
        <p:nvSpPr>
          <p:cNvPr id="9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endParaRPr lang="zh-CN" altLang="en-US"/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2" name="Picture 12" descr="图片1副本"/>
          <p:cNvPicPr>
            <a:picLocks noChangeAspect="1" noChangeArrowheads="1"/>
          </p:cNvPicPr>
          <p:nvPr/>
        </p:nvPicPr>
        <p:blipFill>
          <a:blip r:embed="rId2" cstate="print">
            <a:duotone>
              <a:prstClr val="black"/>
              <a:srgbClr val="FF00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8979"/>
          <a:stretch>
            <a:fillRect/>
          </a:stretch>
        </p:blipFill>
        <p:spPr bwMode="auto">
          <a:xfrm>
            <a:off x="-1836712" y="908720"/>
            <a:ext cx="10657184" cy="1327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advClick="0"/>
    </mc:Choice>
    <mc:Fallback xmlns="">
      <p:transition advClick="0"/>
    </mc:Fallback>
  </mc:AlternateContent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6"/>
          <p:cNvSpPr>
            <a:spLocks noChangeArrowheads="1"/>
          </p:cNvSpPr>
          <p:nvPr/>
        </p:nvSpPr>
        <p:spPr bwMode="auto">
          <a:xfrm>
            <a:off x="8786813" y="6596063"/>
            <a:ext cx="357187" cy="3968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pPr eaLnBrk="0" hangingPunct="0">
              <a:defRPr/>
            </a:pPr>
            <a:fld id="{4FFFBBFF-3D68-4277-A251-593CA0C24BE1}" type="slidenum">
              <a:rPr lang="zh-CN" altLang="en-US" sz="1000">
                <a:solidFill>
                  <a:srgbClr val="000000"/>
                </a:solidFill>
                <a:latin typeface="Arial" panose="020B0604020202020204" pitchFamily="34" charset="0"/>
                <a:ea typeface="华文楷体" panose="02010600040101010101" pitchFamily="2" charset="-122"/>
                <a:sym typeface="Arial" panose="020B0604020202020204" pitchFamily="34" charset="0"/>
              </a:rPr>
              <a:t>‹#›</a:t>
            </a:fld>
            <a:endParaRPr lang="zh-CN" altLang="en-US">
              <a:solidFill>
                <a:srgbClr val="000000"/>
              </a:solidFill>
              <a:latin typeface="Arial" panose="020B0604020202020204" pitchFamily="34" charset="0"/>
              <a:ea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8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fld id="{530820CF-B880-4189-942D-D702A7CBA730}" type="datetimeFigureOut">
              <a:rPr lang="zh-CN" altLang="en-US" smtClean="0"/>
              <a:t>2024/7/12</a:t>
            </a:fld>
            <a:endParaRPr lang="zh-CN" altLang="en-US"/>
          </a:p>
        </p:txBody>
      </p:sp>
      <p:sp>
        <p:nvSpPr>
          <p:cNvPr id="9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endParaRPr lang="zh-CN" altLang="en-US"/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2" name="Picture 12" descr="图片1副本"/>
          <p:cNvPicPr>
            <a:picLocks noChangeAspect="1" noChangeArrowheads="1"/>
          </p:cNvPicPr>
          <p:nvPr/>
        </p:nvPicPr>
        <p:blipFill>
          <a:blip r:embed="rId2" cstate="print">
            <a:duotone>
              <a:prstClr val="black"/>
              <a:srgbClr val="FF00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8979"/>
          <a:stretch>
            <a:fillRect/>
          </a:stretch>
        </p:blipFill>
        <p:spPr bwMode="auto">
          <a:xfrm>
            <a:off x="-1836712" y="908720"/>
            <a:ext cx="10657184" cy="1327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advClick="0"/>
    </mc:Choice>
    <mc:Fallback xmlns="">
      <p:transition advClick="0"/>
    </mc:Fallback>
  </mc:AlternateContent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6"/>
          <p:cNvSpPr>
            <a:spLocks noChangeArrowheads="1"/>
          </p:cNvSpPr>
          <p:nvPr/>
        </p:nvSpPr>
        <p:spPr bwMode="auto">
          <a:xfrm>
            <a:off x="8786813" y="6596063"/>
            <a:ext cx="357187" cy="3968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pPr eaLnBrk="0" hangingPunct="0">
              <a:defRPr/>
            </a:pPr>
            <a:fld id="{4FFFBBFF-3D68-4277-A251-593CA0C24BE1}" type="slidenum">
              <a:rPr lang="zh-CN" altLang="en-US" sz="1000">
                <a:solidFill>
                  <a:srgbClr val="000000"/>
                </a:solidFill>
                <a:latin typeface="Arial" panose="020B0604020202020204" pitchFamily="34" charset="0"/>
                <a:ea typeface="华文楷体" panose="02010600040101010101" pitchFamily="2" charset="-122"/>
                <a:sym typeface="Arial" panose="020B0604020202020204" pitchFamily="34" charset="0"/>
              </a:rPr>
              <a:t>‹#›</a:t>
            </a:fld>
            <a:endParaRPr lang="zh-CN" altLang="en-US">
              <a:solidFill>
                <a:srgbClr val="000000"/>
              </a:solidFill>
              <a:latin typeface="Arial" panose="020B0604020202020204" pitchFamily="34" charset="0"/>
              <a:ea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8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fld id="{530820CF-B880-4189-942D-D702A7CBA730}" type="datetimeFigureOut">
              <a:rPr lang="zh-CN" altLang="en-US" smtClean="0"/>
              <a:t>2024/7/12</a:t>
            </a:fld>
            <a:endParaRPr lang="zh-CN" altLang="en-US"/>
          </a:p>
        </p:txBody>
      </p:sp>
      <p:sp>
        <p:nvSpPr>
          <p:cNvPr id="9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endParaRPr lang="zh-CN" altLang="en-US"/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2" name="Picture 12" descr="图片1副本"/>
          <p:cNvPicPr>
            <a:picLocks noChangeAspect="1" noChangeArrowheads="1"/>
          </p:cNvPicPr>
          <p:nvPr/>
        </p:nvPicPr>
        <p:blipFill>
          <a:blip r:embed="rId2" cstate="print">
            <a:duotone>
              <a:prstClr val="black"/>
              <a:srgbClr val="FF00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8979"/>
          <a:stretch>
            <a:fillRect/>
          </a:stretch>
        </p:blipFill>
        <p:spPr bwMode="auto">
          <a:xfrm>
            <a:off x="-1836712" y="908720"/>
            <a:ext cx="10657184" cy="1327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advClick="0"/>
    </mc:Choice>
    <mc:Fallback xmlns="">
      <p:transition advClick="0"/>
    </mc:Fallback>
  </mc:AlternateContent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6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6"/>
          <p:cNvSpPr>
            <a:spLocks noChangeArrowheads="1"/>
          </p:cNvSpPr>
          <p:nvPr/>
        </p:nvSpPr>
        <p:spPr bwMode="auto">
          <a:xfrm>
            <a:off x="8786813" y="6596063"/>
            <a:ext cx="357187" cy="3968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pPr eaLnBrk="0" hangingPunct="0">
              <a:defRPr/>
            </a:pPr>
            <a:fld id="{4FFFBBFF-3D68-4277-A251-593CA0C24BE1}" type="slidenum">
              <a:rPr lang="zh-CN" altLang="en-US" sz="1000">
                <a:solidFill>
                  <a:srgbClr val="000000"/>
                </a:solidFill>
                <a:latin typeface="Arial" panose="020B0604020202020204" pitchFamily="34" charset="0"/>
                <a:ea typeface="华文楷体" panose="02010600040101010101" pitchFamily="2" charset="-122"/>
                <a:sym typeface="Arial" panose="020B0604020202020204" pitchFamily="34" charset="0"/>
              </a:rPr>
              <a:t>‹#›</a:t>
            </a:fld>
            <a:endParaRPr lang="zh-CN" altLang="en-US">
              <a:solidFill>
                <a:srgbClr val="000000"/>
              </a:solidFill>
              <a:latin typeface="Arial" panose="020B0604020202020204" pitchFamily="34" charset="0"/>
              <a:ea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8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fld id="{530820CF-B880-4189-942D-D702A7CBA730}" type="datetimeFigureOut">
              <a:rPr lang="zh-CN" altLang="en-US" smtClean="0"/>
              <a:t>2024/7/12</a:t>
            </a:fld>
            <a:endParaRPr lang="zh-CN" altLang="en-US"/>
          </a:p>
        </p:txBody>
      </p:sp>
      <p:sp>
        <p:nvSpPr>
          <p:cNvPr id="9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endParaRPr lang="zh-CN" altLang="en-US"/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2" name="Picture 12" descr="图片1副本"/>
          <p:cNvPicPr>
            <a:picLocks noChangeAspect="1" noChangeArrowheads="1"/>
          </p:cNvPicPr>
          <p:nvPr/>
        </p:nvPicPr>
        <p:blipFill>
          <a:blip r:embed="rId2" cstate="print">
            <a:duotone>
              <a:prstClr val="black"/>
              <a:srgbClr val="FF00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8979"/>
          <a:stretch>
            <a:fillRect/>
          </a:stretch>
        </p:blipFill>
        <p:spPr bwMode="auto">
          <a:xfrm>
            <a:off x="-1836712" y="908720"/>
            <a:ext cx="10657184" cy="1327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advClick="0"/>
    </mc:Choice>
    <mc:Fallback xmlns="">
      <p:transition advClick="0"/>
    </mc:Fallback>
  </mc:AlternateContent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8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6"/>
          <p:cNvSpPr>
            <a:spLocks noChangeArrowheads="1"/>
          </p:cNvSpPr>
          <p:nvPr/>
        </p:nvSpPr>
        <p:spPr bwMode="auto">
          <a:xfrm>
            <a:off x="8786813" y="6596063"/>
            <a:ext cx="357187" cy="3968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pPr eaLnBrk="0" hangingPunct="0">
              <a:defRPr/>
            </a:pPr>
            <a:fld id="{4FFFBBFF-3D68-4277-A251-593CA0C24BE1}" type="slidenum">
              <a:rPr lang="zh-CN" altLang="en-US" sz="1000">
                <a:solidFill>
                  <a:srgbClr val="000000"/>
                </a:solidFill>
                <a:latin typeface="Arial" panose="020B0604020202020204" pitchFamily="34" charset="0"/>
                <a:ea typeface="华文楷体" panose="02010600040101010101" pitchFamily="2" charset="-122"/>
                <a:sym typeface="Arial" panose="020B0604020202020204" pitchFamily="34" charset="0"/>
              </a:rPr>
              <a:t>‹#›</a:t>
            </a:fld>
            <a:endParaRPr lang="zh-CN" altLang="en-US">
              <a:solidFill>
                <a:srgbClr val="000000"/>
              </a:solidFill>
              <a:latin typeface="Arial" panose="020B0604020202020204" pitchFamily="34" charset="0"/>
              <a:ea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8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fld id="{530820CF-B880-4189-942D-D702A7CBA730}" type="datetimeFigureOut">
              <a:rPr lang="zh-CN" altLang="en-US" smtClean="0"/>
              <a:t>2024/7/12</a:t>
            </a:fld>
            <a:endParaRPr lang="zh-CN" altLang="en-US"/>
          </a:p>
        </p:txBody>
      </p:sp>
      <p:sp>
        <p:nvSpPr>
          <p:cNvPr id="9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endParaRPr lang="zh-CN" altLang="en-US"/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2" name="Picture 12" descr="图片1副本"/>
          <p:cNvPicPr>
            <a:picLocks noChangeAspect="1" noChangeArrowheads="1"/>
          </p:cNvPicPr>
          <p:nvPr/>
        </p:nvPicPr>
        <p:blipFill>
          <a:blip r:embed="rId2" cstate="print">
            <a:duotone>
              <a:prstClr val="black"/>
              <a:srgbClr val="FF00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8979"/>
          <a:stretch>
            <a:fillRect/>
          </a:stretch>
        </p:blipFill>
        <p:spPr bwMode="auto">
          <a:xfrm>
            <a:off x="-1836712" y="908720"/>
            <a:ext cx="10657184" cy="1327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advClick="0"/>
    </mc:Choice>
    <mc:Fallback xmlns="">
      <p:transition advClick="0"/>
    </mc:Fallback>
  </mc:AlternateContent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9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6"/>
          <p:cNvSpPr>
            <a:spLocks noChangeArrowheads="1"/>
          </p:cNvSpPr>
          <p:nvPr/>
        </p:nvSpPr>
        <p:spPr bwMode="auto">
          <a:xfrm>
            <a:off x="8786813" y="6596063"/>
            <a:ext cx="357187" cy="3968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pPr eaLnBrk="0" hangingPunct="0">
              <a:defRPr/>
            </a:pPr>
            <a:fld id="{4FFFBBFF-3D68-4277-A251-593CA0C24BE1}" type="slidenum">
              <a:rPr lang="zh-CN" altLang="en-US" sz="1000">
                <a:solidFill>
                  <a:srgbClr val="000000"/>
                </a:solidFill>
                <a:latin typeface="Arial" panose="020B0604020202020204" pitchFamily="34" charset="0"/>
                <a:ea typeface="华文楷体" panose="02010600040101010101" pitchFamily="2" charset="-122"/>
                <a:sym typeface="Arial" panose="020B0604020202020204" pitchFamily="34" charset="0"/>
              </a:rPr>
              <a:t>‹#›</a:t>
            </a:fld>
            <a:endParaRPr lang="zh-CN" altLang="en-US">
              <a:solidFill>
                <a:srgbClr val="000000"/>
              </a:solidFill>
              <a:latin typeface="Arial" panose="020B0604020202020204" pitchFamily="34" charset="0"/>
              <a:ea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8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fld id="{530820CF-B880-4189-942D-D702A7CBA730}" type="datetimeFigureOut">
              <a:rPr lang="zh-CN" altLang="en-US" smtClean="0"/>
              <a:t>2024/7/12</a:t>
            </a:fld>
            <a:endParaRPr lang="zh-CN" altLang="en-US"/>
          </a:p>
        </p:txBody>
      </p:sp>
      <p:sp>
        <p:nvSpPr>
          <p:cNvPr id="9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endParaRPr lang="zh-CN" altLang="en-US"/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2" name="Picture 12" descr="图片1副本"/>
          <p:cNvPicPr>
            <a:picLocks noChangeAspect="1" noChangeArrowheads="1"/>
          </p:cNvPicPr>
          <p:nvPr/>
        </p:nvPicPr>
        <p:blipFill>
          <a:blip r:embed="rId2" cstate="print">
            <a:duotone>
              <a:prstClr val="black"/>
              <a:srgbClr val="FF00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8979"/>
          <a:stretch>
            <a:fillRect/>
          </a:stretch>
        </p:blipFill>
        <p:spPr bwMode="auto">
          <a:xfrm>
            <a:off x="-1836712" y="908720"/>
            <a:ext cx="10657184" cy="1327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advClick="0"/>
    </mc:Choice>
    <mc:Fallback xmlns="">
      <p:transition advClick="0"/>
    </mc:Fallback>
  </mc:AlternateContent>
  <p:hf sldNum="0"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0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6"/>
          <p:cNvSpPr>
            <a:spLocks noChangeArrowheads="1"/>
          </p:cNvSpPr>
          <p:nvPr/>
        </p:nvSpPr>
        <p:spPr bwMode="auto">
          <a:xfrm>
            <a:off x="8786813" y="6596063"/>
            <a:ext cx="357187" cy="3968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pPr eaLnBrk="0" hangingPunct="0">
              <a:defRPr/>
            </a:pPr>
            <a:fld id="{4FFFBBFF-3D68-4277-A251-593CA0C24BE1}" type="slidenum">
              <a:rPr lang="zh-CN" altLang="en-US" sz="1000">
                <a:solidFill>
                  <a:srgbClr val="000000"/>
                </a:solidFill>
                <a:latin typeface="Arial" panose="020B0604020202020204" pitchFamily="34" charset="0"/>
                <a:ea typeface="华文楷体" panose="02010600040101010101" pitchFamily="2" charset="-122"/>
                <a:sym typeface="Arial" panose="020B0604020202020204" pitchFamily="34" charset="0"/>
              </a:rPr>
              <a:t>‹#›</a:t>
            </a:fld>
            <a:endParaRPr lang="zh-CN" altLang="en-US">
              <a:solidFill>
                <a:srgbClr val="000000"/>
              </a:solidFill>
              <a:latin typeface="Arial" panose="020B0604020202020204" pitchFamily="34" charset="0"/>
              <a:ea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8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fld id="{530820CF-B880-4189-942D-D702A7CBA730}" type="datetimeFigureOut">
              <a:rPr lang="zh-CN" altLang="en-US" smtClean="0"/>
              <a:t>2024/7/12</a:t>
            </a:fld>
            <a:endParaRPr lang="zh-CN" altLang="en-US"/>
          </a:p>
        </p:txBody>
      </p:sp>
      <p:sp>
        <p:nvSpPr>
          <p:cNvPr id="9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endParaRPr lang="zh-CN" altLang="en-US"/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2" name="Picture 12" descr="图片1副本"/>
          <p:cNvPicPr>
            <a:picLocks noChangeAspect="1" noChangeArrowheads="1"/>
          </p:cNvPicPr>
          <p:nvPr/>
        </p:nvPicPr>
        <p:blipFill>
          <a:blip r:embed="rId2" cstate="print">
            <a:duotone>
              <a:prstClr val="black"/>
              <a:srgbClr val="FF00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8979"/>
          <a:stretch>
            <a:fillRect/>
          </a:stretch>
        </p:blipFill>
        <p:spPr bwMode="auto">
          <a:xfrm>
            <a:off x="-1836712" y="908720"/>
            <a:ext cx="10657184" cy="1327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advClick="0"/>
    </mc:Choice>
    <mc:Fallback xmlns="">
      <p:transition advClick="0"/>
    </mc:Fallback>
  </mc:AlternateContent>
  <p:hf sldNum="0"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6"/>
          <p:cNvSpPr>
            <a:spLocks noChangeArrowheads="1"/>
          </p:cNvSpPr>
          <p:nvPr/>
        </p:nvSpPr>
        <p:spPr bwMode="auto">
          <a:xfrm>
            <a:off x="8786813" y="6596063"/>
            <a:ext cx="357187" cy="3968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pPr eaLnBrk="0" hangingPunct="0">
              <a:defRPr/>
            </a:pPr>
            <a:fld id="{4FFFBBFF-3D68-4277-A251-593CA0C24BE1}" type="slidenum">
              <a:rPr lang="zh-CN" altLang="en-US" sz="1000">
                <a:solidFill>
                  <a:srgbClr val="000000"/>
                </a:solidFill>
                <a:latin typeface="Arial" panose="020B0604020202020204" pitchFamily="34" charset="0"/>
                <a:ea typeface="华文楷体" panose="02010600040101010101" pitchFamily="2" charset="-122"/>
                <a:sym typeface="Arial" panose="020B0604020202020204" pitchFamily="34" charset="0"/>
              </a:rPr>
              <a:t>‹#›</a:t>
            </a:fld>
            <a:endParaRPr lang="zh-CN" altLang="en-US">
              <a:solidFill>
                <a:srgbClr val="000000"/>
              </a:solidFill>
              <a:latin typeface="Arial" panose="020B0604020202020204" pitchFamily="34" charset="0"/>
              <a:ea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8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fld id="{530820CF-B880-4189-942D-D702A7CBA730}" type="datetimeFigureOut">
              <a:rPr lang="zh-CN" altLang="en-US" smtClean="0"/>
              <a:t>2024/7/12</a:t>
            </a:fld>
            <a:endParaRPr lang="zh-CN" altLang="en-US"/>
          </a:p>
        </p:txBody>
      </p:sp>
      <p:sp>
        <p:nvSpPr>
          <p:cNvPr id="9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endParaRPr lang="zh-CN" altLang="en-US"/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2" name="Picture 12" descr="图片1副本"/>
          <p:cNvPicPr>
            <a:picLocks noChangeAspect="1" noChangeArrowheads="1"/>
          </p:cNvPicPr>
          <p:nvPr/>
        </p:nvPicPr>
        <p:blipFill>
          <a:blip r:embed="rId2" cstate="print">
            <a:duotone>
              <a:prstClr val="black"/>
              <a:srgbClr val="FF00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8979"/>
          <a:stretch>
            <a:fillRect/>
          </a:stretch>
        </p:blipFill>
        <p:spPr bwMode="auto">
          <a:xfrm>
            <a:off x="-1836712" y="908720"/>
            <a:ext cx="10657184" cy="1327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advClick="0"/>
    </mc:Choice>
    <mc:Fallback xmlns="">
      <p:transition advClick="0"/>
    </mc:Fallback>
  </mc:AlternateContent>
  <p:hf sldNum="0" hdr="0" ft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6"/>
          <p:cNvSpPr>
            <a:spLocks noChangeArrowheads="1"/>
          </p:cNvSpPr>
          <p:nvPr/>
        </p:nvSpPr>
        <p:spPr bwMode="auto">
          <a:xfrm>
            <a:off x="8786813" y="6596063"/>
            <a:ext cx="357187" cy="3968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pPr eaLnBrk="0" hangingPunct="0">
              <a:defRPr/>
            </a:pPr>
            <a:fld id="{4FFFBBFF-3D68-4277-A251-593CA0C24BE1}" type="slidenum">
              <a:rPr lang="zh-CN" altLang="en-US" sz="1000">
                <a:solidFill>
                  <a:srgbClr val="000000"/>
                </a:solidFill>
                <a:latin typeface="Arial" panose="020B0604020202020204" pitchFamily="34" charset="0"/>
                <a:ea typeface="华文楷体" panose="02010600040101010101" pitchFamily="2" charset="-122"/>
                <a:sym typeface="Arial" panose="020B0604020202020204" pitchFamily="34" charset="0"/>
              </a:rPr>
              <a:t>‹#›</a:t>
            </a:fld>
            <a:endParaRPr lang="zh-CN" altLang="en-US">
              <a:solidFill>
                <a:srgbClr val="000000"/>
              </a:solidFill>
              <a:latin typeface="Arial" panose="020B0604020202020204" pitchFamily="34" charset="0"/>
              <a:ea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8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fld id="{530820CF-B880-4189-942D-D702A7CBA730}" type="datetimeFigureOut">
              <a:rPr lang="zh-CN" altLang="en-US" smtClean="0"/>
              <a:t>2024/7/12</a:t>
            </a:fld>
            <a:endParaRPr lang="zh-CN" altLang="en-US"/>
          </a:p>
        </p:txBody>
      </p:sp>
      <p:sp>
        <p:nvSpPr>
          <p:cNvPr id="9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endParaRPr lang="zh-CN" altLang="en-US"/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2" name="Picture 12" descr="图片1副本"/>
          <p:cNvPicPr>
            <a:picLocks noChangeAspect="1" noChangeArrowheads="1"/>
          </p:cNvPicPr>
          <p:nvPr/>
        </p:nvPicPr>
        <p:blipFill>
          <a:blip r:embed="rId2" cstate="print">
            <a:duotone>
              <a:prstClr val="black"/>
              <a:srgbClr val="FF00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8979"/>
          <a:stretch>
            <a:fillRect/>
          </a:stretch>
        </p:blipFill>
        <p:spPr bwMode="auto">
          <a:xfrm>
            <a:off x="-1836712" y="908720"/>
            <a:ext cx="10657184" cy="1327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advClick="0"/>
    </mc:Choice>
    <mc:Fallback xmlns="">
      <p:transition advClick="0"/>
    </mc:Fallback>
  </mc:AlternateContent>
  <p:hf sldNum="0" hdr="0" ftr="0" dt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6"/>
          <p:cNvSpPr>
            <a:spLocks noChangeArrowheads="1"/>
          </p:cNvSpPr>
          <p:nvPr/>
        </p:nvSpPr>
        <p:spPr bwMode="auto">
          <a:xfrm>
            <a:off x="8786813" y="6596063"/>
            <a:ext cx="357187" cy="3968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pPr eaLnBrk="0" hangingPunct="0">
              <a:defRPr/>
            </a:pPr>
            <a:fld id="{4FFFBBFF-3D68-4277-A251-593CA0C24BE1}" type="slidenum">
              <a:rPr lang="zh-CN" altLang="en-US" sz="1000">
                <a:solidFill>
                  <a:srgbClr val="000000"/>
                </a:solidFill>
                <a:latin typeface="Arial" panose="020B0604020202020204" pitchFamily="34" charset="0"/>
                <a:ea typeface="华文楷体" panose="02010600040101010101" pitchFamily="2" charset="-122"/>
                <a:sym typeface="Arial" panose="020B0604020202020204" pitchFamily="34" charset="0"/>
              </a:rPr>
              <a:t>‹#›</a:t>
            </a:fld>
            <a:endParaRPr lang="zh-CN" altLang="en-US">
              <a:solidFill>
                <a:srgbClr val="000000"/>
              </a:solidFill>
              <a:latin typeface="Arial" panose="020B0604020202020204" pitchFamily="34" charset="0"/>
              <a:ea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8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fld id="{530820CF-B880-4189-942D-D702A7CBA730}" type="datetimeFigureOut">
              <a:rPr lang="zh-CN" altLang="en-US" smtClean="0"/>
              <a:t>2024/7/12</a:t>
            </a:fld>
            <a:endParaRPr lang="zh-CN" altLang="en-US"/>
          </a:p>
        </p:txBody>
      </p:sp>
      <p:sp>
        <p:nvSpPr>
          <p:cNvPr id="9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endParaRPr lang="zh-CN" altLang="en-US"/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2" name="Picture 12" descr="图片1副本"/>
          <p:cNvPicPr>
            <a:picLocks noChangeAspect="1" noChangeArrowheads="1"/>
          </p:cNvPicPr>
          <p:nvPr/>
        </p:nvPicPr>
        <p:blipFill>
          <a:blip r:embed="rId2" cstate="print">
            <a:duotone>
              <a:prstClr val="black"/>
              <a:srgbClr val="FF00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8979"/>
          <a:stretch>
            <a:fillRect/>
          </a:stretch>
        </p:blipFill>
        <p:spPr bwMode="auto">
          <a:xfrm>
            <a:off x="-1836712" y="908720"/>
            <a:ext cx="10657184" cy="1327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advClick="0"/>
    </mc:Choice>
    <mc:Fallback xmlns="">
      <p:transition advClick="0"/>
    </mc:Fallback>
  </mc:AlternateContent>
  <p:hf sldNum="0" hdr="0" ftr="0" dt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、文本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28600" y="76200"/>
            <a:ext cx="8534400" cy="6858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228600" y="762000"/>
            <a:ext cx="4210050" cy="57150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91050" y="762000"/>
            <a:ext cx="4211638" cy="57150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</p:cSld>
  <p:clrMapOvr>
    <a:masterClrMapping/>
  </p:clrMapOvr>
  <p:transition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标题、文本和两项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981200"/>
            <a:ext cx="4038600" cy="18669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4000500"/>
            <a:ext cx="4038600" cy="18669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3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en-US" altLang="zh-CN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4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</p:spPr>
        <p:txBody>
          <a:bodyPr/>
          <a:lstStyle/>
          <a:p>
            <a:pPr lvl="0">
              <a:buClr>
                <a:schemeClr val="tx1"/>
              </a:buClr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en-US" altLang="zh-CN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theme" Target="../theme/theme1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FF4F64-6D8C-8A48-B4BA-523317561A37}" type="datetimeFigureOut">
              <a:rPr lang="zh-CN" altLang="en-US" smtClean="0"/>
              <a:t>2024/7/12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 eaLnBrk="1" hangingPunct="1">
              <a:spcBef>
                <a:spcPct val="0"/>
              </a:spcBef>
              <a:buClrTx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  <p:cxnSp>
        <p:nvCxnSpPr>
          <p:cNvPr id="12" name="直接连接符 25"/>
          <p:cNvCxnSpPr/>
          <p:nvPr/>
        </p:nvCxnSpPr>
        <p:spPr>
          <a:xfrm>
            <a:off x="206036" y="6466563"/>
            <a:ext cx="720539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图片 12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7343405" y="6237278"/>
            <a:ext cx="1688365" cy="426849"/>
          </a:xfrm>
          <a:prstGeom prst="rect">
            <a:avLst/>
          </a:prstGeom>
        </p:spPr>
      </p:pic>
      <p:grpSp>
        <p:nvGrpSpPr>
          <p:cNvPr id="14" name="组合 13"/>
          <p:cNvGrpSpPr/>
          <p:nvPr/>
        </p:nvGrpSpPr>
        <p:grpSpPr>
          <a:xfrm>
            <a:off x="332185" y="866028"/>
            <a:ext cx="8452247" cy="1"/>
            <a:chOff x="442913" y="4600577"/>
            <a:chExt cx="11269662" cy="1"/>
          </a:xfrm>
        </p:grpSpPr>
        <p:cxnSp>
          <p:nvCxnSpPr>
            <p:cNvPr id="15" name="直接连接符 31"/>
            <p:cNvCxnSpPr/>
            <p:nvPr/>
          </p:nvCxnSpPr>
          <p:spPr>
            <a:xfrm>
              <a:off x="3714750" y="4600578"/>
              <a:ext cx="7997825" cy="0"/>
            </a:xfrm>
            <a:prstGeom prst="line">
              <a:avLst/>
            </a:prstGeom>
            <a:noFill/>
            <a:ln w="38100" cap="flat" cmpd="sng" algn="ctr">
              <a:gradFill>
                <a:gsLst>
                  <a:gs pos="0">
                    <a:srgbClr val="004299"/>
                  </a:gs>
                  <a:gs pos="100000">
                    <a:srgbClr val="004299">
                      <a:alpha val="0"/>
                    </a:srgbClr>
                  </a:gs>
                </a:gsLst>
                <a:lin ang="0" scaled="0"/>
              </a:gradFill>
              <a:prstDash val="solid"/>
              <a:miter lim="800000"/>
            </a:ln>
            <a:effectLst/>
          </p:spPr>
        </p:cxnSp>
        <p:cxnSp>
          <p:nvCxnSpPr>
            <p:cNvPr id="16" name="直接连接符 32"/>
            <p:cNvCxnSpPr/>
            <p:nvPr/>
          </p:nvCxnSpPr>
          <p:spPr>
            <a:xfrm>
              <a:off x="442913" y="4600577"/>
              <a:ext cx="3184207" cy="0"/>
            </a:xfrm>
            <a:prstGeom prst="line">
              <a:avLst/>
            </a:prstGeom>
            <a:noFill/>
            <a:ln w="381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</p:cxn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</p:sldLayoutIdLst>
  <mc:AlternateContent xmlns:mc="http://schemas.openxmlformats.org/markup-compatibility/2006" xmlns:p14="http://schemas.microsoft.com/office/powerpoint/2010/main">
    <mc:Choice Requires="p14">
      <p:transition advClick="0"/>
    </mc:Choice>
    <mc:Fallback xmlns="">
      <p:transition advClick="0"/>
    </mc:Fallback>
  </mc:AlternateConten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8.w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10.emf"/><Relationship Id="rId2" Type="http://schemas.openxmlformats.org/officeDocument/2006/relationships/slideLayout" Target="../slideLayouts/slideLayout34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9.wmf"/><Relationship Id="rId4" Type="http://schemas.openxmlformats.org/officeDocument/2006/relationships/oleObject" Target="../embeddings/oleObject2.bin"/><Relationship Id="rId9" Type="http://schemas.openxmlformats.org/officeDocument/2006/relationships/image" Target="../media/image11.emf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33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12.wmf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wmf"/><Relationship Id="rId3" Type="http://schemas.openxmlformats.org/officeDocument/2006/relationships/oleObject" Target="../embeddings/oleObject6.bin"/><Relationship Id="rId7" Type="http://schemas.openxmlformats.org/officeDocument/2006/relationships/oleObject" Target="../embeddings/oleObject8.bin"/><Relationship Id="rId2" Type="http://schemas.openxmlformats.org/officeDocument/2006/relationships/slideLayout" Target="../slideLayouts/slideLayout33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3.wmf"/><Relationship Id="rId5" Type="http://schemas.openxmlformats.org/officeDocument/2006/relationships/oleObject" Target="../embeddings/oleObject7.bin"/><Relationship Id="rId10" Type="http://schemas.openxmlformats.org/officeDocument/2006/relationships/image" Target="../media/image15.wmf"/><Relationship Id="rId4" Type="http://schemas.openxmlformats.org/officeDocument/2006/relationships/image" Target="../media/image12.wmf"/><Relationship Id="rId9" Type="http://schemas.openxmlformats.org/officeDocument/2006/relationships/oleObject" Target="../embeddings/oleObject9.bin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16.wmf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GIF"/><Relationship Id="rId1" Type="http://schemas.openxmlformats.org/officeDocument/2006/relationships/slideLayout" Target="../slideLayouts/slideLayout1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emf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emf"/><Relationship Id="rId3" Type="http://schemas.openxmlformats.org/officeDocument/2006/relationships/oleObject" Target="../embeddings/oleObject12.bin"/><Relationship Id="rId7" Type="http://schemas.openxmlformats.org/officeDocument/2006/relationships/oleObject" Target="../embeddings/oleObject1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18.emf"/><Relationship Id="rId5" Type="http://schemas.openxmlformats.org/officeDocument/2006/relationships/oleObject" Target="../embeddings/oleObject13.bin"/><Relationship Id="rId4" Type="http://schemas.openxmlformats.org/officeDocument/2006/relationships/image" Target="../media/image22.emf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1" name="Rectangle 2"/>
          <p:cNvSpPr>
            <a:spLocks noGrp="1" noRot="1"/>
          </p:cNvSpPr>
          <p:nvPr>
            <p:ph type="subTitle" idx="1"/>
          </p:nvPr>
        </p:nvSpPr>
        <p:spPr>
          <a:xfrm>
            <a:off x="628650" y="1019175"/>
            <a:ext cx="7886700" cy="5838825"/>
          </a:xfrm>
          <a:solidFill>
            <a:schemeClr val="bg1">
              <a:alpha val="100000"/>
            </a:schemeClr>
          </a:solidFill>
        </p:spPr>
        <p:txBody>
          <a:bodyPr vert="horz" wrap="square" lIns="91440" tIns="45720" rIns="91440" bIns="45720" anchor="t"/>
          <a:lstStyle/>
          <a:p>
            <a:pPr algn="l">
              <a:buNone/>
            </a:pPr>
            <a:r>
              <a:rPr lang="zh-CN" altLang="en-US" sz="2400" dirty="0"/>
              <a:t>朴素贝叶斯分类器是一种基于贝叶斯理论的分类器。它的特点是以概率形式表达所有形式的不确定，学习和推理都由概率规则实现，学习的结果可以解释为对不同可能的信任程度。 </a:t>
            </a:r>
          </a:p>
          <a:p>
            <a:pPr algn="l">
              <a:buNone/>
            </a:pPr>
            <a:r>
              <a:rPr lang="en-US" altLang="zh-CN" sz="2400" dirty="0"/>
              <a:t>P(H)</a:t>
            </a:r>
            <a:r>
              <a:rPr lang="zh-CN" altLang="en-US" sz="2400" dirty="0"/>
              <a:t>是先验概率，或</a:t>
            </a:r>
            <a:r>
              <a:rPr lang="en-US" altLang="zh-CN" sz="2400" dirty="0"/>
              <a:t>H</a:t>
            </a:r>
            <a:r>
              <a:rPr lang="zh-CN" altLang="en-US" sz="2400" dirty="0"/>
              <a:t>的先验概率。</a:t>
            </a:r>
            <a:r>
              <a:rPr lang="en-US" altLang="zh-CN" sz="2400" dirty="0"/>
              <a:t>P(H|X)</a:t>
            </a:r>
            <a:r>
              <a:rPr lang="zh-CN" altLang="en-US" sz="2400" dirty="0"/>
              <a:t>是后验概率，或条件</a:t>
            </a:r>
            <a:r>
              <a:rPr lang="en-US" altLang="zh-CN" sz="2400" dirty="0"/>
              <a:t>X</a:t>
            </a:r>
            <a:r>
              <a:rPr lang="zh-CN" altLang="en-US" sz="2400" dirty="0"/>
              <a:t>下，</a:t>
            </a:r>
            <a:r>
              <a:rPr lang="en-US" altLang="zh-CN" sz="2400" dirty="0"/>
              <a:t>H</a:t>
            </a:r>
            <a:r>
              <a:rPr lang="zh-CN" altLang="en-US" sz="2400" dirty="0"/>
              <a:t>的后验概率。后验概率</a:t>
            </a:r>
            <a:r>
              <a:rPr lang="en-US" altLang="zh-CN" sz="2400" dirty="0"/>
              <a:t>P(H|X)</a:t>
            </a:r>
            <a:r>
              <a:rPr lang="zh-CN" altLang="en-US" sz="2400" dirty="0"/>
              <a:t>比先验概率</a:t>
            </a:r>
            <a:r>
              <a:rPr lang="en-US" altLang="zh-CN" sz="2400" dirty="0"/>
              <a:t>P(H)</a:t>
            </a:r>
            <a:r>
              <a:rPr lang="zh-CN" altLang="en-US" sz="2400" dirty="0"/>
              <a:t>基于更多的信息。</a:t>
            </a:r>
            <a:r>
              <a:rPr lang="en-US" altLang="zh-CN" sz="2400" dirty="0"/>
              <a:t>P(H)</a:t>
            </a:r>
            <a:r>
              <a:rPr lang="zh-CN" altLang="en-US" sz="2400" dirty="0"/>
              <a:t>是独立于</a:t>
            </a:r>
            <a:r>
              <a:rPr lang="en-US" altLang="zh-CN" sz="2400" dirty="0"/>
              <a:t>X</a:t>
            </a:r>
            <a:r>
              <a:rPr lang="zh-CN" altLang="en-US" sz="2400" dirty="0"/>
              <a:t>的。</a:t>
            </a:r>
          </a:p>
          <a:p>
            <a:pPr algn="l">
              <a:buNone/>
            </a:pPr>
            <a:endParaRPr lang="zh-CN" altLang="en-US" sz="2400" dirty="0"/>
          </a:p>
          <a:p>
            <a:pPr algn="l">
              <a:buNone/>
            </a:pPr>
            <a:endParaRPr lang="zh-CN" altLang="en-US" sz="2400" dirty="0"/>
          </a:p>
          <a:p>
            <a:pPr algn="l">
              <a:buNone/>
            </a:pPr>
            <a:endParaRPr lang="zh-CN" altLang="en-US" sz="2400" dirty="0"/>
          </a:p>
          <a:p>
            <a:pPr algn="l">
              <a:buNone/>
            </a:pPr>
            <a:r>
              <a:rPr lang="zh-CN" altLang="en-US" sz="2400" dirty="0"/>
              <a:t>假定数据样本世界由水果组成，用它们的颜色和形状描述。假定</a:t>
            </a:r>
            <a:r>
              <a:rPr lang="en-US" altLang="zh-CN" sz="2400" dirty="0"/>
              <a:t>X</a:t>
            </a:r>
            <a:r>
              <a:rPr lang="zh-CN" altLang="en-US" sz="2400" dirty="0"/>
              <a:t>表示红色和圆的，</a:t>
            </a:r>
            <a:r>
              <a:rPr lang="en-US" altLang="zh-CN" sz="2400" dirty="0"/>
              <a:t>H</a:t>
            </a:r>
            <a:r>
              <a:rPr lang="zh-CN" altLang="en-US" sz="2400" dirty="0"/>
              <a:t>表示假定</a:t>
            </a:r>
            <a:r>
              <a:rPr lang="en-US" altLang="zh-CN" sz="2400" dirty="0"/>
              <a:t>X</a:t>
            </a:r>
            <a:r>
              <a:rPr lang="zh-CN" altLang="en-US" sz="2400" dirty="0"/>
              <a:t>是苹果，则</a:t>
            </a:r>
            <a:r>
              <a:rPr lang="en-US" altLang="zh-CN" sz="2400" dirty="0"/>
              <a:t>P(H|X)</a:t>
            </a:r>
            <a:r>
              <a:rPr lang="zh-CN" altLang="en-US" sz="2400" dirty="0"/>
              <a:t>反映当我们看到</a:t>
            </a:r>
            <a:r>
              <a:rPr lang="en-US" altLang="zh-CN" sz="2400" dirty="0"/>
              <a:t>X</a:t>
            </a:r>
            <a:r>
              <a:rPr lang="zh-CN" altLang="en-US" sz="2400" dirty="0"/>
              <a:t>是红色并是圆的时，我们对</a:t>
            </a:r>
            <a:r>
              <a:rPr lang="en-US" altLang="zh-CN" sz="2400" dirty="0"/>
              <a:t>X</a:t>
            </a:r>
            <a:r>
              <a:rPr lang="zh-CN" altLang="en-US" sz="2400" dirty="0"/>
              <a:t>是苹果的确信程度。</a:t>
            </a:r>
          </a:p>
        </p:txBody>
      </p:sp>
      <p:sp>
        <p:nvSpPr>
          <p:cNvPr id="81922" name="Rectangle 3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81923" name="Rectangle 4"/>
          <p:cNvSpPr/>
          <p:nvPr/>
        </p:nvSpPr>
        <p:spPr>
          <a:xfrm>
            <a:off x="0" y="34290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81924" name="Rectangle 5"/>
          <p:cNvSpPr/>
          <p:nvPr/>
        </p:nvSpPr>
        <p:spPr>
          <a:xfrm>
            <a:off x="0" y="314801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81925" name="Rectangle 6"/>
          <p:cNvSpPr/>
          <p:nvPr/>
        </p:nvSpPr>
        <p:spPr>
          <a:xfrm>
            <a:off x="0" y="31623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rcRect l="21137" t="52135" r="43441" b="32118"/>
          <a:stretch>
            <a:fillRect/>
          </a:stretch>
        </p:blipFill>
        <p:spPr>
          <a:xfrm>
            <a:off x="824230" y="3500120"/>
            <a:ext cx="7526020" cy="115189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628650" y="248920"/>
            <a:ext cx="5734050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>
              <a:buNone/>
            </a:pPr>
            <a:r>
              <a:rPr lang="zh-CN" altLang="en-US" dirty="0">
                <a:solidFill>
                  <a:srgbClr val="0070C0"/>
                </a:solidFill>
                <a:sym typeface="+mn-ea"/>
              </a:rPr>
              <a:t>朴素贝叶斯（</a:t>
            </a:r>
            <a:r>
              <a:rPr lang="en-US" altLang="zh-CN" dirty="0">
                <a:solidFill>
                  <a:srgbClr val="0070C0"/>
                </a:solidFill>
                <a:sym typeface="+mn-ea"/>
              </a:rPr>
              <a:t>Naive Bayes</a:t>
            </a:r>
            <a:r>
              <a:rPr lang="zh-CN" altLang="en-US" dirty="0">
                <a:solidFill>
                  <a:srgbClr val="0070C0"/>
                </a:solidFill>
                <a:sym typeface="+mn-ea"/>
              </a:rPr>
              <a:t>）分类器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advClick="0"/>
    </mc:Choice>
    <mc:Fallback xmlns="">
      <p:transition advClick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945" name="Picture 2" descr="gl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6688" y="692150"/>
            <a:ext cx="2087562" cy="24495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2948" name="Rectangle 5"/>
          <p:cNvSpPr/>
          <p:nvPr/>
        </p:nvSpPr>
        <p:spPr>
          <a:xfrm>
            <a:off x="0" y="314801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82950" name="Rectangle 7"/>
          <p:cNvSpPr/>
          <p:nvPr/>
        </p:nvSpPr>
        <p:spPr>
          <a:xfrm>
            <a:off x="611188" y="4797425"/>
            <a:ext cx="8137525" cy="1800225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/>
          <a:lstStyle/>
          <a:p>
            <a:pPr marL="342900" indent="-342900">
              <a:buChar char="l"/>
            </a:pPr>
            <a:r>
              <a:rPr lang="zh-CN" altLang="en-US" sz="2400" b="1" dirty="0">
                <a:solidFill>
                  <a:srgbClr val="030301"/>
                </a:solidFill>
                <a:latin typeface="Arial" panose="020B0604020202020204" pitchFamily="34" charset="0"/>
              </a:rPr>
              <a:t>朴素贝叶斯分类能够奏效的前提是，</a:t>
            </a:r>
            <a:r>
              <a:rPr lang="en-US" altLang="zh-CN" sz="2400" b="1" dirty="0">
                <a:solidFill>
                  <a:srgbClr val="030301"/>
                </a:solidFill>
                <a:latin typeface="Arial" panose="020B0604020202020204" pitchFamily="34" charset="0"/>
              </a:rPr>
              <a:t>P(X|H) </a:t>
            </a:r>
            <a:r>
              <a:rPr lang="zh-CN" altLang="en-US" sz="2400" b="1" dirty="0">
                <a:solidFill>
                  <a:srgbClr val="030301"/>
                </a:solidFill>
                <a:latin typeface="Arial" panose="020B0604020202020204" pitchFamily="34" charset="0"/>
              </a:rPr>
              <a:t>相对比较容易计算。假定</a:t>
            </a:r>
            <a:r>
              <a:rPr lang="en-US" altLang="zh-CN" sz="2400" b="1" dirty="0">
                <a:solidFill>
                  <a:srgbClr val="030301"/>
                </a:solidFill>
                <a:latin typeface="Arial" panose="020B0604020202020204" pitchFamily="34" charset="0"/>
              </a:rPr>
              <a:t>X</a:t>
            </a:r>
            <a:r>
              <a:rPr lang="zh-CN" altLang="en-US" sz="2400" b="1" dirty="0">
                <a:solidFill>
                  <a:srgbClr val="030301"/>
                </a:solidFill>
                <a:latin typeface="Arial" panose="020B0604020202020204" pitchFamily="34" charset="0"/>
              </a:rPr>
              <a:t>表示红色和圆的，</a:t>
            </a:r>
            <a:r>
              <a:rPr lang="en-US" altLang="zh-CN" sz="2400" b="1" dirty="0">
                <a:solidFill>
                  <a:srgbClr val="030301"/>
                </a:solidFill>
                <a:latin typeface="Arial" panose="020B0604020202020204" pitchFamily="34" charset="0"/>
              </a:rPr>
              <a:t>H</a:t>
            </a:r>
            <a:r>
              <a:rPr lang="zh-CN" altLang="en-US" sz="2400" b="1" dirty="0">
                <a:solidFill>
                  <a:srgbClr val="030301"/>
                </a:solidFill>
                <a:latin typeface="Arial" panose="020B0604020202020204" pitchFamily="34" charset="0"/>
              </a:rPr>
              <a:t>表示假定</a:t>
            </a:r>
            <a:r>
              <a:rPr lang="en-US" altLang="zh-CN" sz="2400" b="1" dirty="0">
                <a:solidFill>
                  <a:srgbClr val="030301"/>
                </a:solidFill>
                <a:latin typeface="Arial" panose="020B0604020202020204" pitchFamily="34" charset="0"/>
              </a:rPr>
              <a:t>X</a:t>
            </a:r>
            <a:r>
              <a:rPr lang="zh-CN" altLang="en-US" sz="2400" b="1" dirty="0">
                <a:solidFill>
                  <a:srgbClr val="030301"/>
                </a:solidFill>
                <a:latin typeface="Arial" panose="020B0604020202020204" pitchFamily="34" charset="0"/>
              </a:rPr>
              <a:t>是苹果；则</a:t>
            </a:r>
            <a:r>
              <a:rPr lang="en-US" altLang="zh-CN" sz="2400" b="1" dirty="0">
                <a:solidFill>
                  <a:srgbClr val="030301"/>
                </a:solidFill>
                <a:latin typeface="Arial" panose="020B0604020202020204" pitchFamily="34" charset="0"/>
              </a:rPr>
              <a:t>P(X|H)</a:t>
            </a:r>
            <a:r>
              <a:rPr lang="zh-CN" altLang="en-US" sz="2400" b="1" dirty="0">
                <a:solidFill>
                  <a:srgbClr val="030301"/>
                </a:solidFill>
                <a:latin typeface="Arial" panose="020B0604020202020204" pitchFamily="34" charset="0"/>
              </a:rPr>
              <a:t>表示已知苹果，它既红又圆的概率。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rcRect l="29141" t="28342" r="38204" b="29332"/>
          <a:stretch>
            <a:fillRect/>
          </a:stretch>
        </p:blipFill>
        <p:spPr>
          <a:xfrm>
            <a:off x="882015" y="1304290"/>
            <a:ext cx="5119370" cy="309626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628650" y="248920"/>
            <a:ext cx="5734050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>
              <a:buNone/>
            </a:pPr>
            <a:r>
              <a:rPr lang="zh-CN" altLang="en-US" dirty="0">
                <a:solidFill>
                  <a:srgbClr val="0070C0"/>
                </a:solidFill>
                <a:sym typeface="+mn-ea"/>
              </a:rPr>
              <a:t>朴素贝叶斯（</a:t>
            </a:r>
            <a:r>
              <a:rPr lang="en-US" altLang="zh-CN" dirty="0">
                <a:solidFill>
                  <a:srgbClr val="0070C0"/>
                </a:solidFill>
                <a:sym typeface="+mn-ea"/>
              </a:rPr>
              <a:t>Naive Bayes</a:t>
            </a:r>
            <a:r>
              <a:rPr lang="zh-CN" altLang="en-US" dirty="0">
                <a:solidFill>
                  <a:srgbClr val="0070C0"/>
                </a:solidFill>
                <a:sym typeface="+mn-ea"/>
              </a:rPr>
              <a:t>）分类器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advClick="0"/>
    </mc:Choice>
    <mc:Fallback xmlns="">
      <p:transition advClick="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内容占位符 2"/>
          <p:cNvSpPr>
            <a:spLocks noGrp="1"/>
          </p:cNvSpPr>
          <p:nvPr>
            <p:ph idx="1"/>
          </p:nvPr>
        </p:nvSpPr>
        <p:spPr>
          <a:xfrm>
            <a:off x="628650" y="1297940"/>
            <a:ext cx="7886700" cy="4879340"/>
          </a:xfrm>
        </p:spPr>
        <p:txBody>
          <a:bodyPr vert="horz" wrap="square" lIns="91440" tIns="45720" rIns="91440" bIns="45720" anchor="t">
            <a:normAutofit lnSpcReduction="10000"/>
          </a:bodyPr>
          <a:lstStyle/>
          <a:p>
            <a:pPr>
              <a:lnSpc>
                <a:spcPct val="150000"/>
              </a:lnSpc>
              <a:buNone/>
            </a:pPr>
            <a:r>
              <a:rPr lang="zh-CN" altLang="en-US" sz="2400" dirty="0"/>
              <a:t>贝叶斯分类的具体工作过程如下：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CN" sz="2400" dirty="0"/>
              <a:t>(l) </a:t>
            </a:r>
            <a:r>
              <a:rPr lang="zh-CN" altLang="en-US" sz="2400" dirty="0"/>
              <a:t>每个数据样本用一个</a:t>
            </a:r>
            <a:r>
              <a:rPr lang="en-US" altLang="zh-CN" sz="2400" dirty="0"/>
              <a:t> n </a:t>
            </a:r>
            <a:r>
              <a:rPr lang="zh-CN" altLang="en-US" sz="2400" dirty="0"/>
              <a:t>维特征向量</a:t>
            </a:r>
            <a:r>
              <a:rPr lang="en-US" altLang="zh-CN" sz="2400" dirty="0"/>
              <a:t> X </a:t>
            </a:r>
            <a:r>
              <a:rPr lang="zh-CN" altLang="en-US" sz="2400" dirty="0"/>
              <a:t>＝</a:t>
            </a:r>
            <a:r>
              <a:rPr lang="en-US" altLang="zh-CN" sz="2400" dirty="0"/>
              <a:t> { x</a:t>
            </a:r>
            <a:r>
              <a:rPr lang="en-US" altLang="zh-CN" sz="2400" baseline="-25000" dirty="0"/>
              <a:t>1</a:t>
            </a:r>
            <a:r>
              <a:rPr lang="en-US" altLang="zh-CN" sz="2400" dirty="0"/>
              <a:t> , x</a:t>
            </a:r>
            <a:r>
              <a:rPr lang="en-US" altLang="zh-CN" sz="2400" baseline="-25000" dirty="0"/>
              <a:t>2</a:t>
            </a:r>
            <a:r>
              <a:rPr lang="en-US" altLang="zh-CN" sz="2400" dirty="0"/>
              <a:t> , …, x</a:t>
            </a:r>
            <a:r>
              <a:rPr lang="en-US" altLang="zh-CN" sz="2400" baseline="-25000" dirty="0"/>
              <a:t>n</a:t>
            </a:r>
            <a:r>
              <a:rPr lang="en-US" altLang="zh-CN" sz="2400" dirty="0"/>
              <a:t> } </a:t>
            </a:r>
            <a:r>
              <a:rPr lang="zh-CN" altLang="en-US" sz="2400" dirty="0"/>
              <a:t>表示，分别描述对</a:t>
            </a:r>
            <a:r>
              <a:rPr lang="en-US" altLang="zh-CN" sz="2400" dirty="0"/>
              <a:t> n </a:t>
            </a:r>
            <a:r>
              <a:rPr lang="zh-CN" altLang="en-US" sz="2400" dirty="0"/>
              <a:t>个性质</a:t>
            </a:r>
            <a:r>
              <a:rPr lang="en-US" altLang="zh-CN" sz="2400" dirty="0"/>
              <a:t> A</a:t>
            </a:r>
            <a:r>
              <a:rPr lang="en-US" altLang="zh-CN" sz="2400" baseline="-25000" dirty="0"/>
              <a:t>1</a:t>
            </a:r>
            <a:r>
              <a:rPr lang="zh-CN" altLang="en-US" sz="2400" dirty="0"/>
              <a:t>，</a:t>
            </a:r>
            <a:r>
              <a:rPr lang="en-US" altLang="zh-CN" sz="2400" dirty="0"/>
              <a:t>A </a:t>
            </a:r>
            <a:r>
              <a:rPr lang="en-US" altLang="zh-CN" sz="2400" baseline="-25000" dirty="0"/>
              <a:t>2</a:t>
            </a:r>
            <a:r>
              <a:rPr lang="zh-CN" altLang="en-US" sz="2400" dirty="0"/>
              <a:t>，</a:t>
            </a:r>
            <a:r>
              <a:rPr lang="en-US" altLang="zh-CN" sz="2400" dirty="0"/>
              <a:t>… A</a:t>
            </a:r>
            <a:r>
              <a:rPr lang="en-US" altLang="zh-CN" sz="2400" baseline="-25000" dirty="0"/>
              <a:t>n</a:t>
            </a:r>
            <a:r>
              <a:rPr lang="en-US" altLang="zh-CN" sz="2400" dirty="0"/>
              <a:t> </a:t>
            </a:r>
            <a:r>
              <a:rPr lang="zh-CN" altLang="en-US" sz="2400" dirty="0"/>
              <a:t>的</a:t>
            </a:r>
            <a:r>
              <a:rPr lang="en-US" altLang="zh-CN" sz="2400" dirty="0"/>
              <a:t> n </a:t>
            </a:r>
            <a:r>
              <a:rPr lang="zh-CN" altLang="en-US" sz="2400" dirty="0"/>
              <a:t>个度量。</a:t>
            </a:r>
            <a:r>
              <a:rPr lang="en-US" altLang="zh-CN" sz="2400" dirty="0"/>
              <a:t> </a:t>
            </a:r>
            <a:endParaRPr lang="zh-CN" altLang="en-US" sz="2400" dirty="0"/>
          </a:p>
          <a:p>
            <a:pPr>
              <a:lnSpc>
                <a:spcPct val="150000"/>
              </a:lnSpc>
              <a:buNone/>
            </a:pPr>
            <a:r>
              <a:rPr lang="en-US" altLang="zh-CN" sz="2400" dirty="0"/>
              <a:t>(2) </a:t>
            </a:r>
            <a:r>
              <a:rPr lang="zh-CN" altLang="en-US" sz="2400" dirty="0"/>
              <a:t>假定有</a:t>
            </a:r>
            <a:r>
              <a:rPr lang="en-US" altLang="zh-CN" sz="2400" dirty="0"/>
              <a:t> m </a:t>
            </a:r>
            <a:r>
              <a:rPr lang="zh-CN" altLang="en-US" sz="2400" dirty="0"/>
              <a:t>个类</a:t>
            </a:r>
            <a:r>
              <a:rPr lang="en-US" altLang="zh-CN" sz="2400" dirty="0"/>
              <a:t> C</a:t>
            </a:r>
            <a:r>
              <a:rPr lang="en-US" altLang="zh-CN" sz="2400" baseline="-25000" dirty="0"/>
              <a:t>1</a:t>
            </a:r>
            <a:r>
              <a:rPr lang="zh-CN" altLang="en-US" sz="2400" dirty="0"/>
              <a:t>，</a:t>
            </a:r>
            <a:r>
              <a:rPr lang="en-US" altLang="zh-CN" sz="2400" dirty="0"/>
              <a:t>C</a:t>
            </a:r>
            <a:r>
              <a:rPr lang="en-US" altLang="zh-CN" sz="2400" baseline="-25000" dirty="0"/>
              <a:t>2</a:t>
            </a:r>
            <a:r>
              <a:rPr lang="en-US" altLang="zh-CN" sz="2400" dirty="0"/>
              <a:t> …, C</a:t>
            </a:r>
            <a:r>
              <a:rPr lang="en-US" altLang="zh-CN" sz="2400" baseline="-25000" dirty="0"/>
              <a:t>m</a:t>
            </a:r>
            <a:r>
              <a:rPr lang="en-US" altLang="zh-CN" sz="2400" dirty="0"/>
              <a:t> </a:t>
            </a:r>
            <a:r>
              <a:rPr lang="zh-CN" altLang="en-US" sz="2400" dirty="0"/>
              <a:t>。给定一个未知的数据样本</a:t>
            </a:r>
            <a:r>
              <a:rPr lang="en-US" altLang="zh-CN" sz="2400" dirty="0"/>
              <a:t> X </a:t>
            </a:r>
            <a:r>
              <a:rPr lang="zh-CN" altLang="en-US" sz="2400" dirty="0"/>
              <a:t>（即没有类标号），分类法将预测</a:t>
            </a:r>
            <a:r>
              <a:rPr lang="en-US" altLang="zh-CN" sz="2400" dirty="0"/>
              <a:t> X </a:t>
            </a:r>
            <a:r>
              <a:rPr lang="zh-CN" altLang="en-US" sz="2400" dirty="0"/>
              <a:t>属于具有最高后验概率（条件</a:t>
            </a:r>
            <a:r>
              <a:rPr lang="en-US" altLang="zh-CN" sz="2400" dirty="0"/>
              <a:t> X </a:t>
            </a:r>
            <a:r>
              <a:rPr lang="zh-CN" altLang="en-US" sz="2400" dirty="0"/>
              <a:t>下）的类。即是说，朴素贝叶斯分类将未知的样本分配给类</a:t>
            </a:r>
            <a:r>
              <a:rPr lang="en-US" altLang="zh-CN" sz="2400" dirty="0"/>
              <a:t> C</a:t>
            </a:r>
            <a:r>
              <a:rPr lang="en-US" altLang="zh-CN" sz="2400" baseline="-25000" dirty="0"/>
              <a:t>i</a:t>
            </a:r>
            <a:r>
              <a:rPr lang="en-US" altLang="zh-CN" sz="2400" dirty="0"/>
              <a:t> </a:t>
            </a:r>
            <a:r>
              <a:rPr lang="zh-CN" altLang="en-US" sz="2400" dirty="0"/>
              <a:t>，这样，最大化</a:t>
            </a:r>
            <a:r>
              <a:rPr lang="en-US" altLang="zh-CN" sz="2400" dirty="0"/>
              <a:t> P(C</a:t>
            </a:r>
            <a:r>
              <a:rPr lang="en-US" altLang="zh-CN" sz="2400" baseline="-25000" dirty="0"/>
              <a:t>i</a:t>
            </a:r>
            <a:r>
              <a:rPr lang="en-US" altLang="zh-CN" sz="2400" dirty="0"/>
              <a:t>| X)</a:t>
            </a:r>
            <a:r>
              <a:rPr lang="zh-CN" altLang="en-US" sz="2400" dirty="0"/>
              <a:t>。其中</a:t>
            </a:r>
            <a:r>
              <a:rPr lang="en-US" altLang="zh-CN" sz="2400" dirty="0"/>
              <a:t>P(C</a:t>
            </a:r>
            <a:r>
              <a:rPr lang="en-US" altLang="zh-CN" sz="2400" baseline="-25000" dirty="0"/>
              <a:t>i</a:t>
            </a:r>
            <a:r>
              <a:rPr lang="en-US" altLang="zh-CN" sz="2400" dirty="0"/>
              <a:t>| X)</a:t>
            </a:r>
            <a:r>
              <a:rPr lang="zh-CN" altLang="en-US" sz="2400" dirty="0"/>
              <a:t>最大的类</a:t>
            </a:r>
            <a:r>
              <a:rPr lang="en-US" altLang="zh-CN" sz="2400" dirty="0"/>
              <a:t>C</a:t>
            </a:r>
            <a:r>
              <a:rPr lang="en-US" altLang="zh-CN" sz="2400" baseline="-25000" dirty="0"/>
              <a:t>i</a:t>
            </a:r>
            <a:r>
              <a:rPr lang="zh-CN" altLang="en-US" sz="2400" dirty="0"/>
              <a:t>称为最大后验假定。</a:t>
            </a:r>
            <a:r>
              <a:rPr lang="en-US" altLang="zh-CN" sz="2400" dirty="0"/>
              <a:t> </a:t>
            </a:r>
            <a:endParaRPr lang="zh-CN" altLang="en-US" sz="2400" dirty="0"/>
          </a:p>
          <a:p>
            <a:pPr>
              <a:lnSpc>
                <a:spcPct val="150000"/>
              </a:lnSpc>
              <a:buNone/>
            </a:pPr>
            <a:endParaRPr lang="zh-CN" altLang="en-US" sz="2400" dirty="0"/>
          </a:p>
        </p:txBody>
      </p:sp>
      <p:sp>
        <p:nvSpPr>
          <p:cNvPr id="83971" name="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None/>
              <a:defRPr sz="2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None/>
              <a:defRPr sz="2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None/>
              <a:defRPr sz="2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None/>
              <a:defRPr sz="2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None/>
              <a:defRPr sz="2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spcBef>
                <a:spcPct val="0"/>
              </a:spcBef>
              <a:buClrTx/>
              <a:buFontTx/>
            </a:pPr>
            <a:fld id="{9A0DB2DC-4C9A-4742-B13C-FB6460FD3503}" type="slidenum">
              <a:rPr lang="en-US" altLang="zh-CN" sz="1400" dirty="0"/>
              <a:t>3</a:t>
            </a:fld>
            <a:endParaRPr lang="en-US" altLang="zh-CN" sz="1400" dirty="0"/>
          </a:p>
        </p:txBody>
      </p:sp>
      <p:sp>
        <p:nvSpPr>
          <p:cNvPr id="8" name="文本框 7"/>
          <p:cNvSpPr txBox="1"/>
          <p:nvPr/>
        </p:nvSpPr>
        <p:spPr>
          <a:xfrm>
            <a:off x="628650" y="248920"/>
            <a:ext cx="5734050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>
              <a:buNone/>
            </a:pPr>
            <a:r>
              <a:rPr lang="zh-CN" altLang="en-US" dirty="0">
                <a:solidFill>
                  <a:srgbClr val="0070C0"/>
                </a:solidFill>
                <a:sym typeface="+mn-ea"/>
              </a:rPr>
              <a:t>朴素贝叶斯（</a:t>
            </a:r>
            <a:r>
              <a:rPr lang="en-US" altLang="zh-CN" dirty="0">
                <a:solidFill>
                  <a:srgbClr val="0070C0"/>
                </a:solidFill>
                <a:sym typeface="+mn-ea"/>
              </a:rPr>
              <a:t>Naive Bayes</a:t>
            </a:r>
            <a:r>
              <a:rPr lang="zh-CN" altLang="en-US" dirty="0">
                <a:solidFill>
                  <a:srgbClr val="0070C0"/>
                </a:solidFill>
                <a:sym typeface="+mn-ea"/>
              </a:rPr>
              <a:t>）分类器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advClick="0"/>
    </mc:Choice>
    <mc:Fallback xmlns="">
      <p:transition advClick="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内容占位符 2"/>
          <p:cNvSpPr>
            <a:spLocks noGrp="1"/>
          </p:cNvSpPr>
          <p:nvPr>
            <p:ph idx="1"/>
          </p:nvPr>
        </p:nvSpPr>
        <p:spPr>
          <a:xfrm>
            <a:off x="628650" y="826770"/>
            <a:ext cx="8322310" cy="5464810"/>
          </a:xfrm>
        </p:spPr>
        <p:txBody>
          <a:bodyPr vert="horz" wrap="square" lIns="91440" tIns="45720" rIns="91440" bIns="45720" anchor="t">
            <a:no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altLang="zh-CN" sz="2400" dirty="0"/>
              <a:t>(3) </a:t>
            </a:r>
            <a:r>
              <a:rPr lang="zh-CN" altLang="en-US" sz="2400" dirty="0"/>
              <a:t>由于</a:t>
            </a:r>
            <a:r>
              <a:rPr lang="en-US" altLang="zh-CN" sz="2400" dirty="0"/>
              <a:t> P(X) </a:t>
            </a:r>
            <a:r>
              <a:rPr lang="zh-CN" altLang="en-US" sz="2400" dirty="0"/>
              <a:t>对于所有类为常数，只需要</a:t>
            </a:r>
            <a:r>
              <a:rPr lang="en-US" altLang="zh-CN" sz="2400" dirty="0"/>
              <a:t> P(X | C</a:t>
            </a:r>
            <a:r>
              <a:rPr lang="en-US" altLang="zh-CN" sz="2400" baseline="-25000" dirty="0"/>
              <a:t>i</a:t>
            </a:r>
            <a:r>
              <a:rPr lang="en-US" altLang="zh-CN" sz="2400" dirty="0"/>
              <a:t>)P(C) </a:t>
            </a:r>
            <a:r>
              <a:rPr lang="zh-CN" altLang="en-US" sz="2400" dirty="0"/>
              <a:t>最大即可。如果类的先验概率未知，则通常假定这些类是等概率的，即</a:t>
            </a:r>
            <a:r>
              <a:rPr lang="en-US" altLang="zh-CN" sz="2400" dirty="0"/>
              <a:t> P(C</a:t>
            </a:r>
            <a:r>
              <a:rPr lang="en-US" altLang="zh-CN" sz="2400" baseline="-25000" dirty="0"/>
              <a:t>1</a:t>
            </a:r>
            <a:r>
              <a:rPr lang="en-US" altLang="zh-CN" sz="2400" dirty="0"/>
              <a:t> )=P(C</a:t>
            </a:r>
            <a:r>
              <a:rPr lang="en-US" altLang="zh-CN" sz="2400" baseline="-25000" dirty="0"/>
              <a:t>2</a:t>
            </a:r>
            <a:r>
              <a:rPr lang="en-US" altLang="zh-CN" sz="2400" dirty="0"/>
              <a:t> )=… =P(C</a:t>
            </a:r>
            <a:r>
              <a:rPr lang="en-US" altLang="zh-CN" sz="2400" baseline="-25000" dirty="0"/>
              <a:t>m</a:t>
            </a:r>
            <a:r>
              <a:rPr lang="en-US" altLang="zh-CN" sz="2400" dirty="0"/>
              <a:t> ) </a:t>
            </a:r>
            <a:r>
              <a:rPr lang="zh-CN" altLang="en-US" sz="2400" dirty="0"/>
              <a:t>。并据此对只</a:t>
            </a:r>
            <a:r>
              <a:rPr lang="en-US" altLang="zh-CN" sz="2400" dirty="0"/>
              <a:t> P(C</a:t>
            </a:r>
            <a:r>
              <a:rPr lang="en-US" altLang="zh-CN" sz="2400" baseline="-25000" dirty="0"/>
              <a:t>i</a:t>
            </a:r>
            <a:r>
              <a:rPr lang="en-US" altLang="zh-CN" sz="2400" dirty="0"/>
              <a:t>| X ) </a:t>
            </a:r>
            <a:r>
              <a:rPr lang="zh-CN" altLang="en-US" sz="2400" dirty="0"/>
              <a:t>最大化；否则，最大化</a:t>
            </a:r>
            <a:r>
              <a:rPr lang="en-US" altLang="zh-CN" sz="2400" dirty="0"/>
              <a:t> P(X |C</a:t>
            </a:r>
            <a:r>
              <a:rPr lang="en-US" altLang="zh-CN" sz="2400" baseline="-25000" dirty="0"/>
              <a:t>i</a:t>
            </a:r>
            <a:r>
              <a:rPr lang="en-US" altLang="zh-CN" sz="2400" dirty="0"/>
              <a:t> )P(C</a:t>
            </a:r>
            <a:r>
              <a:rPr lang="en-US" altLang="zh-CN" sz="2400" baseline="-25000" dirty="0"/>
              <a:t>i</a:t>
            </a:r>
            <a:r>
              <a:rPr lang="en-US" altLang="zh-CN" sz="2400" dirty="0"/>
              <a:t> ) </a:t>
            </a:r>
            <a:r>
              <a:rPr lang="zh-CN" altLang="en-US" sz="2400" dirty="0"/>
              <a:t>。注意，类的先验概率可以用</a:t>
            </a:r>
            <a:r>
              <a:rPr lang="en-US" altLang="zh-CN" sz="2400" dirty="0"/>
              <a:t> P(C</a:t>
            </a:r>
            <a:r>
              <a:rPr lang="en-US" altLang="zh-CN" sz="2400" baseline="-25000" dirty="0"/>
              <a:t>i</a:t>
            </a:r>
            <a:r>
              <a:rPr lang="en-US" altLang="zh-CN" sz="2400" dirty="0"/>
              <a:t>) </a:t>
            </a:r>
            <a:r>
              <a:rPr lang="zh-CN" altLang="en-US" sz="2400" dirty="0"/>
              <a:t>＝</a:t>
            </a:r>
            <a:r>
              <a:rPr lang="en-US" altLang="zh-CN" sz="2400" dirty="0"/>
              <a:t> s</a:t>
            </a:r>
            <a:r>
              <a:rPr lang="en-US" altLang="zh-CN" sz="2400" baseline="-25000" dirty="0"/>
              <a:t>i</a:t>
            </a:r>
            <a:r>
              <a:rPr lang="en-US" altLang="zh-CN" sz="2400" dirty="0"/>
              <a:t>/ s </a:t>
            </a:r>
            <a:r>
              <a:rPr lang="zh-CN" altLang="en-US" sz="2400" dirty="0"/>
              <a:t>计算其中 </a:t>
            </a:r>
            <a:r>
              <a:rPr lang="en-US" altLang="zh-CN" sz="2400" dirty="0"/>
              <a:t>s</a:t>
            </a:r>
            <a:r>
              <a:rPr lang="en-US" altLang="zh-CN" sz="2400" baseline="-25000" dirty="0"/>
              <a:t>i</a:t>
            </a:r>
            <a:r>
              <a:rPr lang="en-US" altLang="zh-CN" sz="2400" dirty="0"/>
              <a:t> </a:t>
            </a:r>
            <a:r>
              <a:rPr lang="zh-CN" altLang="en-US" sz="2400" dirty="0"/>
              <a:t>是类 </a:t>
            </a:r>
            <a:r>
              <a:rPr lang="en-US" altLang="zh-CN" sz="2400" dirty="0"/>
              <a:t>C</a:t>
            </a:r>
            <a:r>
              <a:rPr lang="en-US" altLang="zh-CN" sz="2400" baseline="-25000" dirty="0"/>
              <a:t>i</a:t>
            </a:r>
            <a:r>
              <a:rPr lang="zh-CN" altLang="en-US" sz="2400" dirty="0"/>
              <a:t>中的训练样本数，而</a:t>
            </a:r>
            <a:r>
              <a:rPr lang="en-US" altLang="zh-CN" sz="2400" dirty="0"/>
              <a:t>s</a:t>
            </a:r>
            <a:r>
              <a:rPr lang="zh-CN" altLang="en-US" sz="2400" dirty="0"/>
              <a:t>是训练样本总数。 </a:t>
            </a: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altLang="zh-CN" sz="2400" dirty="0"/>
              <a:t>(4) </a:t>
            </a:r>
            <a:r>
              <a:rPr lang="zh-CN" altLang="en-US" sz="2400" dirty="0"/>
              <a:t>给定具有许多属性的数据集，计算 </a:t>
            </a:r>
            <a:r>
              <a:rPr lang="en-US" altLang="zh-CN" sz="2400" dirty="0"/>
              <a:t>P(X | C</a:t>
            </a:r>
            <a:r>
              <a:rPr lang="en-US" altLang="zh-CN" sz="2400" baseline="-25000" dirty="0"/>
              <a:t>i</a:t>
            </a:r>
            <a:r>
              <a:rPr lang="en-US" altLang="zh-CN" sz="2400" dirty="0"/>
              <a:t>) </a:t>
            </a:r>
            <a:r>
              <a:rPr lang="zh-CN" altLang="en-US" sz="2400" dirty="0"/>
              <a:t>的开销可能非常大。为降低计算 </a:t>
            </a:r>
            <a:r>
              <a:rPr lang="en-US" altLang="zh-CN" sz="2400" dirty="0"/>
              <a:t>P(X | C</a:t>
            </a:r>
            <a:r>
              <a:rPr lang="en-US" altLang="zh-CN" sz="2400" baseline="-25000" dirty="0"/>
              <a:t>i</a:t>
            </a:r>
            <a:r>
              <a:rPr lang="en-US" altLang="zh-CN" sz="2400" dirty="0"/>
              <a:t>) </a:t>
            </a:r>
            <a:r>
              <a:rPr lang="zh-CN" altLang="en-US" sz="2400" dirty="0"/>
              <a:t>的开销，可以做类条件独立的朴素假定。给定样本的类标号，假定属性值相互条件独立，即在属性间，不存在依赖关系。</a:t>
            </a: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altLang="zh-CN" sz="2400" dirty="0"/>
              <a:t>(5) </a:t>
            </a:r>
            <a:r>
              <a:rPr lang="zh-CN" altLang="en-US" sz="2400" dirty="0"/>
              <a:t>为对未知样本</a:t>
            </a:r>
            <a:r>
              <a:rPr lang="en-US" altLang="zh-CN" sz="2400" dirty="0"/>
              <a:t> X </a:t>
            </a:r>
            <a:r>
              <a:rPr lang="zh-CN" altLang="en-US" sz="2400" dirty="0"/>
              <a:t>分类，对每个类</a:t>
            </a:r>
            <a:r>
              <a:rPr lang="en-US" altLang="zh-CN" sz="2400" dirty="0"/>
              <a:t>C</a:t>
            </a:r>
            <a:r>
              <a:rPr lang="en-US" altLang="zh-CN" sz="2400" baseline="-25000" dirty="0"/>
              <a:t>i</a:t>
            </a:r>
            <a:r>
              <a:rPr lang="en-US" altLang="zh-CN" sz="2400" dirty="0"/>
              <a:t> </a:t>
            </a:r>
            <a:r>
              <a:rPr lang="zh-CN" altLang="en-US" sz="2400" dirty="0"/>
              <a:t>，计算 </a:t>
            </a:r>
            <a:r>
              <a:rPr lang="en-US" altLang="zh-CN" sz="2400" dirty="0"/>
              <a:t>P(X|C</a:t>
            </a:r>
            <a:r>
              <a:rPr lang="en-US" altLang="zh-CN" sz="2400" baseline="-25000" dirty="0"/>
              <a:t>i</a:t>
            </a:r>
            <a:r>
              <a:rPr lang="en-US" altLang="zh-CN" sz="2400" dirty="0"/>
              <a:t>)P(C</a:t>
            </a:r>
            <a:r>
              <a:rPr lang="en-US" altLang="zh-CN" sz="2400" baseline="-25000" dirty="0"/>
              <a:t>i</a:t>
            </a:r>
            <a:r>
              <a:rPr lang="en-US" altLang="zh-CN" sz="2400" dirty="0"/>
              <a:t> ) </a:t>
            </a:r>
            <a:r>
              <a:rPr lang="zh-CN" altLang="en-US" sz="2400" dirty="0"/>
              <a:t>。样本</a:t>
            </a:r>
            <a:r>
              <a:rPr lang="en-US" altLang="zh-CN" sz="2400" dirty="0"/>
              <a:t> X </a:t>
            </a:r>
            <a:r>
              <a:rPr lang="zh-CN" altLang="en-US" sz="2400" dirty="0"/>
              <a:t>被指派到类 </a:t>
            </a:r>
            <a:r>
              <a:rPr lang="en-US" altLang="zh-CN" sz="2400" dirty="0"/>
              <a:t>C</a:t>
            </a:r>
            <a:r>
              <a:rPr lang="en-US" altLang="zh-CN" sz="2400" baseline="-25000" dirty="0"/>
              <a:t>i</a:t>
            </a:r>
            <a:r>
              <a:rPr lang="zh-CN" altLang="en-US" sz="2400" dirty="0"/>
              <a:t>，换言之，</a:t>
            </a:r>
            <a:r>
              <a:rPr lang="en-US" altLang="zh-CN" sz="2400" dirty="0"/>
              <a:t> X </a:t>
            </a:r>
            <a:r>
              <a:rPr lang="zh-CN" altLang="en-US" sz="2400" dirty="0"/>
              <a:t>被指派到其</a:t>
            </a:r>
            <a:r>
              <a:rPr lang="en-US" altLang="zh-CN" sz="2400" dirty="0"/>
              <a:t> P(X| C</a:t>
            </a:r>
            <a:r>
              <a:rPr lang="en-US" altLang="zh-CN" sz="2400" baseline="-25000" dirty="0"/>
              <a:t>i</a:t>
            </a:r>
            <a:r>
              <a:rPr lang="en-US" altLang="zh-CN" sz="2400" dirty="0"/>
              <a:t> )P(C</a:t>
            </a:r>
            <a:r>
              <a:rPr lang="en-US" altLang="zh-CN" sz="2400" baseline="-25000" dirty="0"/>
              <a:t>i</a:t>
            </a:r>
            <a:r>
              <a:rPr lang="en-US" altLang="zh-CN" sz="2400" dirty="0"/>
              <a:t> ) </a:t>
            </a:r>
            <a:r>
              <a:rPr lang="zh-CN" altLang="en-US" sz="2400" dirty="0"/>
              <a:t>最大的类</a:t>
            </a:r>
            <a:r>
              <a:rPr lang="en-US" altLang="zh-CN" sz="2400" dirty="0"/>
              <a:t> C</a:t>
            </a:r>
            <a:r>
              <a:rPr lang="en-US" altLang="zh-CN" sz="2400" baseline="-25000" dirty="0"/>
              <a:t>i</a:t>
            </a:r>
            <a:r>
              <a:rPr lang="zh-CN" altLang="en-US" sz="2400" dirty="0"/>
              <a:t>。</a:t>
            </a:r>
          </a:p>
          <a:p>
            <a:pPr>
              <a:lnSpc>
                <a:spcPct val="120000"/>
              </a:lnSpc>
              <a:spcAft>
                <a:spcPts val="0"/>
              </a:spcAft>
            </a:pPr>
            <a:endParaRPr lang="zh-CN" altLang="en-US" sz="2400" dirty="0"/>
          </a:p>
        </p:txBody>
      </p:sp>
      <p:sp>
        <p:nvSpPr>
          <p:cNvPr id="84995" name="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None/>
              <a:defRPr sz="2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None/>
              <a:defRPr sz="2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None/>
              <a:defRPr sz="2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None/>
              <a:defRPr sz="2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None/>
              <a:defRPr sz="2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spcBef>
                <a:spcPct val="0"/>
              </a:spcBef>
              <a:buClrTx/>
              <a:buFontTx/>
            </a:pPr>
            <a:fld id="{9A0DB2DC-4C9A-4742-B13C-FB6460FD3503}" type="slidenum">
              <a:rPr lang="en-US" altLang="zh-CN" sz="1400" dirty="0"/>
              <a:t>4</a:t>
            </a:fld>
            <a:endParaRPr lang="en-US" altLang="zh-CN" sz="1400" dirty="0"/>
          </a:p>
        </p:txBody>
      </p:sp>
      <p:sp>
        <p:nvSpPr>
          <p:cNvPr id="8" name="文本框 7"/>
          <p:cNvSpPr txBox="1"/>
          <p:nvPr/>
        </p:nvSpPr>
        <p:spPr>
          <a:xfrm>
            <a:off x="628650" y="248920"/>
            <a:ext cx="5734050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>
              <a:buNone/>
            </a:pPr>
            <a:r>
              <a:rPr lang="zh-CN" altLang="en-US" dirty="0">
                <a:solidFill>
                  <a:srgbClr val="0070C0"/>
                </a:solidFill>
                <a:sym typeface="+mn-ea"/>
              </a:rPr>
              <a:t>朴素贝叶斯（</a:t>
            </a:r>
            <a:r>
              <a:rPr lang="en-US" altLang="zh-CN" dirty="0">
                <a:solidFill>
                  <a:srgbClr val="0070C0"/>
                </a:solidFill>
                <a:sym typeface="+mn-ea"/>
              </a:rPr>
              <a:t>Naive Bayes</a:t>
            </a:r>
            <a:r>
              <a:rPr lang="zh-CN" altLang="en-US" dirty="0">
                <a:solidFill>
                  <a:srgbClr val="0070C0"/>
                </a:solidFill>
                <a:sym typeface="+mn-ea"/>
              </a:rPr>
              <a:t>）分类器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advClick="0"/>
    </mc:Choice>
    <mc:Fallback xmlns="">
      <p:transition advClick="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内容占位符 2"/>
          <p:cNvSpPr>
            <a:spLocks noGrp="1"/>
          </p:cNvSpPr>
          <p:nvPr>
            <p:ph idx="1"/>
          </p:nvPr>
        </p:nvSpPr>
        <p:spPr>
          <a:xfrm>
            <a:off x="628650" y="1155700"/>
            <a:ext cx="7886700" cy="5021580"/>
          </a:xfrm>
        </p:spPr>
        <p:txBody>
          <a:bodyPr vert="horz" wrap="square" lIns="91440" tIns="45720" rIns="91440" bIns="45720" anchor="t"/>
          <a:lstStyle/>
          <a:p>
            <a:pPr>
              <a:lnSpc>
                <a:spcPct val="150000"/>
              </a:lnSpc>
              <a:buNone/>
            </a:pPr>
            <a:r>
              <a:rPr lang="zh-CN" altLang="en-US" dirty="0"/>
              <a:t>效率分析：</a:t>
            </a:r>
          </a:p>
          <a:p>
            <a:pPr>
              <a:lnSpc>
                <a:spcPct val="150000"/>
              </a:lnSpc>
              <a:buNone/>
            </a:pPr>
            <a:r>
              <a:rPr lang="zh-CN" altLang="en-US" dirty="0"/>
              <a:t>          理论上</a:t>
            </a:r>
            <a:r>
              <a:rPr lang="en-US" altLang="zh-CN" dirty="0"/>
              <a:t>,</a:t>
            </a:r>
            <a:r>
              <a:rPr lang="zh-CN" altLang="en-US" dirty="0"/>
              <a:t>与其他所有分类算法相比，贝叶斯分类具有最小的出错率。然而，实践中并非总是如此。这是由于对其应用的假定（如类条件独立性）的不准确性，以及缺乏可用的概率数据造成的。</a:t>
            </a:r>
          </a:p>
          <a:p>
            <a:pPr>
              <a:lnSpc>
                <a:spcPct val="150000"/>
              </a:lnSpc>
              <a:buNone/>
            </a:pPr>
            <a:r>
              <a:rPr lang="zh-CN" altLang="en-US" dirty="0"/>
              <a:t>           然而，种种实验研究表明，与判定树和神经网络分类算法相比，在某些领域，该分类算法可以与之媲美。</a:t>
            </a:r>
          </a:p>
        </p:txBody>
      </p:sp>
      <p:sp>
        <p:nvSpPr>
          <p:cNvPr id="86019" name="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None/>
              <a:defRPr sz="2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None/>
              <a:defRPr sz="2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None/>
              <a:defRPr sz="2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None/>
              <a:defRPr sz="2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None/>
              <a:defRPr sz="2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spcBef>
                <a:spcPct val="0"/>
              </a:spcBef>
              <a:buClrTx/>
              <a:buFontTx/>
            </a:pPr>
            <a:fld id="{9A0DB2DC-4C9A-4742-B13C-FB6460FD3503}" type="slidenum">
              <a:rPr lang="en-US" altLang="zh-CN" sz="1400" dirty="0"/>
              <a:t>5</a:t>
            </a:fld>
            <a:endParaRPr lang="en-US" altLang="zh-CN" sz="1400" dirty="0"/>
          </a:p>
        </p:txBody>
      </p:sp>
      <p:sp>
        <p:nvSpPr>
          <p:cNvPr id="8" name="文本框 7"/>
          <p:cNvSpPr txBox="1"/>
          <p:nvPr/>
        </p:nvSpPr>
        <p:spPr>
          <a:xfrm>
            <a:off x="628650" y="248920"/>
            <a:ext cx="5734050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>
              <a:buNone/>
            </a:pPr>
            <a:r>
              <a:rPr lang="zh-CN" altLang="en-US" dirty="0">
                <a:solidFill>
                  <a:srgbClr val="0070C0"/>
                </a:solidFill>
                <a:sym typeface="+mn-ea"/>
              </a:rPr>
              <a:t>朴素贝叶斯（</a:t>
            </a:r>
            <a:r>
              <a:rPr lang="en-US" altLang="zh-CN" dirty="0">
                <a:solidFill>
                  <a:srgbClr val="0070C0"/>
                </a:solidFill>
                <a:sym typeface="+mn-ea"/>
              </a:rPr>
              <a:t>Naive Bayes</a:t>
            </a:r>
            <a:r>
              <a:rPr lang="zh-CN" altLang="en-US" dirty="0">
                <a:solidFill>
                  <a:srgbClr val="0070C0"/>
                </a:solidFill>
                <a:sym typeface="+mn-ea"/>
              </a:rPr>
              <a:t>）分类器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advClick="0"/>
    </mc:Choice>
    <mc:Fallback xmlns="">
      <p:transition advClick="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3" name="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None/>
              <a:defRPr sz="2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None/>
              <a:defRPr sz="2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None/>
              <a:defRPr sz="2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None/>
              <a:defRPr sz="2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None/>
              <a:defRPr sz="2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spcBef>
                <a:spcPct val="0"/>
              </a:spcBef>
              <a:buClrTx/>
              <a:buFontTx/>
            </a:pPr>
            <a:fld id="{9A0DB2DC-4C9A-4742-B13C-FB6460FD3503}" type="slidenum">
              <a:rPr lang="en-US" altLang="zh-CN" sz="1400" dirty="0"/>
              <a:t>6</a:t>
            </a:fld>
            <a:endParaRPr lang="en-US" altLang="zh-CN" sz="1400" dirty="0"/>
          </a:p>
        </p:txBody>
      </p:sp>
      <p:sp>
        <p:nvSpPr>
          <p:cNvPr id="87044" name="Rectangle 2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  <p:pic>
        <p:nvPicPr>
          <p:cNvPr id="87045" name="Picture 1"/>
          <p:cNvPicPr>
            <a:picLocks noChangeAspect="1"/>
          </p:cNvPicPr>
          <p:nvPr/>
        </p:nvPicPr>
        <p:blipFill>
          <a:blip r:embed="rId2"/>
          <a:srcRect l="17497" t="32288" r="17497" b="20474"/>
          <a:stretch>
            <a:fillRect/>
          </a:stretch>
        </p:blipFill>
        <p:spPr>
          <a:xfrm>
            <a:off x="843915" y="913765"/>
            <a:ext cx="7643495" cy="569404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107315" y="116840"/>
            <a:ext cx="8915400" cy="5530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zh-CN" sz="2000" i="1" dirty="0">
                <a:solidFill>
                  <a:srgbClr val="C00000"/>
                </a:solidFill>
                <a:sym typeface="+mn-ea"/>
              </a:rPr>
              <a:t> </a:t>
            </a:r>
            <a:r>
              <a:rPr lang="zh-CN" altLang="en-US" sz="2000" i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sym typeface="+mn-ea"/>
              </a:rPr>
              <a:t>练习：</a:t>
            </a:r>
            <a:r>
              <a:rPr lang="en-US" altLang="zh-CN" sz="2000" i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sym typeface="+mn-ea"/>
              </a:rPr>
              <a:t>age=60, income=medium, student=no </a:t>
            </a:r>
            <a:r>
              <a:rPr lang="zh-CN" altLang="en-US" sz="2000" i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sym typeface="+mn-ea"/>
              </a:rPr>
              <a:t>，</a:t>
            </a:r>
            <a:r>
              <a:rPr lang="en-US" altLang="zh-CN" sz="2000" i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sym typeface="+mn-ea"/>
              </a:rPr>
              <a:t>credit rating=fair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advClick="0"/>
    </mc:Choice>
    <mc:Fallback xmlns="">
      <p:transition advClick="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内容占位符 2"/>
          <p:cNvSpPr>
            <a:spLocks noGrp="1"/>
          </p:cNvSpPr>
          <p:nvPr>
            <p:ph idx="1"/>
          </p:nvPr>
        </p:nvSpPr>
        <p:spPr>
          <a:xfrm>
            <a:off x="628650" y="1337945"/>
            <a:ext cx="7886700" cy="4839335"/>
          </a:xfrm>
        </p:spPr>
        <p:txBody>
          <a:bodyPr vert="horz" wrap="square" lIns="91440" tIns="45720" rIns="91440" bIns="45720" anchor="t">
            <a:normAutofit fontScale="90000" lnSpcReduction="10000"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/>
              <a:t>数据样本用属性</a:t>
            </a:r>
            <a:r>
              <a:rPr lang="en-US" altLang="zh-CN" sz="2400" dirty="0"/>
              <a:t> age, income, student </a:t>
            </a:r>
            <a:r>
              <a:rPr lang="zh-CN" altLang="en-US" sz="2400" dirty="0"/>
              <a:t>和</a:t>
            </a:r>
            <a:r>
              <a:rPr lang="en-US" altLang="zh-CN" sz="2400" dirty="0"/>
              <a:t> credit rating </a:t>
            </a:r>
            <a:r>
              <a:rPr lang="zh-CN" altLang="en-US" sz="2400" dirty="0"/>
              <a:t>描述。类标号属性</a:t>
            </a:r>
            <a:r>
              <a:rPr lang="en-US" altLang="zh-CN" sz="2400" dirty="0"/>
              <a:t> buys-compute </a:t>
            </a:r>
            <a:r>
              <a:rPr lang="zh-CN" altLang="en-US" sz="2400" dirty="0"/>
              <a:t>俱有两个不同值（即｛</a:t>
            </a:r>
            <a:r>
              <a:rPr lang="en-US" altLang="zh-CN" sz="2400" dirty="0"/>
              <a:t> yes, no </a:t>
            </a:r>
            <a:r>
              <a:rPr lang="zh-CN" altLang="en-US" sz="2400" dirty="0"/>
              <a:t>｝）。</a:t>
            </a:r>
          </a:p>
          <a:p>
            <a:pPr>
              <a:lnSpc>
                <a:spcPct val="150000"/>
              </a:lnSpc>
            </a:pPr>
            <a:r>
              <a:rPr lang="en-US" altLang="zh-CN" sz="2400" dirty="0"/>
              <a:t>    </a:t>
            </a:r>
            <a:r>
              <a:rPr lang="zh-CN" altLang="en-US" sz="2400" dirty="0"/>
              <a:t>设</a:t>
            </a:r>
            <a:r>
              <a:rPr lang="en-US" altLang="zh-CN" sz="2400" dirty="0"/>
              <a:t> C 1 </a:t>
            </a:r>
            <a:r>
              <a:rPr lang="zh-CN" altLang="en-US" sz="2400" dirty="0"/>
              <a:t>对应于类</a:t>
            </a:r>
            <a:r>
              <a:rPr lang="en-US" altLang="zh-CN" sz="2400" dirty="0"/>
              <a:t> buys-computer </a:t>
            </a:r>
            <a:r>
              <a:rPr lang="zh-CN" altLang="en-US" sz="2400" dirty="0"/>
              <a:t>＝</a:t>
            </a:r>
            <a:r>
              <a:rPr lang="en-US" altLang="en-US" sz="2400" dirty="0"/>
              <a:t>“</a:t>
            </a:r>
            <a:r>
              <a:rPr lang="en-US" altLang="zh-CN" sz="2400" dirty="0"/>
              <a:t> yes ”</a:t>
            </a:r>
            <a:r>
              <a:rPr lang="zh-CN" altLang="en-US" sz="2400" dirty="0"/>
              <a:t>，而</a:t>
            </a:r>
            <a:r>
              <a:rPr lang="en-US" altLang="zh-CN" sz="2400" dirty="0"/>
              <a:t> C 2 </a:t>
            </a:r>
            <a:r>
              <a:rPr lang="zh-CN" altLang="en-US" sz="2400" dirty="0"/>
              <a:t>对应于类</a:t>
            </a:r>
            <a:r>
              <a:rPr lang="en-US" altLang="zh-CN" sz="2400" dirty="0"/>
              <a:t> buys computer </a:t>
            </a:r>
            <a:r>
              <a:rPr lang="zh-CN" altLang="en-US" sz="2400" dirty="0"/>
              <a:t>＝</a:t>
            </a:r>
            <a:r>
              <a:rPr lang="en-US" altLang="en-US" sz="2400" dirty="0"/>
              <a:t>“</a:t>
            </a:r>
            <a:r>
              <a:rPr lang="en-US" altLang="zh-CN" sz="2400" dirty="0"/>
              <a:t> no ”</a:t>
            </a:r>
            <a:r>
              <a:rPr lang="zh-CN" altLang="en-US" sz="2400" dirty="0"/>
              <a:t>。待分类的未知样本为</a:t>
            </a:r>
            <a:r>
              <a:rPr lang="en-US" altLang="zh-CN" sz="2400" dirty="0"/>
              <a:t> 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CN" sz="2800" i="1" dirty="0">
                <a:solidFill>
                  <a:srgbClr val="C00000"/>
                </a:solidFill>
              </a:rPr>
              <a:t>             age=22, income=medium, student=yes </a:t>
            </a:r>
            <a:r>
              <a:rPr lang="zh-CN" altLang="en-US" sz="2800" i="1" dirty="0">
                <a:solidFill>
                  <a:srgbClr val="C00000"/>
                </a:solidFill>
              </a:rPr>
              <a:t>，</a:t>
            </a:r>
            <a:r>
              <a:rPr lang="en-US" altLang="zh-CN" sz="2800" i="1" dirty="0">
                <a:solidFill>
                  <a:srgbClr val="C00000"/>
                </a:solidFill>
              </a:rPr>
              <a:t>        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CN" sz="2800" i="1" dirty="0">
                <a:solidFill>
                  <a:srgbClr val="C00000"/>
                </a:solidFill>
              </a:rPr>
              <a:t>             credit rating=fair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CN" sz="2800" i="1" dirty="0">
                <a:solidFill>
                  <a:srgbClr val="C00000"/>
                </a:solidFill>
                <a:sym typeface="+mn-ea"/>
              </a:rPr>
              <a:t> </a:t>
            </a:r>
            <a:r>
              <a:rPr lang="zh-CN" altLang="en-US" sz="2800" i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sym typeface="+mn-ea"/>
              </a:rPr>
              <a:t>练习：</a:t>
            </a:r>
            <a:r>
              <a:rPr lang="en-US" altLang="zh-CN" sz="2800" i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sym typeface="+mn-ea"/>
              </a:rPr>
              <a:t>age=60, income=medium, student=no </a:t>
            </a:r>
            <a:r>
              <a:rPr lang="zh-CN" altLang="en-US" sz="2800" i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sym typeface="+mn-ea"/>
              </a:rPr>
              <a:t>，</a:t>
            </a:r>
            <a:r>
              <a:rPr lang="en-US" altLang="zh-CN" sz="2800" i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sym typeface="+mn-ea"/>
              </a:rPr>
              <a:t>        </a:t>
            </a:r>
            <a:endParaRPr lang="en-US" altLang="zh-CN" sz="2800" i="1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800" i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sym typeface="+mn-ea"/>
              </a:rPr>
              <a:t>             credit rating=fair</a:t>
            </a:r>
            <a:endParaRPr lang="zh-CN" altLang="en-US" sz="2800" i="1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</a:endParaRPr>
          </a:p>
          <a:p>
            <a:pPr>
              <a:lnSpc>
                <a:spcPct val="150000"/>
              </a:lnSpc>
              <a:buNone/>
            </a:pPr>
            <a:endParaRPr lang="zh-CN" altLang="en-US" sz="2800" i="1" dirty="0">
              <a:solidFill>
                <a:srgbClr val="C00000"/>
              </a:solidFill>
            </a:endParaRPr>
          </a:p>
          <a:p>
            <a:pPr>
              <a:lnSpc>
                <a:spcPct val="150000"/>
              </a:lnSpc>
              <a:buNone/>
            </a:pPr>
            <a:endParaRPr lang="zh-CN" altLang="en-US" sz="2800" i="1" dirty="0">
              <a:solidFill>
                <a:srgbClr val="C00000"/>
              </a:solidFill>
            </a:endParaRPr>
          </a:p>
        </p:txBody>
      </p:sp>
      <p:sp>
        <p:nvSpPr>
          <p:cNvPr id="88067" name="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None/>
              <a:defRPr sz="2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None/>
              <a:defRPr sz="2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None/>
              <a:defRPr sz="2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None/>
              <a:defRPr sz="2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None/>
              <a:defRPr sz="2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spcBef>
                <a:spcPct val="0"/>
              </a:spcBef>
              <a:buClrTx/>
              <a:buFontTx/>
            </a:pPr>
            <a:fld id="{9A0DB2DC-4C9A-4742-B13C-FB6460FD3503}" type="slidenum">
              <a:rPr lang="en-US" altLang="zh-CN" sz="1400" dirty="0"/>
              <a:t>7</a:t>
            </a:fld>
            <a:endParaRPr lang="en-US" altLang="zh-CN" sz="1400" dirty="0"/>
          </a:p>
        </p:txBody>
      </p:sp>
      <p:sp>
        <p:nvSpPr>
          <p:cNvPr id="8" name="文本框 7"/>
          <p:cNvSpPr txBox="1"/>
          <p:nvPr/>
        </p:nvSpPr>
        <p:spPr>
          <a:xfrm>
            <a:off x="628650" y="248920"/>
            <a:ext cx="5734050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>
              <a:buNone/>
            </a:pPr>
            <a:r>
              <a:rPr lang="zh-CN" altLang="en-US" dirty="0">
                <a:solidFill>
                  <a:srgbClr val="0070C0"/>
                </a:solidFill>
                <a:sym typeface="+mn-ea"/>
              </a:rPr>
              <a:t>朴素贝叶斯（</a:t>
            </a:r>
            <a:r>
              <a:rPr lang="en-US" altLang="zh-CN" dirty="0">
                <a:solidFill>
                  <a:srgbClr val="0070C0"/>
                </a:solidFill>
                <a:sym typeface="+mn-ea"/>
              </a:rPr>
              <a:t>Naive Bayes</a:t>
            </a:r>
            <a:r>
              <a:rPr lang="zh-CN" altLang="en-US" dirty="0">
                <a:solidFill>
                  <a:srgbClr val="0070C0"/>
                </a:solidFill>
                <a:sym typeface="+mn-ea"/>
              </a:rPr>
              <a:t>）分类器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advClick="0"/>
    </mc:Choice>
    <mc:Fallback xmlns="">
      <p:transition advClick="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9091" name="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None/>
              <a:defRPr sz="2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None/>
              <a:defRPr sz="2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None/>
              <a:defRPr sz="2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None/>
              <a:defRPr sz="2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None/>
              <a:defRPr sz="2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spcBef>
                <a:spcPct val="0"/>
              </a:spcBef>
              <a:buClrTx/>
              <a:buFontTx/>
            </a:pPr>
            <a:fld id="{9A0DB2DC-4C9A-4742-B13C-FB6460FD3503}" type="slidenum">
              <a:rPr lang="en-US" altLang="zh-CN" sz="1400" dirty="0"/>
              <a:t>8</a:t>
            </a:fld>
            <a:endParaRPr lang="en-US" altLang="zh-CN" sz="1400" dirty="0"/>
          </a:p>
        </p:txBody>
      </p:sp>
      <p:sp>
        <p:nvSpPr>
          <p:cNvPr id="89092" name="Rectangle 2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  <p:pic>
        <p:nvPicPr>
          <p:cNvPr id="89093" name="Picture 1"/>
          <p:cNvPicPr>
            <a:picLocks noChangeAspect="1"/>
          </p:cNvPicPr>
          <p:nvPr/>
        </p:nvPicPr>
        <p:blipFill>
          <a:blip r:embed="rId2"/>
          <a:srcRect l="22702" t="15553" r="9377" b="14569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advClick="0"/>
    </mc:Choice>
    <mc:Fallback xmlns="">
      <p:transition advClick="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422275" y="1191260"/>
            <a:ext cx="8064500" cy="4474845"/>
          </a:xfrm>
        </p:spPr>
        <p:txBody>
          <a:bodyPr/>
          <a:lstStyle/>
          <a:p>
            <a:pPr>
              <a:lnSpc>
                <a:spcPct val="150000"/>
              </a:lnSpc>
              <a:buNone/>
            </a:pPr>
            <a:r>
              <a:rPr lang="en-US" altLang="zh-CN" i="1" dirty="0">
                <a:solidFill>
                  <a:schemeClr val="tx1"/>
                </a:solidFill>
                <a:sym typeface="+mn-ea"/>
              </a:rPr>
              <a:t>             </a:t>
            </a:r>
            <a:r>
              <a:rPr lang="zh-CN" altLang="en-US" i="1" dirty="0">
                <a:solidFill>
                  <a:schemeClr val="tx1"/>
                </a:solidFill>
                <a:sym typeface="+mn-ea"/>
              </a:rPr>
              <a:t>在已知样本集上，采用贝叶斯分类方法，针对新样本进行分类（</a:t>
            </a:r>
            <a:r>
              <a:rPr lang="en-US" altLang="zh-CN" i="1" dirty="0">
                <a:solidFill>
                  <a:schemeClr val="tx1"/>
                </a:solidFill>
                <a:sym typeface="+mn-ea"/>
              </a:rPr>
              <a:t>age=60, income=medium, student=no </a:t>
            </a:r>
            <a:r>
              <a:rPr lang="zh-CN" altLang="en-US" i="1" dirty="0">
                <a:solidFill>
                  <a:schemeClr val="tx1"/>
                </a:solidFill>
                <a:sym typeface="+mn-ea"/>
              </a:rPr>
              <a:t>，</a:t>
            </a:r>
            <a:r>
              <a:rPr lang="en-US" altLang="zh-CN" i="1" dirty="0">
                <a:solidFill>
                  <a:schemeClr val="tx1"/>
                </a:solidFill>
                <a:sym typeface="+mn-ea"/>
              </a:rPr>
              <a:t>credit rating=fair}</a:t>
            </a:r>
            <a:r>
              <a:rPr lang="zh-CN" altLang="en-US" i="1" dirty="0">
                <a:solidFill>
                  <a:schemeClr val="tx1"/>
                </a:solidFill>
                <a:sym typeface="+mn-ea"/>
              </a:rPr>
              <a:t>，写出分类过程。</a:t>
            </a:r>
            <a:endParaRPr lang="zh-CN" altLang="en-US" i="1" dirty="0">
              <a:solidFill>
                <a:schemeClr val="tx1"/>
              </a:solidFill>
            </a:endParaRPr>
          </a:p>
          <a:p>
            <a:endParaRPr lang="zh-CN" altLang="en-US" i="1" dirty="0">
              <a:solidFill>
                <a:schemeClr val="tx1"/>
              </a:solidFill>
            </a:endParaRPr>
          </a:p>
        </p:txBody>
      </p:sp>
      <p:sp>
        <p:nvSpPr>
          <p:cNvPr id="87043" name="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None/>
              <a:defRPr sz="2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None/>
              <a:defRPr sz="2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None/>
              <a:defRPr sz="2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None/>
              <a:defRPr sz="2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None/>
              <a:defRPr sz="2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spcBef>
                <a:spcPct val="0"/>
              </a:spcBef>
              <a:buClrTx/>
              <a:buFontTx/>
            </a:pPr>
            <a:fld id="{9A0DB2DC-4C9A-4742-B13C-FB6460FD3503}" type="slidenum">
              <a:rPr lang="en-US" altLang="zh-CN" sz="1400" dirty="0"/>
              <a:t>9</a:t>
            </a:fld>
            <a:endParaRPr lang="en-US" altLang="zh-CN" sz="1400" dirty="0"/>
          </a:p>
        </p:txBody>
      </p:sp>
      <p:sp>
        <p:nvSpPr>
          <p:cNvPr id="87044" name="Rectangle 2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  <p:pic>
        <p:nvPicPr>
          <p:cNvPr id="87045" name="Picture 1"/>
          <p:cNvPicPr>
            <a:picLocks noChangeAspect="1"/>
          </p:cNvPicPr>
          <p:nvPr/>
        </p:nvPicPr>
        <p:blipFill>
          <a:blip r:embed="rId2"/>
          <a:srcRect l="17497" t="32288" r="17497" b="20474"/>
          <a:stretch>
            <a:fillRect/>
          </a:stretch>
        </p:blipFill>
        <p:spPr>
          <a:xfrm>
            <a:off x="843915" y="2606040"/>
            <a:ext cx="7643495" cy="400177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" name="文本框 7"/>
          <p:cNvSpPr txBox="1"/>
          <p:nvPr/>
        </p:nvSpPr>
        <p:spPr>
          <a:xfrm>
            <a:off x="628650" y="248920"/>
            <a:ext cx="5734050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>
              <a:buNone/>
            </a:pPr>
            <a:r>
              <a:rPr lang="zh-CN" altLang="en-US" dirty="0">
                <a:solidFill>
                  <a:srgbClr val="0070C0"/>
                </a:solidFill>
                <a:sym typeface="+mn-ea"/>
              </a:rPr>
              <a:t>朴素贝叶斯（</a:t>
            </a:r>
            <a:r>
              <a:rPr lang="en-US" altLang="zh-CN" dirty="0">
                <a:solidFill>
                  <a:srgbClr val="0070C0"/>
                </a:solidFill>
                <a:sym typeface="+mn-ea"/>
              </a:rPr>
              <a:t>Naive Bayes</a:t>
            </a:r>
            <a:r>
              <a:rPr lang="zh-CN" altLang="en-US" dirty="0">
                <a:solidFill>
                  <a:srgbClr val="0070C0"/>
                </a:solidFill>
                <a:sym typeface="+mn-ea"/>
              </a:rPr>
              <a:t>）分类器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advClick="0"/>
    </mc:Choice>
    <mc:Fallback xmlns="">
      <p:transition advClick="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机器学习的参考资料</a:t>
            </a:r>
          </a:p>
          <a:p>
            <a:r>
              <a:rPr lang="zh-CN" altLang="en-US"/>
              <a:t>https://www.cnblogs.com/nickchen121/p/10802091.html</a:t>
            </a:r>
          </a:p>
          <a:p>
            <a:endParaRPr lang="zh-CN" altLang="en-US"/>
          </a:p>
          <a:p>
            <a:r>
              <a:rPr lang="zh-CN" altLang="en-US"/>
              <a:t>文本分类的相关链接</a:t>
            </a:r>
          </a:p>
          <a:p>
            <a:r>
              <a:rPr lang="zh-CN" altLang="en-US"/>
              <a:t>https://blog.csdn.net/Datawhale/article/details/107852921</a:t>
            </a:r>
          </a:p>
          <a:p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advClick="0"/>
    </mc:Choice>
    <mc:Fallback xmlns="">
      <p:transition advClick="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0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524000" y="2438400"/>
            <a:ext cx="6248400" cy="1987550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6000" b="1" i="0" u="none" strike="noStrike" kern="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+mj-lt"/>
                <a:ea typeface="+mj-ea"/>
                <a:cs typeface="宋体" panose="02010600030101010101" pitchFamily="2" charset="-122"/>
              </a:rPr>
              <a:t>Support Vector Machines </a:t>
            </a:r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00355" y="313690"/>
            <a:ext cx="8534400" cy="685800"/>
          </a:xfrm>
        </p:spPr>
        <p:txBody>
          <a:bodyPr/>
          <a:lstStyle/>
          <a:p>
            <a:r>
              <a:rPr lang="zh-CN" altLang="en-US"/>
              <a:t>概述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0355" y="1080135"/>
            <a:ext cx="8574088" cy="5715000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zh-CN" altLang="en-US" sz="2400"/>
              <a:t>支持向量机（Support Vector Machine, SVM）是一类按</a:t>
            </a:r>
            <a:r>
              <a:rPr lang="zh-CN" altLang="en-US" sz="2400">
                <a:solidFill>
                  <a:srgbClr val="FF0000"/>
                </a:solidFill>
              </a:rPr>
              <a:t>监督学习（supervised learning）方式对数据进行二元分类的广义线性分类器</a:t>
            </a:r>
            <a:r>
              <a:rPr lang="zh-CN" altLang="en-US" sz="2400"/>
              <a:t>（generalized linear classifier），其决策边界是对学习样本求解的</a:t>
            </a:r>
            <a:r>
              <a:rPr lang="zh-CN" altLang="en-US" sz="2400">
                <a:solidFill>
                  <a:srgbClr val="FF0000"/>
                </a:solidFill>
              </a:rPr>
              <a:t>最大边距超平面</a:t>
            </a:r>
            <a:r>
              <a:rPr lang="zh-CN" altLang="en-US" sz="2400"/>
              <a:t>（maximum-margin hyperplane）</a:t>
            </a:r>
          </a:p>
          <a:p>
            <a:pPr>
              <a:lnSpc>
                <a:spcPct val="110000"/>
              </a:lnSpc>
            </a:pPr>
            <a:endParaRPr lang="zh-CN" altLang="en-US" sz="2400"/>
          </a:p>
          <a:p>
            <a:pPr>
              <a:lnSpc>
                <a:spcPct val="110000"/>
              </a:lnSpc>
            </a:pPr>
            <a:r>
              <a:rPr lang="zh-CN" altLang="en-US" sz="2400"/>
              <a:t>SVM使用</a:t>
            </a:r>
            <a:r>
              <a:rPr lang="zh-CN" altLang="en-US" sz="2400">
                <a:solidFill>
                  <a:srgbClr val="FF0000"/>
                </a:solidFill>
              </a:rPr>
              <a:t>损失函数（hinge loss）计算经验风险</a:t>
            </a:r>
            <a:r>
              <a:rPr lang="zh-CN" altLang="en-US" sz="2400"/>
              <a:t>（empirical risk）并加入了</a:t>
            </a:r>
            <a:r>
              <a:rPr lang="zh-CN" altLang="en-US" sz="2400">
                <a:solidFill>
                  <a:srgbClr val="FF0000"/>
                </a:solidFill>
              </a:rPr>
              <a:t>正则化项以优化结构风险</a:t>
            </a:r>
            <a:r>
              <a:rPr lang="zh-CN" altLang="en-US" sz="2400"/>
              <a:t>（structural risk），是一个具有</a:t>
            </a:r>
            <a:r>
              <a:rPr lang="zh-CN" altLang="en-US" sz="2400">
                <a:solidFill>
                  <a:srgbClr val="FF0000"/>
                </a:solidFill>
              </a:rPr>
              <a:t>稀疏性和稳健性</a:t>
            </a:r>
            <a:r>
              <a:rPr lang="zh-CN" altLang="en-US" sz="2400"/>
              <a:t>的分类器 </a:t>
            </a:r>
          </a:p>
          <a:p>
            <a:pPr>
              <a:lnSpc>
                <a:spcPct val="110000"/>
              </a:lnSpc>
            </a:pPr>
            <a:endParaRPr lang="zh-CN" altLang="en-US" sz="2400"/>
          </a:p>
          <a:p>
            <a:pPr>
              <a:lnSpc>
                <a:spcPct val="110000"/>
              </a:lnSpc>
            </a:pPr>
            <a:r>
              <a:rPr lang="zh-CN" altLang="en-US" sz="2400"/>
              <a:t>SVM被提出于1964年，在二十世纪90年代后得到快速发展并衍生出一系列改进和扩展算法，在人像识别、文本分类等模式识别（pattern recognition）问题中有得到应用。</a:t>
            </a:r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60000"/>
              </a:lnSpc>
            </a:pPr>
            <a:r>
              <a:rPr lang="zh-CN" altLang="en-US"/>
              <a:t>支持向量机，英文为Support Vector Machine，简称SV机。它是一种监督式学习的方法，它广泛的应用于统计分类以及回归分析中。</a:t>
            </a:r>
          </a:p>
          <a:p>
            <a:pPr>
              <a:lnSpc>
                <a:spcPct val="160000"/>
              </a:lnSpc>
            </a:pPr>
            <a:r>
              <a:rPr lang="zh-CN" altLang="en-US"/>
              <a:t>支持向量机将向量映射到一个更高维的空间里，在这个空间里建立有一个最大间隔超平面。</a:t>
            </a:r>
          </a:p>
          <a:p>
            <a:pPr>
              <a:lnSpc>
                <a:spcPct val="160000"/>
              </a:lnSpc>
            </a:pPr>
            <a:r>
              <a:rPr lang="zh-CN" altLang="en-US">
                <a:solidFill>
                  <a:srgbClr val="FF0000"/>
                </a:solidFill>
              </a:rPr>
              <a:t>在分开数据的超平面的两边建有两个互相平行的超平面，分隔超平面使两个平行超平面的距离最大化</a:t>
            </a:r>
            <a:r>
              <a:rPr lang="zh-CN" altLang="en-US"/>
              <a:t>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advClick="0"/>
    </mc:Choice>
    <mc:Fallback xmlns="">
      <p:transition advClick="0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23" name="Rectangle 3"/>
          <p:cNvSpPr>
            <a:spLocks noChangeArrowheads="1"/>
          </p:cNvSpPr>
          <p:nvPr/>
        </p:nvSpPr>
        <p:spPr bwMode="auto">
          <a:xfrm>
            <a:off x="5334000" y="776288"/>
            <a:ext cx="1600200" cy="654050"/>
          </a:xfrm>
          <a:prstGeom prst="rect">
            <a:avLst/>
          </a:prstGeom>
          <a:solidFill>
            <a:srgbClr val="FFCCFF"/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anchor="ctr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3600" b="0" i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rPr>
              <a:t>f </a:t>
            </a: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rPr>
              <a:t>        </a:t>
            </a:r>
          </a:p>
        </p:txBody>
      </p:sp>
      <p:sp>
        <p:nvSpPr>
          <p:cNvPr id="593924" name="Line 4"/>
          <p:cNvSpPr>
            <a:spLocks noChangeShapeType="1"/>
          </p:cNvSpPr>
          <p:nvPr/>
        </p:nvSpPr>
        <p:spPr bwMode="auto">
          <a:xfrm>
            <a:off x="3962400" y="1066800"/>
            <a:ext cx="1371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tailEnd type="triangle" w="med" len="med"/>
          </a:ln>
          <a:effectLst/>
        </p:spPr>
        <p:txBody>
          <a:bodyPr wrap="none"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93925" name="Text Box 5"/>
          <p:cNvSpPr txBox="1">
            <a:spLocks noChangeArrowheads="1"/>
          </p:cNvSpPr>
          <p:nvPr/>
        </p:nvSpPr>
        <p:spPr bwMode="auto">
          <a:xfrm>
            <a:off x="3505200" y="762000"/>
            <a:ext cx="609600" cy="519113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R="0" algn="ctr" defTabSz="914400">
              <a:buSzTx/>
              <a:buFontTx/>
              <a:defRPr/>
            </a:pPr>
            <a:r>
              <a:rPr kumimoji="0" lang="en-US" altLang="zh-CN" sz="2800" b="1" i="1" kern="1200" cap="none" spc="0" normalizeH="0" baseline="0" noProof="0"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rPr>
              <a:t>x</a:t>
            </a:r>
          </a:p>
        </p:txBody>
      </p:sp>
      <p:sp>
        <p:nvSpPr>
          <p:cNvPr id="593928" name="Line 8"/>
          <p:cNvSpPr>
            <a:spLocks noChangeShapeType="1"/>
          </p:cNvSpPr>
          <p:nvPr/>
        </p:nvSpPr>
        <p:spPr bwMode="auto">
          <a:xfrm>
            <a:off x="6934200" y="1066800"/>
            <a:ext cx="1371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tailEnd type="triangle" w="med" len="med"/>
          </a:ln>
          <a:effectLst/>
        </p:spPr>
        <p:txBody>
          <a:bodyPr wrap="none"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93929" name="Text Box 9"/>
          <p:cNvSpPr txBox="1">
            <a:spLocks noChangeArrowheads="1"/>
          </p:cNvSpPr>
          <p:nvPr/>
        </p:nvSpPr>
        <p:spPr bwMode="auto">
          <a:xfrm>
            <a:off x="8305800" y="838200"/>
            <a:ext cx="457200" cy="579438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spcBef>
                <a:spcPct val="20000"/>
              </a:spcBef>
            </a:pPr>
            <a:r>
              <a:rPr lang="en-US" altLang="zh-CN" sz="3200" dirty="0">
                <a:latin typeface="Tahoma" panose="020B0604030504040204" charset="0"/>
                <a:ea typeface="宋体" panose="02010600030101010101" pitchFamily="2" charset="-122"/>
              </a:rPr>
              <a:t>y</a:t>
            </a:r>
            <a:endParaRPr lang="en-US" altLang="zh-CN" sz="3200" baseline="30000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593986" name="Text Box 66"/>
          <p:cNvSpPr txBox="1">
            <a:spLocks noChangeArrowheads="1"/>
          </p:cNvSpPr>
          <p:nvPr/>
        </p:nvSpPr>
        <p:spPr bwMode="auto">
          <a:xfrm>
            <a:off x="838200" y="1905000"/>
            <a:ext cx="1905000" cy="8540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R="0" algn="ctr" defTabSz="914400">
              <a:buSzTx/>
              <a:buFontTx/>
              <a:defRPr/>
            </a:pPr>
            <a:r>
              <a:rPr kumimoji="0" lang="en-US" altLang="zh-CN" kern="1200" cap="none" spc="0" normalizeH="0" baseline="0" noProof="0"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rPr>
              <a:t>+1</a:t>
            </a:r>
          </a:p>
          <a:p>
            <a:pPr marR="0" algn="ctr" defTabSz="914400">
              <a:buSzTx/>
              <a:buFontTx/>
              <a:defRPr/>
            </a:pPr>
            <a:r>
              <a:rPr kumimoji="0" lang="en-US" altLang="zh-CN" kern="1200" cap="none" spc="0" normalizeH="0" baseline="0" noProof="0"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rPr>
              <a:t>-1</a:t>
            </a:r>
          </a:p>
        </p:txBody>
      </p:sp>
      <p:sp>
        <p:nvSpPr>
          <p:cNvPr id="593987" name="Oval 67"/>
          <p:cNvSpPr>
            <a:spLocks noChangeAspect="1" noChangeArrowheads="1"/>
          </p:cNvSpPr>
          <p:nvPr/>
        </p:nvSpPr>
        <p:spPr bwMode="auto">
          <a:xfrm rot="4777107">
            <a:off x="915194" y="2056606"/>
            <a:ext cx="58738" cy="6032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93988" name="Oval 68"/>
          <p:cNvSpPr>
            <a:spLocks noChangeAspect="1" noChangeArrowheads="1"/>
          </p:cNvSpPr>
          <p:nvPr/>
        </p:nvSpPr>
        <p:spPr bwMode="auto">
          <a:xfrm rot="5895381">
            <a:off x="915988" y="2513013"/>
            <a:ext cx="50800" cy="5397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93930" name="Line 10"/>
          <p:cNvSpPr>
            <a:spLocks noChangeShapeType="1"/>
          </p:cNvSpPr>
          <p:nvPr/>
        </p:nvSpPr>
        <p:spPr bwMode="auto">
          <a:xfrm>
            <a:off x="2590800" y="2209800"/>
            <a:ext cx="0" cy="3505200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</a:ln>
          <a:effectLst/>
        </p:spPr>
        <p:txBody>
          <a:bodyPr wrap="none"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93931" name="Line 11"/>
          <p:cNvSpPr>
            <a:spLocks noChangeShapeType="1"/>
          </p:cNvSpPr>
          <p:nvPr/>
        </p:nvSpPr>
        <p:spPr bwMode="auto">
          <a:xfrm flipV="1">
            <a:off x="2438400" y="5562600"/>
            <a:ext cx="3657600" cy="0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</a:ln>
          <a:effectLst/>
        </p:spPr>
        <p:txBody>
          <a:bodyPr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93935" name="Oval 15"/>
          <p:cNvSpPr>
            <a:spLocks noChangeAspect="1" noChangeArrowheads="1"/>
          </p:cNvSpPr>
          <p:nvPr/>
        </p:nvSpPr>
        <p:spPr bwMode="auto">
          <a:xfrm>
            <a:off x="3717925" y="5032375"/>
            <a:ext cx="60325" cy="476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93937" name="Oval 17"/>
          <p:cNvSpPr>
            <a:spLocks noChangeAspect="1" noChangeArrowheads="1"/>
          </p:cNvSpPr>
          <p:nvPr/>
        </p:nvSpPr>
        <p:spPr bwMode="auto">
          <a:xfrm>
            <a:off x="2486025" y="3903663"/>
            <a:ext cx="60325" cy="4762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93938" name="Oval 18"/>
          <p:cNvSpPr>
            <a:spLocks noChangeAspect="1" noChangeArrowheads="1"/>
          </p:cNvSpPr>
          <p:nvPr/>
        </p:nvSpPr>
        <p:spPr bwMode="auto">
          <a:xfrm>
            <a:off x="4340225" y="2814638"/>
            <a:ext cx="60325" cy="4762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93939" name="Oval 19"/>
          <p:cNvSpPr>
            <a:spLocks noChangeAspect="1" noChangeArrowheads="1"/>
          </p:cNvSpPr>
          <p:nvPr/>
        </p:nvSpPr>
        <p:spPr bwMode="auto">
          <a:xfrm>
            <a:off x="4403725" y="3635375"/>
            <a:ext cx="60325" cy="476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93940" name="Oval 20"/>
          <p:cNvSpPr>
            <a:spLocks noChangeAspect="1" noChangeArrowheads="1"/>
          </p:cNvSpPr>
          <p:nvPr/>
        </p:nvSpPr>
        <p:spPr bwMode="auto">
          <a:xfrm>
            <a:off x="3409950" y="2663825"/>
            <a:ext cx="60325" cy="50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93941" name="Oval 21"/>
          <p:cNvSpPr>
            <a:spLocks noChangeAspect="1" noChangeArrowheads="1"/>
          </p:cNvSpPr>
          <p:nvPr/>
        </p:nvSpPr>
        <p:spPr bwMode="auto">
          <a:xfrm>
            <a:off x="3886200" y="3733800"/>
            <a:ext cx="53975" cy="4762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93942" name="Oval 22"/>
          <p:cNvSpPr>
            <a:spLocks noChangeAspect="1" noChangeArrowheads="1"/>
          </p:cNvSpPr>
          <p:nvPr/>
        </p:nvSpPr>
        <p:spPr bwMode="auto">
          <a:xfrm>
            <a:off x="3048000" y="3124200"/>
            <a:ext cx="60325" cy="58738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93943" name="Oval 23"/>
          <p:cNvSpPr>
            <a:spLocks noChangeAspect="1" noChangeArrowheads="1"/>
          </p:cNvSpPr>
          <p:nvPr/>
        </p:nvSpPr>
        <p:spPr bwMode="auto">
          <a:xfrm>
            <a:off x="5105400" y="4114800"/>
            <a:ext cx="60325" cy="508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93945" name="Oval 25"/>
          <p:cNvSpPr>
            <a:spLocks noChangeAspect="1" noChangeArrowheads="1"/>
          </p:cNvSpPr>
          <p:nvPr/>
        </p:nvSpPr>
        <p:spPr bwMode="auto">
          <a:xfrm rot="-1118274">
            <a:off x="3887788" y="4443413"/>
            <a:ext cx="53975" cy="476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93946" name="Oval 26"/>
          <p:cNvSpPr>
            <a:spLocks noChangeAspect="1" noChangeArrowheads="1"/>
          </p:cNvSpPr>
          <p:nvPr/>
        </p:nvSpPr>
        <p:spPr bwMode="auto">
          <a:xfrm rot="-1118274">
            <a:off x="6003925" y="3228975"/>
            <a:ext cx="60325" cy="508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93949" name="Oval 29"/>
          <p:cNvSpPr>
            <a:spLocks noChangeAspect="1" noChangeArrowheads="1"/>
          </p:cNvSpPr>
          <p:nvPr/>
        </p:nvSpPr>
        <p:spPr bwMode="auto">
          <a:xfrm rot="-1118274">
            <a:off x="5295900" y="4545013"/>
            <a:ext cx="60325" cy="508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93950" name="Oval 30"/>
          <p:cNvSpPr>
            <a:spLocks noChangeAspect="1" noChangeArrowheads="1"/>
          </p:cNvSpPr>
          <p:nvPr/>
        </p:nvSpPr>
        <p:spPr bwMode="auto">
          <a:xfrm rot="-1118274">
            <a:off x="3124200" y="2667000"/>
            <a:ext cx="60325" cy="50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93952" name="Oval 32"/>
          <p:cNvSpPr>
            <a:spLocks noChangeAspect="1" noChangeArrowheads="1"/>
          </p:cNvSpPr>
          <p:nvPr/>
        </p:nvSpPr>
        <p:spPr bwMode="auto">
          <a:xfrm rot="-1118274">
            <a:off x="4711700" y="3584575"/>
            <a:ext cx="60325" cy="508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93954" name="Oval 34"/>
          <p:cNvSpPr>
            <a:spLocks noChangeAspect="1" noChangeArrowheads="1"/>
          </p:cNvSpPr>
          <p:nvPr/>
        </p:nvSpPr>
        <p:spPr bwMode="auto">
          <a:xfrm rot="-1118274">
            <a:off x="5867400" y="4495800"/>
            <a:ext cx="60325" cy="476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93955" name="Oval 35"/>
          <p:cNvSpPr>
            <a:spLocks noChangeAspect="1" noChangeArrowheads="1"/>
          </p:cNvSpPr>
          <p:nvPr/>
        </p:nvSpPr>
        <p:spPr bwMode="auto">
          <a:xfrm rot="-1118274">
            <a:off x="3114675" y="3640138"/>
            <a:ext cx="60325" cy="4762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93958" name="Oval 38"/>
          <p:cNvSpPr>
            <a:spLocks noChangeAspect="1" noChangeArrowheads="1"/>
          </p:cNvSpPr>
          <p:nvPr/>
        </p:nvSpPr>
        <p:spPr bwMode="auto">
          <a:xfrm rot="5895381">
            <a:off x="3867150" y="3057525"/>
            <a:ext cx="47625" cy="5397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93959" name="Oval 39"/>
          <p:cNvSpPr>
            <a:spLocks noChangeAspect="1" noChangeArrowheads="1"/>
          </p:cNvSpPr>
          <p:nvPr/>
        </p:nvSpPr>
        <p:spPr bwMode="auto">
          <a:xfrm rot="5895381">
            <a:off x="4136231" y="5242719"/>
            <a:ext cx="55563" cy="603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93962" name="Oval 42"/>
          <p:cNvSpPr>
            <a:spLocks noChangeAspect="1" noChangeArrowheads="1"/>
          </p:cNvSpPr>
          <p:nvPr/>
        </p:nvSpPr>
        <p:spPr bwMode="auto">
          <a:xfrm rot="5895381">
            <a:off x="3114675" y="4098925"/>
            <a:ext cx="47625" cy="6032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93963" name="Oval 43"/>
          <p:cNvSpPr>
            <a:spLocks noChangeAspect="1" noChangeArrowheads="1"/>
          </p:cNvSpPr>
          <p:nvPr/>
        </p:nvSpPr>
        <p:spPr bwMode="auto">
          <a:xfrm rot="5895381">
            <a:off x="4343400" y="2393950"/>
            <a:ext cx="47625" cy="5397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93964" name="Oval 44"/>
          <p:cNvSpPr>
            <a:spLocks noChangeAspect="1" noChangeArrowheads="1"/>
          </p:cNvSpPr>
          <p:nvPr/>
        </p:nvSpPr>
        <p:spPr bwMode="auto">
          <a:xfrm rot="5895381">
            <a:off x="5304631" y="4144169"/>
            <a:ext cx="58738" cy="603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93965" name="Oval 45"/>
          <p:cNvSpPr>
            <a:spLocks noChangeAspect="1" noChangeArrowheads="1"/>
          </p:cNvSpPr>
          <p:nvPr/>
        </p:nvSpPr>
        <p:spPr bwMode="auto">
          <a:xfrm rot="5895381">
            <a:off x="4370388" y="4079875"/>
            <a:ext cx="47625" cy="5397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93966" name="Oval 46"/>
          <p:cNvSpPr>
            <a:spLocks noChangeAspect="1" noChangeArrowheads="1"/>
          </p:cNvSpPr>
          <p:nvPr/>
        </p:nvSpPr>
        <p:spPr bwMode="auto">
          <a:xfrm rot="5895381">
            <a:off x="5619750" y="3365500"/>
            <a:ext cx="47625" cy="5397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93967" name="Oval 47"/>
          <p:cNvSpPr>
            <a:spLocks noChangeAspect="1" noChangeArrowheads="1"/>
          </p:cNvSpPr>
          <p:nvPr/>
        </p:nvSpPr>
        <p:spPr bwMode="auto">
          <a:xfrm rot="5895381">
            <a:off x="3087688" y="2346325"/>
            <a:ext cx="47625" cy="6032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93968" name="Oval 48"/>
          <p:cNvSpPr>
            <a:spLocks noChangeAspect="1" noChangeArrowheads="1"/>
          </p:cNvSpPr>
          <p:nvPr/>
        </p:nvSpPr>
        <p:spPr bwMode="auto">
          <a:xfrm rot="5895381">
            <a:off x="5260975" y="3273425"/>
            <a:ext cx="47625" cy="5397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93970" name="Oval 50"/>
          <p:cNvSpPr>
            <a:spLocks noChangeAspect="1" noChangeArrowheads="1"/>
          </p:cNvSpPr>
          <p:nvPr/>
        </p:nvSpPr>
        <p:spPr bwMode="auto">
          <a:xfrm rot="5895381">
            <a:off x="5117306" y="4718844"/>
            <a:ext cx="58738" cy="5397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93971" name="Oval 51"/>
          <p:cNvSpPr>
            <a:spLocks noChangeAspect="1" noChangeArrowheads="1"/>
          </p:cNvSpPr>
          <p:nvPr/>
        </p:nvSpPr>
        <p:spPr bwMode="auto">
          <a:xfrm rot="4777107">
            <a:off x="3498056" y="3534569"/>
            <a:ext cx="58738" cy="6032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93972" name="Oval 52"/>
          <p:cNvSpPr>
            <a:spLocks noChangeAspect="1" noChangeArrowheads="1"/>
          </p:cNvSpPr>
          <p:nvPr/>
        </p:nvSpPr>
        <p:spPr bwMode="auto">
          <a:xfrm rot="4777107">
            <a:off x="4651375" y="5254625"/>
            <a:ext cx="47625" cy="5397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93973" name="Oval 53"/>
          <p:cNvSpPr>
            <a:spLocks noChangeAspect="1" noChangeArrowheads="1"/>
          </p:cNvSpPr>
          <p:nvPr/>
        </p:nvSpPr>
        <p:spPr bwMode="auto">
          <a:xfrm rot="4777107">
            <a:off x="4346575" y="4873625"/>
            <a:ext cx="47625" cy="5397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93975" name="Oval 55"/>
          <p:cNvSpPr>
            <a:spLocks noChangeAspect="1" noChangeArrowheads="1"/>
          </p:cNvSpPr>
          <p:nvPr/>
        </p:nvSpPr>
        <p:spPr bwMode="auto">
          <a:xfrm rot="4777107">
            <a:off x="2817019" y="3736181"/>
            <a:ext cx="58738" cy="5397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93976" name="Oval 56"/>
          <p:cNvSpPr>
            <a:spLocks noChangeAspect="1" noChangeArrowheads="1"/>
          </p:cNvSpPr>
          <p:nvPr/>
        </p:nvSpPr>
        <p:spPr bwMode="auto">
          <a:xfrm rot="4777107">
            <a:off x="3713163" y="2776538"/>
            <a:ext cx="50800" cy="5397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93978" name="Oval 58"/>
          <p:cNvSpPr>
            <a:spLocks noChangeAspect="1" noChangeArrowheads="1"/>
          </p:cNvSpPr>
          <p:nvPr/>
        </p:nvSpPr>
        <p:spPr bwMode="auto">
          <a:xfrm rot="4777107">
            <a:off x="4356100" y="4364038"/>
            <a:ext cx="50800" cy="603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93980" name="Oval 60"/>
          <p:cNvSpPr>
            <a:spLocks noChangeAspect="1" noChangeArrowheads="1"/>
          </p:cNvSpPr>
          <p:nvPr/>
        </p:nvSpPr>
        <p:spPr bwMode="auto">
          <a:xfrm rot="4777107">
            <a:off x="2504281" y="3082131"/>
            <a:ext cx="58738" cy="6032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93982" name="Oval 62"/>
          <p:cNvSpPr>
            <a:spLocks noChangeAspect="1" noChangeArrowheads="1"/>
          </p:cNvSpPr>
          <p:nvPr/>
        </p:nvSpPr>
        <p:spPr bwMode="auto">
          <a:xfrm rot="4777107">
            <a:off x="3937794" y="5049044"/>
            <a:ext cx="55563" cy="603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93983" name="Oval 63"/>
          <p:cNvSpPr>
            <a:spLocks noChangeAspect="1" noChangeArrowheads="1"/>
          </p:cNvSpPr>
          <p:nvPr/>
        </p:nvSpPr>
        <p:spPr bwMode="auto">
          <a:xfrm rot="4777107">
            <a:off x="5303838" y="4756150"/>
            <a:ext cx="50800" cy="603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93984" name="Text Box 64"/>
          <p:cNvSpPr txBox="1">
            <a:spLocks noChangeArrowheads="1"/>
          </p:cNvSpPr>
          <p:nvPr/>
        </p:nvSpPr>
        <p:spPr bwMode="auto">
          <a:xfrm>
            <a:off x="5486400" y="1389380"/>
            <a:ext cx="3200400" cy="3968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R="0" algn="ctr" defTabSz="914400">
              <a:buSzTx/>
              <a:buFontTx/>
              <a:defRPr/>
            </a:pPr>
            <a:r>
              <a:rPr kumimoji="0" lang="en-US" altLang="zh-CN" b="1" i="1" kern="1200" cap="none" spc="0" normalizeH="0" baseline="0" noProof="0"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rPr>
              <a:t>f</a:t>
            </a:r>
            <a:r>
              <a:rPr kumimoji="0" lang="en-US" altLang="zh-CN" i="1" kern="1200" cap="none" spc="0" normalizeH="0" baseline="0" noProof="0"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kumimoji="0" lang="en-US" altLang="zh-CN" b="1" i="1" kern="1200" cap="none" spc="0" normalizeH="0" baseline="0" noProof="0"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rPr>
              <a:t>x</a:t>
            </a:r>
            <a:r>
              <a:rPr kumimoji="0" lang="en-US" altLang="zh-CN" i="1" kern="1200" cap="none" spc="0" normalizeH="0" baseline="0" noProof="0"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kumimoji="0" lang="en-US" altLang="zh-CN" b="1" i="1" kern="1200" cap="none" spc="0" normalizeH="0" baseline="0" noProof="0">
                <a:solidFill>
                  <a:srgbClr val="00CC00"/>
                </a:solidFill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rPr>
              <a:t>w</a:t>
            </a:r>
            <a:r>
              <a:rPr kumimoji="0" lang="en-US" altLang="zh-CN" i="1" kern="1200" cap="none" spc="0" normalizeH="0" baseline="0" noProof="0">
                <a:solidFill>
                  <a:srgbClr val="00CC00"/>
                </a:solidFill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rPr>
              <a:t>,b</a:t>
            </a:r>
            <a:r>
              <a:rPr kumimoji="0" lang="en-US" altLang="zh-CN" i="1" kern="1200" cap="none" spc="0" normalizeH="0" baseline="0" noProof="0"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rPr>
              <a:t>) = sign(</a:t>
            </a:r>
            <a:r>
              <a:rPr kumimoji="0" lang="en-US" altLang="zh-CN" b="1" i="1" kern="1200" cap="none" spc="0" normalizeH="0" baseline="0" noProof="0">
                <a:solidFill>
                  <a:srgbClr val="00CC00"/>
                </a:solidFill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rPr>
              <a:t>w</a:t>
            </a:r>
            <a:r>
              <a:rPr kumimoji="0" lang="en-US" altLang="zh-CN" b="1" i="1" kern="1200" cap="none" spc="0" normalizeH="0" baseline="0" noProof="0"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rPr>
              <a:t>. x</a:t>
            </a:r>
            <a:r>
              <a:rPr kumimoji="0" lang="en-US" altLang="zh-CN" i="1" kern="1200" cap="none" spc="0" normalizeH="0" baseline="0" noProof="0">
                <a:solidFill>
                  <a:srgbClr val="00CC00"/>
                </a:solidFill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kumimoji="0" lang="en-US" altLang="zh-CN" i="1" kern="1200" cap="none" spc="0" normalizeH="0" baseline="0" noProof="0"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rPr>
              <a:t>- </a:t>
            </a:r>
            <a:r>
              <a:rPr kumimoji="0" lang="en-US" altLang="zh-CN" i="1" kern="1200" cap="none" spc="0" normalizeH="0" baseline="0" noProof="0">
                <a:solidFill>
                  <a:srgbClr val="00CC00"/>
                </a:solidFill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rPr>
              <a:t>b</a:t>
            </a:r>
            <a:r>
              <a:rPr kumimoji="0" lang="en-US" altLang="zh-CN" i="1" kern="1200" cap="none" spc="0" normalizeH="0" baseline="0" noProof="0"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</a:p>
        </p:txBody>
      </p:sp>
      <p:sp>
        <p:nvSpPr>
          <p:cNvPr id="593991" name="Text Box 71"/>
          <p:cNvSpPr txBox="1">
            <a:spLocks noChangeArrowheads="1"/>
          </p:cNvSpPr>
          <p:nvPr/>
        </p:nvSpPr>
        <p:spPr bwMode="auto">
          <a:xfrm>
            <a:off x="6248400" y="3200400"/>
            <a:ext cx="2438400" cy="3968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R="0" defTabSz="914400">
              <a:buSzTx/>
              <a:buFontTx/>
              <a:defRPr/>
            </a:pPr>
            <a:endParaRPr kumimoji="0" lang="zh-CN" altLang="en-US" kern="1200" cap="none" spc="0" normalizeH="0" baseline="0" noProof="0">
              <a:latin typeface="Tahoma" panose="020B060403050404020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93992" name="Text Box 72"/>
          <p:cNvSpPr txBox="1">
            <a:spLocks noChangeArrowheads="1"/>
          </p:cNvSpPr>
          <p:nvPr/>
        </p:nvSpPr>
        <p:spPr bwMode="auto">
          <a:xfrm>
            <a:off x="6400800" y="3352800"/>
            <a:ext cx="2209800" cy="7016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R="0" defTabSz="914400">
              <a:buSzTx/>
              <a:buFontTx/>
              <a:defRPr/>
            </a:pPr>
            <a:r>
              <a:rPr kumimoji="0" lang="en-US" altLang="zh-CN" kern="1200" cap="none" spc="0" normalizeH="0" baseline="0" noProof="0"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rPr>
              <a:t>How would you classify this data?</a:t>
            </a:r>
          </a:p>
        </p:txBody>
      </p:sp>
      <p:sp>
        <p:nvSpPr>
          <p:cNvPr id="593996" name="Rectangle 76"/>
          <p:cNvSpPr>
            <a:spLocks noGrp="1" noChangeArrowheads="1"/>
          </p:cNvSpPr>
          <p:nvPr>
            <p:ph type="title"/>
          </p:nvPr>
        </p:nvSpPr>
        <p:spPr>
          <a:xfrm>
            <a:off x="147955" y="199390"/>
            <a:ext cx="4648200" cy="685800"/>
          </a:xfrm>
        </p:spPr>
        <p:txBody>
          <a:bodyPr vert="horz" wrap="square" lIns="91440" tIns="45720" rIns="91440" bIns="45720" numCol="1" anchor="b" anchorCtr="0" compatLnSpc="1"/>
          <a:lstStyle/>
          <a:p>
            <a:r>
              <a:rPr lang="zh-CN" altLang="en-US" dirty="0">
                <a:ea typeface="宋体" panose="02010600030101010101" pitchFamily="2" charset="-122"/>
              </a:rPr>
              <a:t> </a:t>
            </a:r>
            <a:r>
              <a:rPr lang="zh-CN" altLang="en-US" b="1" dirty="0">
                <a:ea typeface="宋体" panose="02010600030101010101" pitchFamily="2" charset="-122"/>
              </a:rPr>
              <a:t>线性分类器</a:t>
            </a:r>
            <a:endParaRPr lang="en-US" altLang="zh-CN" b="1" dirty="0">
              <a:ea typeface="宋体" panose="02010600030101010101" pitchFamily="2" charset="-122"/>
            </a:endParaRPr>
          </a:p>
        </p:txBody>
      </p:sp>
      <p:sp>
        <p:nvSpPr>
          <p:cNvPr id="6193" name="矩形 1"/>
          <p:cNvSpPr/>
          <p:nvPr/>
        </p:nvSpPr>
        <p:spPr>
          <a:xfrm>
            <a:off x="6635750" y="2568575"/>
            <a:ext cx="1597025" cy="4000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algn="ctr">
              <a:buFont typeface="Wingdings" panose="05000000000000000000" pitchFamily="2" charset="2"/>
            </a:pPr>
            <a:r>
              <a:rPr lang="zh-CN" altLang="en-US">
                <a:latin typeface="Tahoma" panose="020B0604030504040204" charset="0"/>
              </a:rPr>
              <a:t> </a:t>
            </a:r>
            <a:r>
              <a:rPr lang="en-US" altLang="zh-CN">
                <a:latin typeface="Tahoma" panose="020B0604030504040204" charset="0"/>
              </a:rPr>
              <a:t>f(x)=</a:t>
            </a:r>
            <a:r>
              <a:rPr lang="en-US" altLang="zh-CN" err="1">
                <a:latin typeface="Tahoma" panose="020B0604030504040204" charset="0"/>
              </a:rPr>
              <a:t>wx+b</a:t>
            </a:r>
            <a:endParaRPr lang="en-US" altLang="zh-CN">
              <a:latin typeface="Tahoma" panose="020B0604030504040204" charset="0"/>
            </a:endParaRPr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035" name="Rectangle 3"/>
          <p:cNvSpPr>
            <a:spLocks noChangeArrowheads="1"/>
          </p:cNvSpPr>
          <p:nvPr/>
        </p:nvSpPr>
        <p:spPr bwMode="auto">
          <a:xfrm>
            <a:off x="5334000" y="776288"/>
            <a:ext cx="1600200" cy="654050"/>
          </a:xfrm>
          <a:prstGeom prst="rect">
            <a:avLst/>
          </a:prstGeom>
          <a:solidFill>
            <a:srgbClr val="FFCCFF"/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anchor="ctr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3600" b="0" i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rPr>
              <a:t>f </a:t>
            </a: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rPr>
              <a:t>        </a:t>
            </a:r>
          </a:p>
        </p:txBody>
      </p:sp>
      <p:sp>
        <p:nvSpPr>
          <p:cNvPr id="684036" name="Line 4"/>
          <p:cNvSpPr>
            <a:spLocks noChangeShapeType="1"/>
          </p:cNvSpPr>
          <p:nvPr/>
        </p:nvSpPr>
        <p:spPr bwMode="auto">
          <a:xfrm>
            <a:off x="3962400" y="1066800"/>
            <a:ext cx="1371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tailEnd type="triangle" w="med" len="med"/>
          </a:ln>
          <a:effectLst/>
        </p:spPr>
        <p:txBody>
          <a:bodyPr wrap="none"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84037" name="Text Box 5"/>
          <p:cNvSpPr txBox="1">
            <a:spLocks noChangeArrowheads="1"/>
          </p:cNvSpPr>
          <p:nvPr/>
        </p:nvSpPr>
        <p:spPr bwMode="auto">
          <a:xfrm>
            <a:off x="3505200" y="762000"/>
            <a:ext cx="609600" cy="519113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R="0" algn="ctr" defTabSz="914400">
              <a:buSzTx/>
              <a:buFontTx/>
              <a:defRPr/>
            </a:pPr>
            <a:r>
              <a:rPr kumimoji="0" lang="en-US" altLang="zh-CN" sz="2800" b="1" i="1" kern="1200" cap="none" spc="0" normalizeH="0" baseline="0" noProof="0"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rPr>
              <a:t>x</a:t>
            </a:r>
          </a:p>
        </p:txBody>
      </p:sp>
      <p:sp>
        <p:nvSpPr>
          <p:cNvPr id="684040" name="Line 8"/>
          <p:cNvSpPr>
            <a:spLocks noChangeShapeType="1"/>
          </p:cNvSpPr>
          <p:nvPr/>
        </p:nvSpPr>
        <p:spPr bwMode="auto">
          <a:xfrm>
            <a:off x="6934200" y="1066800"/>
            <a:ext cx="1371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tailEnd type="triangle" w="med" len="med"/>
          </a:ln>
          <a:effectLst/>
        </p:spPr>
        <p:txBody>
          <a:bodyPr wrap="none"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84041" name="Text Box 9"/>
          <p:cNvSpPr txBox="1">
            <a:spLocks noChangeArrowheads="1"/>
          </p:cNvSpPr>
          <p:nvPr/>
        </p:nvSpPr>
        <p:spPr bwMode="auto">
          <a:xfrm>
            <a:off x="8305800" y="838200"/>
            <a:ext cx="381000" cy="579438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spcBef>
                <a:spcPct val="20000"/>
              </a:spcBef>
            </a:pPr>
            <a:r>
              <a:rPr lang="en-US" altLang="zh-CN" sz="3200" dirty="0">
                <a:latin typeface="Tahoma" panose="020B0604030504040204" charset="0"/>
                <a:ea typeface="宋体" panose="02010600030101010101" pitchFamily="2" charset="-122"/>
              </a:rPr>
              <a:t>y</a:t>
            </a:r>
            <a:endParaRPr lang="en-US" altLang="zh-CN" sz="3200" baseline="30000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684042" name="Text Box 10"/>
          <p:cNvSpPr txBox="1">
            <a:spLocks noChangeArrowheads="1"/>
          </p:cNvSpPr>
          <p:nvPr/>
        </p:nvSpPr>
        <p:spPr bwMode="auto">
          <a:xfrm>
            <a:off x="838200" y="1905000"/>
            <a:ext cx="1905000" cy="8540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R="0" algn="ctr" defTabSz="914400">
              <a:buSzTx/>
              <a:buFontTx/>
              <a:defRPr/>
            </a:pPr>
            <a:r>
              <a:rPr kumimoji="0" lang="en-US" altLang="zh-CN" kern="1200" cap="none" spc="0" normalizeH="0" baseline="0" noProof="0"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rPr>
              <a:t>+1</a:t>
            </a:r>
          </a:p>
          <a:p>
            <a:pPr marR="0" algn="ctr" defTabSz="914400">
              <a:buSzTx/>
              <a:buFontTx/>
              <a:defRPr/>
            </a:pPr>
            <a:r>
              <a:rPr kumimoji="0" lang="en-US" altLang="zh-CN" kern="1200" cap="none" spc="0" normalizeH="0" baseline="0" noProof="0"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rPr>
              <a:t>-1</a:t>
            </a:r>
          </a:p>
        </p:txBody>
      </p:sp>
      <p:sp>
        <p:nvSpPr>
          <p:cNvPr id="684043" name="Oval 11"/>
          <p:cNvSpPr>
            <a:spLocks noChangeAspect="1" noChangeArrowheads="1"/>
          </p:cNvSpPr>
          <p:nvPr/>
        </p:nvSpPr>
        <p:spPr bwMode="auto">
          <a:xfrm rot="4777107">
            <a:off x="915194" y="2056606"/>
            <a:ext cx="58738" cy="6032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84044" name="Oval 12"/>
          <p:cNvSpPr>
            <a:spLocks noChangeAspect="1" noChangeArrowheads="1"/>
          </p:cNvSpPr>
          <p:nvPr/>
        </p:nvSpPr>
        <p:spPr bwMode="auto">
          <a:xfrm rot="5895381">
            <a:off x="915988" y="2513013"/>
            <a:ext cx="50800" cy="5397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84045" name="Line 13"/>
          <p:cNvSpPr>
            <a:spLocks noChangeShapeType="1"/>
          </p:cNvSpPr>
          <p:nvPr/>
        </p:nvSpPr>
        <p:spPr bwMode="auto">
          <a:xfrm>
            <a:off x="2590800" y="2209800"/>
            <a:ext cx="0" cy="3505200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</a:ln>
          <a:effectLst/>
        </p:spPr>
        <p:txBody>
          <a:bodyPr wrap="none"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84046" name="Line 14"/>
          <p:cNvSpPr>
            <a:spLocks noChangeShapeType="1"/>
          </p:cNvSpPr>
          <p:nvPr/>
        </p:nvSpPr>
        <p:spPr bwMode="auto">
          <a:xfrm flipV="1">
            <a:off x="2438400" y="5562600"/>
            <a:ext cx="3657600" cy="0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</a:ln>
          <a:effectLst/>
        </p:spPr>
        <p:txBody>
          <a:bodyPr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84047" name="Oval 15"/>
          <p:cNvSpPr>
            <a:spLocks noChangeAspect="1" noChangeArrowheads="1"/>
          </p:cNvSpPr>
          <p:nvPr/>
        </p:nvSpPr>
        <p:spPr bwMode="auto">
          <a:xfrm>
            <a:off x="3717925" y="5032375"/>
            <a:ext cx="60325" cy="476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84048" name="Oval 16"/>
          <p:cNvSpPr>
            <a:spLocks noChangeAspect="1" noChangeArrowheads="1"/>
          </p:cNvSpPr>
          <p:nvPr/>
        </p:nvSpPr>
        <p:spPr bwMode="auto">
          <a:xfrm>
            <a:off x="2486025" y="3903663"/>
            <a:ext cx="60325" cy="4762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84049" name="Oval 17"/>
          <p:cNvSpPr>
            <a:spLocks noChangeAspect="1" noChangeArrowheads="1"/>
          </p:cNvSpPr>
          <p:nvPr/>
        </p:nvSpPr>
        <p:spPr bwMode="auto">
          <a:xfrm>
            <a:off x="4340225" y="2814638"/>
            <a:ext cx="60325" cy="4762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84050" name="Oval 18"/>
          <p:cNvSpPr>
            <a:spLocks noChangeAspect="1" noChangeArrowheads="1"/>
          </p:cNvSpPr>
          <p:nvPr/>
        </p:nvSpPr>
        <p:spPr bwMode="auto">
          <a:xfrm>
            <a:off x="4403725" y="3635375"/>
            <a:ext cx="60325" cy="476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84051" name="Oval 19"/>
          <p:cNvSpPr>
            <a:spLocks noChangeAspect="1" noChangeArrowheads="1"/>
          </p:cNvSpPr>
          <p:nvPr/>
        </p:nvSpPr>
        <p:spPr bwMode="auto">
          <a:xfrm>
            <a:off x="3409950" y="2663825"/>
            <a:ext cx="60325" cy="50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84052" name="Oval 20"/>
          <p:cNvSpPr>
            <a:spLocks noChangeAspect="1" noChangeArrowheads="1"/>
          </p:cNvSpPr>
          <p:nvPr/>
        </p:nvSpPr>
        <p:spPr bwMode="auto">
          <a:xfrm>
            <a:off x="3886200" y="3733800"/>
            <a:ext cx="53975" cy="4762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84053" name="Oval 21"/>
          <p:cNvSpPr>
            <a:spLocks noChangeAspect="1" noChangeArrowheads="1"/>
          </p:cNvSpPr>
          <p:nvPr/>
        </p:nvSpPr>
        <p:spPr bwMode="auto">
          <a:xfrm>
            <a:off x="3048000" y="3124200"/>
            <a:ext cx="60325" cy="58738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84054" name="Oval 22"/>
          <p:cNvSpPr>
            <a:spLocks noChangeAspect="1" noChangeArrowheads="1"/>
          </p:cNvSpPr>
          <p:nvPr/>
        </p:nvSpPr>
        <p:spPr bwMode="auto">
          <a:xfrm>
            <a:off x="5105400" y="4114800"/>
            <a:ext cx="60325" cy="508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84055" name="Oval 23"/>
          <p:cNvSpPr>
            <a:spLocks noChangeAspect="1" noChangeArrowheads="1"/>
          </p:cNvSpPr>
          <p:nvPr/>
        </p:nvSpPr>
        <p:spPr bwMode="auto">
          <a:xfrm rot="-1118274">
            <a:off x="3887788" y="4443413"/>
            <a:ext cx="53975" cy="476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84056" name="Oval 24"/>
          <p:cNvSpPr>
            <a:spLocks noChangeAspect="1" noChangeArrowheads="1"/>
          </p:cNvSpPr>
          <p:nvPr/>
        </p:nvSpPr>
        <p:spPr bwMode="auto">
          <a:xfrm rot="-1118274">
            <a:off x="6003925" y="3228975"/>
            <a:ext cx="60325" cy="508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84057" name="Oval 25"/>
          <p:cNvSpPr>
            <a:spLocks noChangeAspect="1" noChangeArrowheads="1"/>
          </p:cNvSpPr>
          <p:nvPr/>
        </p:nvSpPr>
        <p:spPr bwMode="auto">
          <a:xfrm rot="-1118274">
            <a:off x="5295900" y="4545013"/>
            <a:ext cx="60325" cy="508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84058" name="Oval 26"/>
          <p:cNvSpPr>
            <a:spLocks noChangeAspect="1" noChangeArrowheads="1"/>
          </p:cNvSpPr>
          <p:nvPr/>
        </p:nvSpPr>
        <p:spPr bwMode="auto">
          <a:xfrm rot="-1118274">
            <a:off x="3124200" y="2667000"/>
            <a:ext cx="60325" cy="50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84059" name="Oval 27"/>
          <p:cNvSpPr>
            <a:spLocks noChangeAspect="1" noChangeArrowheads="1"/>
          </p:cNvSpPr>
          <p:nvPr/>
        </p:nvSpPr>
        <p:spPr bwMode="auto">
          <a:xfrm rot="-1118274">
            <a:off x="4711700" y="3584575"/>
            <a:ext cx="60325" cy="508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84060" name="Oval 28"/>
          <p:cNvSpPr>
            <a:spLocks noChangeAspect="1" noChangeArrowheads="1"/>
          </p:cNvSpPr>
          <p:nvPr/>
        </p:nvSpPr>
        <p:spPr bwMode="auto">
          <a:xfrm rot="-1118274">
            <a:off x="5867400" y="4495800"/>
            <a:ext cx="60325" cy="476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84061" name="Oval 29"/>
          <p:cNvSpPr>
            <a:spLocks noChangeAspect="1" noChangeArrowheads="1"/>
          </p:cNvSpPr>
          <p:nvPr/>
        </p:nvSpPr>
        <p:spPr bwMode="auto">
          <a:xfrm rot="-1118274">
            <a:off x="3114675" y="3640138"/>
            <a:ext cx="60325" cy="4762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84062" name="Oval 30"/>
          <p:cNvSpPr>
            <a:spLocks noChangeAspect="1" noChangeArrowheads="1"/>
          </p:cNvSpPr>
          <p:nvPr/>
        </p:nvSpPr>
        <p:spPr bwMode="auto">
          <a:xfrm rot="5895381">
            <a:off x="3867150" y="3057525"/>
            <a:ext cx="47625" cy="5397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84063" name="Oval 31"/>
          <p:cNvSpPr>
            <a:spLocks noChangeAspect="1" noChangeArrowheads="1"/>
          </p:cNvSpPr>
          <p:nvPr/>
        </p:nvSpPr>
        <p:spPr bwMode="auto">
          <a:xfrm rot="5895381">
            <a:off x="4136231" y="5242719"/>
            <a:ext cx="55563" cy="603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84064" name="Oval 32"/>
          <p:cNvSpPr>
            <a:spLocks noChangeAspect="1" noChangeArrowheads="1"/>
          </p:cNvSpPr>
          <p:nvPr/>
        </p:nvSpPr>
        <p:spPr bwMode="auto">
          <a:xfrm rot="5895381">
            <a:off x="3114675" y="4098925"/>
            <a:ext cx="47625" cy="6032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84065" name="Oval 33"/>
          <p:cNvSpPr>
            <a:spLocks noChangeAspect="1" noChangeArrowheads="1"/>
          </p:cNvSpPr>
          <p:nvPr/>
        </p:nvSpPr>
        <p:spPr bwMode="auto">
          <a:xfrm rot="5895381">
            <a:off x="4343400" y="2393950"/>
            <a:ext cx="47625" cy="5397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84066" name="Oval 34"/>
          <p:cNvSpPr>
            <a:spLocks noChangeAspect="1" noChangeArrowheads="1"/>
          </p:cNvSpPr>
          <p:nvPr/>
        </p:nvSpPr>
        <p:spPr bwMode="auto">
          <a:xfrm rot="5895381">
            <a:off x="5304631" y="4144169"/>
            <a:ext cx="58738" cy="603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84067" name="Oval 35"/>
          <p:cNvSpPr>
            <a:spLocks noChangeAspect="1" noChangeArrowheads="1"/>
          </p:cNvSpPr>
          <p:nvPr/>
        </p:nvSpPr>
        <p:spPr bwMode="auto">
          <a:xfrm rot="5895381">
            <a:off x="4370388" y="4079875"/>
            <a:ext cx="47625" cy="5397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84068" name="Oval 36"/>
          <p:cNvSpPr>
            <a:spLocks noChangeAspect="1" noChangeArrowheads="1"/>
          </p:cNvSpPr>
          <p:nvPr/>
        </p:nvSpPr>
        <p:spPr bwMode="auto">
          <a:xfrm rot="5895381">
            <a:off x="5619750" y="3365500"/>
            <a:ext cx="47625" cy="5397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84069" name="Oval 37"/>
          <p:cNvSpPr>
            <a:spLocks noChangeAspect="1" noChangeArrowheads="1"/>
          </p:cNvSpPr>
          <p:nvPr/>
        </p:nvSpPr>
        <p:spPr bwMode="auto">
          <a:xfrm rot="5895381">
            <a:off x="3087688" y="2346325"/>
            <a:ext cx="47625" cy="6032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84070" name="Oval 38"/>
          <p:cNvSpPr>
            <a:spLocks noChangeAspect="1" noChangeArrowheads="1"/>
          </p:cNvSpPr>
          <p:nvPr/>
        </p:nvSpPr>
        <p:spPr bwMode="auto">
          <a:xfrm rot="5895381">
            <a:off x="5260975" y="3273425"/>
            <a:ext cx="47625" cy="5397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84071" name="Oval 39"/>
          <p:cNvSpPr>
            <a:spLocks noChangeAspect="1" noChangeArrowheads="1"/>
          </p:cNvSpPr>
          <p:nvPr/>
        </p:nvSpPr>
        <p:spPr bwMode="auto">
          <a:xfrm rot="5895381">
            <a:off x="5117306" y="4718844"/>
            <a:ext cx="58738" cy="5397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84072" name="Oval 40"/>
          <p:cNvSpPr>
            <a:spLocks noChangeAspect="1" noChangeArrowheads="1"/>
          </p:cNvSpPr>
          <p:nvPr/>
        </p:nvSpPr>
        <p:spPr bwMode="auto">
          <a:xfrm rot="4777107">
            <a:off x="3498056" y="3534569"/>
            <a:ext cx="58738" cy="6032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84073" name="Oval 41"/>
          <p:cNvSpPr>
            <a:spLocks noChangeAspect="1" noChangeArrowheads="1"/>
          </p:cNvSpPr>
          <p:nvPr/>
        </p:nvSpPr>
        <p:spPr bwMode="auto">
          <a:xfrm rot="4777107">
            <a:off x="4651375" y="5254625"/>
            <a:ext cx="47625" cy="5397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84074" name="Oval 42"/>
          <p:cNvSpPr>
            <a:spLocks noChangeAspect="1" noChangeArrowheads="1"/>
          </p:cNvSpPr>
          <p:nvPr/>
        </p:nvSpPr>
        <p:spPr bwMode="auto">
          <a:xfrm rot="4777107">
            <a:off x="4346575" y="4873625"/>
            <a:ext cx="47625" cy="5397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84075" name="Oval 43"/>
          <p:cNvSpPr>
            <a:spLocks noChangeAspect="1" noChangeArrowheads="1"/>
          </p:cNvSpPr>
          <p:nvPr/>
        </p:nvSpPr>
        <p:spPr bwMode="auto">
          <a:xfrm rot="4777107">
            <a:off x="2817019" y="3736181"/>
            <a:ext cx="58738" cy="5397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84076" name="Oval 44"/>
          <p:cNvSpPr>
            <a:spLocks noChangeAspect="1" noChangeArrowheads="1"/>
          </p:cNvSpPr>
          <p:nvPr/>
        </p:nvSpPr>
        <p:spPr bwMode="auto">
          <a:xfrm rot="4777107">
            <a:off x="3713163" y="2776538"/>
            <a:ext cx="50800" cy="5397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84077" name="Oval 45"/>
          <p:cNvSpPr>
            <a:spLocks noChangeAspect="1" noChangeArrowheads="1"/>
          </p:cNvSpPr>
          <p:nvPr/>
        </p:nvSpPr>
        <p:spPr bwMode="auto">
          <a:xfrm rot="4777107">
            <a:off x="4356100" y="4364038"/>
            <a:ext cx="50800" cy="603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84078" name="Oval 46"/>
          <p:cNvSpPr>
            <a:spLocks noChangeAspect="1" noChangeArrowheads="1"/>
          </p:cNvSpPr>
          <p:nvPr/>
        </p:nvSpPr>
        <p:spPr bwMode="auto">
          <a:xfrm rot="4777107">
            <a:off x="2504281" y="3082131"/>
            <a:ext cx="58738" cy="6032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84079" name="Oval 47"/>
          <p:cNvSpPr>
            <a:spLocks noChangeAspect="1" noChangeArrowheads="1"/>
          </p:cNvSpPr>
          <p:nvPr/>
        </p:nvSpPr>
        <p:spPr bwMode="auto">
          <a:xfrm rot="4777107">
            <a:off x="3937794" y="5049044"/>
            <a:ext cx="55563" cy="603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84080" name="Oval 48"/>
          <p:cNvSpPr>
            <a:spLocks noChangeAspect="1" noChangeArrowheads="1"/>
          </p:cNvSpPr>
          <p:nvPr/>
        </p:nvSpPr>
        <p:spPr bwMode="auto">
          <a:xfrm rot="4777107">
            <a:off x="5303838" y="4756150"/>
            <a:ext cx="50800" cy="603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84081" name="Text Box 49"/>
          <p:cNvSpPr txBox="1">
            <a:spLocks noChangeArrowheads="1"/>
          </p:cNvSpPr>
          <p:nvPr/>
        </p:nvSpPr>
        <p:spPr bwMode="auto">
          <a:xfrm>
            <a:off x="5486400" y="1676400"/>
            <a:ext cx="3200400" cy="3968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R="0" algn="ctr" defTabSz="914400">
              <a:buSzTx/>
              <a:buFontTx/>
              <a:defRPr/>
            </a:pPr>
            <a:r>
              <a:rPr kumimoji="0" lang="en-US" altLang="zh-CN" b="1" i="1" kern="1200" cap="none" spc="0" normalizeH="0" baseline="0" noProof="0"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rPr>
              <a:t>f</a:t>
            </a:r>
            <a:r>
              <a:rPr kumimoji="0" lang="en-US" altLang="zh-CN" i="1" kern="1200" cap="none" spc="0" normalizeH="0" baseline="0" noProof="0"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kumimoji="0" lang="en-US" altLang="zh-CN" b="1" i="1" kern="1200" cap="none" spc="0" normalizeH="0" baseline="0" noProof="0"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rPr>
              <a:t>x</a:t>
            </a:r>
            <a:r>
              <a:rPr kumimoji="0" lang="en-US" altLang="zh-CN" i="1" kern="1200" cap="none" spc="0" normalizeH="0" baseline="0" noProof="0"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kumimoji="0" lang="en-US" altLang="zh-CN" b="1" i="1" kern="1200" cap="none" spc="0" normalizeH="0" baseline="0" noProof="0">
                <a:solidFill>
                  <a:srgbClr val="00CC00"/>
                </a:solidFill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rPr>
              <a:t>w</a:t>
            </a:r>
            <a:r>
              <a:rPr kumimoji="0" lang="en-US" altLang="zh-CN" i="1" kern="1200" cap="none" spc="0" normalizeH="0" baseline="0" noProof="0">
                <a:solidFill>
                  <a:srgbClr val="00CC00"/>
                </a:solidFill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rPr>
              <a:t>,b</a:t>
            </a:r>
            <a:r>
              <a:rPr kumimoji="0" lang="en-US" altLang="zh-CN" i="1" kern="1200" cap="none" spc="0" normalizeH="0" baseline="0" noProof="0"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rPr>
              <a:t>) = sign(</a:t>
            </a:r>
            <a:r>
              <a:rPr kumimoji="0" lang="en-US" altLang="zh-CN" b="1" i="1" kern="1200" cap="none" spc="0" normalizeH="0" baseline="0" noProof="0">
                <a:solidFill>
                  <a:srgbClr val="00CC00"/>
                </a:solidFill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rPr>
              <a:t>w</a:t>
            </a:r>
            <a:r>
              <a:rPr kumimoji="0" lang="en-US" altLang="zh-CN" b="1" i="1" kern="1200" cap="none" spc="0" normalizeH="0" baseline="0" noProof="0"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rPr>
              <a:t>. x</a:t>
            </a:r>
            <a:r>
              <a:rPr kumimoji="0" lang="en-US" altLang="zh-CN" i="1" kern="1200" cap="none" spc="0" normalizeH="0" baseline="0" noProof="0">
                <a:solidFill>
                  <a:srgbClr val="00CC00"/>
                </a:solidFill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kumimoji="0" lang="en-US" altLang="zh-CN" i="1" kern="1200" cap="none" spc="0" normalizeH="0" baseline="0" noProof="0"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rPr>
              <a:t>- </a:t>
            </a:r>
            <a:r>
              <a:rPr kumimoji="0" lang="en-US" altLang="zh-CN" i="1" kern="1200" cap="none" spc="0" normalizeH="0" baseline="0" noProof="0">
                <a:solidFill>
                  <a:srgbClr val="00CC00"/>
                </a:solidFill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rPr>
              <a:t>b</a:t>
            </a:r>
            <a:r>
              <a:rPr kumimoji="0" lang="en-US" altLang="zh-CN" i="1" kern="1200" cap="none" spc="0" normalizeH="0" baseline="0" noProof="0"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</a:p>
        </p:txBody>
      </p:sp>
      <p:sp>
        <p:nvSpPr>
          <p:cNvPr id="684082" name="Line 50"/>
          <p:cNvSpPr>
            <a:spLocks noChangeShapeType="1"/>
          </p:cNvSpPr>
          <p:nvPr/>
        </p:nvSpPr>
        <p:spPr bwMode="auto">
          <a:xfrm flipV="1">
            <a:off x="2590800" y="2209800"/>
            <a:ext cx="3124200" cy="3048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ffectLst/>
        </p:spPr>
        <p:txBody>
          <a:bodyPr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84083" name="Text Box 51"/>
          <p:cNvSpPr txBox="1">
            <a:spLocks noChangeArrowheads="1"/>
          </p:cNvSpPr>
          <p:nvPr/>
        </p:nvSpPr>
        <p:spPr bwMode="auto">
          <a:xfrm>
            <a:off x="6248400" y="3200400"/>
            <a:ext cx="2438400" cy="3968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R="0" defTabSz="914400">
              <a:buSzTx/>
              <a:buFontTx/>
              <a:defRPr/>
            </a:pPr>
            <a:endParaRPr kumimoji="0" lang="zh-CN" altLang="en-US" kern="1200" cap="none" spc="0" normalizeH="0" baseline="0" noProof="0">
              <a:latin typeface="Tahoma" panose="020B060403050404020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84084" name="Text Box 52"/>
          <p:cNvSpPr txBox="1">
            <a:spLocks noChangeArrowheads="1"/>
          </p:cNvSpPr>
          <p:nvPr/>
        </p:nvSpPr>
        <p:spPr bwMode="auto">
          <a:xfrm>
            <a:off x="6400800" y="3352800"/>
            <a:ext cx="2209800" cy="7016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R="0" defTabSz="914400">
              <a:buSzTx/>
              <a:buFontTx/>
              <a:defRPr/>
            </a:pPr>
            <a:r>
              <a:rPr kumimoji="0" lang="en-US" altLang="zh-CN" kern="1200" cap="none" spc="0" normalizeH="0" baseline="0" noProof="0"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rPr>
              <a:t>How would you classify this data?</a:t>
            </a:r>
          </a:p>
        </p:txBody>
      </p:sp>
      <p:sp>
        <p:nvSpPr>
          <p:cNvPr id="684093" name="Rectangle 61"/>
          <p:cNvSpPr>
            <a:spLocks noGrp="1" noChangeArrowheads="1"/>
          </p:cNvSpPr>
          <p:nvPr>
            <p:ph type="title"/>
          </p:nvPr>
        </p:nvSpPr>
        <p:spPr>
          <a:xfrm>
            <a:off x="219710" y="199390"/>
            <a:ext cx="4648200" cy="685800"/>
          </a:xfrm>
        </p:spPr>
        <p:txBody>
          <a:bodyPr vert="horz" wrap="square" lIns="91440" tIns="45720" rIns="91440" bIns="45720" numCol="1" anchor="b" anchorCtr="0" compatLnSpc="1"/>
          <a:lstStyle/>
          <a:p>
            <a:r>
              <a:rPr lang="zh-CN" altLang="en-US" dirty="0">
                <a:ea typeface="宋体" panose="02010600030101010101" pitchFamily="2" charset="-122"/>
              </a:rPr>
              <a:t> </a:t>
            </a:r>
            <a:r>
              <a:rPr lang="zh-CN" altLang="en-US" b="1" dirty="0">
                <a:ea typeface="宋体" panose="02010600030101010101" pitchFamily="2" charset="-122"/>
              </a:rPr>
              <a:t>线性分类器</a:t>
            </a:r>
            <a:endParaRPr lang="en-US" altLang="zh-CN" b="1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82" name="Rectangle 2"/>
          <p:cNvSpPr>
            <a:spLocks noGrp="1" noChangeArrowheads="1"/>
          </p:cNvSpPr>
          <p:nvPr>
            <p:ph type="title"/>
          </p:nvPr>
        </p:nvSpPr>
        <p:spPr>
          <a:xfrm>
            <a:off x="295910" y="233045"/>
            <a:ext cx="4648200" cy="685800"/>
          </a:xfrm>
        </p:spPr>
        <p:txBody>
          <a:bodyPr vert="horz" wrap="square" lIns="91440" tIns="45720" rIns="91440" bIns="45720" numCol="1" anchor="b" anchorCtr="0" compatLnSpc="1"/>
          <a:lstStyle/>
          <a:p>
            <a:r>
              <a:rPr lang="zh-CN" altLang="en-US" b="1" dirty="0">
                <a:ea typeface="宋体" panose="02010600030101010101" pitchFamily="2" charset="-122"/>
              </a:rPr>
              <a:t>线性分类器</a:t>
            </a:r>
            <a:endParaRPr lang="en-US" altLang="zh-CN" b="1" dirty="0">
              <a:ea typeface="宋体" panose="02010600030101010101" pitchFamily="2" charset="-122"/>
            </a:endParaRPr>
          </a:p>
        </p:txBody>
      </p:sp>
      <p:sp>
        <p:nvSpPr>
          <p:cNvPr id="634883" name="Rectangle 3"/>
          <p:cNvSpPr>
            <a:spLocks noChangeArrowheads="1"/>
          </p:cNvSpPr>
          <p:nvPr/>
        </p:nvSpPr>
        <p:spPr bwMode="auto">
          <a:xfrm>
            <a:off x="5334000" y="776288"/>
            <a:ext cx="1600200" cy="654050"/>
          </a:xfrm>
          <a:prstGeom prst="rect">
            <a:avLst/>
          </a:prstGeom>
          <a:solidFill>
            <a:srgbClr val="FFCCFF"/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anchor="ctr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3600" b="0" i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rPr>
              <a:t>f </a:t>
            </a: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rPr>
              <a:t>        </a:t>
            </a:r>
          </a:p>
        </p:txBody>
      </p:sp>
      <p:sp>
        <p:nvSpPr>
          <p:cNvPr id="634884" name="Line 4"/>
          <p:cNvSpPr>
            <a:spLocks noChangeShapeType="1"/>
          </p:cNvSpPr>
          <p:nvPr/>
        </p:nvSpPr>
        <p:spPr bwMode="auto">
          <a:xfrm>
            <a:off x="3962400" y="1066800"/>
            <a:ext cx="1371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tailEnd type="triangle" w="med" len="med"/>
          </a:ln>
          <a:effectLst/>
        </p:spPr>
        <p:txBody>
          <a:bodyPr wrap="none"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34885" name="Text Box 5"/>
          <p:cNvSpPr txBox="1">
            <a:spLocks noChangeArrowheads="1"/>
          </p:cNvSpPr>
          <p:nvPr/>
        </p:nvSpPr>
        <p:spPr bwMode="auto">
          <a:xfrm>
            <a:off x="3505200" y="762000"/>
            <a:ext cx="609600" cy="519113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R="0" algn="ctr" defTabSz="914400">
              <a:buSzTx/>
              <a:buFontTx/>
              <a:defRPr/>
            </a:pPr>
            <a:r>
              <a:rPr kumimoji="0" lang="en-US" altLang="zh-CN" sz="2800" b="1" i="1" kern="1200" cap="none" spc="0" normalizeH="0" baseline="0" noProof="0"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rPr>
              <a:t>x</a:t>
            </a:r>
          </a:p>
        </p:txBody>
      </p:sp>
      <p:sp>
        <p:nvSpPr>
          <p:cNvPr id="634888" name="Line 8"/>
          <p:cNvSpPr>
            <a:spLocks noChangeShapeType="1"/>
          </p:cNvSpPr>
          <p:nvPr/>
        </p:nvSpPr>
        <p:spPr bwMode="auto">
          <a:xfrm>
            <a:off x="6934200" y="1066800"/>
            <a:ext cx="1371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tailEnd type="triangle" w="med" len="med"/>
          </a:ln>
          <a:effectLst/>
        </p:spPr>
        <p:txBody>
          <a:bodyPr wrap="none"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34889" name="Text Box 9"/>
          <p:cNvSpPr txBox="1">
            <a:spLocks noChangeArrowheads="1"/>
          </p:cNvSpPr>
          <p:nvPr/>
        </p:nvSpPr>
        <p:spPr bwMode="auto">
          <a:xfrm>
            <a:off x="8305800" y="838200"/>
            <a:ext cx="533400" cy="579438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spcBef>
                <a:spcPct val="20000"/>
              </a:spcBef>
            </a:pPr>
            <a:r>
              <a:rPr lang="en-US" altLang="zh-CN" sz="3200" dirty="0">
                <a:latin typeface="Tahoma" panose="020B0604030504040204" charset="0"/>
                <a:ea typeface="宋体" panose="02010600030101010101" pitchFamily="2" charset="-122"/>
              </a:rPr>
              <a:t>y</a:t>
            </a:r>
            <a:endParaRPr lang="en-US" altLang="zh-CN" sz="3200" baseline="30000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634890" name="Text Box 10"/>
          <p:cNvSpPr txBox="1">
            <a:spLocks noChangeArrowheads="1"/>
          </p:cNvSpPr>
          <p:nvPr/>
        </p:nvSpPr>
        <p:spPr bwMode="auto">
          <a:xfrm>
            <a:off x="838200" y="1905000"/>
            <a:ext cx="1905000" cy="8540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R="0" algn="ctr" defTabSz="914400">
              <a:buSzTx/>
              <a:buFontTx/>
              <a:defRPr/>
            </a:pPr>
            <a:r>
              <a:rPr kumimoji="0" lang="en-US" altLang="zh-CN" kern="1200" cap="none" spc="0" normalizeH="0" baseline="0" noProof="0"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rPr>
              <a:t>+1</a:t>
            </a:r>
          </a:p>
          <a:p>
            <a:pPr marR="0" algn="ctr" defTabSz="914400">
              <a:buSzTx/>
              <a:buFontTx/>
              <a:defRPr/>
            </a:pPr>
            <a:r>
              <a:rPr kumimoji="0" lang="en-US" altLang="zh-CN" kern="1200" cap="none" spc="0" normalizeH="0" baseline="0" noProof="0"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rPr>
              <a:t>-1</a:t>
            </a:r>
          </a:p>
        </p:txBody>
      </p:sp>
      <p:sp>
        <p:nvSpPr>
          <p:cNvPr id="634891" name="Oval 11"/>
          <p:cNvSpPr>
            <a:spLocks noChangeAspect="1" noChangeArrowheads="1"/>
          </p:cNvSpPr>
          <p:nvPr/>
        </p:nvSpPr>
        <p:spPr bwMode="auto">
          <a:xfrm rot="4777107">
            <a:off x="915194" y="2056606"/>
            <a:ext cx="58738" cy="6032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34892" name="Oval 12"/>
          <p:cNvSpPr>
            <a:spLocks noChangeAspect="1" noChangeArrowheads="1"/>
          </p:cNvSpPr>
          <p:nvPr/>
        </p:nvSpPr>
        <p:spPr bwMode="auto">
          <a:xfrm rot="5895381">
            <a:off x="915988" y="2513013"/>
            <a:ext cx="50800" cy="5397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34893" name="Line 13"/>
          <p:cNvSpPr>
            <a:spLocks noChangeShapeType="1"/>
          </p:cNvSpPr>
          <p:nvPr/>
        </p:nvSpPr>
        <p:spPr bwMode="auto">
          <a:xfrm>
            <a:off x="2590800" y="2209800"/>
            <a:ext cx="0" cy="3505200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</a:ln>
          <a:effectLst/>
        </p:spPr>
        <p:txBody>
          <a:bodyPr wrap="none"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34894" name="Line 14"/>
          <p:cNvSpPr>
            <a:spLocks noChangeShapeType="1"/>
          </p:cNvSpPr>
          <p:nvPr/>
        </p:nvSpPr>
        <p:spPr bwMode="auto">
          <a:xfrm flipV="1">
            <a:off x="2438400" y="5562600"/>
            <a:ext cx="3657600" cy="0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</a:ln>
          <a:effectLst/>
        </p:spPr>
        <p:txBody>
          <a:bodyPr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34895" name="Oval 15"/>
          <p:cNvSpPr>
            <a:spLocks noChangeAspect="1" noChangeArrowheads="1"/>
          </p:cNvSpPr>
          <p:nvPr/>
        </p:nvSpPr>
        <p:spPr bwMode="auto">
          <a:xfrm>
            <a:off x="3717925" y="5032375"/>
            <a:ext cx="60325" cy="476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34896" name="Oval 16"/>
          <p:cNvSpPr>
            <a:spLocks noChangeAspect="1" noChangeArrowheads="1"/>
          </p:cNvSpPr>
          <p:nvPr/>
        </p:nvSpPr>
        <p:spPr bwMode="auto">
          <a:xfrm>
            <a:off x="2486025" y="3903663"/>
            <a:ext cx="60325" cy="4762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34897" name="Oval 17"/>
          <p:cNvSpPr>
            <a:spLocks noChangeAspect="1" noChangeArrowheads="1"/>
          </p:cNvSpPr>
          <p:nvPr/>
        </p:nvSpPr>
        <p:spPr bwMode="auto">
          <a:xfrm>
            <a:off x="4340225" y="2814638"/>
            <a:ext cx="60325" cy="4762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34898" name="Oval 18"/>
          <p:cNvSpPr>
            <a:spLocks noChangeAspect="1" noChangeArrowheads="1"/>
          </p:cNvSpPr>
          <p:nvPr/>
        </p:nvSpPr>
        <p:spPr bwMode="auto">
          <a:xfrm>
            <a:off x="4403725" y="3635375"/>
            <a:ext cx="60325" cy="476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34899" name="Oval 19"/>
          <p:cNvSpPr>
            <a:spLocks noChangeAspect="1" noChangeArrowheads="1"/>
          </p:cNvSpPr>
          <p:nvPr/>
        </p:nvSpPr>
        <p:spPr bwMode="auto">
          <a:xfrm>
            <a:off x="3409950" y="2663825"/>
            <a:ext cx="60325" cy="50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34900" name="Oval 20"/>
          <p:cNvSpPr>
            <a:spLocks noChangeAspect="1" noChangeArrowheads="1"/>
          </p:cNvSpPr>
          <p:nvPr/>
        </p:nvSpPr>
        <p:spPr bwMode="auto">
          <a:xfrm>
            <a:off x="3886200" y="3733800"/>
            <a:ext cx="53975" cy="4762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34901" name="Oval 21"/>
          <p:cNvSpPr>
            <a:spLocks noChangeAspect="1" noChangeArrowheads="1"/>
          </p:cNvSpPr>
          <p:nvPr/>
        </p:nvSpPr>
        <p:spPr bwMode="auto">
          <a:xfrm>
            <a:off x="3048000" y="3124200"/>
            <a:ext cx="60325" cy="58738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34902" name="Oval 22"/>
          <p:cNvSpPr>
            <a:spLocks noChangeAspect="1" noChangeArrowheads="1"/>
          </p:cNvSpPr>
          <p:nvPr/>
        </p:nvSpPr>
        <p:spPr bwMode="auto">
          <a:xfrm>
            <a:off x="5105400" y="4114800"/>
            <a:ext cx="60325" cy="508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34903" name="Oval 23"/>
          <p:cNvSpPr>
            <a:spLocks noChangeAspect="1" noChangeArrowheads="1"/>
          </p:cNvSpPr>
          <p:nvPr/>
        </p:nvSpPr>
        <p:spPr bwMode="auto">
          <a:xfrm rot="-1118274">
            <a:off x="3887788" y="4443413"/>
            <a:ext cx="53975" cy="476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34904" name="Oval 24"/>
          <p:cNvSpPr>
            <a:spLocks noChangeAspect="1" noChangeArrowheads="1"/>
          </p:cNvSpPr>
          <p:nvPr/>
        </p:nvSpPr>
        <p:spPr bwMode="auto">
          <a:xfrm rot="-1118274">
            <a:off x="6003925" y="3228975"/>
            <a:ext cx="60325" cy="508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34905" name="Oval 25"/>
          <p:cNvSpPr>
            <a:spLocks noChangeAspect="1" noChangeArrowheads="1"/>
          </p:cNvSpPr>
          <p:nvPr/>
        </p:nvSpPr>
        <p:spPr bwMode="auto">
          <a:xfrm rot="-1118274">
            <a:off x="5295900" y="4545013"/>
            <a:ext cx="60325" cy="508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34906" name="Oval 26"/>
          <p:cNvSpPr>
            <a:spLocks noChangeAspect="1" noChangeArrowheads="1"/>
          </p:cNvSpPr>
          <p:nvPr/>
        </p:nvSpPr>
        <p:spPr bwMode="auto">
          <a:xfrm rot="-1118274">
            <a:off x="3124200" y="2667000"/>
            <a:ext cx="60325" cy="50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34907" name="Oval 27"/>
          <p:cNvSpPr>
            <a:spLocks noChangeAspect="1" noChangeArrowheads="1"/>
          </p:cNvSpPr>
          <p:nvPr/>
        </p:nvSpPr>
        <p:spPr bwMode="auto">
          <a:xfrm rot="-1118274">
            <a:off x="4711700" y="3584575"/>
            <a:ext cx="60325" cy="508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34908" name="Oval 28"/>
          <p:cNvSpPr>
            <a:spLocks noChangeAspect="1" noChangeArrowheads="1"/>
          </p:cNvSpPr>
          <p:nvPr/>
        </p:nvSpPr>
        <p:spPr bwMode="auto">
          <a:xfrm rot="-1118274">
            <a:off x="5867400" y="4495800"/>
            <a:ext cx="60325" cy="476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34909" name="Oval 29"/>
          <p:cNvSpPr>
            <a:spLocks noChangeAspect="1" noChangeArrowheads="1"/>
          </p:cNvSpPr>
          <p:nvPr/>
        </p:nvSpPr>
        <p:spPr bwMode="auto">
          <a:xfrm rot="-1118274">
            <a:off x="3114675" y="3640138"/>
            <a:ext cx="60325" cy="4762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34910" name="Oval 30"/>
          <p:cNvSpPr>
            <a:spLocks noChangeAspect="1" noChangeArrowheads="1"/>
          </p:cNvSpPr>
          <p:nvPr/>
        </p:nvSpPr>
        <p:spPr bwMode="auto">
          <a:xfrm rot="5895381">
            <a:off x="3867150" y="3057525"/>
            <a:ext cx="47625" cy="5397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34911" name="Oval 31"/>
          <p:cNvSpPr>
            <a:spLocks noChangeAspect="1" noChangeArrowheads="1"/>
          </p:cNvSpPr>
          <p:nvPr/>
        </p:nvSpPr>
        <p:spPr bwMode="auto">
          <a:xfrm rot="5895381">
            <a:off x="4136231" y="5242719"/>
            <a:ext cx="55563" cy="603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34912" name="Oval 32"/>
          <p:cNvSpPr>
            <a:spLocks noChangeAspect="1" noChangeArrowheads="1"/>
          </p:cNvSpPr>
          <p:nvPr/>
        </p:nvSpPr>
        <p:spPr bwMode="auto">
          <a:xfrm rot="5895381">
            <a:off x="3114675" y="4098925"/>
            <a:ext cx="47625" cy="6032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34913" name="Oval 33"/>
          <p:cNvSpPr>
            <a:spLocks noChangeAspect="1" noChangeArrowheads="1"/>
          </p:cNvSpPr>
          <p:nvPr/>
        </p:nvSpPr>
        <p:spPr bwMode="auto">
          <a:xfrm rot="5895381">
            <a:off x="4343400" y="2393950"/>
            <a:ext cx="47625" cy="5397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34914" name="Oval 34"/>
          <p:cNvSpPr>
            <a:spLocks noChangeAspect="1" noChangeArrowheads="1"/>
          </p:cNvSpPr>
          <p:nvPr/>
        </p:nvSpPr>
        <p:spPr bwMode="auto">
          <a:xfrm rot="5895381">
            <a:off x="5304631" y="4144169"/>
            <a:ext cx="58738" cy="603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34915" name="Oval 35"/>
          <p:cNvSpPr>
            <a:spLocks noChangeAspect="1" noChangeArrowheads="1"/>
          </p:cNvSpPr>
          <p:nvPr/>
        </p:nvSpPr>
        <p:spPr bwMode="auto">
          <a:xfrm rot="5895381">
            <a:off x="4370388" y="4079875"/>
            <a:ext cx="47625" cy="5397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34916" name="Oval 36"/>
          <p:cNvSpPr>
            <a:spLocks noChangeAspect="1" noChangeArrowheads="1"/>
          </p:cNvSpPr>
          <p:nvPr/>
        </p:nvSpPr>
        <p:spPr bwMode="auto">
          <a:xfrm rot="5895381">
            <a:off x="5619750" y="3365500"/>
            <a:ext cx="47625" cy="5397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34917" name="Oval 37"/>
          <p:cNvSpPr>
            <a:spLocks noChangeAspect="1" noChangeArrowheads="1"/>
          </p:cNvSpPr>
          <p:nvPr/>
        </p:nvSpPr>
        <p:spPr bwMode="auto">
          <a:xfrm rot="5895381">
            <a:off x="3087688" y="2346325"/>
            <a:ext cx="47625" cy="6032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34918" name="Oval 38"/>
          <p:cNvSpPr>
            <a:spLocks noChangeAspect="1" noChangeArrowheads="1"/>
          </p:cNvSpPr>
          <p:nvPr/>
        </p:nvSpPr>
        <p:spPr bwMode="auto">
          <a:xfrm rot="5895381">
            <a:off x="5260975" y="3273425"/>
            <a:ext cx="47625" cy="5397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34919" name="Oval 39"/>
          <p:cNvSpPr>
            <a:spLocks noChangeAspect="1" noChangeArrowheads="1"/>
          </p:cNvSpPr>
          <p:nvPr/>
        </p:nvSpPr>
        <p:spPr bwMode="auto">
          <a:xfrm rot="5895381">
            <a:off x="5117306" y="4718844"/>
            <a:ext cx="58738" cy="5397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34920" name="Oval 40"/>
          <p:cNvSpPr>
            <a:spLocks noChangeAspect="1" noChangeArrowheads="1"/>
          </p:cNvSpPr>
          <p:nvPr/>
        </p:nvSpPr>
        <p:spPr bwMode="auto">
          <a:xfrm rot="4777107">
            <a:off x="3498056" y="3534569"/>
            <a:ext cx="58738" cy="6032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34921" name="Oval 41"/>
          <p:cNvSpPr>
            <a:spLocks noChangeAspect="1" noChangeArrowheads="1"/>
          </p:cNvSpPr>
          <p:nvPr/>
        </p:nvSpPr>
        <p:spPr bwMode="auto">
          <a:xfrm rot="4777107">
            <a:off x="4651375" y="5254625"/>
            <a:ext cx="47625" cy="5397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34922" name="Oval 42"/>
          <p:cNvSpPr>
            <a:spLocks noChangeAspect="1" noChangeArrowheads="1"/>
          </p:cNvSpPr>
          <p:nvPr/>
        </p:nvSpPr>
        <p:spPr bwMode="auto">
          <a:xfrm rot="4777107">
            <a:off x="4346575" y="4873625"/>
            <a:ext cx="47625" cy="5397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34923" name="Oval 43"/>
          <p:cNvSpPr>
            <a:spLocks noChangeAspect="1" noChangeArrowheads="1"/>
          </p:cNvSpPr>
          <p:nvPr/>
        </p:nvSpPr>
        <p:spPr bwMode="auto">
          <a:xfrm rot="4777107">
            <a:off x="2817019" y="3736181"/>
            <a:ext cx="58738" cy="5397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34924" name="Oval 44"/>
          <p:cNvSpPr>
            <a:spLocks noChangeAspect="1" noChangeArrowheads="1"/>
          </p:cNvSpPr>
          <p:nvPr/>
        </p:nvSpPr>
        <p:spPr bwMode="auto">
          <a:xfrm rot="4777107">
            <a:off x="3713163" y="2776538"/>
            <a:ext cx="50800" cy="5397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34925" name="Oval 45"/>
          <p:cNvSpPr>
            <a:spLocks noChangeAspect="1" noChangeArrowheads="1"/>
          </p:cNvSpPr>
          <p:nvPr/>
        </p:nvSpPr>
        <p:spPr bwMode="auto">
          <a:xfrm rot="4777107">
            <a:off x="4356100" y="4364038"/>
            <a:ext cx="50800" cy="603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34926" name="Oval 46"/>
          <p:cNvSpPr>
            <a:spLocks noChangeAspect="1" noChangeArrowheads="1"/>
          </p:cNvSpPr>
          <p:nvPr/>
        </p:nvSpPr>
        <p:spPr bwMode="auto">
          <a:xfrm rot="4777107">
            <a:off x="2504281" y="3082131"/>
            <a:ext cx="58738" cy="6032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34927" name="Oval 47"/>
          <p:cNvSpPr>
            <a:spLocks noChangeAspect="1" noChangeArrowheads="1"/>
          </p:cNvSpPr>
          <p:nvPr/>
        </p:nvSpPr>
        <p:spPr bwMode="auto">
          <a:xfrm rot="4777107">
            <a:off x="3937794" y="5049044"/>
            <a:ext cx="55563" cy="603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34928" name="Oval 48"/>
          <p:cNvSpPr>
            <a:spLocks noChangeAspect="1" noChangeArrowheads="1"/>
          </p:cNvSpPr>
          <p:nvPr/>
        </p:nvSpPr>
        <p:spPr bwMode="auto">
          <a:xfrm rot="4777107">
            <a:off x="5303838" y="4756150"/>
            <a:ext cx="50800" cy="603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34929" name="Text Box 49"/>
          <p:cNvSpPr txBox="1">
            <a:spLocks noChangeArrowheads="1"/>
          </p:cNvSpPr>
          <p:nvPr/>
        </p:nvSpPr>
        <p:spPr bwMode="auto">
          <a:xfrm>
            <a:off x="5486400" y="1676400"/>
            <a:ext cx="3200400" cy="3968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R="0" algn="ctr" defTabSz="914400">
              <a:buSzTx/>
              <a:buFontTx/>
              <a:defRPr/>
            </a:pPr>
            <a:r>
              <a:rPr kumimoji="0" lang="en-US" altLang="zh-CN" b="1" i="1" kern="1200" cap="none" spc="0" normalizeH="0" baseline="0" noProof="0"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rPr>
              <a:t>f</a:t>
            </a:r>
            <a:r>
              <a:rPr kumimoji="0" lang="en-US" altLang="zh-CN" i="1" kern="1200" cap="none" spc="0" normalizeH="0" baseline="0" noProof="0"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kumimoji="0" lang="en-US" altLang="zh-CN" b="1" i="1" kern="1200" cap="none" spc="0" normalizeH="0" baseline="0" noProof="0"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rPr>
              <a:t>x</a:t>
            </a:r>
            <a:r>
              <a:rPr kumimoji="0" lang="en-US" altLang="zh-CN" i="1" kern="1200" cap="none" spc="0" normalizeH="0" baseline="0" noProof="0"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kumimoji="0" lang="en-US" altLang="zh-CN" b="1" i="1" kern="1200" cap="none" spc="0" normalizeH="0" baseline="0" noProof="0">
                <a:solidFill>
                  <a:srgbClr val="00CC00"/>
                </a:solidFill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rPr>
              <a:t>w</a:t>
            </a:r>
            <a:r>
              <a:rPr kumimoji="0" lang="en-US" altLang="zh-CN" i="1" kern="1200" cap="none" spc="0" normalizeH="0" baseline="0" noProof="0">
                <a:solidFill>
                  <a:srgbClr val="00CC00"/>
                </a:solidFill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rPr>
              <a:t>,b</a:t>
            </a:r>
            <a:r>
              <a:rPr kumimoji="0" lang="en-US" altLang="zh-CN" i="1" kern="1200" cap="none" spc="0" normalizeH="0" baseline="0" noProof="0"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rPr>
              <a:t>) = sign(</a:t>
            </a:r>
            <a:r>
              <a:rPr kumimoji="0" lang="en-US" altLang="zh-CN" b="1" i="1" kern="1200" cap="none" spc="0" normalizeH="0" baseline="0" noProof="0">
                <a:solidFill>
                  <a:srgbClr val="00CC00"/>
                </a:solidFill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rPr>
              <a:t>w</a:t>
            </a:r>
            <a:r>
              <a:rPr kumimoji="0" lang="en-US" altLang="zh-CN" b="1" i="1" kern="1200" cap="none" spc="0" normalizeH="0" baseline="0" noProof="0"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rPr>
              <a:t>. x</a:t>
            </a:r>
            <a:r>
              <a:rPr kumimoji="0" lang="en-US" altLang="zh-CN" i="1" kern="1200" cap="none" spc="0" normalizeH="0" baseline="0" noProof="0">
                <a:solidFill>
                  <a:srgbClr val="00CC00"/>
                </a:solidFill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kumimoji="0" lang="en-US" altLang="zh-CN" i="1" kern="1200" cap="none" spc="0" normalizeH="0" baseline="0" noProof="0"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rPr>
              <a:t>- </a:t>
            </a:r>
            <a:r>
              <a:rPr kumimoji="0" lang="en-US" altLang="zh-CN" i="1" kern="1200" cap="none" spc="0" normalizeH="0" baseline="0" noProof="0">
                <a:solidFill>
                  <a:srgbClr val="00CC00"/>
                </a:solidFill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rPr>
              <a:t>b</a:t>
            </a:r>
            <a:r>
              <a:rPr kumimoji="0" lang="en-US" altLang="zh-CN" i="1" kern="1200" cap="none" spc="0" normalizeH="0" baseline="0" noProof="0"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</a:p>
        </p:txBody>
      </p:sp>
      <p:sp>
        <p:nvSpPr>
          <p:cNvPr id="634930" name="Line 50"/>
          <p:cNvSpPr>
            <a:spLocks noChangeShapeType="1"/>
          </p:cNvSpPr>
          <p:nvPr/>
        </p:nvSpPr>
        <p:spPr bwMode="auto">
          <a:xfrm flipV="1">
            <a:off x="2286000" y="2362200"/>
            <a:ext cx="4038600" cy="2590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ffectLst/>
        </p:spPr>
        <p:txBody>
          <a:bodyPr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34931" name="Text Box 51"/>
          <p:cNvSpPr txBox="1">
            <a:spLocks noChangeArrowheads="1"/>
          </p:cNvSpPr>
          <p:nvPr/>
        </p:nvSpPr>
        <p:spPr bwMode="auto">
          <a:xfrm>
            <a:off x="6248400" y="3200400"/>
            <a:ext cx="2438400" cy="3968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R="0" defTabSz="914400">
              <a:buSzTx/>
              <a:buFontTx/>
              <a:defRPr/>
            </a:pPr>
            <a:endParaRPr kumimoji="0" lang="zh-CN" altLang="en-US" kern="1200" cap="none" spc="0" normalizeH="0" baseline="0" noProof="0">
              <a:latin typeface="Tahoma" panose="020B060403050404020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34932" name="Text Box 52"/>
          <p:cNvSpPr txBox="1">
            <a:spLocks noChangeArrowheads="1"/>
          </p:cNvSpPr>
          <p:nvPr/>
        </p:nvSpPr>
        <p:spPr bwMode="auto">
          <a:xfrm>
            <a:off x="6400800" y="3352800"/>
            <a:ext cx="2209800" cy="7016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R="0" defTabSz="914400">
              <a:buSzTx/>
              <a:buFontTx/>
              <a:defRPr/>
            </a:pPr>
            <a:r>
              <a:rPr kumimoji="0" lang="en-US" altLang="zh-CN" kern="1200" cap="none" spc="0" normalizeH="0" baseline="0" noProof="0"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rPr>
              <a:t>How would you classify this data?</a:t>
            </a:r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906" name="Rectangle 2"/>
          <p:cNvSpPr>
            <a:spLocks noGrp="1" noChangeArrowheads="1"/>
          </p:cNvSpPr>
          <p:nvPr>
            <p:ph type="title"/>
          </p:nvPr>
        </p:nvSpPr>
        <p:spPr>
          <a:xfrm>
            <a:off x="295910" y="233045"/>
            <a:ext cx="4648200" cy="685800"/>
          </a:xfrm>
        </p:spPr>
        <p:txBody>
          <a:bodyPr vert="horz" wrap="square" lIns="91440" tIns="45720" rIns="91440" bIns="45720" numCol="1" anchor="b" anchorCtr="0" compatLnSpc="1"/>
          <a:lstStyle/>
          <a:p>
            <a:r>
              <a:rPr lang="zh-CN" altLang="en-US" b="1" dirty="0">
                <a:ea typeface="宋体" panose="02010600030101010101" pitchFamily="2" charset="-122"/>
              </a:rPr>
              <a:t>线性分类器</a:t>
            </a:r>
            <a:endParaRPr lang="en-US" altLang="zh-CN" b="1" dirty="0">
              <a:ea typeface="宋体" panose="02010600030101010101" pitchFamily="2" charset="-122"/>
            </a:endParaRPr>
          </a:p>
        </p:txBody>
      </p:sp>
      <p:sp>
        <p:nvSpPr>
          <p:cNvPr id="635907" name="Rectangle 3"/>
          <p:cNvSpPr>
            <a:spLocks noChangeArrowheads="1"/>
          </p:cNvSpPr>
          <p:nvPr/>
        </p:nvSpPr>
        <p:spPr bwMode="auto">
          <a:xfrm>
            <a:off x="5334000" y="776288"/>
            <a:ext cx="1600200" cy="654050"/>
          </a:xfrm>
          <a:prstGeom prst="rect">
            <a:avLst/>
          </a:prstGeom>
          <a:solidFill>
            <a:srgbClr val="FFCCFF"/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anchor="ctr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3600" b="0" i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rPr>
              <a:t>f </a:t>
            </a: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rPr>
              <a:t>        </a:t>
            </a:r>
          </a:p>
        </p:txBody>
      </p:sp>
      <p:sp>
        <p:nvSpPr>
          <p:cNvPr id="635908" name="Line 4"/>
          <p:cNvSpPr>
            <a:spLocks noChangeShapeType="1"/>
          </p:cNvSpPr>
          <p:nvPr/>
        </p:nvSpPr>
        <p:spPr bwMode="auto">
          <a:xfrm>
            <a:off x="3962400" y="1066800"/>
            <a:ext cx="1371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tailEnd type="triangle" w="med" len="med"/>
          </a:ln>
          <a:effectLst/>
        </p:spPr>
        <p:txBody>
          <a:bodyPr wrap="none"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35909" name="Text Box 5"/>
          <p:cNvSpPr txBox="1">
            <a:spLocks noChangeArrowheads="1"/>
          </p:cNvSpPr>
          <p:nvPr/>
        </p:nvSpPr>
        <p:spPr bwMode="auto">
          <a:xfrm>
            <a:off x="3505200" y="762000"/>
            <a:ext cx="609600" cy="519113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R="0" algn="ctr" defTabSz="914400">
              <a:buSzTx/>
              <a:buFontTx/>
              <a:defRPr/>
            </a:pPr>
            <a:r>
              <a:rPr kumimoji="0" lang="en-US" altLang="zh-CN" sz="2800" b="1" i="1" kern="1200" cap="none" spc="0" normalizeH="0" baseline="0" noProof="0"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rPr>
              <a:t>x</a:t>
            </a:r>
          </a:p>
        </p:txBody>
      </p:sp>
      <p:sp>
        <p:nvSpPr>
          <p:cNvPr id="635912" name="Line 8"/>
          <p:cNvSpPr>
            <a:spLocks noChangeShapeType="1"/>
          </p:cNvSpPr>
          <p:nvPr/>
        </p:nvSpPr>
        <p:spPr bwMode="auto">
          <a:xfrm>
            <a:off x="6934200" y="1066800"/>
            <a:ext cx="1371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tailEnd type="triangle" w="med" len="med"/>
          </a:ln>
          <a:effectLst/>
        </p:spPr>
        <p:txBody>
          <a:bodyPr wrap="none"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35913" name="Text Box 9"/>
          <p:cNvSpPr txBox="1">
            <a:spLocks noChangeArrowheads="1"/>
          </p:cNvSpPr>
          <p:nvPr/>
        </p:nvSpPr>
        <p:spPr bwMode="auto">
          <a:xfrm>
            <a:off x="8305800" y="838200"/>
            <a:ext cx="457200" cy="579438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spcBef>
                <a:spcPct val="20000"/>
              </a:spcBef>
            </a:pPr>
            <a:r>
              <a:rPr lang="en-US" altLang="zh-CN" sz="3200" dirty="0">
                <a:latin typeface="Tahoma" panose="020B0604030504040204" charset="0"/>
                <a:ea typeface="宋体" panose="02010600030101010101" pitchFamily="2" charset="-122"/>
              </a:rPr>
              <a:t>y</a:t>
            </a:r>
            <a:endParaRPr lang="en-US" altLang="zh-CN" sz="3200" baseline="30000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635914" name="Text Box 10"/>
          <p:cNvSpPr txBox="1">
            <a:spLocks noChangeArrowheads="1"/>
          </p:cNvSpPr>
          <p:nvPr/>
        </p:nvSpPr>
        <p:spPr bwMode="auto">
          <a:xfrm>
            <a:off x="838200" y="1905000"/>
            <a:ext cx="1905000" cy="8540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R="0" algn="ctr" defTabSz="914400">
              <a:buSzTx/>
              <a:buFontTx/>
              <a:defRPr/>
            </a:pPr>
            <a:r>
              <a:rPr kumimoji="0" lang="en-US" altLang="zh-CN" kern="1200" cap="none" spc="0" normalizeH="0" baseline="0" noProof="0"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rPr>
              <a:t>+1</a:t>
            </a:r>
          </a:p>
          <a:p>
            <a:pPr marR="0" algn="ctr" defTabSz="914400">
              <a:buSzTx/>
              <a:buFontTx/>
              <a:defRPr/>
            </a:pPr>
            <a:r>
              <a:rPr kumimoji="0" lang="en-US" altLang="zh-CN" kern="1200" cap="none" spc="0" normalizeH="0" baseline="0" noProof="0"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rPr>
              <a:t>-1</a:t>
            </a:r>
          </a:p>
        </p:txBody>
      </p:sp>
      <p:sp>
        <p:nvSpPr>
          <p:cNvPr id="635915" name="Oval 11"/>
          <p:cNvSpPr>
            <a:spLocks noChangeAspect="1" noChangeArrowheads="1"/>
          </p:cNvSpPr>
          <p:nvPr/>
        </p:nvSpPr>
        <p:spPr bwMode="auto">
          <a:xfrm rot="4777107">
            <a:off x="915194" y="2056606"/>
            <a:ext cx="58738" cy="6032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35916" name="Oval 12"/>
          <p:cNvSpPr>
            <a:spLocks noChangeAspect="1" noChangeArrowheads="1"/>
          </p:cNvSpPr>
          <p:nvPr/>
        </p:nvSpPr>
        <p:spPr bwMode="auto">
          <a:xfrm rot="5895381">
            <a:off x="915988" y="2513013"/>
            <a:ext cx="50800" cy="5397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35917" name="Line 13"/>
          <p:cNvSpPr>
            <a:spLocks noChangeShapeType="1"/>
          </p:cNvSpPr>
          <p:nvPr/>
        </p:nvSpPr>
        <p:spPr bwMode="auto">
          <a:xfrm>
            <a:off x="2590800" y="2209800"/>
            <a:ext cx="0" cy="3505200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</a:ln>
          <a:effectLst/>
        </p:spPr>
        <p:txBody>
          <a:bodyPr wrap="none"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35918" name="Line 14"/>
          <p:cNvSpPr>
            <a:spLocks noChangeShapeType="1"/>
          </p:cNvSpPr>
          <p:nvPr/>
        </p:nvSpPr>
        <p:spPr bwMode="auto">
          <a:xfrm flipV="1">
            <a:off x="2438400" y="5562600"/>
            <a:ext cx="3657600" cy="0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</a:ln>
          <a:effectLst/>
        </p:spPr>
        <p:txBody>
          <a:bodyPr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35919" name="Oval 15"/>
          <p:cNvSpPr>
            <a:spLocks noChangeAspect="1" noChangeArrowheads="1"/>
          </p:cNvSpPr>
          <p:nvPr/>
        </p:nvSpPr>
        <p:spPr bwMode="auto">
          <a:xfrm>
            <a:off x="3717925" y="5032375"/>
            <a:ext cx="60325" cy="476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35920" name="Oval 16"/>
          <p:cNvSpPr>
            <a:spLocks noChangeAspect="1" noChangeArrowheads="1"/>
          </p:cNvSpPr>
          <p:nvPr/>
        </p:nvSpPr>
        <p:spPr bwMode="auto">
          <a:xfrm>
            <a:off x="2486025" y="3903663"/>
            <a:ext cx="60325" cy="4762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35921" name="Oval 17"/>
          <p:cNvSpPr>
            <a:spLocks noChangeAspect="1" noChangeArrowheads="1"/>
          </p:cNvSpPr>
          <p:nvPr/>
        </p:nvSpPr>
        <p:spPr bwMode="auto">
          <a:xfrm>
            <a:off x="4340225" y="2814638"/>
            <a:ext cx="60325" cy="4762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35922" name="Oval 18"/>
          <p:cNvSpPr>
            <a:spLocks noChangeAspect="1" noChangeArrowheads="1"/>
          </p:cNvSpPr>
          <p:nvPr/>
        </p:nvSpPr>
        <p:spPr bwMode="auto">
          <a:xfrm>
            <a:off x="4403725" y="3635375"/>
            <a:ext cx="60325" cy="476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35923" name="Oval 19"/>
          <p:cNvSpPr>
            <a:spLocks noChangeAspect="1" noChangeArrowheads="1"/>
          </p:cNvSpPr>
          <p:nvPr/>
        </p:nvSpPr>
        <p:spPr bwMode="auto">
          <a:xfrm>
            <a:off x="3409950" y="2663825"/>
            <a:ext cx="60325" cy="50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35924" name="Oval 20"/>
          <p:cNvSpPr>
            <a:spLocks noChangeAspect="1" noChangeArrowheads="1"/>
          </p:cNvSpPr>
          <p:nvPr/>
        </p:nvSpPr>
        <p:spPr bwMode="auto">
          <a:xfrm>
            <a:off x="3886200" y="3733800"/>
            <a:ext cx="53975" cy="4762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35925" name="Oval 21"/>
          <p:cNvSpPr>
            <a:spLocks noChangeAspect="1" noChangeArrowheads="1"/>
          </p:cNvSpPr>
          <p:nvPr/>
        </p:nvSpPr>
        <p:spPr bwMode="auto">
          <a:xfrm>
            <a:off x="3048000" y="3124200"/>
            <a:ext cx="60325" cy="58738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35926" name="Oval 22"/>
          <p:cNvSpPr>
            <a:spLocks noChangeAspect="1" noChangeArrowheads="1"/>
          </p:cNvSpPr>
          <p:nvPr/>
        </p:nvSpPr>
        <p:spPr bwMode="auto">
          <a:xfrm>
            <a:off x="5105400" y="4114800"/>
            <a:ext cx="60325" cy="508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35927" name="Oval 23"/>
          <p:cNvSpPr>
            <a:spLocks noChangeAspect="1" noChangeArrowheads="1"/>
          </p:cNvSpPr>
          <p:nvPr/>
        </p:nvSpPr>
        <p:spPr bwMode="auto">
          <a:xfrm rot="-1118274">
            <a:off x="3887788" y="4443413"/>
            <a:ext cx="53975" cy="476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35928" name="Oval 24"/>
          <p:cNvSpPr>
            <a:spLocks noChangeAspect="1" noChangeArrowheads="1"/>
          </p:cNvSpPr>
          <p:nvPr/>
        </p:nvSpPr>
        <p:spPr bwMode="auto">
          <a:xfrm rot="-1118274">
            <a:off x="6003925" y="3228975"/>
            <a:ext cx="60325" cy="508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35929" name="Oval 25"/>
          <p:cNvSpPr>
            <a:spLocks noChangeAspect="1" noChangeArrowheads="1"/>
          </p:cNvSpPr>
          <p:nvPr/>
        </p:nvSpPr>
        <p:spPr bwMode="auto">
          <a:xfrm rot="-1118274">
            <a:off x="5295900" y="4545013"/>
            <a:ext cx="60325" cy="508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35930" name="Oval 26"/>
          <p:cNvSpPr>
            <a:spLocks noChangeAspect="1" noChangeArrowheads="1"/>
          </p:cNvSpPr>
          <p:nvPr/>
        </p:nvSpPr>
        <p:spPr bwMode="auto">
          <a:xfrm rot="-1118274">
            <a:off x="3124200" y="2667000"/>
            <a:ext cx="60325" cy="50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35931" name="Oval 27"/>
          <p:cNvSpPr>
            <a:spLocks noChangeAspect="1" noChangeArrowheads="1"/>
          </p:cNvSpPr>
          <p:nvPr/>
        </p:nvSpPr>
        <p:spPr bwMode="auto">
          <a:xfrm rot="-1118274">
            <a:off x="4711700" y="3584575"/>
            <a:ext cx="60325" cy="508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35932" name="Oval 28"/>
          <p:cNvSpPr>
            <a:spLocks noChangeAspect="1" noChangeArrowheads="1"/>
          </p:cNvSpPr>
          <p:nvPr/>
        </p:nvSpPr>
        <p:spPr bwMode="auto">
          <a:xfrm rot="-1118274">
            <a:off x="5867400" y="4495800"/>
            <a:ext cx="60325" cy="476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35933" name="Oval 29"/>
          <p:cNvSpPr>
            <a:spLocks noChangeAspect="1" noChangeArrowheads="1"/>
          </p:cNvSpPr>
          <p:nvPr/>
        </p:nvSpPr>
        <p:spPr bwMode="auto">
          <a:xfrm rot="-1118274">
            <a:off x="3114675" y="3640138"/>
            <a:ext cx="60325" cy="4762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35934" name="Oval 30"/>
          <p:cNvSpPr>
            <a:spLocks noChangeAspect="1" noChangeArrowheads="1"/>
          </p:cNvSpPr>
          <p:nvPr/>
        </p:nvSpPr>
        <p:spPr bwMode="auto">
          <a:xfrm rot="5895381">
            <a:off x="3867150" y="3057525"/>
            <a:ext cx="47625" cy="5397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35935" name="Oval 31"/>
          <p:cNvSpPr>
            <a:spLocks noChangeAspect="1" noChangeArrowheads="1"/>
          </p:cNvSpPr>
          <p:nvPr/>
        </p:nvSpPr>
        <p:spPr bwMode="auto">
          <a:xfrm rot="5895381">
            <a:off x="4136231" y="5242719"/>
            <a:ext cx="55563" cy="603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35936" name="Oval 32"/>
          <p:cNvSpPr>
            <a:spLocks noChangeAspect="1" noChangeArrowheads="1"/>
          </p:cNvSpPr>
          <p:nvPr/>
        </p:nvSpPr>
        <p:spPr bwMode="auto">
          <a:xfrm rot="5895381">
            <a:off x="3114675" y="4098925"/>
            <a:ext cx="47625" cy="6032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35937" name="Oval 33"/>
          <p:cNvSpPr>
            <a:spLocks noChangeAspect="1" noChangeArrowheads="1"/>
          </p:cNvSpPr>
          <p:nvPr/>
        </p:nvSpPr>
        <p:spPr bwMode="auto">
          <a:xfrm rot="5895381">
            <a:off x="4343400" y="2393950"/>
            <a:ext cx="47625" cy="5397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35938" name="Oval 34"/>
          <p:cNvSpPr>
            <a:spLocks noChangeAspect="1" noChangeArrowheads="1"/>
          </p:cNvSpPr>
          <p:nvPr/>
        </p:nvSpPr>
        <p:spPr bwMode="auto">
          <a:xfrm rot="5895381">
            <a:off x="5304631" y="4144169"/>
            <a:ext cx="58738" cy="603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35939" name="Oval 35"/>
          <p:cNvSpPr>
            <a:spLocks noChangeAspect="1" noChangeArrowheads="1"/>
          </p:cNvSpPr>
          <p:nvPr/>
        </p:nvSpPr>
        <p:spPr bwMode="auto">
          <a:xfrm rot="5895381">
            <a:off x="4370388" y="4079875"/>
            <a:ext cx="47625" cy="5397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35940" name="Oval 36"/>
          <p:cNvSpPr>
            <a:spLocks noChangeAspect="1" noChangeArrowheads="1"/>
          </p:cNvSpPr>
          <p:nvPr/>
        </p:nvSpPr>
        <p:spPr bwMode="auto">
          <a:xfrm rot="5895381">
            <a:off x="5619750" y="3365500"/>
            <a:ext cx="47625" cy="5397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35941" name="Oval 37"/>
          <p:cNvSpPr>
            <a:spLocks noChangeAspect="1" noChangeArrowheads="1"/>
          </p:cNvSpPr>
          <p:nvPr/>
        </p:nvSpPr>
        <p:spPr bwMode="auto">
          <a:xfrm rot="5895381">
            <a:off x="3087688" y="2346325"/>
            <a:ext cx="47625" cy="6032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35942" name="Oval 38"/>
          <p:cNvSpPr>
            <a:spLocks noChangeAspect="1" noChangeArrowheads="1"/>
          </p:cNvSpPr>
          <p:nvPr/>
        </p:nvSpPr>
        <p:spPr bwMode="auto">
          <a:xfrm rot="5895381">
            <a:off x="5260975" y="3273425"/>
            <a:ext cx="47625" cy="5397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35943" name="Oval 39"/>
          <p:cNvSpPr>
            <a:spLocks noChangeAspect="1" noChangeArrowheads="1"/>
          </p:cNvSpPr>
          <p:nvPr/>
        </p:nvSpPr>
        <p:spPr bwMode="auto">
          <a:xfrm rot="5895381">
            <a:off x="5117306" y="4718844"/>
            <a:ext cx="58738" cy="5397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35944" name="Oval 40"/>
          <p:cNvSpPr>
            <a:spLocks noChangeAspect="1" noChangeArrowheads="1"/>
          </p:cNvSpPr>
          <p:nvPr/>
        </p:nvSpPr>
        <p:spPr bwMode="auto">
          <a:xfrm rot="4777107">
            <a:off x="3498056" y="3534569"/>
            <a:ext cx="58738" cy="6032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35945" name="Oval 41"/>
          <p:cNvSpPr>
            <a:spLocks noChangeAspect="1" noChangeArrowheads="1"/>
          </p:cNvSpPr>
          <p:nvPr/>
        </p:nvSpPr>
        <p:spPr bwMode="auto">
          <a:xfrm rot="4777107">
            <a:off x="4651375" y="5254625"/>
            <a:ext cx="47625" cy="5397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35946" name="Oval 42"/>
          <p:cNvSpPr>
            <a:spLocks noChangeAspect="1" noChangeArrowheads="1"/>
          </p:cNvSpPr>
          <p:nvPr/>
        </p:nvSpPr>
        <p:spPr bwMode="auto">
          <a:xfrm rot="4777107">
            <a:off x="4346575" y="4873625"/>
            <a:ext cx="47625" cy="5397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35947" name="Oval 43"/>
          <p:cNvSpPr>
            <a:spLocks noChangeAspect="1" noChangeArrowheads="1"/>
          </p:cNvSpPr>
          <p:nvPr/>
        </p:nvSpPr>
        <p:spPr bwMode="auto">
          <a:xfrm rot="4777107">
            <a:off x="2817019" y="3736181"/>
            <a:ext cx="58738" cy="5397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35948" name="Oval 44"/>
          <p:cNvSpPr>
            <a:spLocks noChangeAspect="1" noChangeArrowheads="1"/>
          </p:cNvSpPr>
          <p:nvPr/>
        </p:nvSpPr>
        <p:spPr bwMode="auto">
          <a:xfrm rot="4777107">
            <a:off x="3713163" y="2776538"/>
            <a:ext cx="50800" cy="5397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35949" name="Oval 45"/>
          <p:cNvSpPr>
            <a:spLocks noChangeAspect="1" noChangeArrowheads="1"/>
          </p:cNvSpPr>
          <p:nvPr/>
        </p:nvSpPr>
        <p:spPr bwMode="auto">
          <a:xfrm rot="4777107">
            <a:off x="4356100" y="4364038"/>
            <a:ext cx="50800" cy="603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35950" name="Oval 46"/>
          <p:cNvSpPr>
            <a:spLocks noChangeAspect="1" noChangeArrowheads="1"/>
          </p:cNvSpPr>
          <p:nvPr/>
        </p:nvSpPr>
        <p:spPr bwMode="auto">
          <a:xfrm rot="4777107">
            <a:off x="2504281" y="3082131"/>
            <a:ext cx="58738" cy="6032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35951" name="Oval 47"/>
          <p:cNvSpPr>
            <a:spLocks noChangeAspect="1" noChangeArrowheads="1"/>
          </p:cNvSpPr>
          <p:nvPr/>
        </p:nvSpPr>
        <p:spPr bwMode="auto">
          <a:xfrm rot="4777107">
            <a:off x="3937794" y="5049044"/>
            <a:ext cx="55563" cy="603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35952" name="Oval 48"/>
          <p:cNvSpPr>
            <a:spLocks noChangeAspect="1" noChangeArrowheads="1"/>
          </p:cNvSpPr>
          <p:nvPr/>
        </p:nvSpPr>
        <p:spPr bwMode="auto">
          <a:xfrm rot="4777107">
            <a:off x="5303838" y="4756150"/>
            <a:ext cx="50800" cy="603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35953" name="Text Box 49"/>
          <p:cNvSpPr txBox="1">
            <a:spLocks noChangeArrowheads="1"/>
          </p:cNvSpPr>
          <p:nvPr/>
        </p:nvSpPr>
        <p:spPr bwMode="auto">
          <a:xfrm>
            <a:off x="5486400" y="1676400"/>
            <a:ext cx="3200400" cy="3968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R="0" algn="ctr" defTabSz="914400">
              <a:buSzTx/>
              <a:buFontTx/>
              <a:defRPr/>
            </a:pPr>
            <a:r>
              <a:rPr kumimoji="0" lang="en-US" altLang="zh-CN" b="1" i="1" kern="1200" cap="none" spc="0" normalizeH="0" baseline="0" noProof="0"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rPr>
              <a:t>f</a:t>
            </a:r>
            <a:r>
              <a:rPr kumimoji="0" lang="en-US" altLang="zh-CN" i="1" kern="1200" cap="none" spc="0" normalizeH="0" baseline="0" noProof="0"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kumimoji="0" lang="en-US" altLang="zh-CN" b="1" i="1" kern="1200" cap="none" spc="0" normalizeH="0" baseline="0" noProof="0"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rPr>
              <a:t>x</a:t>
            </a:r>
            <a:r>
              <a:rPr kumimoji="0" lang="en-US" altLang="zh-CN" i="1" kern="1200" cap="none" spc="0" normalizeH="0" baseline="0" noProof="0"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kumimoji="0" lang="en-US" altLang="zh-CN" b="1" i="1" kern="1200" cap="none" spc="0" normalizeH="0" baseline="0" noProof="0">
                <a:solidFill>
                  <a:srgbClr val="00CC00"/>
                </a:solidFill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rPr>
              <a:t>w</a:t>
            </a:r>
            <a:r>
              <a:rPr kumimoji="0" lang="en-US" altLang="zh-CN" i="1" kern="1200" cap="none" spc="0" normalizeH="0" baseline="0" noProof="0">
                <a:solidFill>
                  <a:srgbClr val="00CC00"/>
                </a:solidFill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rPr>
              <a:t>,b</a:t>
            </a:r>
            <a:r>
              <a:rPr kumimoji="0" lang="en-US" altLang="zh-CN" i="1" kern="1200" cap="none" spc="0" normalizeH="0" baseline="0" noProof="0"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rPr>
              <a:t>) = sign(</a:t>
            </a:r>
            <a:r>
              <a:rPr kumimoji="0" lang="en-US" altLang="zh-CN" b="1" i="1" kern="1200" cap="none" spc="0" normalizeH="0" baseline="0" noProof="0">
                <a:solidFill>
                  <a:srgbClr val="00CC00"/>
                </a:solidFill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rPr>
              <a:t>w</a:t>
            </a:r>
            <a:r>
              <a:rPr kumimoji="0" lang="en-US" altLang="zh-CN" b="1" i="1" kern="1200" cap="none" spc="0" normalizeH="0" baseline="0" noProof="0"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rPr>
              <a:t>. x</a:t>
            </a:r>
            <a:r>
              <a:rPr kumimoji="0" lang="en-US" altLang="zh-CN" i="1" kern="1200" cap="none" spc="0" normalizeH="0" baseline="0" noProof="0">
                <a:solidFill>
                  <a:srgbClr val="00CC00"/>
                </a:solidFill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kumimoji="0" lang="en-US" altLang="zh-CN" i="1" kern="1200" cap="none" spc="0" normalizeH="0" baseline="0" noProof="0"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rPr>
              <a:t>- </a:t>
            </a:r>
            <a:r>
              <a:rPr kumimoji="0" lang="en-US" altLang="zh-CN" i="1" kern="1200" cap="none" spc="0" normalizeH="0" baseline="0" noProof="0">
                <a:solidFill>
                  <a:srgbClr val="00CC00"/>
                </a:solidFill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rPr>
              <a:t>b</a:t>
            </a:r>
            <a:r>
              <a:rPr kumimoji="0" lang="en-US" altLang="zh-CN" i="1" kern="1200" cap="none" spc="0" normalizeH="0" baseline="0" noProof="0"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</a:p>
        </p:txBody>
      </p:sp>
      <p:sp>
        <p:nvSpPr>
          <p:cNvPr id="635954" name="Line 50"/>
          <p:cNvSpPr>
            <a:spLocks noChangeShapeType="1"/>
          </p:cNvSpPr>
          <p:nvPr/>
        </p:nvSpPr>
        <p:spPr bwMode="auto">
          <a:xfrm flipV="1">
            <a:off x="3429000" y="1676400"/>
            <a:ext cx="1447800" cy="4038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ffectLst/>
        </p:spPr>
        <p:txBody>
          <a:bodyPr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35955" name="Text Box 51"/>
          <p:cNvSpPr txBox="1">
            <a:spLocks noChangeArrowheads="1"/>
          </p:cNvSpPr>
          <p:nvPr/>
        </p:nvSpPr>
        <p:spPr bwMode="auto">
          <a:xfrm>
            <a:off x="6248400" y="3200400"/>
            <a:ext cx="2438400" cy="3968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R="0" defTabSz="914400">
              <a:buSzTx/>
              <a:buFontTx/>
              <a:defRPr/>
            </a:pPr>
            <a:endParaRPr kumimoji="0" lang="zh-CN" altLang="en-US" kern="1200" cap="none" spc="0" normalizeH="0" baseline="0" noProof="0">
              <a:latin typeface="Tahoma" panose="020B060403050404020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35956" name="Text Box 52"/>
          <p:cNvSpPr txBox="1">
            <a:spLocks noChangeArrowheads="1"/>
          </p:cNvSpPr>
          <p:nvPr/>
        </p:nvSpPr>
        <p:spPr bwMode="auto">
          <a:xfrm>
            <a:off x="6400800" y="3352800"/>
            <a:ext cx="2209800" cy="7016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R="0" defTabSz="914400">
              <a:buSzTx/>
              <a:buFontTx/>
              <a:defRPr/>
            </a:pPr>
            <a:r>
              <a:rPr kumimoji="0" lang="en-US" altLang="zh-CN" kern="1200" cap="none" spc="0" normalizeH="0" baseline="0" noProof="0"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rPr>
              <a:t>How would you classify this data?</a:t>
            </a:r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930" name="Rectangle 2"/>
          <p:cNvSpPr>
            <a:spLocks noGrp="1" noChangeArrowheads="1"/>
          </p:cNvSpPr>
          <p:nvPr>
            <p:ph type="title"/>
          </p:nvPr>
        </p:nvSpPr>
        <p:spPr>
          <a:xfrm>
            <a:off x="295910" y="233045"/>
            <a:ext cx="4648200" cy="685800"/>
          </a:xfrm>
        </p:spPr>
        <p:txBody>
          <a:bodyPr vert="horz" wrap="square" lIns="91440" tIns="45720" rIns="91440" bIns="45720" numCol="1" anchor="b" anchorCtr="0" compatLnSpc="1"/>
          <a:lstStyle/>
          <a:p>
            <a:r>
              <a:rPr lang="zh-CN" altLang="en-US" b="1" dirty="0">
                <a:ea typeface="宋体" panose="02010600030101010101" pitchFamily="2" charset="-122"/>
              </a:rPr>
              <a:t>线性分类器</a:t>
            </a:r>
            <a:endParaRPr lang="en-US" altLang="zh-CN" b="1" dirty="0">
              <a:ea typeface="宋体" panose="02010600030101010101" pitchFamily="2" charset="-122"/>
            </a:endParaRPr>
          </a:p>
        </p:txBody>
      </p:sp>
      <p:sp>
        <p:nvSpPr>
          <p:cNvPr id="636931" name="Rectangle 3"/>
          <p:cNvSpPr>
            <a:spLocks noChangeArrowheads="1"/>
          </p:cNvSpPr>
          <p:nvPr/>
        </p:nvSpPr>
        <p:spPr bwMode="auto">
          <a:xfrm>
            <a:off x="5334000" y="776288"/>
            <a:ext cx="1600200" cy="654050"/>
          </a:xfrm>
          <a:prstGeom prst="rect">
            <a:avLst/>
          </a:prstGeom>
          <a:solidFill>
            <a:srgbClr val="FFCCFF"/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anchor="ctr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3600" b="0" i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rPr>
              <a:t>f </a:t>
            </a: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rPr>
              <a:t>        </a:t>
            </a:r>
          </a:p>
        </p:txBody>
      </p:sp>
      <p:sp>
        <p:nvSpPr>
          <p:cNvPr id="636932" name="Line 4"/>
          <p:cNvSpPr>
            <a:spLocks noChangeShapeType="1"/>
          </p:cNvSpPr>
          <p:nvPr/>
        </p:nvSpPr>
        <p:spPr bwMode="auto">
          <a:xfrm>
            <a:off x="3962400" y="1066800"/>
            <a:ext cx="1371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tailEnd type="triangle" w="med" len="med"/>
          </a:ln>
          <a:effectLst/>
        </p:spPr>
        <p:txBody>
          <a:bodyPr wrap="none"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36933" name="Text Box 5"/>
          <p:cNvSpPr txBox="1">
            <a:spLocks noChangeArrowheads="1"/>
          </p:cNvSpPr>
          <p:nvPr/>
        </p:nvSpPr>
        <p:spPr bwMode="auto">
          <a:xfrm>
            <a:off x="3505200" y="762000"/>
            <a:ext cx="609600" cy="519113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R="0" algn="ctr" defTabSz="914400">
              <a:buSzTx/>
              <a:buFontTx/>
              <a:defRPr/>
            </a:pPr>
            <a:r>
              <a:rPr kumimoji="0" lang="en-US" altLang="zh-CN" sz="2800" b="1" i="1" kern="1200" cap="none" spc="0" normalizeH="0" baseline="0" noProof="0"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rPr>
              <a:t>x</a:t>
            </a:r>
          </a:p>
        </p:txBody>
      </p:sp>
      <p:sp>
        <p:nvSpPr>
          <p:cNvPr id="636936" name="Line 8"/>
          <p:cNvSpPr>
            <a:spLocks noChangeShapeType="1"/>
          </p:cNvSpPr>
          <p:nvPr/>
        </p:nvSpPr>
        <p:spPr bwMode="auto">
          <a:xfrm>
            <a:off x="6934200" y="1066800"/>
            <a:ext cx="1371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tailEnd type="triangle" w="med" len="med"/>
          </a:ln>
          <a:effectLst/>
        </p:spPr>
        <p:txBody>
          <a:bodyPr wrap="none"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36937" name="Text Box 9"/>
          <p:cNvSpPr txBox="1">
            <a:spLocks noChangeArrowheads="1"/>
          </p:cNvSpPr>
          <p:nvPr/>
        </p:nvSpPr>
        <p:spPr bwMode="auto">
          <a:xfrm>
            <a:off x="8305800" y="838200"/>
            <a:ext cx="457200" cy="579438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spcBef>
                <a:spcPct val="20000"/>
              </a:spcBef>
            </a:pPr>
            <a:r>
              <a:rPr lang="en-US" altLang="zh-CN" sz="3200" dirty="0">
                <a:latin typeface="Tahoma" panose="020B0604030504040204" charset="0"/>
                <a:ea typeface="宋体" panose="02010600030101010101" pitchFamily="2" charset="-122"/>
              </a:rPr>
              <a:t>y</a:t>
            </a:r>
            <a:endParaRPr lang="en-US" altLang="zh-CN" sz="3200" baseline="30000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636938" name="Text Box 10"/>
          <p:cNvSpPr txBox="1">
            <a:spLocks noChangeArrowheads="1"/>
          </p:cNvSpPr>
          <p:nvPr/>
        </p:nvSpPr>
        <p:spPr bwMode="auto">
          <a:xfrm>
            <a:off x="838200" y="1905000"/>
            <a:ext cx="1905000" cy="8540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R="0" algn="ctr" defTabSz="914400">
              <a:buSzTx/>
              <a:buFontTx/>
              <a:defRPr/>
            </a:pPr>
            <a:r>
              <a:rPr kumimoji="0" lang="en-US" altLang="zh-CN" kern="1200" cap="none" spc="0" normalizeH="0" baseline="0" noProof="0"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rPr>
              <a:t>+1</a:t>
            </a:r>
          </a:p>
          <a:p>
            <a:pPr marR="0" algn="ctr" defTabSz="914400">
              <a:buSzTx/>
              <a:buFontTx/>
              <a:defRPr/>
            </a:pPr>
            <a:r>
              <a:rPr kumimoji="0" lang="en-US" altLang="zh-CN" kern="1200" cap="none" spc="0" normalizeH="0" baseline="0" noProof="0"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rPr>
              <a:t>-1</a:t>
            </a:r>
          </a:p>
        </p:txBody>
      </p:sp>
      <p:sp>
        <p:nvSpPr>
          <p:cNvPr id="636939" name="Oval 11"/>
          <p:cNvSpPr>
            <a:spLocks noChangeAspect="1" noChangeArrowheads="1"/>
          </p:cNvSpPr>
          <p:nvPr/>
        </p:nvSpPr>
        <p:spPr bwMode="auto">
          <a:xfrm rot="4777107">
            <a:off x="915194" y="2056606"/>
            <a:ext cx="58738" cy="6032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36940" name="Oval 12"/>
          <p:cNvSpPr>
            <a:spLocks noChangeAspect="1" noChangeArrowheads="1"/>
          </p:cNvSpPr>
          <p:nvPr/>
        </p:nvSpPr>
        <p:spPr bwMode="auto">
          <a:xfrm rot="5895381">
            <a:off x="915988" y="2513013"/>
            <a:ext cx="50800" cy="5397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36941" name="Line 13"/>
          <p:cNvSpPr>
            <a:spLocks noChangeShapeType="1"/>
          </p:cNvSpPr>
          <p:nvPr/>
        </p:nvSpPr>
        <p:spPr bwMode="auto">
          <a:xfrm>
            <a:off x="2590800" y="2209800"/>
            <a:ext cx="0" cy="3505200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</a:ln>
          <a:effectLst/>
        </p:spPr>
        <p:txBody>
          <a:bodyPr wrap="none"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36942" name="Line 14"/>
          <p:cNvSpPr>
            <a:spLocks noChangeShapeType="1"/>
          </p:cNvSpPr>
          <p:nvPr/>
        </p:nvSpPr>
        <p:spPr bwMode="auto">
          <a:xfrm flipV="1">
            <a:off x="2438400" y="5562600"/>
            <a:ext cx="3657600" cy="0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</a:ln>
          <a:effectLst/>
        </p:spPr>
        <p:txBody>
          <a:bodyPr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36943" name="Oval 15"/>
          <p:cNvSpPr>
            <a:spLocks noChangeAspect="1" noChangeArrowheads="1"/>
          </p:cNvSpPr>
          <p:nvPr/>
        </p:nvSpPr>
        <p:spPr bwMode="auto">
          <a:xfrm>
            <a:off x="3717925" y="5032375"/>
            <a:ext cx="60325" cy="476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36944" name="Oval 16"/>
          <p:cNvSpPr>
            <a:spLocks noChangeAspect="1" noChangeArrowheads="1"/>
          </p:cNvSpPr>
          <p:nvPr/>
        </p:nvSpPr>
        <p:spPr bwMode="auto">
          <a:xfrm>
            <a:off x="2486025" y="3903663"/>
            <a:ext cx="60325" cy="4762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36945" name="Oval 17"/>
          <p:cNvSpPr>
            <a:spLocks noChangeAspect="1" noChangeArrowheads="1"/>
          </p:cNvSpPr>
          <p:nvPr/>
        </p:nvSpPr>
        <p:spPr bwMode="auto">
          <a:xfrm>
            <a:off x="4340225" y="2814638"/>
            <a:ext cx="60325" cy="4762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36946" name="Oval 18"/>
          <p:cNvSpPr>
            <a:spLocks noChangeAspect="1" noChangeArrowheads="1"/>
          </p:cNvSpPr>
          <p:nvPr/>
        </p:nvSpPr>
        <p:spPr bwMode="auto">
          <a:xfrm>
            <a:off x="4403725" y="3635375"/>
            <a:ext cx="60325" cy="476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36947" name="Oval 19"/>
          <p:cNvSpPr>
            <a:spLocks noChangeAspect="1" noChangeArrowheads="1"/>
          </p:cNvSpPr>
          <p:nvPr/>
        </p:nvSpPr>
        <p:spPr bwMode="auto">
          <a:xfrm>
            <a:off x="3409950" y="2663825"/>
            <a:ext cx="60325" cy="50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36948" name="Oval 20"/>
          <p:cNvSpPr>
            <a:spLocks noChangeAspect="1" noChangeArrowheads="1"/>
          </p:cNvSpPr>
          <p:nvPr/>
        </p:nvSpPr>
        <p:spPr bwMode="auto">
          <a:xfrm>
            <a:off x="3886200" y="3733800"/>
            <a:ext cx="53975" cy="4762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36949" name="Oval 21"/>
          <p:cNvSpPr>
            <a:spLocks noChangeAspect="1" noChangeArrowheads="1"/>
          </p:cNvSpPr>
          <p:nvPr/>
        </p:nvSpPr>
        <p:spPr bwMode="auto">
          <a:xfrm>
            <a:off x="3048000" y="3124200"/>
            <a:ext cx="60325" cy="58738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36950" name="Oval 22"/>
          <p:cNvSpPr>
            <a:spLocks noChangeAspect="1" noChangeArrowheads="1"/>
          </p:cNvSpPr>
          <p:nvPr/>
        </p:nvSpPr>
        <p:spPr bwMode="auto">
          <a:xfrm>
            <a:off x="5105400" y="4114800"/>
            <a:ext cx="60325" cy="508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36951" name="Oval 23"/>
          <p:cNvSpPr>
            <a:spLocks noChangeAspect="1" noChangeArrowheads="1"/>
          </p:cNvSpPr>
          <p:nvPr/>
        </p:nvSpPr>
        <p:spPr bwMode="auto">
          <a:xfrm rot="-1118274">
            <a:off x="3887788" y="4443413"/>
            <a:ext cx="53975" cy="476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36952" name="Oval 24"/>
          <p:cNvSpPr>
            <a:spLocks noChangeAspect="1" noChangeArrowheads="1"/>
          </p:cNvSpPr>
          <p:nvPr/>
        </p:nvSpPr>
        <p:spPr bwMode="auto">
          <a:xfrm rot="-1118274">
            <a:off x="6003925" y="3228975"/>
            <a:ext cx="60325" cy="508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36953" name="Oval 25"/>
          <p:cNvSpPr>
            <a:spLocks noChangeAspect="1" noChangeArrowheads="1"/>
          </p:cNvSpPr>
          <p:nvPr/>
        </p:nvSpPr>
        <p:spPr bwMode="auto">
          <a:xfrm rot="-1118274">
            <a:off x="5295900" y="4545013"/>
            <a:ext cx="60325" cy="508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36954" name="Oval 26"/>
          <p:cNvSpPr>
            <a:spLocks noChangeAspect="1" noChangeArrowheads="1"/>
          </p:cNvSpPr>
          <p:nvPr/>
        </p:nvSpPr>
        <p:spPr bwMode="auto">
          <a:xfrm rot="-1118274">
            <a:off x="3124200" y="2667000"/>
            <a:ext cx="60325" cy="50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36955" name="Oval 27"/>
          <p:cNvSpPr>
            <a:spLocks noChangeAspect="1" noChangeArrowheads="1"/>
          </p:cNvSpPr>
          <p:nvPr/>
        </p:nvSpPr>
        <p:spPr bwMode="auto">
          <a:xfrm rot="-1118274">
            <a:off x="4711700" y="3584575"/>
            <a:ext cx="60325" cy="508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36956" name="Oval 28"/>
          <p:cNvSpPr>
            <a:spLocks noChangeAspect="1" noChangeArrowheads="1"/>
          </p:cNvSpPr>
          <p:nvPr/>
        </p:nvSpPr>
        <p:spPr bwMode="auto">
          <a:xfrm rot="-1118274">
            <a:off x="5867400" y="4495800"/>
            <a:ext cx="60325" cy="476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36957" name="Oval 29"/>
          <p:cNvSpPr>
            <a:spLocks noChangeAspect="1" noChangeArrowheads="1"/>
          </p:cNvSpPr>
          <p:nvPr/>
        </p:nvSpPr>
        <p:spPr bwMode="auto">
          <a:xfrm rot="-1118274">
            <a:off x="3114675" y="3640138"/>
            <a:ext cx="60325" cy="4762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36958" name="Oval 30"/>
          <p:cNvSpPr>
            <a:spLocks noChangeAspect="1" noChangeArrowheads="1"/>
          </p:cNvSpPr>
          <p:nvPr/>
        </p:nvSpPr>
        <p:spPr bwMode="auto">
          <a:xfrm rot="5895381">
            <a:off x="3867150" y="3057525"/>
            <a:ext cx="47625" cy="5397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36959" name="Oval 31"/>
          <p:cNvSpPr>
            <a:spLocks noChangeAspect="1" noChangeArrowheads="1"/>
          </p:cNvSpPr>
          <p:nvPr/>
        </p:nvSpPr>
        <p:spPr bwMode="auto">
          <a:xfrm rot="5895381">
            <a:off x="4136231" y="5242719"/>
            <a:ext cx="55563" cy="603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36960" name="Oval 32"/>
          <p:cNvSpPr>
            <a:spLocks noChangeAspect="1" noChangeArrowheads="1"/>
          </p:cNvSpPr>
          <p:nvPr/>
        </p:nvSpPr>
        <p:spPr bwMode="auto">
          <a:xfrm rot="5895381">
            <a:off x="3114675" y="4098925"/>
            <a:ext cx="47625" cy="6032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36961" name="Oval 33"/>
          <p:cNvSpPr>
            <a:spLocks noChangeAspect="1" noChangeArrowheads="1"/>
          </p:cNvSpPr>
          <p:nvPr/>
        </p:nvSpPr>
        <p:spPr bwMode="auto">
          <a:xfrm rot="5895381">
            <a:off x="4343400" y="2393950"/>
            <a:ext cx="47625" cy="5397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36962" name="Oval 34"/>
          <p:cNvSpPr>
            <a:spLocks noChangeAspect="1" noChangeArrowheads="1"/>
          </p:cNvSpPr>
          <p:nvPr/>
        </p:nvSpPr>
        <p:spPr bwMode="auto">
          <a:xfrm rot="5895381">
            <a:off x="5304631" y="4144169"/>
            <a:ext cx="58738" cy="603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36963" name="Oval 35"/>
          <p:cNvSpPr>
            <a:spLocks noChangeAspect="1" noChangeArrowheads="1"/>
          </p:cNvSpPr>
          <p:nvPr/>
        </p:nvSpPr>
        <p:spPr bwMode="auto">
          <a:xfrm rot="5895381">
            <a:off x="4370388" y="4079875"/>
            <a:ext cx="47625" cy="5397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36964" name="Oval 36"/>
          <p:cNvSpPr>
            <a:spLocks noChangeAspect="1" noChangeArrowheads="1"/>
          </p:cNvSpPr>
          <p:nvPr/>
        </p:nvSpPr>
        <p:spPr bwMode="auto">
          <a:xfrm rot="5895381">
            <a:off x="5619750" y="3365500"/>
            <a:ext cx="47625" cy="5397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36965" name="Oval 37"/>
          <p:cNvSpPr>
            <a:spLocks noChangeAspect="1" noChangeArrowheads="1"/>
          </p:cNvSpPr>
          <p:nvPr/>
        </p:nvSpPr>
        <p:spPr bwMode="auto">
          <a:xfrm rot="5895381">
            <a:off x="3087688" y="2346325"/>
            <a:ext cx="47625" cy="6032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36966" name="Oval 38"/>
          <p:cNvSpPr>
            <a:spLocks noChangeAspect="1" noChangeArrowheads="1"/>
          </p:cNvSpPr>
          <p:nvPr/>
        </p:nvSpPr>
        <p:spPr bwMode="auto">
          <a:xfrm rot="5895381">
            <a:off x="5260975" y="3273425"/>
            <a:ext cx="47625" cy="5397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36967" name="Oval 39"/>
          <p:cNvSpPr>
            <a:spLocks noChangeAspect="1" noChangeArrowheads="1"/>
          </p:cNvSpPr>
          <p:nvPr/>
        </p:nvSpPr>
        <p:spPr bwMode="auto">
          <a:xfrm rot="5895381">
            <a:off x="5117306" y="4718844"/>
            <a:ext cx="58738" cy="5397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36968" name="Oval 40"/>
          <p:cNvSpPr>
            <a:spLocks noChangeAspect="1" noChangeArrowheads="1"/>
          </p:cNvSpPr>
          <p:nvPr/>
        </p:nvSpPr>
        <p:spPr bwMode="auto">
          <a:xfrm rot="4777107">
            <a:off x="3498056" y="3534569"/>
            <a:ext cx="58738" cy="6032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36969" name="Oval 41"/>
          <p:cNvSpPr>
            <a:spLocks noChangeAspect="1" noChangeArrowheads="1"/>
          </p:cNvSpPr>
          <p:nvPr/>
        </p:nvSpPr>
        <p:spPr bwMode="auto">
          <a:xfrm rot="4777107">
            <a:off x="4651375" y="5254625"/>
            <a:ext cx="47625" cy="5397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36970" name="Oval 42"/>
          <p:cNvSpPr>
            <a:spLocks noChangeAspect="1" noChangeArrowheads="1"/>
          </p:cNvSpPr>
          <p:nvPr/>
        </p:nvSpPr>
        <p:spPr bwMode="auto">
          <a:xfrm rot="4777107">
            <a:off x="4346575" y="4873625"/>
            <a:ext cx="47625" cy="5397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36971" name="Oval 43"/>
          <p:cNvSpPr>
            <a:spLocks noChangeAspect="1" noChangeArrowheads="1"/>
          </p:cNvSpPr>
          <p:nvPr/>
        </p:nvSpPr>
        <p:spPr bwMode="auto">
          <a:xfrm rot="4777107">
            <a:off x="2817019" y="3736181"/>
            <a:ext cx="58738" cy="5397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36972" name="Oval 44"/>
          <p:cNvSpPr>
            <a:spLocks noChangeAspect="1" noChangeArrowheads="1"/>
          </p:cNvSpPr>
          <p:nvPr/>
        </p:nvSpPr>
        <p:spPr bwMode="auto">
          <a:xfrm rot="4777107">
            <a:off x="3713163" y="2776538"/>
            <a:ext cx="50800" cy="5397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36973" name="Oval 45"/>
          <p:cNvSpPr>
            <a:spLocks noChangeAspect="1" noChangeArrowheads="1"/>
          </p:cNvSpPr>
          <p:nvPr/>
        </p:nvSpPr>
        <p:spPr bwMode="auto">
          <a:xfrm rot="4777107">
            <a:off x="4356100" y="4364038"/>
            <a:ext cx="50800" cy="603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36974" name="Oval 46"/>
          <p:cNvSpPr>
            <a:spLocks noChangeAspect="1" noChangeArrowheads="1"/>
          </p:cNvSpPr>
          <p:nvPr/>
        </p:nvSpPr>
        <p:spPr bwMode="auto">
          <a:xfrm rot="4777107">
            <a:off x="2504281" y="3082131"/>
            <a:ext cx="58738" cy="6032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36975" name="Oval 47"/>
          <p:cNvSpPr>
            <a:spLocks noChangeAspect="1" noChangeArrowheads="1"/>
          </p:cNvSpPr>
          <p:nvPr/>
        </p:nvSpPr>
        <p:spPr bwMode="auto">
          <a:xfrm rot="4777107">
            <a:off x="3937794" y="5049044"/>
            <a:ext cx="55563" cy="603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36976" name="Oval 48"/>
          <p:cNvSpPr>
            <a:spLocks noChangeAspect="1" noChangeArrowheads="1"/>
          </p:cNvSpPr>
          <p:nvPr/>
        </p:nvSpPr>
        <p:spPr bwMode="auto">
          <a:xfrm rot="4777107">
            <a:off x="5303838" y="4756150"/>
            <a:ext cx="50800" cy="603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36977" name="Text Box 49"/>
          <p:cNvSpPr txBox="1">
            <a:spLocks noChangeArrowheads="1"/>
          </p:cNvSpPr>
          <p:nvPr/>
        </p:nvSpPr>
        <p:spPr bwMode="auto">
          <a:xfrm>
            <a:off x="5486400" y="1676400"/>
            <a:ext cx="3200400" cy="3968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R="0" algn="ctr" defTabSz="914400">
              <a:buSzTx/>
              <a:buFontTx/>
              <a:defRPr/>
            </a:pPr>
            <a:r>
              <a:rPr kumimoji="0" lang="en-US" altLang="zh-CN" b="1" i="1" kern="1200" cap="none" spc="0" normalizeH="0" baseline="0" noProof="0"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rPr>
              <a:t>f</a:t>
            </a:r>
            <a:r>
              <a:rPr kumimoji="0" lang="en-US" altLang="zh-CN" i="1" kern="1200" cap="none" spc="0" normalizeH="0" baseline="0" noProof="0"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kumimoji="0" lang="en-US" altLang="zh-CN" b="1" i="1" kern="1200" cap="none" spc="0" normalizeH="0" baseline="0" noProof="0"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rPr>
              <a:t>x</a:t>
            </a:r>
            <a:r>
              <a:rPr kumimoji="0" lang="en-US" altLang="zh-CN" i="1" kern="1200" cap="none" spc="0" normalizeH="0" baseline="0" noProof="0"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kumimoji="0" lang="en-US" altLang="zh-CN" b="1" i="1" kern="1200" cap="none" spc="0" normalizeH="0" baseline="0" noProof="0">
                <a:solidFill>
                  <a:srgbClr val="00CC00"/>
                </a:solidFill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rPr>
              <a:t>w</a:t>
            </a:r>
            <a:r>
              <a:rPr kumimoji="0" lang="en-US" altLang="zh-CN" i="1" kern="1200" cap="none" spc="0" normalizeH="0" baseline="0" noProof="0">
                <a:solidFill>
                  <a:srgbClr val="00CC00"/>
                </a:solidFill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rPr>
              <a:t>,b</a:t>
            </a:r>
            <a:r>
              <a:rPr kumimoji="0" lang="en-US" altLang="zh-CN" i="1" kern="1200" cap="none" spc="0" normalizeH="0" baseline="0" noProof="0"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rPr>
              <a:t>) = sign(</a:t>
            </a:r>
            <a:r>
              <a:rPr kumimoji="0" lang="en-US" altLang="zh-CN" b="1" i="1" kern="1200" cap="none" spc="0" normalizeH="0" baseline="0" noProof="0">
                <a:solidFill>
                  <a:srgbClr val="00CC00"/>
                </a:solidFill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rPr>
              <a:t>w</a:t>
            </a:r>
            <a:r>
              <a:rPr kumimoji="0" lang="en-US" altLang="zh-CN" b="1" i="1" kern="1200" cap="none" spc="0" normalizeH="0" baseline="0" noProof="0"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rPr>
              <a:t>. x</a:t>
            </a:r>
            <a:r>
              <a:rPr kumimoji="0" lang="en-US" altLang="zh-CN" i="1" kern="1200" cap="none" spc="0" normalizeH="0" baseline="0" noProof="0">
                <a:solidFill>
                  <a:srgbClr val="00CC00"/>
                </a:solidFill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kumimoji="0" lang="en-US" altLang="zh-CN" i="1" kern="1200" cap="none" spc="0" normalizeH="0" baseline="0" noProof="0"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rPr>
              <a:t>- </a:t>
            </a:r>
            <a:r>
              <a:rPr kumimoji="0" lang="en-US" altLang="zh-CN" i="1" kern="1200" cap="none" spc="0" normalizeH="0" baseline="0" noProof="0">
                <a:solidFill>
                  <a:srgbClr val="00CC00"/>
                </a:solidFill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rPr>
              <a:t>b</a:t>
            </a:r>
            <a:r>
              <a:rPr kumimoji="0" lang="en-US" altLang="zh-CN" i="1" kern="1200" cap="none" spc="0" normalizeH="0" baseline="0" noProof="0"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</a:p>
        </p:txBody>
      </p:sp>
      <p:sp>
        <p:nvSpPr>
          <p:cNvPr id="636978" name="Line 50"/>
          <p:cNvSpPr>
            <a:spLocks noChangeShapeType="1"/>
          </p:cNvSpPr>
          <p:nvPr/>
        </p:nvSpPr>
        <p:spPr bwMode="auto">
          <a:xfrm flipV="1">
            <a:off x="3429000" y="1676400"/>
            <a:ext cx="1447800" cy="4038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ffectLst/>
        </p:spPr>
        <p:txBody>
          <a:bodyPr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36979" name="Text Box 51"/>
          <p:cNvSpPr txBox="1">
            <a:spLocks noChangeArrowheads="1"/>
          </p:cNvSpPr>
          <p:nvPr/>
        </p:nvSpPr>
        <p:spPr bwMode="auto">
          <a:xfrm>
            <a:off x="6248400" y="3200400"/>
            <a:ext cx="2438400" cy="3968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R="0" defTabSz="914400">
              <a:buSzTx/>
              <a:buFontTx/>
              <a:defRPr/>
            </a:pPr>
            <a:endParaRPr kumimoji="0" lang="zh-CN" altLang="en-US" kern="1200" cap="none" spc="0" normalizeH="0" baseline="0" noProof="0">
              <a:latin typeface="Tahoma" panose="020B060403050404020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36980" name="Text Box 52"/>
          <p:cNvSpPr txBox="1">
            <a:spLocks noChangeArrowheads="1"/>
          </p:cNvSpPr>
          <p:nvPr/>
        </p:nvSpPr>
        <p:spPr bwMode="auto">
          <a:xfrm>
            <a:off x="6400800" y="3352800"/>
            <a:ext cx="2209800" cy="284861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r>
              <a:rPr lang="en-US" altLang="zh-CN" dirty="0">
                <a:latin typeface="Tahoma" panose="020B0604030504040204" charset="0"/>
                <a:ea typeface="宋体" panose="02010600030101010101" pitchFamily="2" charset="-122"/>
              </a:rPr>
              <a:t>Any of these would be fine..</a:t>
            </a:r>
          </a:p>
          <a:p>
            <a:endParaRPr lang="en-US" altLang="zh-CN" dirty="0">
              <a:latin typeface="Tahoma" panose="020B0604030504040204" charset="0"/>
              <a:ea typeface="宋体" panose="02010600030101010101" pitchFamily="2" charset="-122"/>
            </a:endParaRPr>
          </a:p>
          <a:p>
            <a:r>
              <a:rPr lang="en-US" altLang="zh-CN" dirty="0">
                <a:latin typeface="Tahoma" panose="020B0604030504040204" charset="0"/>
                <a:ea typeface="宋体" panose="02010600030101010101" pitchFamily="2" charset="-122"/>
              </a:rPr>
              <a:t>..but which is the best?</a:t>
            </a:r>
          </a:p>
        </p:txBody>
      </p:sp>
      <p:sp>
        <p:nvSpPr>
          <p:cNvPr id="636981" name="Line 53"/>
          <p:cNvSpPr>
            <a:spLocks noChangeShapeType="1"/>
          </p:cNvSpPr>
          <p:nvPr/>
        </p:nvSpPr>
        <p:spPr bwMode="auto">
          <a:xfrm flipV="1">
            <a:off x="2286000" y="2362200"/>
            <a:ext cx="4038600" cy="2590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ffectLst/>
        </p:spPr>
        <p:txBody>
          <a:bodyPr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36982" name="Line 54"/>
          <p:cNvSpPr>
            <a:spLocks noChangeShapeType="1"/>
          </p:cNvSpPr>
          <p:nvPr/>
        </p:nvSpPr>
        <p:spPr bwMode="auto">
          <a:xfrm flipV="1">
            <a:off x="2590800" y="2209800"/>
            <a:ext cx="3124200" cy="3048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ffectLst/>
        </p:spPr>
        <p:txBody>
          <a:bodyPr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36983" name="Line 55"/>
          <p:cNvSpPr>
            <a:spLocks noChangeShapeType="1"/>
          </p:cNvSpPr>
          <p:nvPr/>
        </p:nvSpPr>
        <p:spPr bwMode="auto">
          <a:xfrm flipV="1">
            <a:off x="2057400" y="2438400"/>
            <a:ext cx="4800600" cy="2209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ffectLst/>
        </p:spPr>
        <p:txBody>
          <a:bodyPr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36984" name="Line 56"/>
          <p:cNvSpPr>
            <a:spLocks noChangeShapeType="1"/>
          </p:cNvSpPr>
          <p:nvPr/>
        </p:nvSpPr>
        <p:spPr bwMode="auto">
          <a:xfrm flipV="1">
            <a:off x="2438400" y="2209800"/>
            <a:ext cx="3810000" cy="2819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ffectLst/>
        </p:spPr>
        <p:txBody>
          <a:bodyPr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36985" name="Line 57"/>
          <p:cNvSpPr>
            <a:spLocks noChangeShapeType="1"/>
          </p:cNvSpPr>
          <p:nvPr/>
        </p:nvSpPr>
        <p:spPr bwMode="auto">
          <a:xfrm flipV="1">
            <a:off x="2362200" y="1905000"/>
            <a:ext cx="3886200" cy="3352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ffectLst/>
        </p:spPr>
        <p:txBody>
          <a:bodyPr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36986" name="Line 58"/>
          <p:cNvSpPr>
            <a:spLocks noChangeShapeType="1"/>
          </p:cNvSpPr>
          <p:nvPr/>
        </p:nvSpPr>
        <p:spPr bwMode="auto">
          <a:xfrm flipV="1">
            <a:off x="2590800" y="1752600"/>
            <a:ext cx="3429000" cy="3352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ffectLst/>
        </p:spPr>
        <p:txBody>
          <a:bodyPr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36987" name="Line 59"/>
          <p:cNvSpPr>
            <a:spLocks noChangeShapeType="1"/>
          </p:cNvSpPr>
          <p:nvPr/>
        </p:nvSpPr>
        <p:spPr bwMode="auto">
          <a:xfrm flipV="1">
            <a:off x="2819400" y="2133600"/>
            <a:ext cx="2743200" cy="3505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ffectLst/>
        </p:spPr>
        <p:txBody>
          <a:bodyPr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36988" name="Line 60"/>
          <p:cNvSpPr>
            <a:spLocks noChangeShapeType="1"/>
          </p:cNvSpPr>
          <p:nvPr/>
        </p:nvSpPr>
        <p:spPr bwMode="auto">
          <a:xfrm flipV="1">
            <a:off x="2362200" y="2209800"/>
            <a:ext cx="4114800" cy="2819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ffectLst/>
        </p:spPr>
        <p:txBody>
          <a:bodyPr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65" name="Group 65"/>
          <p:cNvGrpSpPr/>
          <p:nvPr/>
        </p:nvGrpSpPr>
        <p:grpSpPr>
          <a:xfrm rot="-4217956">
            <a:off x="1204913" y="4075113"/>
            <a:ext cx="5562600" cy="1587"/>
            <a:chOff x="960" y="3888"/>
            <a:chExt cx="3504" cy="0"/>
          </a:xfrm>
        </p:grpSpPr>
        <p:sp>
          <p:nvSpPr>
            <p:cNvPr id="640064" name="Line 64"/>
            <p:cNvSpPr>
              <a:spLocks noChangeShapeType="1"/>
            </p:cNvSpPr>
            <p:nvPr/>
          </p:nvSpPr>
          <p:spPr bwMode="auto">
            <a:xfrm>
              <a:off x="1008" y="3888"/>
              <a:ext cx="3408" cy="0"/>
            </a:xfrm>
            <a:prstGeom prst="line">
              <a:avLst/>
            </a:prstGeom>
            <a:noFill/>
            <a:ln w="104775">
              <a:solidFill>
                <a:schemeClr val="accent2"/>
              </a:solidFill>
              <a:round/>
            </a:ln>
            <a:effectLst/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Tx/>
                <a:buFontTx/>
                <a:buNone/>
                <a:defRPr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40063" name="Line 63"/>
            <p:cNvSpPr>
              <a:spLocks noChangeShapeType="1"/>
            </p:cNvSpPr>
            <p:nvPr/>
          </p:nvSpPr>
          <p:spPr bwMode="auto">
            <a:xfrm>
              <a:off x="960" y="3888"/>
              <a:ext cx="350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Tx/>
                <a:buFontTx/>
                <a:buNone/>
                <a:defRPr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640002" name="Rectangle 2"/>
          <p:cNvSpPr>
            <a:spLocks noGrp="1" noChangeArrowheads="1"/>
          </p:cNvSpPr>
          <p:nvPr>
            <p:ph type="title"/>
          </p:nvPr>
        </p:nvSpPr>
        <p:spPr>
          <a:xfrm>
            <a:off x="295910" y="233045"/>
            <a:ext cx="4648200" cy="685800"/>
          </a:xfrm>
        </p:spPr>
        <p:txBody>
          <a:bodyPr vert="horz" wrap="square" lIns="91440" tIns="45720" rIns="91440" bIns="45720" numCol="1" anchor="b" anchorCtr="0" compatLnSpc="1"/>
          <a:lstStyle/>
          <a:p>
            <a:r>
              <a:rPr lang="zh-CN" altLang="en-US" b="1" dirty="0">
                <a:ea typeface="宋体" panose="02010600030101010101" pitchFamily="2" charset="-122"/>
              </a:rPr>
              <a:t>线性分类器</a:t>
            </a:r>
            <a:endParaRPr lang="en-US" altLang="zh-CN" b="1" dirty="0">
              <a:ea typeface="宋体" panose="02010600030101010101" pitchFamily="2" charset="-122"/>
            </a:endParaRPr>
          </a:p>
        </p:txBody>
      </p:sp>
      <p:sp>
        <p:nvSpPr>
          <p:cNvPr id="640003" name="Rectangle 3"/>
          <p:cNvSpPr>
            <a:spLocks noChangeArrowheads="1"/>
          </p:cNvSpPr>
          <p:nvPr/>
        </p:nvSpPr>
        <p:spPr bwMode="auto">
          <a:xfrm>
            <a:off x="5334000" y="776288"/>
            <a:ext cx="1600200" cy="654050"/>
          </a:xfrm>
          <a:prstGeom prst="rect">
            <a:avLst/>
          </a:prstGeom>
          <a:solidFill>
            <a:srgbClr val="FFCCFF"/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anchor="ctr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3600" b="0" i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rPr>
              <a:t>f </a:t>
            </a: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rPr>
              <a:t>        </a:t>
            </a:r>
          </a:p>
        </p:txBody>
      </p:sp>
      <p:sp>
        <p:nvSpPr>
          <p:cNvPr id="640004" name="Line 4"/>
          <p:cNvSpPr>
            <a:spLocks noChangeShapeType="1"/>
          </p:cNvSpPr>
          <p:nvPr/>
        </p:nvSpPr>
        <p:spPr bwMode="auto">
          <a:xfrm>
            <a:off x="3962400" y="1066800"/>
            <a:ext cx="1371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tailEnd type="triangle" w="med" len="med"/>
          </a:ln>
          <a:effectLst/>
        </p:spPr>
        <p:txBody>
          <a:bodyPr wrap="none"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0005" name="Text Box 5"/>
          <p:cNvSpPr txBox="1">
            <a:spLocks noChangeArrowheads="1"/>
          </p:cNvSpPr>
          <p:nvPr/>
        </p:nvSpPr>
        <p:spPr bwMode="auto">
          <a:xfrm>
            <a:off x="3505200" y="762000"/>
            <a:ext cx="609600" cy="519113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R="0" algn="ctr" defTabSz="914400">
              <a:buSzTx/>
              <a:buFontTx/>
              <a:defRPr/>
            </a:pPr>
            <a:r>
              <a:rPr kumimoji="0" lang="en-US" altLang="zh-CN" sz="2800" b="1" i="1" kern="1200" cap="none" spc="0" normalizeH="0" baseline="0" noProof="0"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rPr>
              <a:t>x</a:t>
            </a:r>
          </a:p>
        </p:txBody>
      </p:sp>
      <p:sp>
        <p:nvSpPr>
          <p:cNvPr id="640008" name="Line 8"/>
          <p:cNvSpPr>
            <a:spLocks noChangeShapeType="1"/>
          </p:cNvSpPr>
          <p:nvPr/>
        </p:nvSpPr>
        <p:spPr bwMode="auto">
          <a:xfrm>
            <a:off x="6934200" y="1066800"/>
            <a:ext cx="1371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tailEnd type="triangle" w="med" len="med"/>
          </a:ln>
          <a:effectLst/>
        </p:spPr>
        <p:txBody>
          <a:bodyPr wrap="none"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0009" name="Text Box 9"/>
          <p:cNvSpPr txBox="1">
            <a:spLocks noChangeArrowheads="1"/>
          </p:cNvSpPr>
          <p:nvPr/>
        </p:nvSpPr>
        <p:spPr bwMode="auto">
          <a:xfrm>
            <a:off x="8305800" y="838200"/>
            <a:ext cx="381000" cy="579438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spcBef>
                <a:spcPct val="20000"/>
              </a:spcBef>
            </a:pPr>
            <a:r>
              <a:rPr lang="en-US" altLang="zh-CN" sz="3200" dirty="0">
                <a:latin typeface="Tahoma" panose="020B0604030504040204" charset="0"/>
                <a:ea typeface="宋体" panose="02010600030101010101" pitchFamily="2" charset="-122"/>
              </a:rPr>
              <a:t>y</a:t>
            </a:r>
            <a:endParaRPr lang="en-US" altLang="zh-CN" sz="3200" baseline="30000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640010" name="Text Box 10"/>
          <p:cNvSpPr txBox="1">
            <a:spLocks noChangeArrowheads="1"/>
          </p:cNvSpPr>
          <p:nvPr/>
        </p:nvSpPr>
        <p:spPr bwMode="auto">
          <a:xfrm>
            <a:off x="838200" y="1905000"/>
            <a:ext cx="1905000" cy="8540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R="0" algn="ctr" defTabSz="914400">
              <a:buSzTx/>
              <a:buFontTx/>
              <a:defRPr/>
            </a:pPr>
            <a:r>
              <a:rPr kumimoji="0" lang="en-US" altLang="zh-CN" kern="1200" cap="none" spc="0" normalizeH="0" baseline="0" noProof="0"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rPr>
              <a:t>+1</a:t>
            </a:r>
          </a:p>
          <a:p>
            <a:pPr marR="0" algn="ctr" defTabSz="914400">
              <a:buSzTx/>
              <a:buFontTx/>
              <a:defRPr/>
            </a:pPr>
            <a:r>
              <a:rPr kumimoji="0" lang="en-US" altLang="zh-CN" kern="1200" cap="none" spc="0" normalizeH="0" baseline="0" noProof="0"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rPr>
              <a:t>-1</a:t>
            </a:r>
          </a:p>
        </p:txBody>
      </p:sp>
      <p:sp>
        <p:nvSpPr>
          <p:cNvPr id="640011" name="Oval 11"/>
          <p:cNvSpPr>
            <a:spLocks noChangeAspect="1" noChangeArrowheads="1"/>
          </p:cNvSpPr>
          <p:nvPr/>
        </p:nvSpPr>
        <p:spPr bwMode="auto">
          <a:xfrm rot="4777107">
            <a:off x="915194" y="2056606"/>
            <a:ext cx="58738" cy="6032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0012" name="Oval 12"/>
          <p:cNvSpPr>
            <a:spLocks noChangeAspect="1" noChangeArrowheads="1"/>
          </p:cNvSpPr>
          <p:nvPr/>
        </p:nvSpPr>
        <p:spPr bwMode="auto">
          <a:xfrm rot="5895381">
            <a:off x="915988" y="2513013"/>
            <a:ext cx="50800" cy="5397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0013" name="Line 13"/>
          <p:cNvSpPr>
            <a:spLocks noChangeShapeType="1"/>
          </p:cNvSpPr>
          <p:nvPr/>
        </p:nvSpPr>
        <p:spPr bwMode="auto">
          <a:xfrm>
            <a:off x="2590800" y="2209800"/>
            <a:ext cx="0" cy="3505200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</a:ln>
          <a:effectLst/>
        </p:spPr>
        <p:txBody>
          <a:bodyPr wrap="none"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0014" name="Line 14"/>
          <p:cNvSpPr>
            <a:spLocks noChangeShapeType="1"/>
          </p:cNvSpPr>
          <p:nvPr/>
        </p:nvSpPr>
        <p:spPr bwMode="auto">
          <a:xfrm flipV="1">
            <a:off x="2438400" y="5562600"/>
            <a:ext cx="3657600" cy="0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</a:ln>
          <a:effectLst/>
        </p:spPr>
        <p:txBody>
          <a:bodyPr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0015" name="Oval 15"/>
          <p:cNvSpPr>
            <a:spLocks noChangeAspect="1" noChangeArrowheads="1"/>
          </p:cNvSpPr>
          <p:nvPr/>
        </p:nvSpPr>
        <p:spPr bwMode="auto">
          <a:xfrm>
            <a:off x="3717925" y="5032375"/>
            <a:ext cx="60325" cy="476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0016" name="Oval 16"/>
          <p:cNvSpPr>
            <a:spLocks noChangeAspect="1" noChangeArrowheads="1"/>
          </p:cNvSpPr>
          <p:nvPr/>
        </p:nvSpPr>
        <p:spPr bwMode="auto">
          <a:xfrm>
            <a:off x="2486025" y="3903663"/>
            <a:ext cx="60325" cy="4762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0017" name="Oval 17"/>
          <p:cNvSpPr>
            <a:spLocks noChangeAspect="1" noChangeArrowheads="1"/>
          </p:cNvSpPr>
          <p:nvPr/>
        </p:nvSpPr>
        <p:spPr bwMode="auto">
          <a:xfrm>
            <a:off x="4340225" y="2814638"/>
            <a:ext cx="60325" cy="4762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0018" name="Oval 18"/>
          <p:cNvSpPr>
            <a:spLocks noChangeAspect="1" noChangeArrowheads="1"/>
          </p:cNvSpPr>
          <p:nvPr/>
        </p:nvSpPr>
        <p:spPr bwMode="auto">
          <a:xfrm>
            <a:off x="4403725" y="3635375"/>
            <a:ext cx="60325" cy="476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0019" name="Oval 19"/>
          <p:cNvSpPr>
            <a:spLocks noChangeAspect="1" noChangeArrowheads="1"/>
          </p:cNvSpPr>
          <p:nvPr/>
        </p:nvSpPr>
        <p:spPr bwMode="auto">
          <a:xfrm>
            <a:off x="3409950" y="2663825"/>
            <a:ext cx="60325" cy="50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0020" name="Oval 20"/>
          <p:cNvSpPr>
            <a:spLocks noChangeAspect="1" noChangeArrowheads="1"/>
          </p:cNvSpPr>
          <p:nvPr/>
        </p:nvSpPr>
        <p:spPr bwMode="auto">
          <a:xfrm>
            <a:off x="3886200" y="3733800"/>
            <a:ext cx="53975" cy="4762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0021" name="Oval 21"/>
          <p:cNvSpPr>
            <a:spLocks noChangeAspect="1" noChangeArrowheads="1"/>
          </p:cNvSpPr>
          <p:nvPr/>
        </p:nvSpPr>
        <p:spPr bwMode="auto">
          <a:xfrm>
            <a:off x="3048000" y="3124200"/>
            <a:ext cx="60325" cy="58738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0022" name="Oval 22"/>
          <p:cNvSpPr>
            <a:spLocks noChangeAspect="1" noChangeArrowheads="1"/>
          </p:cNvSpPr>
          <p:nvPr/>
        </p:nvSpPr>
        <p:spPr bwMode="auto">
          <a:xfrm>
            <a:off x="5105400" y="4114800"/>
            <a:ext cx="60325" cy="508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0023" name="Oval 23"/>
          <p:cNvSpPr>
            <a:spLocks noChangeAspect="1" noChangeArrowheads="1"/>
          </p:cNvSpPr>
          <p:nvPr/>
        </p:nvSpPr>
        <p:spPr bwMode="auto">
          <a:xfrm rot="-1118274">
            <a:off x="3887788" y="4443413"/>
            <a:ext cx="53975" cy="476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0024" name="Oval 24"/>
          <p:cNvSpPr>
            <a:spLocks noChangeAspect="1" noChangeArrowheads="1"/>
          </p:cNvSpPr>
          <p:nvPr/>
        </p:nvSpPr>
        <p:spPr bwMode="auto">
          <a:xfrm rot="-1118274">
            <a:off x="6003925" y="3228975"/>
            <a:ext cx="60325" cy="508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0025" name="Oval 25"/>
          <p:cNvSpPr>
            <a:spLocks noChangeAspect="1" noChangeArrowheads="1"/>
          </p:cNvSpPr>
          <p:nvPr/>
        </p:nvSpPr>
        <p:spPr bwMode="auto">
          <a:xfrm rot="-1118274">
            <a:off x="5295900" y="4545013"/>
            <a:ext cx="60325" cy="508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0026" name="Oval 26"/>
          <p:cNvSpPr>
            <a:spLocks noChangeAspect="1" noChangeArrowheads="1"/>
          </p:cNvSpPr>
          <p:nvPr/>
        </p:nvSpPr>
        <p:spPr bwMode="auto">
          <a:xfrm rot="-1118274">
            <a:off x="3124200" y="2667000"/>
            <a:ext cx="60325" cy="50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0027" name="Oval 27"/>
          <p:cNvSpPr>
            <a:spLocks noChangeAspect="1" noChangeArrowheads="1"/>
          </p:cNvSpPr>
          <p:nvPr/>
        </p:nvSpPr>
        <p:spPr bwMode="auto">
          <a:xfrm rot="-1118274">
            <a:off x="4711700" y="3584575"/>
            <a:ext cx="60325" cy="508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0028" name="Oval 28"/>
          <p:cNvSpPr>
            <a:spLocks noChangeAspect="1" noChangeArrowheads="1"/>
          </p:cNvSpPr>
          <p:nvPr/>
        </p:nvSpPr>
        <p:spPr bwMode="auto">
          <a:xfrm rot="-1118274">
            <a:off x="5867400" y="4495800"/>
            <a:ext cx="60325" cy="476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0029" name="Oval 29"/>
          <p:cNvSpPr>
            <a:spLocks noChangeAspect="1" noChangeArrowheads="1"/>
          </p:cNvSpPr>
          <p:nvPr/>
        </p:nvSpPr>
        <p:spPr bwMode="auto">
          <a:xfrm rot="-1118274">
            <a:off x="3114675" y="3640138"/>
            <a:ext cx="60325" cy="4762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0030" name="Oval 30"/>
          <p:cNvSpPr>
            <a:spLocks noChangeAspect="1" noChangeArrowheads="1"/>
          </p:cNvSpPr>
          <p:nvPr/>
        </p:nvSpPr>
        <p:spPr bwMode="auto">
          <a:xfrm rot="5895381">
            <a:off x="3867150" y="3057525"/>
            <a:ext cx="47625" cy="5397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0031" name="Oval 31"/>
          <p:cNvSpPr>
            <a:spLocks noChangeAspect="1" noChangeArrowheads="1"/>
          </p:cNvSpPr>
          <p:nvPr/>
        </p:nvSpPr>
        <p:spPr bwMode="auto">
          <a:xfrm rot="5895381">
            <a:off x="4136231" y="5242719"/>
            <a:ext cx="55563" cy="603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0032" name="Oval 32"/>
          <p:cNvSpPr>
            <a:spLocks noChangeAspect="1" noChangeArrowheads="1"/>
          </p:cNvSpPr>
          <p:nvPr/>
        </p:nvSpPr>
        <p:spPr bwMode="auto">
          <a:xfrm rot="5895381">
            <a:off x="3114675" y="4098925"/>
            <a:ext cx="47625" cy="6032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0033" name="Oval 33"/>
          <p:cNvSpPr>
            <a:spLocks noChangeAspect="1" noChangeArrowheads="1"/>
          </p:cNvSpPr>
          <p:nvPr/>
        </p:nvSpPr>
        <p:spPr bwMode="auto">
          <a:xfrm rot="5895381">
            <a:off x="4343400" y="2393950"/>
            <a:ext cx="47625" cy="5397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0034" name="Oval 34"/>
          <p:cNvSpPr>
            <a:spLocks noChangeAspect="1" noChangeArrowheads="1"/>
          </p:cNvSpPr>
          <p:nvPr/>
        </p:nvSpPr>
        <p:spPr bwMode="auto">
          <a:xfrm rot="5895381">
            <a:off x="5304631" y="4144169"/>
            <a:ext cx="58738" cy="603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0035" name="Oval 35"/>
          <p:cNvSpPr>
            <a:spLocks noChangeAspect="1" noChangeArrowheads="1"/>
          </p:cNvSpPr>
          <p:nvPr/>
        </p:nvSpPr>
        <p:spPr bwMode="auto">
          <a:xfrm rot="5895381">
            <a:off x="4370388" y="4079875"/>
            <a:ext cx="47625" cy="5397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0036" name="Oval 36"/>
          <p:cNvSpPr>
            <a:spLocks noChangeAspect="1" noChangeArrowheads="1"/>
          </p:cNvSpPr>
          <p:nvPr/>
        </p:nvSpPr>
        <p:spPr bwMode="auto">
          <a:xfrm rot="5895381">
            <a:off x="5619750" y="3365500"/>
            <a:ext cx="47625" cy="5397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0037" name="Oval 37"/>
          <p:cNvSpPr>
            <a:spLocks noChangeAspect="1" noChangeArrowheads="1"/>
          </p:cNvSpPr>
          <p:nvPr/>
        </p:nvSpPr>
        <p:spPr bwMode="auto">
          <a:xfrm rot="5895381">
            <a:off x="3087688" y="2346325"/>
            <a:ext cx="47625" cy="6032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0038" name="Oval 38"/>
          <p:cNvSpPr>
            <a:spLocks noChangeAspect="1" noChangeArrowheads="1"/>
          </p:cNvSpPr>
          <p:nvPr/>
        </p:nvSpPr>
        <p:spPr bwMode="auto">
          <a:xfrm rot="5895381">
            <a:off x="5260975" y="3273425"/>
            <a:ext cx="47625" cy="5397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0039" name="Oval 39"/>
          <p:cNvSpPr>
            <a:spLocks noChangeAspect="1" noChangeArrowheads="1"/>
          </p:cNvSpPr>
          <p:nvPr/>
        </p:nvSpPr>
        <p:spPr bwMode="auto">
          <a:xfrm rot="5895381">
            <a:off x="5117306" y="4718844"/>
            <a:ext cx="58738" cy="5397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0040" name="Oval 40"/>
          <p:cNvSpPr>
            <a:spLocks noChangeAspect="1" noChangeArrowheads="1"/>
          </p:cNvSpPr>
          <p:nvPr/>
        </p:nvSpPr>
        <p:spPr bwMode="auto">
          <a:xfrm rot="4777107">
            <a:off x="3498056" y="3534569"/>
            <a:ext cx="58738" cy="6032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0041" name="Oval 41"/>
          <p:cNvSpPr>
            <a:spLocks noChangeAspect="1" noChangeArrowheads="1"/>
          </p:cNvSpPr>
          <p:nvPr/>
        </p:nvSpPr>
        <p:spPr bwMode="auto">
          <a:xfrm rot="4777107">
            <a:off x="4651375" y="5254625"/>
            <a:ext cx="47625" cy="5397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0042" name="Oval 42"/>
          <p:cNvSpPr>
            <a:spLocks noChangeAspect="1" noChangeArrowheads="1"/>
          </p:cNvSpPr>
          <p:nvPr/>
        </p:nvSpPr>
        <p:spPr bwMode="auto">
          <a:xfrm rot="4777107">
            <a:off x="4346575" y="4873625"/>
            <a:ext cx="47625" cy="5397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0043" name="Oval 43"/>
          <p:cNvSpPr>
            <a:spLocks noChangeAspect="1" noChangeArrowheads="1"/>
          </p:cNvSpPr>
          <p:nvPr/>
        </p:nvSpPr>
        <p:spPr bwMode="auto">
          <a:xfrm rot="4777107">
            <a:off x="2817019" y="3736181"/>
            <a:ext cx="58738" cy="5397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0044" name="Oval 44"/>
          <p:cNvSpPr>
            <a:spLocks noChangeAspect="1" noChangeArrowheads="1"/>
          </p:cNvSpPr>
          <p:nvPr/>
        </p:nvSpPr>
        <p:spPr bwMode="auto">
          <a:xfrm rot="4777107">
            <a:off x="3713163" y="2776538"/>
            <a:ext cx="50800" cy="5397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0045" name="Oval 45"/>
          <p:cNvSpPr>
            <a:spLocks noChangeAspect="1" noChangeArrowheads="1"/>
          </p:cNvSpPr>
          <p:nvPr/>
        </p:nvSpPr>
        <p:spPr bwMode="auto">
          <a:xfrm rot="4777107">
            <a:off x="4356100" y="4364038"/>
            <a:ext cx="50800" cy="603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0046" name="Oval 46"/>
          <p:cNvSpPr>
            <a:spLocks noChangeAspect="1" noChangeArrowheads="1"/>
          </p:cNvSpPr>
          <p:nvPr/>
        </p:nvSpPr>
        <p:spPr bwMode="auto">
          <a:xfrm rot="4777107">
            <a:off x="2504281" y="3082131"/>
            <a:ext cx="58738" cy="6032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0047" name="Oval 47"/>
          <p:cNvSpPr>
            <a:spLocks noChangeAspect="1" noChangeArrowheads="1"/>
          </p:cNvSpPr>
          <p:nvPr/>
        </p:nvSpPr>
        <p:spPr bwMode="auto">
          <a:xfrm rot="4777107">
            <a:off x="3937794" y="5049044"/>
            <a:ext cx="55563" cy="603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0048" name="Oval 48"/>
          <p:cNvSpPr>
            <a:spLocks noChangeAspect="1" noChangeArrowheads="1"/>
          </p:cNvSpPr>
          <p:nvPr/>
        </p:nvSpPr>
        <p:spPr bwMode="auto">
          <a:xfrm rot="4777107">
            <a:off x="5303838" y="4756150"/>
            <a:ext cx="50800" cy="603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0049" name="Text Box 49"/>
          <p:cNvSpPr txBox="1">
            <a:spLocks noChangeArrowheads="1"/>
          </p:cNvSpPr>
          <p:nvPr/>
        </p:nvSpPr>
        <p:spPr bwMode="auto">
          <a:xfrm>
            <a:off x="5486400" y="1676400"/>
            <a:ext cx="3200400" cy="3968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R="0" algn="ctr" defTabSz="914400">
              <a:buSzTx/>
              <a:buFontTx/>
              <a:defRPr/>
            </a:pPr>
            <a:r>
              <a:rPr kumimoji="0" lang="en-US" altLang="zh-CN" b="1" i="1" kern="1200" cap="none" spc="0" normalizeH="0" baseline="0" noProof="0"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rPr>
              <a:t>f</a:t>
            </a:r>
            <a:r>
              <a:rPr kumimoji="0" lang="en-US" altLang="zh-CN" i="1" kern="1200" cap="none" spc="0" normalizeH="0" baseline="0" noProof="0"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kumimoji="0" lang="en-US" altLang="zh-CN" b="1" i="1" kern="1200" cap="none" spc="0" normalizeH="0" baseline="0" noProof="0"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rPr>
              <a:t>x</a:t>
            </a:r>
            <a:r>
              <a:rPr kumimoji="0" lang="en-US" altLang="zh-CN" i="1" kern="1200" cap="none" spc="0" normalizeH="0" baseline="0" noProof="0"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kumimoji="0" lang="en-US" altLang="zh-CN" b="1" i="1" kern="1200" cap="none" spc="0" normalizeH="0" baseline="0" noProof="0">
                <a:solidFill>
                  <a:srgbClr val="00CC00"/>
                </a:solidFill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rPr>
              <a:t>w</a:t>
            </a:r>
            <a:r>
              <a:rPr kumimoji="0" lang="en-US" altLang="zh-CN" i="1" kern="1200" cap="none" spc="0" normalizeH="0" baseline="0" noProof="0">
                <a:solidFill>
                  <a:srgbClr val="00CC00"/>
                </a:solidFill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rPr>
              <a:t>,b</a:t>
            </a:r>
            <a:r>
              <a:rPr kumimoji="0" lang="en-US" altLang="zh-CN" i="1" kern="1200" cap="none" spc="0" normalizeH="0" baseline="0" noProof="0"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rPr>
              <a:t>) = sign(</a:t>
            </a:r>
            <a:r>
              <a:rPr kumimoji="0" lang="en-US" altLang="zh-CN" b="1" i="1" kern="1200" cap="none" spc="0" normalizeH="0" baseline="0" noProof="0">
                <a:solidFill>
                  <a:srgbClr val="00CC00"/>
                </a:solidFill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rPr>
              <a:t>w</a:t>
            </a:r>
            <a:r>
              <a:rPr kumimoji="0" lang="en-US" altLang="zh-CN" b="1" i="1" kern="1200" cap="none" spc="0" normalizeH="0" baseline="0" noProof="0"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rPr>
              <a:t>. x</a:t>
            </a:r>
            <a:r>
              <a:rPr kumimoji="0" lang="en-US" altLang="zh-CN" i="1" kern="1200" cap="none" spc="0" normalizeH="0" baseline="0" noProof="0">
                <a:solidFill>
                  <a:srgbClr val="00CC00"/>
                </a:solidFill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kumimoji="0" lang="en-US" altLang="zh-CN" i="1" kern="1200" cap="none" spc="0" normalizeH="0" baseline="0" noProof="0"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rPr>
              <a:t>- </a:t>
            </a:r>
            <a:r>
              <a:rPr kumimoji="0" lang="en-US" altLang="zh-CN" i="1" kern="1200" cap="none" spc="0" normalizeH="0" baseline="0" noProof="0">
                <a:solidFill>
                  <a:srgbClr val="00CC00"/>
                </a:solidFill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rPr>
              <a:t>b</a:t>
            </a:r>
            <a:r>
              <a:rPr kumimoji="0" lang="en-US" altLang="zh-CN" i="1" kern="1200" cap="none" spc="0" normalizeH="0" baseline="0" noProof="0"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</a:p>
        </p:txBody>
      </p:sp>
      <p:sp>
        <p:nvSpPr>
          <p:cNvPr id="640051" name="Text Box 51"/>
          <p:cNvSpPr txBox="1">
            <a:spLocks noChangeArrowheads="1"/>
          </p:cNvSpPr>
          <p:nvPr/>
        </p:nvSpPr>
        <p:spPr bwMode="auto">
          <a:xfrm>
            <a:off x="6248400" y="3200400"/>
            <a:ext cx="2438400" cy="3968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R="0" defTabSz="914400">
              <a:buSzTx/>
              <a:buFontTx/>
              <a:defRPr/>
            </a:pPr>
            <a:endParaRPr kumimoji="0" lang="zh-CN" altLang="en-US" kern="1200" cap="none" spc="0" normalizeH="0" baseline="0" noProof="0">
              <a:latin typeface="Tahoma" panose="020B060403050404020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40052" name="Text Box 52"/>
          <p:cNvSpPr txBox="1">
            <a:spLocks noChangeArrowheads="1"/>
          </p:cNvSpPr>
          <p:nvPr/>
        </p:nvSpPr>
        <p:spPr bwMode="auto">
          <a:xfrm>
            <a:off x="6329045" y="2788285"/>
            <a:ext cx="2743200" cy="191770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r>
              <a:rPr lang="zh-CN" altLang="en-US" sz="2400" dirty="0">
                <a:latin typeface="Tahoma" panose="020B0604030504040204" charset="0"/>
                <a:ea typeface="宋体" panose="02010600030101010101" pitchFamily="2" charset="-122"/>
              </a:rPr>
              <a:t>线性分类器的</a:t>
            </a:r>
            <a:r>
              <a:rPr lang="zh-CN" altLang="en-US" sz="2400" dirty="0">
                <a:solidFill>
                  <a:schemeClr val="hlink"/>
                </a:solidFill>
                <a:latin typeface="Tahoma" panose="020B0604030504040204" charset="0"/>
                <a:ea typeface="宋体" panose="02010600030101010101" pitchFamily="2" charset="-122"/>
              </a:rPr>
              <a:t>间隔（</a:t>
            </a:r>
            <a:r>
              <a:rPr lang="en-US" altLang="zh-CN" sz="2400" dirty="0">
                <a:solidFill>
                  <a:schemeClr val="hlink"/>
                </a:solidFill>
                <a:latin typeface="Tahoma" panose="020B0604030504040204" charset="0"/>
                <a:ea typeface="宋体" panose="02010600030101010101" pitchFamily="2" charset="-122"/>
              </a:rPr>
              <a:t> margin）</a:t>
            </a:r>
            <a:r>
              <a:rPr lang="en-US" altLang="zh-CN" sz="2400" dirty="0">
                <a:latin typeface="Tahoma" panose="020B0604030504040204" charset="0"/>
                <a:ea typeface="宋体" panose="02010600030101010101" pitchFamily="2" charset="-122"/>
              </a:rPr>
              <a:t>：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到超平面最近的样本与此超平面之间的距离。</a:t>
            </a:r>
            <a:endParaRPr lang="en-US" altLang="zh-CN" sz="240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077" name="Line 53"/>
          <p:cNvSpPr>
            <a:spLocks noChangeShapeType="1"/>
          </p:cNvSpPr>
          <p:nvPr/>
        </p:nvSpPr>
        <p:spPr bwMode="auto">
          <a:xfrm rot="-3472419">
            <a:off x="1239838" y="4076700"/>
            <a:ext cx="5410200" cy="0"/>
          </a:xfrm>
          <a:prstGeom prst="line">
            <a:avLst/>
          </a:prstGeom>
          <a:noFill/>
          <a:ln w="361950">
            <a:solidFill>
              <a:schemeClr val="accent2"/>
            </a:solidFill>
            <a:round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1078" name="Line 54"/>
          <p:cNvSpPr>
            <a:spLocks noChangeShapeType="1"/>
          </p:cNvSpPr>
          <p:nvPr/>
        </p:nvSpPr>
        <p:spPr bwMode="auto">
          <a:xfrm rot="-3472419">
            <a:off x="1163638" y="4076700"/>
            <a:ext cx="5562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1026" name="Rectangle 2"/>
          <p:cNvSpPr>
            <a:spLocks noGrp="1" noChangeArrowheads="1"/>
          </p:cNvSpPr>
          <p:nvPr>
            <p:ph type="title"/>
          </p:nvPr>
        </p:nvSpPr>
        <p:spPr>
          <a:xfrm>
            <a:off x="295910" y="233045"/>
            <a:ext cx="4648200" cy="685800"/>
          </a:xfrm>
        </p:spPr>
        <p:txBody>
          <a:bodyPr vert="horz" wrap="square" lIns="91440" tIns="45720" rIns="91440" bIns="45720" numCol="1" anchor="b" anchorCtr="0" compatLnSpc="1"/>
          <a:lstStyle/>
          <a:p>
            <a:r>
              <a:rPr lang="zh-CN" altLang="en-US" b="1" dirty="0">
                <a:ea typeface="宋体" panose="02010600030101010101" pitchFamily="2" charset="-122"/>
              </a:rPr>
              <a:t>最大间隔</a:t>
            </a:r>
          </a:p>
        </p:txBody>
      </p:sp>
      <p:sp>
        <p:nvSpPr>
          <p:cNvPr id="641027" name="Rectangle 3"/>
          <p:cNvSpPr>
            <a:spLocks noChangeArrowheads="1"/>
          </p:cNvSpPr>
          <p:nvPr/>
        </p:nvSpPr>
        <p:spPr bwMode="auto">
          <a:xfrm>
            <a:off x="5334000" y="776288"/>
            <a:ext cx="1600200" cy="654050"/>
          </a:xfrm>
          <a:prstGeom prst="rect">
            <a:avLst/>
          </a:prstGeom>
          <a:solidFill>
            <a:srgbClr val="FFCCFF"/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anchor="ctr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3600" b="0" i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rPr>
              <a:t>f </a:t>
            </a: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rPr>
              <a:t>        </a:t>
            </a:r>
          </a:p>
        </p:txBody>
      </p:sp>
      <p:sp>
        <p:nvSpPr>
          <p:cNvPr id="641028" name="Line 4"/>
          <p:cNvSpPr>
            <a:spLocks noChangeShapeType="1"/>
          </p:cNvSpPr>
          <p:nvPr/>
        </p:nvSpPr>
        <p:spPr bwMode="auto">
          <a:xfrm>
            <a:off x="3962400" y="1066800"/>
            <a:ext cx="1371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tailEnd type="triangle" w="med" len="med"/>
          </a:ln>
          <a:effectLst/>
        </p:spPr>
        <p:txBody>
          <a:bodyPr wrap="none"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1029" name="Text Box 5"/>
          <p:cNvSpPr txBox="1">
            <a:spLocks noChangeArrowheads="1"/>
          </p:cNvSpPr>
          <p:nvPr/>
        </p:nvSpPr>
        <p:spPr bwMode="auto">
          <a:xfrm>
            <a:off x="3505200" y="762000"/>
            <a:ext cx="609600" cy="519113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R="0" algn="ctr" defTabSz="914400">
              <a:buSzTx/>
              <a:buFontTx/>
              <a:defRPr/>
            </a:pPr>
            <a:r>
              <a:rPr kumimoji="0" lang="en-US" altLang="zh-CN" sz="2800" b="1" i="1" kern="1200" cap="none" spc="0" normalizeH="0" baseline="0" noProof="0"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rPr>
              <a:t>x</a:t>
            </a:r>
          </a:p>
        </p:txBody>
      </p:sp>
      <p:sp>
        <p:nvSpPr>
          <p:cNvPr id="641032" name="Line 8"/>
          <p:cNvSpPr>
            <a:spLocks noChangeShapeType="1"/>
          </p:cNvSpPr>
          <p:nvPr/>
        </p:nvSpPr>
        <p:spPr bwMode="auto">
          <a:xfrm>
            <a:off x="6934200" y="1066800"/>
            <a:ext cx="1371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tailEnd type="triangle" w="med" len="med"/>
          </a:ln>
          <a:effectLst/>
        </p:spPr>
        <p:txBody>
          <a:bodyPr wrap="none"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1033" name="Text Box 9"/>
          <p:cNvSpPr txBox="1">
            <a:spLocks noChangeArrowheads="1"/>
          </p:cNvSpPr>
          <p:nvPr/>
        </p:nvSpPr>
        <p:spPr bwMode="auto">
          <a:xfrm>
            <a:off x="8305800" y="838200"/>
            <a:ext cx="381000" cy="579438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spcBef>
                <a:spcPct val="20000"/>
              </a:spcBef>
            </a:pPr>
            <a:r>
              <a:rPr lang="en-US" altLang="zh-CN" sz="3200" dirty="0">
                <a:latin typeface="Tahoma" panose="020B0604030504040204" charset="0"/>
                <a:ea typeface="宋体" panose="02010600030101010101" pitchFamily="2" charset="-122"/>
              </a:rPr>
              <a:t>y</a:t>
            </a:r>
            <a:endParaRPr lang="en-US" altLang="zh-CN" sz="3200" baseline="30000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641034" name="Text Box 10"/>
          <p:cNvSpPr txBox="1">
            <a:spLocks noChangeArrowheads="1"/>
          </p:cNvSpPr>
          <p:nvPr/>
        </p:nvSpPr>
        <p:spPr bwMode="auto">
          <a:xfrm>
            <a:off x="838200" y="1905000"/>
            <a:ext cx="1905000" cy="8540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R="0" algn="ctr" defTabSz="914400">
              <a:buSzTx/>
              <a:buFontTx/>
              <a:defRPr/>
            </a:pPr>
            <a:r>
              <a:rPr kumimoji="0" lang="en-US" altLang="zh-CN" kern="1200" cap="none" spc="0" normalizeH="0" baseline="0" noProof="0"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rPr>
              <a:t>+1</a:t>
            </a:r>
          </a:p>
          <a:p>
            <a:pPr marR="0" algn="ctr" defTabSz="914400">
              <a:buSzTx/>
              <a:buFontTx/>
              <a:defRPr/>
            </a:pPr>
            <a:r>
              <a:rPr kumimoji="0" lang="en-US" altLang="zh-CN" kern="1200" cap="none" spc="0" normalizeH="0" baseline="0" noProof="0"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rPr>
              <a:t>-1</a:t>
            </a:r>
          </a:p>
        </p:txBody>
      </p:sp>
      <p:sp>
        <p:nvSpPr>
          <p:cNvPr id="641035" name="Oval 11"/>
          <p:cNvSpPr>
            <a:spLocks noChangeAspect="1" noChangeArrowheads="1"/>
          </p:cNvSpPr>
          <p:nvPr/>
        </p:nvSpPr>
        <p:spPr bwMode="auto">
          <a:xfrm rot="4777107">
            <a:off x="915194" y="2056606"/>
            <a:ext cx="58738" cy="6032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1036" name="Oval 12"/>
          <p:cNvSpPr>
            <a:spLocks noChangeAspect="1" noChangeArrowheads="1"/>
          </p:cNvSpPr>
          <p:nvPr/>
        </p:nvSpPr>
        <p:spPr bwMode="auto">
          <a:xfrm rot="5895381">
            <a:off x="915988" y="2513013"/>
            <a:ext cx="50800" cy="5397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1037" name="Line 13"/>
          <p:cNvSpPr>
            <a:spLocks noChangeShapeType="1"/>
          </p:cNvSpPr>
          <p:nvPr/>
        </p:nvSpPr>
        <p:spPr bwMode="auto">
          <a:xfrm>
            <a:off x="2590800" y="2209800"/>
            <a:ext cx="0" cy="3505200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</a:ln>
          <a:effectLst/>
        </p:spPr>
        <p:txBody>
          <a:bodyPr wrap="none"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1038" name="Line 14"/>
          <p:cNvSpPr>
            <a:spLocks noChangeShapeType="1"/>
          </p:cNvSpPr>
          <p:nvPr/>
        </p:nvSpPr>
        <p:spPr bwMode="auto">
          <a:xfrm flipV="1">
            <a:off x="2438400" y="5562600"/>
            <a:ext cx="3657600" cy="0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</a:ln>
          <a:effectLst/>
        </p:spPr>
        <p:txBody>
          <a:bodyPr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1039" name="Oval 15"/>
          <p:cNvSpPr>
            <a:spLocks noChangeAspect="1" noChangeArrowheads="1"/>
          </p:cNvSpPr>
          <p:nvPr/>
        </p:nvSpPr>
        <p:spPr bwMode="auto">
          <a:xfrm>
            <a:off x="3717925" y="5032375"/>
            <a:ext cx="60325" cy="476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1040" name="Oval 16"/>
          <p:cNvSpPr>
            <a:spLocks noChangeAspect="1" noChangeArrowheads="1"/>
          </p:cNvSpPr>
          <p:nvPr/>
        </p:nvSpPr>
        <p:spPr bwMode="auto">
          <a:xfrm>
            <a:off x="2486025" y="3903663"/>
            <a:ext cx="60325" cy="4762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1041" name="Oval 17"/>
          <p:cNvSpPr>
            <a:spLocks noChangeAspect="1" noChangeArrowheads="1"/>
          </p:cNvSpPr>
          <p:nvPr/>
        </p:nvSpPr>
        <p:spPr bwMode="auto">
          <a:xfrm>
            <a:off x="4340225" y="2814638"/>
            <a:ext cx="60325" cy="4762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1042" name="Oval 18"/>
          <p:cNvSpPr>
            <a:spLocks noChangeAspect="1" noChangeArrowheads="1"/>
          </p:cNvSpPr>
          <p:nvPr/>
        </p:nvSpPr>
        <p:spPr bwMode="auto">
          <a:xfrm>
            <a:off x="4403725" y="3635375"/>
            <a:ext cx="60325" cy="476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1043" name="Oval 19"/>
          <p:cNvSpPr>
            <a:spLocks noChangeAspect="1" noChangeArrowheads="1"/>
          </p:cNvSpPr>
          <p:nvPr/>
        </p:nvSpPr>
        <p:spPr bwMode="auto">
          <a:xfrm>
            <a:off x="3409950" y="2663825"/>
            <a:ext cx="60325" cy="50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1044" name="Oval 20"/>
          <p:cNvSpPr>
            <a:spLocks noChangeAspect="1" noChangeArrowheads="1"/>
          </p:cNvSpPr>
          <p:nvPr/>
        </p:nvSpPr>
        <p:spPr bwMode="auto">
          <a:xfrm>
            <a:off x="3886200" y="3733800"/>
            <a:ext cx="53975" cy="4762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1045" name="Oval 21"/>
          <p:cNvSpPr>
            <a:spLocks noChangeAspect="1" noChangeArrowheads="1"/>
          </p:cNvSpPr>
          <p:nvPr/>
        </p:nvSpPr>
        <p:spPr bwMode="auto">
          <a:xfrm>
            <a:off x="3048000" y="3124200"/>
            <a:ext cx="60325" cy="58738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1046" name="Oval 22"/>
          <p:cNvSpPr>
            <a:spLocks noChangeAspect="1" noChangeArrowheads="1"/>
          </p:cNvSpPr>
          <p:nvPr/>
        </p:nvSpPr>
        <p:spPr bwMode="auto">
          <a:xfrm>
            <a:off x="5105400" y="4114800"/>
            <a:ext cx="60325" cy="508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1047" name="Oval 23"/>
          <p:cNvSpPr>
            <a:spLocks noChangeAspect="1" noChangeArrowheads="1"/>
          </p:cNvSpPr>
          <p:nvPr/>
        </p:nvSpPr>
        <p:spPr bwMode="auto">
          <a:xfrm rot="-1118274">
            <a:off x="3887788" y="4443413"/>
            <a:ext cx="53975" cy="476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1048" name="Oval 24"/>
          <p:cNvSpPr>
            <a:spLocks noChangeAspect="1" noChangeArrowheads="1"/>
          </p:cNvSpPr>
          <p:nvPr/>
        </p:nvSpPr>
        <p:spPr bwMode="auto">
          <a:xfrm rot="-1118274">
            <a:off x="6003925" y="3228975"/>
            <a:ext cx="60325" cy="508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1049" name="Oval 25"/>
          <p:cNvSpPr>
            <a:spLocks noChangeAspect="1" noChangeArrowheads="1"/>
          </p:cNvSpPr>
          <p:nvPr/>
        </p:nvSpPr>
        <p:spPr bwMode="auto">
          <a:xfrm rot="-1118274">
            <a:off x="5295900" y="4545013"/>
            <a:ext cx="60325" cy="508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1050" name="Oval 26"/>
          <p:cNvSpPr>
            <a:spLocks noChangeAspect="1" noChangeArrowheads="1"/>
          </p:cNvSpPr>
          <p:nvPr/>
        </p:nvSpPr>
        <p:spPr bwMode="auto">
          <a:xfrm rot="-1118274">
            <a:off x="3124200" y="2667000"/>
            <a:ext cx="60325" cy="50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1051" name="Oval 27"/>
          <p:cNvSpPr>
            <a:spLocks noChangeAspect="1" noChangeArrowheads="1"/>
          </p:cNvSpPr>
          <p:nvPr/>
        </p:nvSpPr>
        <p:spPr bwMode="auto">
          <a:xfrm rot="-1118274">
            <a:off x="4711700" y="3584575"/>
            <a:ext cx="60325" cy="508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1052" name="Oval 28"/>
          <p:cNvSpPr>
            <a:spLocks noChangeAspect="1" noChangeArrowheads="1"/>
          </p:cNvSpPr>
          <p:nvPr/>
        </p:nvSpPr>
        <p:spPr bwMode="auto">
          <a:xfrm rot="-1118274">
            <a:off x="5867400" y="4495800"/>
            <a:ext cx="60325" cy="476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1053" name="Oval 29"/>
          <p:cNvSpPr>
            <a:spLocks noChangeAspect="1" noChangeArrowheads="1"/>
          </p:cNvSpPr>
          <p:nvPr/>
        </p:nvSpPr>
        <p:spPr bwMode="auto">
          <a:xfrm rot="-1118274">
            <a:off x="3114675" y="3640138"/>
            <a:ext cx="60325" cy="4762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1054" name="Oval 30"/>
          <p:cNvSpPr>
            <a:spLocks noChangeAspect="1" noChangeArrowheads="1"/>
          </p:cNvSpPr>
          <p:nvPr/>
        </p:nvSpPr>
        <p:spPr bwMode="auto">
          <a:xfrm rot="5895381">
            <a:off x="3867150" y="3057525"/>
            <a:ext cx="47625" cy="5397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1055" name="Oval 31"/>
          <p:cNvSpPr>
            <a:spLocks noChangeAspect="1" noChangeArrowheads="1"/>
          </p:cNvSpPr>
          <p:nvPr/>
        </p:nvSpPr>
        <p:spPr bwMode="auto">
          <a:xfrm rot="5895381">
            <a:off x="4136231" y="5242719"/>
            <a:ext cx="55563" cy="603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1056" name="Oval 32"/>
          <p:cNvSpPr>
            <a:spLocks noChangeAspect="1" noChangeArrowheads="1"/>
          </p:cNvSpPr>
          <p:nvPr/>
        </p:nvSpPr>
        <p:spPr bwMode="auto">
          <a:xfrm rot="5895381">
            <a:off x="3114675" y="4098925"/>
            <a:ext cx="47625" cy="6032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1057" name="Oval 33"/>
          <p:cNvSpPr>
            <a:spLocks noChangeAspect="1" noChangeArrowheads="1"/>
          </p:cNvSpPr>
          <p:nvPr/>
        </p:nvSpPr>
        <p:spPr bwMode="auto">
          <a:xfrm rot="5895381">
            <a:off x="4343400" y="2393950"/>
            <a:ext cx="47625" cy="5397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1058" name="Oval 34"/>
          <p:cNvSpPr>
            <a:spLocks noChangeAspect="1" noChangeArrowheads="1"/>
          </p:cNvSpPr>
          <p:nvPr/>
        </p:nvSpPr>
        <p:spPr bwMode="auto">
          <a:xfrm rot="5895381">
            <a:off x="5304631" y="4144169"/>
            <a:ext cx="58738" cy="603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1059" name="Oval 35"/>
          <p:cNvSpPr>
            <a:spLocks noChangeAspect="1" noChangeArrowheads="1"/>
          </p:cNvSpPr>
          <p:nvPr/>
        </p:nvSpPr>
        <p:spPr bwMode="auto">
          <a:xfrm rot="5895381">
            <a:off x="4370388" y="4079875"/>
            <a:ext cx="47625" cy="5397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1060" name="Oval 36"/>
          <p:cNvSpPr>
            <a:spLocks noChangeAspect="1" noChangeArrowheads="1"/>
          </p:cNvSpPr>
          <p:nvPr/>
        </p:nvSpPr>
        <p:spPr bwMode="auto">
          <a:xfrm rot="5895381">
            <a:off x="5619750" y="3365500"/>
            <a:ext cx="47625" cy="5397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1061" name="Oval 37"/>
          <p:cNvSpPr>
            <a:spLocks noChangeAspect="1" noChangeArrowheads="1"/>
          </p:cNvSpPr>
          <p:nvPr/>
        </p:nvSpPr>
        <p:spPr bwMode="auto">
          <a:xfrm rot="5895381">
            <a:off x="3087688" y="2346325"/>
            <a:ext cx="47625" cy="6032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1062" name="Oval 38"/>
          <p:cNvSpPr>
            <a:spLocks noChangeAspect="1" noChangeArrowheads="1"/>
          </p:cNvSpPr>
          <p:nvPr/>
        </p:nvSpPr>
        <p:spPr bwMode="auto">
          <a:xfrm rot="5895381">
            <a:off x="5260975" y="3273425"/>
            <a:ext cx="47625" cy="5397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1063" name="Oval 39"/>
          <p:cNvSpPr>
            <a:spLocks noChangeAspect="1" noChangeArrowheads="1"/>
          </p:cNvSpPr>
          <p:nvPr/>
        </p:nvSpPr>
        <p:spPr bwMode="auto">
          <a:xfrm rot="5895381">
            <a:off x="5117306" y="4718844"/>
            <a:ext cx="58738" cy="5397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1064" name="Oval 40"/>
          <p:cNvSpPr>
            <a:spLocks noChangeAspect="1" noChangeArrowheads="1"/>
          </p:cNvSpPr>
          <p:nvPr/>
        </p:nvSpPr>
        <p:spPr bwMode="auto">
          <a:xfrm rot="4777107">
            <a:off x="3498056" y="3534569"/>
            <a:ext cx="58738" cy="6032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1065" name="Oval 41"/>
          <p:cNvSpPr>
            <a:spLocks noChangeAspect="1" noChangeArrowheads="1"/>
          </p:cNvSpPr>
          <p:nvPr/>
        </p:nvSpPr>
        <p:spPr bwMode="auto">
          <a:xfrm rot="4777107">
            <a:off x="4651375" y="5254625"/>
            <a:ext cx="47625" cy="5397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1066" name="Oval 42"/>
          <p:cNvSpPr>
            <a:spLocks noChangeAspect="1" noChangeArrowheads="1"/>
          </p:cNvSpPr>
          <p:nvPr/>
        </p:nvSpPr>
        <p:spPr bwMode="auto">
          <a:xfrm rot="4777107">
            <a:off x="4346575" y="4873625"/>
            <a:ext cx="47625" cy="5397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1067" name="Oval 43"/>
          <p:cNvSpPr>
            <a:spLocks noChangeAspect="1" noChangeArrowheads="1"/>
          </p:cNvSpPr>
          <p:nvPr/>
        </p:nvSpPr>
        <p:spPr bwMode="auto">
          <a:xfrm rot="4777107">
            <a:off x="2817019" y="3736181"/>
            <a:ext cx="58738" cy="5397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1068" name="Oval 44"/>
          <p:cNvSpPr>
            <a:spLocks noChangeAspect="1" noChangeArrowheads="1"/>
          </p:cNvSpPr>
          <p:nvPr/>
        </p:nvSpPr>
        <p:spPr bwMode="auto">
          <a:xfrm rot="4777107">
            <a:off x="3713163" y="2776538"/>
            <a:ext cx="50800" cy="5397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1069" name="Oval 45"/>
          <p:cNvSpPr>
            <a:spLocks noChangeAspect="1" noChangeArrowheads="1"/>
          </p:cNvSpPr>
          <p:nvPr/>
        </p:nvSpPr>
        <p:spPr bwMode="auto">
          <a:xfrm rot="4777107">
            <a:off x="4356100" y="4364038"/>
            <a:ext cx="50800" cy="603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1070" name="Oval 46"/>
          <p:cNvSpPr>
            <a:spLocks noChangeAspect="1" noChangeArrowheads="1"/>
          </p:cNvSpPr>
          <p:nvPr/>
        </p:nvSpPr>
        <p:spPr bwMode="auto">
          <a:xfrm rot="4777107">
            <a:off x="2504281" y="3082131"/>
            <a:ext cx="58738" cy="6032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1071" name="Oval 47"/>
          <p:cNvSpPr>
            <a:spLocks noChangeAspect="1" noChangeArrowheads="1"/>
          </p:cNvSpPr>
          <p:nvPr/>
        </p:nvSpPr>
        <p:spPr bwMode="auto">
          <a:xfrm rot="4777107">
            <a:off x="3937794" y="5049044"/>
            <a:ext cx="55563" cy="603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1072" name="Oval 48"/>
          <p:cNvSpPr>
            <a:spLocks noChangeAspect="1" noChangeArrowheads="1"/>
          </p:cNvSpPr>
          <p:nvPr/>
        </p:nvSpPr>
        <p:spPr bwMode="auto">
          <a:xfrm rot="4777107">
            <a:off x="5303838" y="4756150"/>
            <a:ext cx="50800" cy="603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1073" name="Text Box 49"/>
          <p:cNvSpPr txBox="1">
            <a:spLocks noChangeArrowheads="1"/>
          </p:cNvSpPr>
          <p:nvPr/>
        </p:nvSpPr>
        <p:spPr bwMode="auto">
          <a:xfrm>
            <a:off x="5486400" y="1389380"/>
            <a:ext cx="3200400" cy="3968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R="0" algn="ctr" defTabSz="914400">
              <a:buSzTx/>
              <a:buFontTx/>
              <a:defRPr/>
            </a:pPr>
            <a:r>
              <a:rPr kumimoji="0" lang="en-US" altLang="zh-CN" b="1" i="1" kern="1200" cap="none" spc="0" normalizeH="0" baseline="0" noProof="0"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rPr>
              <a:t>f</a:t>
            </a:r>
            <a:r>
              <a:rPr kumimoji="0" lang="en-US" altLang="zh-CN" i="1" kern="1200" cap="none" spc="0" normalizeH="0" baseline="0" noProof="0"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kumimoji="0" lang="en-US" altLang="zh-CN" b="1" i="1" kern="1200" cap="none" spc="0" normalizeH="0" baseline="0" noProof="0"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rPr>
              <a:t>x</a:t>
            </a:r>
            <a:r>
              <a:rPr kumimoji="0" lang="en-US" altLang="zh-CN" i="1" kern="1200" cap="none" spc="0" normalizeH="0" baseline="0" noProof="0"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kumimoji="0" lang="en-US" altLang="zh-CN" b="1" i="1" kern="1200" cap="none" spc="0" normalizeH="0" baseline="0" noProof="0">
                <a:solidFill>
                  <a:srgbClr val="00CC00"/>
                </a:solidFill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rPr>
              <a:t>w</a:t>
            </a:r>
            <a:r>
              <a:rPr kumimoji="0" lang="en-US" altLang="zh-CN" i="1" kern="1200" cap="none" spc="0" normalizeH="0" baseline="0" noProof="0">
                <a:solidFill>
                  <a:srgbClr val="00CC00"/>
                </a:solidFill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rPr>
              <a:t>,b</a:t>
            </a:r>
            <a:r>
              <a:rPr kumimoji="0" lang="en-US" altLang="zh-CN" i="1" kern="1200" cap="none" spc="0" normalizeH="0" baseline="0" noProof="0"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rPr>
              <a:t>) = sign(</a:t>
            </a:r>
            <a:r>
              <a:rPr kumimoji="0" lang="en-US" altLang="zh-CN" b="1" i="1" kern="1200" cap="none" spc="0" normalizeH="0" baseline="0" noProof="0">
                <a:solidFill>
                  <a:srgbClr val="00CC00"/>
                </a:solidFill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rPr>
              <a:t>w</a:t>
            </a:r>
            <a:r>
              <a:rPr kumimoji="0" lang="en-US" altLang="zh-CN" b="1" i="1" kern="1200" cap="none" spc="0" normalizeH="0" baseline="0" noProof="0"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rPr>
              <a:t>. x</a:t>
            </a:r>
            <a:r>
              <a:rPr kumimoji="0" lang="en-US" altLang="zh-CN" i="1" kern="1200" cap="none" spc="0" normalizeH="0" baseline="0" noProof="0">
                <a:solidFill>
                  <a:srgbClr val="00CC00"/>
                </a:solidFill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kumimoji="0" lang="en-US" altLang="zh-CN" i="1" kern="1200" cap="none" spc="0" normalizeH="0" baseline="0" noProof="0"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rPr>
              <a:t>- </a:t>
            </a:r>
            <a:r>
              <a:rPr kumimoji="0" lang="en-US" altLang="zh-CN" i="1" kern="1200" cap="none" spc="0" normalizeH="0" baseline="0" noProof="0">
                <a:solidFill>
                  <a:srgbClr val="00CC00"/>
                </a:solidFill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rPr>
              <a:t>b</a:t>
            </a:r>
            <a:r>
              <a:rPr kumimoji="0" lang="en-US" altLang="zh-CN" i="1" kern="1200" cap="none" spc="0" normalizeH="0" baseline="0" noProof="0"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</a:p>
        </p:txBody>
      </p:sp>
      <p:sp>
        <p:nvSpPr>
          <p:cNvPr id="641074" name="Text Box 50"/>
          <p:cNvSpPr txBox="1">
            <a:spLocks noChangeArrowheads="1"/>
          </p:cNvSpPr>
          <p:nvPr/>
        </p:nvSpPr>
        <p:spPr bwMode="auto">
          <a:xfrm>
            <a:off x="6248400" y="3200400"/>
            <a:ext cx="2438400" cy="3968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R="0" defTabSz="914400">
              <a:buSzTx/>
              <a:buFontTx/>
              <a:defRPr/>
            </a:pPr>
            <a:endParaRPr kumimoji="0" lang="zh-CN" altLang="en-US" kern="1200" cap="none" spc="0" normalizeH="0" baseline="0" noProof="0">
              <a:latin typeface="Tahoma" panose="020B060403050404020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41075" name="Text Box 51"/>
          <p:cNvSpPr txBox="1">
            <a:spLocks noChangeArrowheads="1"/>
          </p:cNvSpPr>
          <p:nvPr/>
        </p:nvSpPr>
        <p:spPr bwMode="auto">
          <a:xfrm>
            <a:off x="6400800" y="2286000"/>
            <a:ext cx="2743200" cy="337820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r>
              <a:rPr lang="zh-CN" altLang="en-US" sz="2400" dirty="0">
                <a:latin typeface="Tahoma" panose="020B0604030504040204" charset="0"/>
                <a:ea typeface="宋体" panose="02010600030101010101" pitchFamily="2" charset="-122"/>
              </a:rPr>
              <a:t>具有最大间隔的线性分类器叫做</a:t>
            </a:r>
            <a:r>
              <a:rPr lang="zh-CN" altLang="en-US" sz="2400" dirty="0">
                <a:solidFill>
                  <a:schemeClr val="hlink"/>
                </a:solidFill>
                <a:latin typeface="Tahoma" panose="020B0604030504040204" charset="0"/>
                <a:ea typeface="宋体" panose="02010600030101010101" pitchFamily="2" charset="-122"/>
              </a:rPr>
              <a:t>最大间隔线性分类器</a:t>
            </a:r>
            <a:r>
              <a:rPr lang="zh-CN" altLang="en-US" sz="2400" dirty="0">
                <a:latin typeface="Tahoma" panose="020B0604030504040204" charset="0"/>
                <a:ea typeface="宋体" panose="02010600030101010101" pitchFamily="2" charset="-122"/>
              </a:rPr>
              <a:t>。</a:t>
            </a:r>
          </a:p>
          <a:p>
            <a:endParaRPr lang="zh-CN" altLang="en-US" sz="2400" dirty="0">
              <a:latin typeface="Tahoma" panose="020B0604030504040204" charset="0"/>
              <a:ea typeface="宋体" panose="02010600030101010101" pitchFamily="2" charset="-122"/>
            </a:endParaRPr>
          </a:p>
          <a:p>
            <a:r>
              <a:rPr lang="zh-CN" altLang="en-US" sz="2400" dirty="0">
                <a:latin typeface="Tahoma" panose="020B0604030504040204" charset="0"/>
                <a:ea typeface="宋体" panose="02010600030101010101" pitchFamily="2" charset="-122"/>
              </a:rPr>
              <a:t>其就是一种最简单的支持向量机(</a:t>
            </a:r>
            <a:r>
              <a:rPr lang="en-US" altLang="zh-CN" sz="2400" dirty="0">
                <a:latin typeface="Tahoma" panose="020B0604030504040204" charset="0"/>
                <a:ea typeface="宋体" panose="02010600030101010101" pitchFamily="2" charset="-122"/>
              </a:rPr>
              <a:t>SVM) (</a:t>
            </a:r>
            <a:r>
              <a:rPr lang="zh-CN" altLang="en-US" sz="2400" dirty="0">
                <a:latin typeface="Tahoma" panose="020B0604030504040204" charset="0"/>
                <a:ea typeface="宋体" panose="02010600030101010101" pitchFamily="2" charset="-122"/>
              </a:rPr>
              <a:t>称为线性支持向量机，即</a:t>
            </a:r>
            <a:r>
              <a:rPr lang="en-US" altLang="zh-CN" sz="2400" dirty="0">
                <a:latin typeface="Tahoma" panose="020B0604030504040204" charset="0"/>
                <a:ea typeface="宋体" panose="02010600030101010101" pitchFamily="2" charset="-122"/>
              </a:rPr>
              <a:t>LSVM)</a:t>
            </a:r>
          </a:p>
        </p:txBody>
      </p:sp>
      <p:sp>
        <p:nvSpPr>
          <p:cNvPr id="641080" name="AutoShape 56"/>
          <p:cNvSpPr>
            <a:spLocks noChangeArrowheads="1"/>
          </p:cNvSpPr>
          <p:nvPr/>
        </p:nvSpPr>
        <p:spPr bwMode="auto">
          <a:xfrm>
            <a:off x="4641850" y="5867400"/>
            <a:ext cx="1758950" cy="381000"/>
          </a:xfrm>
          <a:prstGeom prst="wedgeRectCallout">
            <a:avLst>
              <a:gd name="adj1" fmla="val 64713"/>
              <a:gd name="adj2" fmla="val -86250"/>
            </a:avLst>
          </a:prstGeom>
          <a:solidFill>
            <a:srgbClr val="CCFFCC"/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/>
          <a:lstStyle/>
          <a:p>
            <a:pPr algn="ctr"/>
            <a:r>
              <a:rPr lang="zh-CN" altLang="en-US" sz="1600" dirty="0">
                <a:latin typeface="Tahoma" panose="020B0604030504040204" charset="0"/>
                <a:ea typeface="宋体" panose="02010600030101010101" pitchFamily="2" charset="-122"/>
              </a:rPr>
              <a:t>线性支持向量机</a:t>
            </a:r>
            <a:endParaRPr lang="en-US" altLang="zh-CN" sz="1600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176" name="Line 128"/>
          <p:cNvSpPr>
            <a:spLocks noChangeShapeType="1"/>
          </p:cNvSpPr>
          <p:nvPr/>
        </p:nvSpPr>
        <p:spPr bwMode="auto">
          <a:xfrm rot="-3472419">
            <a:off x="1239838" y="4076700"/>
            <a:ext cx="5410200" cy="0"/>
          </a:xfrm>
          <a:prstGeom prst="line">
            <a:avLst/>
          </a:prstGeom>
          <a:noFill/>
          <a:ln w="361950">
            <a:solidFill>
              <a:schemeClr val="accent2"/>
            </a:solidFill>
            <a:round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2177" name="Line 129"/>
          <p:cNvSpPr>
            <a:spLocks noChangeShapeType="1"/>
          </p:cNvSpPr>
          <p:nvPr/>
        </p:nvSpPr>
        <p:spPr bwMode="auto">
          <a:xfrm rot="-3472419">
            <a:off x="1163638" y="4076700"/>
            <a:ext cx="5562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2179" name="Rectangle 131"/>
          <p:cNvSpPr>
            <a:spLocks noChangeArrowheads="1"/>
          </p:cNvSpPr>
          <p:nvPr/>
        </p:nvSpPr>
        <p:spPr bwMode="auto">
          <a:xfrm>
            <a:off x="5334000" y="776288"/>
            <a:ext cx="1600200" cy="654050"/>
          </a:xfrm>
          <a:prstGeom prst="rect">
            <a:avLst/>
          </a:prstGeom>
          <a:solidFill>
            <a:srgbClr val="FFCCFF"/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anchor="ctr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3600" b="0" i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rPr>
              <a:t>f </a:t>
            </a: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rPr>
              <a:t>        </a:t>
            </a:r>
          </a:p>
        </p:txBody>
      </p:sp>
      <p:sp>
        <p:nvSpPr>
          <p:cNvPr id="642180" name="Line 132"/>
          <p:cNvSpPr>
            <a:spLocks noChangeShapeType="1"/>
          </p:cNvSpPr>
          <p:nvPr/>
        </p:nvSpPr>
        <p:spPr bwMode="auto">
          <a:xfrm>
            <a:off x="3962400" y="1066800"/>
            <a:ext cx="1371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tailEnd type="triangle" w="med" len="med"/>
          </a:ln>
          <a:effectLst/>
        </p:spPr>
        <p:txBody>
          <a:bodyPr wrap="none"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2181" name="Text Box 133"/>
          <p:cNvSpPr txBox="1">
            <a:spLocks noChangeArrowheads="1"/>
          </p:cNvSpPr>
          <p:nvPr/>
        </p:nvSpPr>
        <p:spPr bwMode="auto">
          <a:xfrm>
            <a:off x="3505200" y="762000"/>
            <a:ext cx="609600" cy="519113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R="0" algn="ctr" defTabSz="914400">
              <a:buSzTx/>
              <a:buFontTx/>
              <a:defRPr/>
            </a:pPr>
            <a:r>
              <a:rPr kumimoji="0" lang="en-US" altLang="zh-CN" sz="2800" b="1" i="1" kern="1200" cap="none" spc="0" normalizeH="0" baseline="0" noProof="0"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rPr>
              <a:t>x</a:t>
            </a:r>
          </a:p>
        </p:txBody>
      </p:sp>
      <p:sp>
        <p:nvSpPr>
          <p:cNvPr id="642183" name="Line 135"/>
          <p:cNvSpPr>
            <a:spLocks noChangeShapeType="1"/>
          </p:cNvSpPr>
          <p:nvPr/>
        </p:nvSpPr>
        <p:spPr bwMode="auto">
          <a:xfrm>
            <a:off x="6934200" y="1066800"/>
            <a:ext cx="1371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tailEnd type="triangle" w="med" len="med"/>
          </a:ln>
          <a:effectLst/>
        </p:spPr>
        <p:txBody>
          <a:bodyPr wrap="none"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2184" name="Text Box 136"/>
          <p:cNvSpPr txBox="1">
            <a:spLocks noChangeArrowheads="1"/>
          </p:cNvSpPr>
          <p:nvPr/>
        </p:nvSpPr>
        <p:spPr bwMode="auto">
          <a:xfrm>
            <a:off x="8305800" y="838200"/>
            <a:ext cx="838200" cy="579438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spcBef>
                <a:spcPct val="20000"/>
              </a:spcBef>
            </a:pPr>
            <a:r>
              <a:rPr lang="en-US" altLang="zh-CN" sz="3200" dirty="0">
                <a:latin typeface="Tahoma" panose="020B0604030504040204" charset="0"/>
                <a:ea typeface="宋体" panose="02010600030101010101" pitchFamily="2" charset="-122"/>
              </a:rPr>
              <a:t>y</a:t>
            </a:r>
            <a:endParaRPr lang="en-US" altLang="zh-CN" sz="3200" baseline="30000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642185" name="Text Box 137"/>
          <p:cNvSpPr txBox="1">
            <a:spLocks noChangeArrowheads="1"/>
          </p:cNvSpPr>
          <p:nvPr/>
        </p:nvSpPr>
        <p:spPr bwMode="auto">
          <a:xfrm>
            <a:off x="838200" y="1905000"/>
            <a:ext cx="1905000" cy="8540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R="0" algn="ctr" defTabSz="914400">
              <a:buSzTx/>
              <a:buFontTx/>
              <a:defRPr/>
            </a:pPr>
            <a:r>
              <a:rPr kumimoji="0" lang="en-US" altLang="zh-CN" kern="1200" cap="none" spc="0" normalizeH="0" baseline="0" noProof="0"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rPr>
              <a:t>+1</a:t>
            </a:r>
          </a:p>
          <a:p>
            <a:pPr marR="0" algn="ctr" defTabSz="914400">
              <a:buSzTx/>
              <a:buFontTx/>
              <a:defRPr/>
            </a:pPr>
            <a:r>
              <a:rPr kumimoji="0" lang="en-US" altLang="zh-CN" kern="1200" cap="none" spc="0" normalizeH="0" baseline="0" noProof="0"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rPr>
              <a:t>-1</a:t>
            </a:r>
          </a:p>
        </p:txBody>
      </p:sp>
      <p:sp>
        <p:nvSpPr>
          <p:cNvPr id="642186" name="Oval 138"/>
          <p:cNvSpPr>
            <a:spLocks noChangeAspect="1" noChangeArrowheads="1"/>
          </p:cNvSpPr>
          <p:nvPr/>
        </p:nvSpPr>
        <p:spPr bwMode="auto">
          <a:xfrm rot="4777107">
            <a:off x="915194" y="2056606"/>
            <a:ext cx="58738" cy="6032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2187" name="Oval 139"/>
          <p:cNvSpPr>
            <a:spLocks noChangeAspect="1" noChangeArrowheads="1"/>
          </p:cNvSpPr>
          <p:nvPr/>
        </p:nvSpPr>
        <p:spPr bwMode="auto">
          <a:xfrm rot="5895381">
            <a:off x="915988" y="2513013"/>
            <a:ext cx="50800" cy="5397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2188" name="Line 140"/>
          <p:cNvSpPr>
            <a:spLocks noChangeShapeType="1"/>
          </p:cNvSpPr>
          <p:nvPr/>
        </p:nvSpPr>
        <p:spPr bwMode="auto">
          <a:xfrm>
            <a:off x="2590800" y="2209800"/>
            <a:ext cx="0" cy="3505200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</a:ln>
          <a:effectLst/>
        </p:spPr>
        <p:txBody>
          <a:bodyPr wrap="none"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2189" name="Line 141"/>
          <p:cNvSpPr>
            <a:spLocks noChangeShapeType="1"/>
          </p:cNvSpPr>
          <p:nvPr/>
        </p:nvSpPr>
        <p:spPr bwMode="auto">
          <a:xfrm flipV="1">
            <a:off x="2438400" y="5562600"/>
            <a:ext cx="3657600" cy="0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</a:ln>
          <a:effectLst/>
        </p:spPr>
        <p:txBody>
          <a:bodyPr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2190" name="Oval 142"/>
          <p:cNvSpPr>
            <a:spLocks noChangeAspect="1" noChangeArrowheads="1"/>
          </p:cNvSpPr>
          <p:nvPr/>
        </p:nvSpPr>
        <p:spPr bwMode="auto">
          <a:xfrm>
            <a:off x="3717925" y="5032375"/>
            <a:ext cx="60325" cy="476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2191" name="Oval 143"/>
          <p:cNvSpPr>
            <a:spLocks noChangeAspect="1" noChangeArrowheads="1"/>
          </p:cNvSpPr>
          <p:nvPr/>
        </p:nvSpPr>
        <p:spPr bwMode="auto">
          <a:xfrm>
            <a:off x="2486025" y="3903663"/>
            <a:ext cx="60325" cy="4762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2192" name="Oval 144"/>
          <p:cNvSpPr>
            <a:spLocks noChangeAspect="1" noChangeArrowheads="1"/>
          </p:cNvSpPr>
          <p:nvPr/>
        </p:nvSpPr>
        <p:spPr bwMode="auto">
          <a:xfrm>
            <a:off x="4340225" y="2814638"/>
            <a:ext cx="60325" cy="4762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2193" name="Oval 145"/>
          <p:cNvSpPr>
            <a:spLocks noChangeAspect="1" noChangeArrowheads="1"/>
          </p:cNvSpPr>
          <p:nvPr/>
        </p:nvSpPr>
        <p:spPr bwMode="auto">
          <a:xfrm>
            <a:off x="4403725" y="3635375"/>
            <a:ext cx="60325" cy="476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2194" name="Oval 146"/>
          <p:cNvSpPr>
            <a:spLocks noChangeAspect="1" noChangeArrowheads="1"/>
          </p:cNvSpPr>
          <p:nvPr/>
        </p:nvSpPr>
        <p:spPr bwMode="auto">
          <a:xfrm>
            <a:off x="3409950" y="2663825"/>
            <a:ext cx="60325" cy="50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2195" name="Oval 147"/>
          <p:cNvSpPr>
            <a:spLocks noChangeAspect="1" noChangeArrowheads="1"/>
          </p:cNvSpPr>
          <p:nvPr/>
        </p:nvSpPr>
        <p:spPr bwMode="auto">
          <a:xfrm>
            <a:off x="3886200" y="3733800"/>
            <a:ext cx="53975" cy="4762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2196" name="Oval 148"/>
          <p:cNvSpPr>
            <a:spLocks noChangeAspect="1" noChangeArrowheads="1"/>
          </p:cNvSpPr>
          <p:nvPr/>
        </p:nvSpPr>
        <p:spPr bwMode="auto">
          <a:xfrm>
            <a:off x="3048000" y="3124200"/>
            <a:ext cx="60325" cy="58738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2197" name="Oval 149"/>
          <p:cNvSpPr>
            <a:spLocks noChangeAspect="1" noChangeArrowheads="1"/>
          </p:cNvSpPr>
          <p:nvPr/>
        </p:nvSpPr>
        <p:spPr bwMode="auto">
          <a:xfrm>
            <a:off x="5105400" y="4114800"/>
            <a:ext cx="60325" cy="508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2198" name="Oval 150"/>
          <p:cNvSpPr>
            <a:spLocks noChangeAspect="1" noChangeArrowheads="1"/>
          </p:cNvSpPr>
          <p:nvPr/>
        </p:nvSpPr>
        <p:spPr bwMode="auto">
          <a:xfrm rot="-1118274">
            <a:off x="3887788" y="4443413"/>
            <a:ext cx="53975" cy="476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2199" name="Oval 151"/>
          <p:cNvSpPr>
            <a:spLocks noChangeAspect="1" noChangeArrowheads="1"/>
          </p:cNvSpPr>
          <p:nvPr/>
        </p:nvSpPr>
        <p:spPr bwMode="auto">
          <a:xfrm rot="-1118274">
            <a:off x="6003925" y="3228975"/>
            <a:ext cx="60325" cy="508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2200" name="Oval 152"/>
          <p:cNvSpPr>
            <a:spLocks noChangeAspect="1" noChangeArrowheads="1"/>
          </p:cNvSpPr>
          <p:nvPr/>
        </p:nvSpPr>
        <p:spPr bwMode="auto">
          <a:xfrm rot="-1118274">
            <a:off x="5295900" y="4545013"/>
            <a:ext cx="60325" cy="508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2201" name="Oval 153"/>
          <p:cNvSpPr>
            <a:spLocks noChangeAspect="1" noChangeArrowheads="1"/>
          </p:cNvSpPr>
          <p:nvPr/>
        </p:nvSpPr>
        <p:spPr bwMode="auto">
          <a:xfrm rot="-1118274">
            <a:off x="3124200" y="2667000"/>
            <a:ext cx="60325" cy="50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2202" name="Oval 154"/>
          <p:cNvSpPr>
            <a:spLocks noChangeAspect="1" noChangeArrowheads="1"/>
          </p:cNvSpPr>
          <p:nvPr/>
        </p:nvSpPr>
        <p:spPr bwMode="auto">
          <a:xfrm rot="-1118274">
            <a:off x="4711700" y="3584575"/>
            <a:ext cx="60325" cy="508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2203" name="Oval 155"/>
          <p:cNvSpPr>
            <a:spLocks noChangeAspect="1" noChangeArrowheads="1"/>
          </p:cNvSpPr>
          <p:nvPr/>
        </p:nvSpPr>
        <p:spPr bwMode="auto">
          <a:xfrm rot="-1118274">
            <a:off x="5867400" y="4495800"/>
            <a:ext cx="60325" cy="476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2204" name="Oval 156"/>
          <p:cNvSpPr>
            <a:spLocks noChangeAspect="1" noChangeArrowheads="1"/>
          </p:cNvSpPr>
          <p:nvPr/>
        </p:nvSpPr>
        <p:spPr bwMode="auto">
          <a:xfrm rot="-1118274">
            <a:off x="3114675" y="3640138"/>
            <a:ext cx="60325" cy="4762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2205" name="Oval 157"/>
          <p:cNvSpPr>
            <a:spLocks noChangeAspect="1" noChangeArrowheads="1"/>
          </p:cNvSpPr>
          <p:nvPr/>
        </p:nvSpPr>
        <p:spPr bwMode="auto">
          <a:xfrm rot="5895381">
            <a:off x="3867150" y="3057525"/>
            <a:ext cx="47625" cy="5397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2206" name="Oval 158"/>
          <p:cNvSpPr>
            <a:spLocks noChangeAspect="1" noChangeArrowheads="1"/>
          </p:cNvSpPr>
          <p:nvPr/>
        </p:nvSpPr>
        <p:spPr bwMode="auto">
          <a:xfrm rot="5895381">
            <a:off x="4136231" y="5242719"/>
            <a:ext cx="55563" cy="603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2207" name="Oval 159"/>
          <p:cNvSpPr>
            <a:spLocks noChangeAspect="1" noChangeArrowheads="1"/>
          </p:cNvSpPr>
          <p:nvPr/>
        </p:nvSpPr>
        <p:spPr bwMode="auto">
          <a:xfrm rot="5895381">
            <a:off x="3114675" y="4098925"/>
            <a:ext cx="47625" cy="6032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2208" name="Oval 160"/>
          <p:cNvSpPr>
            <a:spLocks noChangeAspect="1" noChangeArrowheads="1"/>
          </p:cNvSpPr>
          <p:nvPr/>
        </p:nvSpPr>
        <p:spPr bwMode="auto">
          <a:xfrm rot="5895381">
            <a:off x="4343400" y="2393950"/>
            <a:ext cx="47625" cy="5397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2209" name="Oval 161"/>
          <p:cNvSpPr>
            <a:spLocks noChangeAspect="1" noChangeArrowheads="1"/>
          </p:cNvSpPr>
          <p:nvPr/>
        </p:nvSpPr>
        <p:spPr bwMode="auto">
          <a:xfrm rot="5895381">
            <a:off x="5304631" y="4144169"/>
            <a:ext cx="58738" cy="603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2210" name="Oval 162"/>
          <p:cNvSpPr>
            <a:spLocks noChangeAspect="1" noChangeArrowheads="1"/>
          </p:cNvSpPr>
          <p:nvPr/>
        </p:nvSpPr>
        <p:spPr bwMode="auto">
          <a:xfrm rot="5895381">
            <a:off x="4370388" y="4079875"/>
            <a:ext cx="47625" cy="5397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2211" name="Oval 163"/>
          <p:cNvSpPr>
            <a:spLocks noChangeAspect="1" noChangeArrowheads="1"/>
          </p:cNvSpPr>
          <p:nvPr/>
        </p:nvSpPr>
        <p:spPr bwMode="auto">
          <a:xfrm rot="5895381">
            <a:off x="5619750" y="3365500"/>
            <a:ext cx="47625" cy="5397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2212" name="Oval 164"/>
          <p:cNvSpPr>
            <a:spLocks noChangeAspect="1" noChangeArrowheads="1"/>
          </p:cNvSpPr>
          <p:nvPr/>
        </p:nvSpPr>
        <p:spPr bwMode="auto">
          <a:xfrm rot="5895381">
            <a:off x="3087688" y="2346325"/>
            <a:ext cx="47625" cy="6032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2213" name="Oval 165"/>
          <p:cNvSpPr>
            <a:spLocks noChangeAspect="1" noChangeArrowheads="1"/>
          </p:cNvSpPr>
          <p:nvPr/>
        </p:nvSpPr>
        <p:spPr bwMode="auto">
          <a:xfrm rot="5895381">
            <a:off x="5260975" y="3273425"/>
            <a:ext cx="47625" cy="5397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2214" name="Oval 166"/>
          <p:cNvSpPr>
            <a:spLocks noChangeAspect="1" noChangeArrowheads="1"/>
          </p:cNvSpPr>
          <p:nvPr/>
        </p:nvSpPr>
        <p:spPr bwMode="auto">
          <a:xfrm rot="5895381">
            <a:off x="5117306" y="4718844"/>
            <a:ext cx="58738" cy="5397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2215" name="Oval 167"/>
          <p:cNvSpPr>
            <a:spLocks noChangeAspect="1" noChangeArrowheads="1"/>
          </p:cNvSpPr>
          <p:nvPr/>
        </p:nvSpPr>
        <p:spPr bwMode="auto">
          <a:xfrm rot="4777107">
            <a:off x="3498056" y="3534569"/>
            <a:ext cx="58738" cy="6032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2216" name="Oval 168"/>
          <p:cNvSpPr>
            <a:spLocks noChangeAspect="1" noChangeArrowheads="1"/>
          </p:cNvSpPr>
          <p:nvPr/>
        </p:nvSpPr>
        <p:spPr bwMode="auto">
          <a:xfrm rot="4777107">
            <a:off x="4651375" y="5254625"/>
            <a:ext cx="47625" cy="5397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2217" name="Oval 169"/>
          <p:cNvSpPr>
            <a:spLocks noChangeAspect="1" noChangeArrowheads="1"/>
          </p:cNvSpPr>
          <p:nvPr/>
        </p:nvSpPr>
        <p:spPr bwMode="auto">
          <a:xfrm rot="4777107">
            <a:off x="4346575" y="4873625"/>
            <a:ext cx="47625" cy="5397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2218" name="Oval 170"/>
          <p:cNvSpPr>
            <a:spLocks noChangeAspect="1" noChangeArrowheads="1"/>
          </p:cNvSpPr>
          <p:nvPr/>
        </p:nvSpPr>
        <p:spPr bwMode="auto">
          <a:xfrm rot="4777107">
            <a:off x="2817019" y="3736181"/>
            <a:ext cx="58738" cy="5397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2219" name="Oval 171"/>
          <p:cNvSpPr>
            <a:spLocks noChangeAspect="1" noChangeArrowheads="1"/>
          </p:cNvSpPr>
          <p:nvPr/>
        </p:nvSpPr>
        <p:spPr bwMode="auto">
          <a:xfrm rot="4777107">
            <a:off x="3713163" y="2776538"/>
            <a:ext cx="50800" cy="5397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2220" name="Oval 172"/>
          <p:cNvSpPr>
            <a:spLocks noChangeAspect="1" noChangeArrowheads="1"/>
          </p:cNvSpPr>
          <p:nvPr/>
        </p:nvSpPr>
        <p:spPr bwMode="auto">
          <a:xfrm rot="4777107">
            <a:off x="4356100" y="4364038"/>
            <a:ext cx="50800" cy="603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2221" name="Oval 173"/>
          <p:cNvSpPr>
            <a:spLocks noChangeAspect="1" noChangeArrowheads="1"/>
          </p:cNvSpPr>
          <p:nvPr/>
        </p:nvSpPr>
        <p:spPr bwMode="auto">
          <a:xfrm rot="4777107">
            <a:off x="2504281" y="3082131"/>
            <a:ext cx="58738" cy="6032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2222" name="Oval 174"/>
          <p:cNvSpPr>
            <a:spLocks noChangeAspect="1" noChangeArrowheads="1"/>
          </p:cNvSpPr>
          <p:nvPr/>
        </p:nvSpPr>
        <p:spPr bwMode="auto">
          <a:xfrm rot="4777107">
            <a:off x="3937794" y="5049044"/>
            <a:ext cx="55563" cy="603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2223" name="Oval 175"/>
          <p:cNvSpPr>
            <a:spLocks noChangeAspect="1" noChangeArrowheads="1"/>
          </p:cNvSpPr>
          <p:nvPr/>
        </p:nvSpPr>
        <p:spPr bwMode="auto">
          <a:xfrm rot="4777107">
            <a:off x="5303838" y="4756150"/>
            <a:ext cx="50800" cy="603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2224" name="Text Box 176"/>
          <p:cNvSpPr txBox="1">
            <a:spLocks noChangeArrowheads="1"/>
          </p:cNvSpPr>
          <p:nvPr/>
        </p:nvSpPr>
        <p:spPr bwMode="auto">
          <a:xfrm>
            <a:off x="5701665" y="1317625"/>
            <a:ext cx="3200400" cy="3968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R="0" algn="ctr" defTabSz="914400">
              <a:buSzTx/>
              <a:buFontTx/>
              <a:defRPr/>
            </a:pPr>
            <a:r>
              <a:rPr kumimoji="0" lang="en-US" altLang="zh-CN" b="1" i="1" kern="1200" cap="none" spc="0" normalizeH="0" baseline="0" noProof="0"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rPr>
              <a:t>f</a:t>
            </a:r>
            <a:r>
              <a:rPr kumimoji="0" lang="en-US" altLang="zh-CN" i="1" kern="1200" cap="none" spc="0" normalizeH="0" baseline="0" noProof="0"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kumimoji="0" lang="en-US" altLang="zh-CN" b="1" i="1" kern="1200" cap="none" spc="0" normalizeH="0" baseline="0" noProof="0"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rPr>
              <a:t>x</a:t>
            </a:r>
            <a:r>
              <a:rPr kumimoji="0" lang="en-US" altLang="zh-CN" i="1" kern="1200" cap="none" spc="0" normalizeH="0" baseline="0" noProof="0"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kumimoji="0" lang="en-US" altLang="zh-CN" b="1" i="1" kern="1200" cap="none" spc="0" normalizeH="0" baseline="0" noProof="0">
                <a:solidFill>
                  <a:srgbClr val="00CC00"/>
                </a:solidFill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rPr>
              <a:t>w</a:t>
            </a:r>
            <a:r>
              <a:rPr kumimoji="0" lang="en-US" altLang="zh-CN" i="1" kern="1200" cap="none" spc="0" normalizeH="0" baseline="0" noProof="0">
                <a:solidFill>
                  <a:srgbClr val="00CC00"/>
                </a:solidFill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rPr>
              <a:t>,b</a:t>
            </a:r>
            <a:r>
              <a:rPr kumimoji="0" lang="en-US" altLang="zh-CN" i="1" kern="1200" cap="none" spc="0" normalizeH="0" baseline="0" noProof="0"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rPr>
              <a:t>) = sign(</a:t>
            </a:r>
            <a:r>
              <a:rPr kumimoji="0" lang="en-US" altLang="zh-CN" b="1" i="1" kern="1200" cap="none" spc="0" normalizeH="0" baseline="0" noProof="0">
                <a:solidFill>
                  <a:srgbClr val="00CC00"/>
                </a:solidFill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rPr>
              <a:t>w</a:t>
            </a:r>
            <a:r>
              <a:rPr kumimoji="0" lang="en-US" altLang="zh-CN" b="1" i="1" kern="1200" cap="none" spc="0" normalizeH="0" baseline="0" noProof="0"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rPr>
              <a:t>. x</a:t>
            </a:r>
            <a:r>
              <a:rPr kumimoji="0" lang="en-US" altLang="zh-CN" i="1" kern="1200" cap="none" spc="0" normalizeH="0" baseline="0" noProof="0">
                <a:solidFill>
                  <a:srgbClr val="00CC00"/>
                </a:solidFill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kumimoji="0" lang="en-US" altLang="zh-CN" i="1" kern="1200" cap="none" spc="0" normalizeH="0" baseline="0" noProof="0"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rPr>
              <a:t>- </a:t>
            </a:r>
            <a:r>
              <a:rPr kumimoji="0" lang="en-US" altLang="zh-CN" i="1" kern="1200" cap="none" spc="0" normalizeH="0" baseline="0" noProof="0">
                <a:solidFill>
                  <a:srgbClr val="00CC00"/>
                </a:solidFill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rPr>
              <a:t>b</a:t>
            </a:r>
            <a:r>
              <a:rPr kumimoji="0" lang="en-US" altLang="zh-CN" i="1" kern="1200" cap="none" spc="0" normalizeH="0" baseline="0" noProof="0"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</a:p>
        </p:txBody>
      </p:sp>
      <p:sp>
        <p:nvSpPr>
          <p:cNvPr id="642225" name="Text Box 177"/>
          <p:cNvSpPr txBox="1">
            <a:spLocks noChangeArrowheads="1"/>
          </p:cNvSpPr>
          <p:nvPr/>
        </p:nvSpPr>
        <p:spPr bwMode="auto">
          <a:xfrm>
            <a:off x="6248400" y="3200400"/>
            <a:ext cx="2438400" cy="3968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R="0" defTabSz="914400">
              <a:buSzTx/>
              <a:buFontTx/>
              <a:defRPr/>
            </a:pPr>
            <a:endParaRPr kumimoji="0" lang="zh-CN" altLang="en-US" kern="1200" cap="none" spc="0" normalizeH="0" baseline="0" noProof="0">
              <a:latin typeface="Tahoma" panose="020B060403050404020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42227" name="Text Box 179"/>
          <p:cNvSpPr txBox="1">
            <a:spLocks noChangeArrowheads="1"/>
          </p:cNvSpPr>
          <p:nvPr/>
        </p:nvSpPr>
        <p:spPr bwMode="auto">
          <a:xfrm>
            <a:off x="0" y="3675063"/>
            <a:ext cx="2293938" cy="13112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r>
              <a:rPr lang="zh-CN" altLang="en-US" dirty="0">
                <a:solidFill>
                  <a:srgbClr val="00CC00"/>
                </a:solidFill>
                <a:latin typeface="Tahoma" panose="020B0604030504040204" charset="0"/>
                <a:ea typeface="宋体" panose="02010600030101010101" pitchFamily="2" charset="-122"/>
              </a:rPr>
              <a:t>支持向量(</a:t>
            </a:r>
            <a:r>
              <a:rPr lang="en-US" altLang="zh-CN" dirty="0">
                <a:solidFill>
                  <a:srgbClr val="00CC00"/>
                </a:solidFill>
                <a:latin typeface="Tahoma" panose="020B0604030504040204" charset="0"/>
                <a:ea typeface="宋体" panose="02010600030101010101" pitchFamily="2" charset="-122"/>
              </a:rPr>
              <a:t>Support Vectors) :</a:t>
            </a:r>
            <a:r>
              <a:rPr lang="zh-CN" altLang="en-US" dirty="0">
                <a:latin typeface="Tahoma" panose="020B0604030504040204" charset="0"/>
                <a:ea typeface="宋体" panose="02010600030101010101" pitchFamily="2" charset="-122"/>
              </a:rPr>
              <a:t>是那些距离超平面最近的点。</a:t>
            </a:r>
          </a:p>
        </p:txBody>
      </p:sp>
      <p:sp>
        <p:nvSpPr>
          <p:cNvPr id="13362" name="Freeform 180"/>
          <p:cNvSpPr/>
          <p:nvPr/>
        </p:nvSpPr>
        <p:spPr>
          <a:xfrm>
            <a:off x="2112963" y="3725863"/>
            <a:ext cx="1708150" cy="155575"/>
          </a:xfrm>
          <a:custGeom>
            <a:avLst/>
            <a:gdLst/>
            <a:ahLst/>
            <a:cxnLst>
              <a:cxn ang="0">
                <a:pos x="0" y="155575"/>
              </a:cxn>
              <a:cxn ang="0">
                <a:pos x="165100" y="61913"/>
              </a:cxn>
              <a:cxn ang="0">
                <a:pos x="336550" y="0"/>
              </a:cxn>
              <a:cxn ang="0">
                <a:pos x="517525" y="17463"/>
              </a:cxn>
              <a:cxn ang="0">
                <a:pos x="612775" y="61913"/>
              </a:cxn>
              <a:cxn ang="0">
                <a:pos x="612775" y="61913"/>
              </a:cxn>
              <a:cxn ang="0">
                <a:pos x="811213" y="130175"/>
              </a:cxn>
              <a:cxn ang="0">
                <a:pos x="1570038" y="87313"/>
              </a:cxn>
              <a:cxn ang="0">
                <a:pos x="1708150" y="69850"/>
              </a:cxn>
            </a:cxnLst>
            <a:rect l="0" t="0" r="0" b="0"/>
            <a:pathLst>
              <a:path w="1076" h="98">
                <a:moveTo>
                  <a:pt x="0" y="98"/>
                </a:moveTo>
                <a:cubicBezTo>
                  <a:pt x="38" y="87"/>
                  <a:pt x="66" y="53"/>
                  <a:pt x="104" y="39"/>
                </a:cubicBezTo>
                <a:cubicBezTo>
                  <a:pt x="132" y="9"/>
                  <a:pt x="172" y="6"/>
                  <a:pt x="212" y="0"/>
                </a:cubicBezTo>
                <a:cubicBezTo>
                  <a:pt x="262" y="3"/>
                  <a:pt x="286" y="0"/>
                  <a:pt x="326" y="11"/>
                </a:cubicBezTo>
                <a:lnTo>
                  <a:pt x="386" y="39"/>
                </a:lnTo>
                <a:cubicBezTo>
                  <a:pt x="386" y="39"/>
                  <a:pt x="386" y="39"/>
                  <a:pt x="386" y="39"/>
                </a:cubicBezTo>
                <a:cubicBezTo>
                  <a:pt x="428" y="52"/>
                  <a:pt x="469" y="69"/>
                  <a:pt x="511" y="82"/>
                </a:cubicBezTo>
                <a:cubicBezTo>
                  <a:pt x="670" y="74"/>
                  <a:pt x="829" y="60"/>
                  <a:pt x="989" y="55"/>
                </a:cubicBezTo>
                <a:cubicBezTo>
                  <a:pt x="1017" y="51"/>
                  <a:pt x="1048" y="44"/>
                  <a:pt x="1076" y="44"/>
                </a:cubicBezTo>
              </a:path>
            </a:pathLst>
          </a:custGeom>
          <a:noFill/>
          <a:ln w="38100" cap="flat" cmpd="sng">
            <a:solidFill>
              <a:srgbClr val="00CC00">
                <a:alpha val="100000"/>
              </a:srgbClr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363" name="Freeform 181"/>
          <p:cNvSpPr/>
          <p:nvPr/>
        </p:nvSpPr>
        <p:spPr>
          <a:xfrm>
            <a:off x="2079625" y="3317875"/>
            <a:ext cx="2293938" cy="485775"/>
          </a:xfrm>
          <a:custGeom>
            <a:avLst/>
            <a:gdLst/>
            <a:ahLst/>
            <a:cxnLst>
              <a:cxn ang="0">
                <a:pos x="0" y="485775"/>
              </a:cxn>
              <a:cxn ang="0">
                <a:pos x="25400" y="477838"/>
              </a:cxn>
              <a:cxn ang="0">
                <a:pos x="42863" y="425450"/>
              </a:cxn>
              <a:cxn ang="0">
                <a:pos x="76200" y="374650"/>
              </a:cxn>
              <a:cxn ang="0">
                <a:pos x="198438" y="271463"/>
              </a:cxn>
              <a:cxn ang="0">
                <a:pos x="361950" y="166688"/>
              </a:cxn>
              <a:cxn ang="0">
                <a:pos x="473075" y="115888"/>
              </a:cxn>
              <a:cxn ang="0">
                <a:pos x="1008063" y="3175"/>
              </a:cxn>
              <a:cxn ang="0">
                <a:pos x="1655763" y="28575"/>
              </a:cxn>
              <a:cxn ang="0">
                <a:pos x="1776413" y="63500"/>
              </a:cxn>
              <a:cxn ang="0">
                <a:pos x="1931988" y="133350"/>
              </a:cxn>
              <a:cxn ang="0">
                <a:pos x="2120900" y="209550"/>
              </a:cxn>
              <a:cxn ang="0">
                <a:pos x="2293938" y="261938"/>
              </a:cxn>
            </a:cxnLst>
            <a:rect l="0" t="0" r="0" b="0"/>
            <a:pathLst>
              <a:path w="1445" h="306">
                <a:moveTo>
                  <a:pt x="0" y="306"/>
                </a:moveTo>
                <a:cubicBezTo>
                  <a:pt x="5" y="304"/>
                  <a:pt x="12" y="305"/>
                  <a:pt x="16" y="301"/>
                </a:cubicBezTo>
                <a:cubicBezTo>
                  <a:pt x="24" y="293"/>
                  <a:pt x="21" y="278"/>
                  <a:pt x="27" y="268"/>
                </a:cubicBezTo>
                <a:cubicBezTo>
                  <a:pt x="33" y="257"/>
                  <a:pt x="41" y="247"/>
                  <a:pt x="48" y="236"/>
                </a:cubicBezTo>
                <a:cubicBezTo>
                  <a:pt x="58" y="221"/>
                  <a:pt x="117" y="177"/>
                  <a:pt x="125" y="171"/>
                </a:cubicBezTo>
                <a:cubicBezTo>
                  <a:pt x="159" y="146"/>
                  <a:pt x="186" y="117"/>
                  <a:pt x="228" y="105"/>
                </a:cubicBezTo>
                <a:cubicBezTo>
                  <a:pt x="249" y="91"/>
                  <a:pt x="273" y="79"/>
                  <a:pt x="298" y="73"/>
                </a:cubicBezTo>
                <a:cubicBezTo>
                  <a:pt x="394" y="11"/>
                  <a:pt x="526" y="10"/>
                  <a:pt x="635" y="2"/>
                </a:cubicBezTo>
                <a:cubicBezTo>
                  <a:pt x="773" y="5"/>
                  <a:pt x="907" y="0"/>
                  <a:pt x="1043" y="18"/>
                </a:cubicBezTo>
                <a:cubicBezTo>
                  <a:pt x="1068" y="27"/>
                  <a:pt x="1093" y="34"/>
                  <a:pt x="1119" y="40"/>
                </a:cubicBezTo>
                <a:cubicBezTo>
                  <a:pt x="1150" y="63"/>
                  <a:pt x="1183" y="68"/>
                  <a:pt x="1217" y="84"/>
                </a:cubicBezTo>
                <a:cubicBezTo>
                  <a:pt x="1257" y="104"/>
                  <a:pt x="1293" y="119"/>
                  <a:pt x="1336" y="132"/>
                </a:cubicBezTo>
                <a:cubicBezTo>
                  <a:pt x="1370" y="142"/>
                  <a:pt x="1410" y="165"/>
                  <a:pt x="1445" y="165"/>
                </a:cubicBezTo>
              </a:path>
            </a:pathLst>
          </a:custGeom>
          <a:noFill/>
          <a:ln w="38100" cap="flat" cmpd="sng">
            <a:solidFill>
              <a:srgbClr val="00CC00">
                <a:alpha val="100000"/>
              </a:srgbClr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364" name="Freeform 182"/>
          <p:cNvSpPr/>
          <p:nvPr/>
        </p:nvSpPr>
        <p:spPr>
          <a:xfrm>
            <a:off x="2105025" y="3994150"/>
            <a:ext cx="1733550" cy="449263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06375" y="85725"/>
              </a:cxn>
              <a:cxn ang="0">
                <a:pos x="517525" y="233363"/>
              </a:cxn>
              <a:cxn ang="0">
                <a:pos x="630238" y="276225"/>
              </a:cxn>
              <a:cxn ang="0">
                <a:pos x="836613" y="344488"/>
              </a:cxn>
              <a:cxn ang="0">
                <a:pos x="1733550" y="431800"/>
              </a:cxn>
            </a:cxnLst>
            <a:rect l="0" t="0" r="0" b="0"/>
            <a:pathLst>
              <a:path w="1092" h="283">
                <a:moveTo>
                  <a:pt x="0" y="0"/>
                </a:moveTo>
                <a:cubicBezTo>
                  <a:pt x="47" y="9"/>
                  <a:pt x="84" y="40"/>
                  <a:pt x="130" y="54"/>
                </a:cubicBezTo>
                <a:cubicBezTo>
                  <a:pt x="184" y="96"/>
                  <a:pt x="261" y="129"/>
                  <a:pt x="326" y="147"/>
                </a:cubicBezTo>
                <a:cubicBezTo>
                  <a:pt x="348" y="162"/>
                  <a:pt x="373" y="163"/>
                  <a:pt x="397" y="174"/>
                </a:cubicBezTo>
                <a:cubicBezTo>
                  <a:pt x="439" y="193"/>
                  <a:pt x="481" y="209"/>
                  <a:pt x="527" y="217"/>
                </a:cubicBezTo>
                <a:cubicBezTo>
                  <a:pt x="704" y="283"/>
                  <a:pt x="907" y="272"/>
                  <a:pt x="1092" y="272"/>
                </a:cubicBezTo>
              </a:path>
            </a:pathLst>
          </a:custGeom>
          <a:noFill/>
          <a:ln w="38100" cap="flat" cmpd="sng">
            <a:solidFill>
              <a:srgbClr val="00CC00">
                <a:alpha val="100000"/>
              </a:srgbClr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2231" name="Oval 183"/>
          <p:cNvSpPr>
            <a:spLocks noChangeArrowheads="1"/>
          </p:cNvSpPr>
          <p:nvPr/>
        </p:nvSpPr>
        <p:spPr bwMode="auto">
          <a:xfrm>
            <a:off x="4341813" y="3579813"/>
            <a:ext cx="152400" cy="152400"/>
          </a:xfrm>
          <a:prstGeom prst="ellipse">
            <a:avLst/>
          </a:prstGeom>
          <a:noFill/>
          <a:ln w="38100">
            <a:solidFill>
              <a:srgbClr val="00CC00"/>
            </a:solidFill>
            <a:prstDash val="dash"/>
            <a:round/>
          </a:ln>
          <a:effectLst/>
        </p:spPr>
        <p:txBody>
          <a:bodyPr wrap="none"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2232" name="Oval 184"/>
          <p:cNvSpPr>
            <a:spLocks noChangeArrowheads="1"/>
          </p:cNvSpPr>
          <p:nvPr/>
        </p:nvSpPr>
        <p:spPr bwMode="auto">
          <a:xfrm>
            <a:off x="3844925" y="3689350"/>
            <a:ext cx="152400" cy="152400"/>
          </a:xfrm>
          <a:prstGeom prst="ellipse">
            <a:avLst/>
          </a:prstGeom>
          <a:noFill/>
          <a:ln w="38100">
            <a:solidFill>
              <a:srgbClr val="00CC00"/>
            </a:solidFill>
            <a:prstDash val="dash"/>
            <a:round/>
          </a:ln>
          <a:effectLst/>
        </p:spPr>
        <p:txBody>
          <a:bodyPr wrap="none"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2233" name="Oval 185"/>
          <p:cNvSpPr>
            <a:spLocks noChangeArrowheads="1"/>
          </p:cNvSpPr>
          <p:nvPr/>
        </p:nvSpPr>
        <p:spPr bwMode="auto">
          <a:xfrm>
            <a:off x="3833813" y="4384675"/>
            <a:ext cx="152400" cy="152400"/>
          </a:xfrm>
          <a:prstGeom prst="ellipse">
            <a:avLst/>
          </a:prstGeom>
          <a:noFill/>
          <a:ln w="38100">
            <a:solidFill>
              <a:srgbClr val="00CC00"/>
            </a:solidFill>
            <a:prstDash val="dash"/>
            <a:round/>
          </a:ln>
          <a:effectLst/>
        </p:spPr>
        <p:txBody>
          <a:bodyPr wrap="none"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2235" name="Text Box 187"/>
          <p:cNvSpPr txBox="1">
            <a:spLocks noChangeArrowheads="1"/>
          </p:cNvSpPr>
          <p:nvPr/>
        </p:nvSpPr>
        <p:spPr bwMode="auto">
          <a:xfrm>
            <a:off x="6400800" y="2286000"/>
            <a:ext cx="2743200" cy="337820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r>
              <a:rPr lang="zh-CN" altLang="en-US" sz="2400" dirty="0">
                <a:latin typeface="Tahoma" panose="020B0604030504040204" charset="0"/>
                <a:ea typeface="宋体" panose="02010600030101010101" pitchFamily="2" charset="-122"/>
              </a:rPr>
              <a:t>具有最大间隔的线性分类器叫做</a:t>
            </a:r>
            <a:r>
              <a:rPr lang="zh-CN" altLang="en-US" sz="2400" dirty="0">
                <a:solidFill>
                  <a:schemeClr val="hlink"/>
                </a:solidFill>
                <a:latin typeface="Tahoma" panose="020B0604030504040204" charset="0"/>
                <a:ea typeface="宋体" panose="02010600030101010101" pitchFamily="2" charset="-122"/>
              </a:rPr>
              <a:t>最大间隔线性分类器</a:t>
            </a:r>
            <a:r>
              <a:rPr lang="zh-CN" altLang="en-US" sz="2400" dirty="0">
                <a:latin typeface="Tahoma" panose="020B0604030504040204" charset="0"/>
                <a:ea typeface="宋体" panose="02010600030101010101" pitchFamily="2" charset="-122"/>
              </a:rPr>
              <a:t>。</a:t>
            </a:r>
          </a:p>
          <a:p>
            <a:endParaRPr lang="zh-CN" altLang="en-US" sz="2400" dirty="0">
              <a:latin typeface="Tahoma" panose="020B0604030504040204" charset="0"/>
              <a:ea typeface="宋体" panose="02010600030101010101" pitchFamily="2" charset="-122"/>
            </a:endParaRPr>
          </a:p>
          <a:p>
            <a:r>
              <a:rPr lang="zh-CN" altLang="en-US" sz="2400" dirty="0">
                <a:latin typeface="Tahoma" panose="020B0604030504040204" charset="0"/>
                <a:ea typeface="宋体" panose="02010600030101010101" pitchFamily="2" charset="-122"/>
              </a:rPr>
              <a:t>其就是一种最简单的支持向量机(</a:t>
            </a:r>
            <a:r>
              <a:rPr lang="en-US" altLang="zh-CN" sz="2400" dirty="0">
                <a:latin typeface="Tahoma" panose="020B0604030504040204" charset="0"/>
                <a:ea typeface="宋体" panose="02010600030101010101" pitchFamily="2" charset="-122"/>
              </a:rPr>
              <a:t>SVM) (</a:t>
            </a:r>
            <a:r>
              <a:rPr lang="zh-CN" altLang="en-US" sz="2400" dirty="0">
                <a:latin typeface="Tahoma" panose="020B0604030504040204" charset="0"/>
                <a:ea typeface="宋体" panose="02010600030101010101" pitchFamily="2" charset="-122"/>
              </a:rPr>
              <a:t>称为线性支持向量机，即</a:t>
            </a:r>
            <a:r>
              <a:rPr lang="en-US" altLang="zh-CN" sz="2400" dirty="0">
                <a:latin typeface="Tahoma" panose="020B0604030504040204" charset="0"/>
                <a:ea typeface="宋体" panose="02010600030101010101" pitchFamily="2" charset="-122"/>
              </a:rPr>
              <a:t>LSVM)</a:t>
            </a:r>
          </a:p>
        </p:txBody>
      </p:sp>
      <p:sp>
        <p:nvSpPr>
          <p:cNvPr id="642236" name="AutoShape 188"/>
          <p:cNvSpPr>
            <a:spLocks noChangeArrowheads="1"/>
          </p:cNvSpPr>
          <p:nvPr/>
        </p:nvSpPr>
        <p:spPr bwMode="auto">
          <a:xfrm>
            <a:off x="4641850" y="5867400"/>
            <a:ext cx="1758950" cy="381000"/>
          </a:xfrm>
          <a:prstGeom prst="wedgeRectCallout">
            <a:avLst>
              <a:gd name="adj1" fmla="val 64713"/>
              <a:gd name="adj2" fmla="val -86250"/>
            </a:avLst>
          </a:prstGeom>
          <a:solidFill>
            <a:srgbClr val="CCFFCC"/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/>
          <a:lstStyle/>
          <a:p>
            <a:pPr algn="ctr"/>
            <a:r>
              <a:rPr lang="zh-CN" altLang="en-US" sz="1600" dirty="0">
                <a:latin typeface="Tahoma" panose="020B0604030504040204" charset="0"/>
                <a:ea typeface="宋体" panose="02010600030101010101" pitchFamily="2" charset="-122"/>
              </a:rPr>
              <a:t>线性支持向量机</a:t>
            </a:r>
            <a:endParaRPr lang="en-US" altLang="zh-CN" sz="1600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642237" name="Rectangle 189"/>
          <p:cNvSpPr>
            <a:spLocks noGrp="1" noChangeArrowheads="1"/>
          </p:cNvSpPr>
          <p:nvPr>
            <p:ph type="title"/>
          </p:nvPr>
        </p:nvSpPr>
        <p:spPr>
          <a:xfrm>
            <a:off x="295910" y="233045"/>
            <a:ext cx="4648200" cy="685800"/>
          </a:xfrm>
        </p:spPr>
        <p:txBody>
          <a:bodyPr vert="horz" wrap="square" lIns="91440" tIns="45720" rIns="91440" bIns="45720" numCol="1" anchor="b" anchorCtr="0" compatLnSpc="1"/>
          <a:lstStyle/>
          <a:p>
            <a:r>
              <a:rPr lang="zh-CN" altLang="en-US" b="1" dirty="0">
                <a:ea typeface="宋体" panose="02010600030101010101" pitchFamily="2" charset="-122"/>
              </a:rPr>
              <a:t>最大间隔</a:t>
            </a:r>
          </a:p>
        </p:txBody>
      </p:sp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074" name="Line 2"/>
          <p:cNvSpPr>
            <a:spLocks noChangeShapeType="1"/>
          </p:cNvSpPr>
          <p:nvPr/>
        </p:nvSpPr>
        <p:spPr bwMode="auto">
          <a:xfrm rot="-3472419">
            <a:off x="1239838" y="4076700"/>
            <a:ext cx="5410200" cy="0"/>
          </a:xfrm>
          <a:prstGeom prst="line">
            <a:avLst/>
          </a:prstGeom>
          <a:noFill/>
          <a:ln w="361950">
            <a:solidFill>
              <a:schemeClr val="accent2"/>
            </a:solidFill>
            <a:round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3075" name="Line 3"/>
          <p:cNvSpPr>
            <a:spLocks noChangeShapeType="1"/>
          </p:cNvSpPr>
          <p:nvPr/>
        </p:nvSpPr>
        <p:spPr bwMode="auto">
          <a:xfrm rot="-3472419">
            <a:off x="1163638" y="4076700"/>
            <a:ext cx="5562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3076" name="Rectangle 4"/>
          <p:cNvSpPr>
            <a:spLocks noGrp="1" noChangeArrowheads="1"/>
          </p:cNvSpPr>
          <p:nvPr>
            <p:ph type="title"/>
          </p:nvPr>
        </p:nvSpPr>
        <p:spPr>
          <a:xfrm>
            <a:off x="372110" y="233045"/>
            <a:ext cx="8534400" cy="685800"/>
          </a:xfrm>
        </p:spPr>
        <p:txBody>
          <a:bodyPr vert="horz" wrap="square" lIns="91440" tIns="45720" rIns="91440" bIns="45720" numCol="1" anchor="b" anchorCtr="0" compatLnSpc="1"/>
          <a:lstStyle/>
          <a:p>
            <a:r>
              <a:rPr lang="zh-CN" altLang="en-US">
                <a:ea typeface="宋体" panose="02010600030101010101" pitchFamily="2" charset="-122"/>
              </a:rPr>
              <a:t>最大间隔</a:t>
            </a:r>
          </a:p>
        </p:txBody>
      </p:sp>
      <p:sp>
        <p:nvSpPr>
          <p:cNvPr id="643084" name="Text Box 12"/>
          <p:cNvSpPr txBox="1">
            <a:spLocks noChangeArrowheads="1"/>
          </p:cNvSpPr>
          <p:nvPr/>
        </p:nvSpPr>
        <p:spPr bwMode="auto">
          <a:xfrm>
            <a:off x="838200" y="1905000"/>
            <a:ext cx="1905000" cy="8540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R="0" algn="ctr" defTabSz="914400">
              <a:buSzTx/>
              <a:buFontTx/>
              <a:defRPr/>
            </a:pPr>
            <a:r>
              <a:rPr kumimoji="0" lang="en-US" altLang="zh-CN" kern="1200" cap="none" spc="0" normalizeH="0" baseline="0" noProof="0"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rPr>
              <a:t>+1</a:t>
            </a:r>
          </a:p>
          <a:p>
            <a:pPr marR="0" algn="ctr" defTabSz="914400">
              <a:buSzTx/>
              <a:buFontTx/>
              <a:defRPr/>
            </a:pPr>
            <a:r>
              <a:rPr kumimoji="0" lang="en-US" altLang="zh-CN" kern="1200" cap="none" spc="0" normalizeH="0" baseline="0" noProof="0"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rPr>
              <a:t>-1</a:t>
            </a:r>
          </a:p>
        </p:txBody>
      </p:sp>
      <p:sp>
        <p:nvSpPr>
          <p:cNvPr id="643085" name="Oval 13"/>
          <p:cNvSpPr>
            <a:spLocks noChangeAspect="1" noChangeArrowheads="1"/>
          </p:cNvSpPr>
          <p:nvPr/>
        </p:nvSpPr>
        <p:spPr bwMode="auto">
          <a:xfrm rot="4777107">
            <a:off x="915194" y="2056606"/>
            <a:ext cx="58738" cy="6032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3086" name="Oval 14"/>
          <p:cNvSpPr>
            <a:spLocks noChangeAspect="1" noChangeArrowheads="1"/>
          </p:cNvSpPr>
          <p:nvPr/>
        </p:nvSpPr>
        <p:spPr bwMode="auto">
          <a:xfrm rot="5895381">
            <a:off x="915988" y="2513013"/>
            <a:ext cx="50800" cy="5397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3087" name="Line 15"/>
          <p:cNvSpPr>
            <a:spLocks noChangeShapeType="1"/>
          </p:cNvSpPr>
          <p:nvPr/>
        </p:nvSpPr>
        <p:spPr bwMode="auto">
          <a:xfrm>
            <a:off x="2590800" y="2209800"/>
            <a:ext cx="0" cy="3505200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</a:ln>
          <a:effectLst/>
        </p:spPr>
        <p:txBody>
          <a:bodyPr wrap="none"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3088" name="Line 16"/>
          <p:cNvSpPr>
            <a:spLocks noChangeShapeType="1"/>
          </p:cNvSpPr>
          <p:nvPr/>
        </p:nvSpPr>
        <p:spPr bwMode="auto">
          <a:xfrm flipV="1">
            <a:off x="2438400" y="5562600"/>
            <a:ext cx="3657600" cy="0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</a:ln>
          <a:effectLst/>
        </p:spPr>
        <p:txBody>
          <a:bodyPr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3089" name="Oval 17"/>
          <p:cNvSpPr>
            <a:spLocks noChangeAspect="1" noChangeArrowheads="1"/>
          </p:cNvSpPr>
          <p:nvPr/>
        </p:nvSpPr>
        <p:spPr bwMode="auto">
          <a:xfrm>
            <a:off x="3717925" y="5032375"/>
            <a:ext cx="60325" cy="476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3090" name="Oval 18"/>
          <p:cNvSpPr>
            <a:spLocks noChangeAspect="1" noChangeArrowheads="1"/>
          </p:cNvSpPr>
          <p:nvPr/>
        </p:nvSpPr>
        <p:spPr bwMode="auto">
          <a:xfrm>
            <a:off x="2486025" y="3903663"/>
            <a:ext cx="60325" cy="4762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3091" name="Oval 19"/>
          <p:cNvSpPr>
            <a:spLocks noChangeAspect="1" noChangeArrowheads="1"/>
          </p:cNvSpPr>
          <p:nvPr/>
        </p:nvSpPr>
        <p:spPr bwMode="auto">
          <a:xfrm>
            <a:off x="4340225" y="2814638"/>
            <a:ext cx="60325" cy="4762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3092" name="Oval 20"/>
          <p:cNvSpPr>
            <a:spLocks noChangeAspect="1" noChangeArrowheads="1"/>
          </p:cNvSpPr>
          <p:nvPr/>
        </p:nvSpPr>
        <p:spPr bwMode="auto">
          <a:xfrm>
            <a:off x="4403725" y="3635375"/>
            <a:ext cx="60325" cy="476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3093" name="Oval 21"/>
          <p:cNvSpPr>
            <a:spLocks noChangeAspect="1" noChangeArrowheads="1"/>
          </p:cNvSpPr>
          <p:nvPr/>
        </p:nvSpPr>
        <p:spPr bwMode="auto">
          <a:xfrm>
            <a:off x="3409950" y="2663825"/>
            <a:ext cx="60325" cy="50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3094" name="Oval 22"/>
          <p:cNvSpPr>
            <a:spLocks noChangeAspect="1" noChangeArrowheads="1"/>
          </p:cNvSpPr>
          <p:nvPr/>
        </p:nvSpPr>
        <p:spPr bwMode="auto">
          <a:xfrm>
            <a:off x="3886200" y="3733800"/>
            <a:ext cx="53975" cy="4762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3095" name="Oval 23"/>
          <p:cNvSpPr>
            <a:spLocks noChangeAspect="1" noChangeArrowheads="1"/>
          </p:cNvSpPr>
          <p:nvPr/>
        </p:nvSpPr>
        <p:spPr bwMode="auto">
          <a:xfrm>
            <a:off x="3048000" y="3124200"/>
            <a:ext cx="60325" cy="58738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3096" name="Oval 24"/>
          <p:cNvSpPr>
            <a:spLocks noChangeAspect="1" noChangeArrowheads="1"/>
          </p:cNvSpPr>
          <p:nvPr/>
        </p:nvSpPr>
        <p:spPr bwMode="auto">
          <a:xfrm>
            <a:off x="5105400" y="4114800"/>
            <a:ext cx="60325" cy="508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3097" name="Oval 25"/>
          <p:cNvSpPr>
            <a:spLocks noChangeAspect="1" noChangeArrowheads="1"/>
          </p:cNvSpPr>
          <p:nvPr/>
        </p:nvSpPr>
        <p:spPr bwMode="auto">
          <a:xfrm rot="-1118274">
            <a:off x="3887788" y="4443413"/>
            <a:ext cx="53975" cy="476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3098" name="Oval 26"/>
          <p:cNvSpPr>
            <a:spLocks noChangeAspect="1" noChangeArrowheads="1"/>
          </p:cNvSpPr>
          <p:nvPr/>
        </p:nvSpPr>
        <p:spPr bwMode="auto">
          <a:xfrm rot="-1118274">
            <a:off x="6003925" y="3228975"/>
            <a:ext cx="60325" cy="508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3099" name="Oval 27"/>
          <p:cNvSpPr>
            <a:spLocks noChangeAspect="1" noChangeArrowheads="1"/>
          </p:cNvSpPr>
          <p:nvPr/>
        </p:nvSpPr>
        <p:spPr bwMode="auto">
          <a:xfrm rot="-1118274">
            <a:off x="5295900" y="4545013"/>
            <a:ext cx="60325" cy="508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3100" name="Oval 28"/>
          <p:cNvSpPr>
            <a:spLocks noChangeAspect="1" noChangeArrowheads="1"/>
          </p:cNvSpPr>
          <p:nvPr/>
        </p:nvSpPr>
        <p:spPr bwMode="auto">
          <a:xfrm rot="-1118274">
            <a:off x="3124200" y="2667000"/>
            <a:ext cx="60325" cy="50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3101" name="Oval 29"/>
          <p:cNvSpPr>
            <a:spLocks noChangeAspect="1" noChangeArrowheads="1"/>
          </p:cNvSpPr>
          <p:nvPr/>
        </p:nvSpPr>
        <p:spPr bwMode="auto">
          <a:xfrm rot="-1118274">
            <a:off x="4711700" y="3584575"/>
            <a:ext cx="60325" cy="508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3102" name="Oval 30"/>
          <p:cNvSpPr>
            <a:spLocks noChangeAspect="1" noChangeArrowheads="1"/>
          </p:cNvSpPr>
          <p:nvPr/>
        </p:nvSpPr>
        <p:spPr bwMode="auto">
          <a:xfrm rot="-1118274">
            <a:off x="5867400" y="4495800"/>
            <a:ext cx="60325" cy="476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3103" name="Oval 31"/>
          <p:cNvSpPr>
            <a:spLocks noChangeAspect="1" noChangeArrowheads="1"/>
          </p:cNvSpPr>
          <p:nvPr/>
        </p:nvSpPr>
        <p:spPr bwMode="auto">
          <a:xfrm rot="-1118274">
            <a:off x="3114675" y="3640138"/>
            <a:ext cx="60325" cy="4762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3104" name="Oval 32"/>
          <p:cNvSpPr>
            <a:spLocks noChangeAspect="1" noChangeArrowheads="1"/>
          </p:cNvSpPr>
          <p:nvPr/>
        </p:nvSpPr>
        <p:spPr bwMode="auto">
          <a:xfrm rot="5895381">
            <a:off x="3867150" y="3057525"/>
            <a:ext cx="47625" cy="5397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3105" name="Oval 33"/>
          <p:cNvSpPr>
            <a:spLocks noChangeAspect="1" noChangeArrowheads="1"/>
          </p:cNvSpPr>
          <p:nvPr/>
        </p:nvSpPr>
        <p:spPr bwMode="auto">
          <a:xfrm rot="5895381">
            <a:off x="4136231" y="5242719"/>
            <a:ext cx="55563" cy="603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3106" name="Oval 34"/>
          <p:cNvSpPr>
            <a:spLocks noChangeAspect="1" noChangeArrowheads="1"/>
          </p:cNvSpPr>
          <p:nvPr/>
        </p:nvSpPr>
        <p:spPr bwMode="auto">
          <a:xfrm rot="5895381">
            <a:off x="3114675" y="4098925"/>
            <a:ext cx="47625" cy="6032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3107" name="Oval 35"/>
          <p:cNvSpPr>
            <a:spLocks noChangeAspect="1" noChangeArrowheads="1"/>
          </p:cNvSpPr>
          <p:nvPr/>
        </p:nvSpPr>
        <p:spPr bwMode="auto">
          <a:xfrm rot="5895381">
            <a:off x="4343400" y="2393950"/>
            <a:ext cx="47625" cy="5397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3108" name="Oval 36"/>
          <p:cNvSpPr>
            <a:spLocks noChangeAspect="1" noChangeArrowheads="1"/>
          </p:cNvSpPr>
          <p:nvPr/>
        </p:nvSpPr>
        <p:spPr bwMode="auto">
          <a:xfrm rot="5895381">
            <a:off x="5304631" y="4144169"/>
            <a:ext cx="58738" cy="603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3109" name="Oval 37"/>
          <p:cNvSpPr>
            <a:spLocks noChangeAspect="1" noChangeArrowheads="1"/>
          </p:cNvSpPr>
          <p:nvPr/>
        </p:nvSpPr>
        <p:spPr bwMode="auto">
          <a:xfrm rot="5895381">
            <a:off x="4370388" y="4079875"/>
            <a:ext cx="47625" cy="5397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3110" name="Oval 38"/>
          <p:cNvSpPr>
            <a:spLocks noChangeAspect="1" noChangeArrowheads="1"/>
          </p:cNvSpPr>
          <p:nvPr/>
        </p:nvSpPr>
        <p:spPr bwMode="auto">
          <a:xfrm rot="5895381">
            <a:off x="5619750" y="3365500"/>
            <a:ext cx="47625" cy="5397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3111" name="Oval 39"/>
          <p:cNvSpPr>
            <a:spLocks noChangeAspect="1" noChangeArrowheads="1"/>
          </p:cNvSpPr>
          <p:nvPr/>
        </p:nvSpPr>
        <p:spPr bwMode="auto">
          <a:xfrm rot="5895381">
            <a:off x="3087688" y="2346325"/>
            <a:ext cx="47625" cy="6032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3112" name="Oval 40"/>
          <p:cNvSpPr>
            <a:spLocks noChangeAspect="1" noChangeArrowheads="1"/>
          </p:cNvSpPr>
          <p:nvPr/>
        </p:nvSpPr>
        <p:spPr bwMode="auto">
          <a:xfrm rot="5895381">
            <a:off x="5260975" y="3273425"/>
            <a:ext cx="47625" cy="5397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3113" name="Oval 41"/>
          <p:cNvSpPr>
            <a:spLocks noChangeAspect="1" noChangeArrowheads="1"/>
          </p:cNvSpPr>
          <p:nvPr/>
        </p:nvSpPr>
        <p:spPr bwMode="auto">
          <a:xfrm rot="5895381">
            <a:off x="5117306" y="4718844"/>
            <a:ext cx="58738" cy="5397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3114" name="Oval 42"/>
          <p:cNvSpPr>
            <a:spLocks noChangeAspect="1" noChangeArrowheads="1"/>
          </p:cNvSpPr>
          <p:nvPr/>
        </p:nvSpPr>
        <p:spPr bwMode="auto">
          <a:xfrm rot="4777107">
            <a:off x="3498056" y="3534569"/>
            <a:ext cx="58738" cy="6032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3115" name="Oval 43"/>
          <p:cNvSpPr>
            <a:spLocks noChangeAspect="1" noChangeArrowheads="1"/>
          </p:cNvSpPr>
          <p:nvPr/>
        </p:nvSpPr>
        <p:spPr bwMode="auto">
          <a:xfrm rot="4777107">
            <a:off x="4651375" y="5254625"/>
            <a:ext cx="47625" cy="5397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3116" name="Oval 44"/>
          <p:cNvSpPr>
            <a:spLocks noChangeAspect="1" noChangeArrowheads="1"/>
          </p:cNvSpPr>
          <p:nvPr/>
        </p:nvSpPr>
        <p:spPr bwMode="auto">
          <a:xfrm rot="4777107">
            <a:off x="4346575" y="4873625"/>
            <a:ext cx="47625" cy="5397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3117" name="Oval 45"/>
          <p:cNvSpPr>
            <a:spLocks noChangeAspect="1" noChangeArrowheads="1"/>
          </p:cNvSpPr>
          <p:nvPr/>
        </p:nvSpPr>
        <p:spPr bwMode="auto">
          <a:xfrm rot="4777107">
            <a:off x="2817019" y="3736181"/>
            <a:ext cx="58738" cy="5397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3118" name="Oval 46"/>
          <p:cNvSpPr>
            <a:spLocks noChangeAspect="1" noChangeArrowheads="1"/>
          </p:cNvSpPr>
          <p:nvPr/>
        </p:nvSpPr>
        <p:spPr bwMode="auto">
          <a:xfrm rot="4777107">
            <a:off x="3713163" y="2776538"/>
            <a:ext cx="50800" cy="5397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3119" name="Oval 47"/>
          <p:cNvSpPr>
            <a:spLocks noChangeAspect="1" noChangeArrowheads="1"/>
          </p:cNvSpPr>
          <p:nvPr/>
        </p:nvSpPr>
        <p:spPr bwMode="auto">
          <a:xfrm rot="4777107">
            <a:off x="4356100" y="4364038"/>
            <a:ext cx="50800" cy="603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3120" name="Oval 48"/>
          <p:cNvSpPr>
            <a:spLocks noChangeAspect="1" noChangeArrowheads="1"/>
          </p:cNvSpPr>
          <p:nvPr/>
        </p:nvSpPr>
        <p:spPr bwMode="auto">
          <a:xfrm rot="4777107">
            <a:off x="2504281" y="3082131"/>
            <a:ext cx="58738" cy="6032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3121" name="Oval 49"/>
          <p:cNvSpPr>
            <a:spLocks noChangeAspect="1" noChangeArrowheads="1"/>
          </p:cNvSpPr>
          <p:nvPr/>
        </p:nvSpPr>
        <p:spPr bwMode="auto">
          <a:xfrm rot="4777107">
            <a:off x="3937794" y="5049044"/>
            <a:ext cx="55563" cy="603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3122" name="Oval 50"/>
          <p:cNvSpPr>
            <a:spLocks noChangeAspect="1" noChangeArrowheads="1"/>
          </p:cNvSpPr>
          <p:nvPr/>
        </p:nvSpPr>
        <p:spPr bwMode="auto">
          <a:xfrm rot="4777107">
            <a:off x="5303838" y="4756150"/>
            <a:ext cx="50800" cy="603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3123" name="Text Box 51"/>
          <p:cNvSpPr txBox="1">
            <a:spLocks noChangeArrowheads="1"/>
          </p:cNvSpPr>
          <p:nvPr/>
        </p:nvSpPr>
        <p:spPr bwMode="auto">
          <a:xfrm>
            <a:off x="5486400" y="1676400"/>
            <a:ext cx="3200400" cy="3968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R="0" algn="ctr" defTabSz="914400">
              <a:buSzTx/>
              <a:buFontTx/>
              <a:defRPr/>
            </a:pPr>
            <a:r>
              <a:rPr kumimoji="0" lang="en-US" altLang="zh-CN" b="1" i="1" kern="1200" cap="none" spc="0" normalizeH="0" baseline="0" noProof="0"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rPr>
              <a:t>f</a:t>
            </a:r>
            <a:r>
              <a:rPr kumimoji="0" lang="en-US" altLang="zh-CN" i="1" kern="1200" cap="none" spc="0" normalizeH="0" baseline="0" noProof="0"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kumimoji="0" lang="en-US" altLang="zh-CN" b="1" i="1" kern="1200" cap="none" spc="0" normalizeH="0" baseline="0" noProof="0"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rPr>
              <a:t>x</a:t>
            </a:r>
            <a:r>
              <a:rPr kumimoji="0" lang="en-US" altLang="zh-CN" i="1" kern="1200" cap="none" spc="0" normalizeH="0" baseline="0" noProof="0"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kumimoji="0" lang="en-US" altLang="zh-CN" b="1" i="1" kern="1200" cap="none" spc="0" normalizeH="0" baseline="0" noProof="0">
                <a:solidFill>
                  <a:srgbClr val="00CC00"/>
                </a:solidFill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rPr>
              <a:t>w</a:t>
            </a:r>
            <a:r>
              <a:rPr kumimoji="0" lang="en-US" altLang="zh-CN" i="1" kern="1200" cap="none" spc="0" normalizeH="0" baseline="0" noProof="0">
                <a:solidFill>
                  <a:srgbClr val="00CC00"/>
                </a:solidFill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rPr>
              <a:t>,b</a:t>
            </a:r>
            <a:r>
              <a:rPr kumimoji="0" lang="en-US" altLang="zh-CN" i="1" kern="1200" cap="none" spc="0" normalizeH="0" baseline="0" noProof="0"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rPr>
              <a:t>) = sign(</a:t>
            </a:r>
            <a:r>
              <a:rPr kumimoji="0" lang="en-US" altLang="zh-CN" b="1" i="1" kern="1200" cap="none" spc="0" normalizeH="0" baseline="0" noProof="0">
                <a:solidFill>
                  <a:srgbClr val="00CC00"/>
                </a:solidFill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rPr>
              <a:t>w</a:t>
            </a:r>
            <a:r>
              <a:rPr kumimoji="0" lang="en-US" altLang="zh-CN" b="1" i="1" kern="1200" cap="none" spc="0" normalizeH="0" baseline="0" noProof="0"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rPr>
              <a:t>. x</a:t>
            </a:r>
            <a:r>
              <a:rPr kumimoji="0" lang="en-US" altLang="zh-CN" i="1" kern="1200" cap="none" spc="0" normalizeH="0" baseline="0" noProof="0">
                <a:solidFill>
                  <a:srgbClr val="00CC00"/>
                </a:solidFill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kumimoji="0" lang="en-US" altLang="zh-CN" i="1" kern="1200" cap="none" spc="0" normalizeH="0" baseline="0" noProof="0"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rPr>
              <a:t>- </a:t>
            </a:r>
            <a:r>
              <a:rPr kumimoji="0" lang="en-US" altLang="zh-CN" i="1" kern="1200" cap="none" spc="0" normalizeH="0" baseline="0" noProof="0">
                <a:solidFill>
                  <a:srgbClr val="00CC00"/>
                </a:solidFill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rPr>
              <a:t>b</a:t>
            </a:r>
            <a:r>
              <a:rPr kumimoji="0" lang="en-US" altLang="zh-CN" i="1" kern="1200" cap="none" spc="0" normalizeH="0" baseline="0" noProof="0"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</a:p>
        </p:txBody>
      </p:sp>
      <p:sp>
        <p:nvSpPr>
          <p:cNvPr id="643124" name="Text Box 52"/>
          <p:cNvSpPr txBox="1">
            <a:spLocks noChangeArrowheads="1"/>
          </p:cNvSpPr>
          <p:nvPr/>
        </p:nvSpPr>
        <p:spPr bwMode="auto">
          <a:xfrm>
            <a:off x="6248400" y="3200400"/>
            <a:ext cx="2438400" cy="3968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R="0" defTabSz="914400">
              <a:buSzTx/>
              <a:buFontTx/>
              <a:defRPr/>
            </a:pPr>
            <a:endParaRPr kumimoji="0" lang="zh-CN" altLang="en-US" kern="1200" cap="none" spc="0" normalizeH="0" baseline="0" noProof="0">
              <a:latin typeface="Tahoma" panose="020B060403050404020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381" name="Freeform 56"/>
          <p:cNvSpPr/>
          <p:nvPr/>
        </p:nvSpPr>
        <p:spPr>
          <a:xfrm>
            <a:off x="2112963" y="3725863"/>
            <a:ext cx="1708150" cy="155575"/>
          </a:xfrm>
          <a:custGeom>
            <a:avLst/>
            <a:gdLst/>
            <a:ahLst/>
            <a:cxnLst>
              <a:cxn ang="0">
                <a:pos x="0" y="155575"/>
              </a:cxn>
              <a:cxn ang="0">
                <a:pos x="165100" y="61913"/>
              </a:cxn>
              <a:cxn ang="0">
                <a:pos x="336550" y="0"/>
              </a:cxn>
              <a:cxn ang="0">
                <a:pos x="517525" y="17463"/>
              </a:cxn>
              <a:cxn ang="0">
                <a:pos x="612775" y="61913"/>
              </a:cxn>
              <a:cxn ang="0">
                <a:pos x="612775" y="61913"/>
              </a:cxn>
              <a:cxn ang="0">
                <a:pos x="811213" y="130175"/>
              </a:cxn>
              <a:cxn ang="0">
                <a:pos x="1570038" y="87313"/>
              </a:cxn>
              <a:cxn ang="0">
                <a:pos x="1708150" y="69850"/>
              </a:cxn>
            </a:cxnLst>
            <a:rect l="0" t="0" r="0" b="0"/>
            <a:pathLst>
              <a:path w="1076" h="98">
                <a:moveTo>
                  <a:pt x="0" y="98"/>
                </a:moveTo>
                <a:cubicBezTo>
                  <a:pt x="38" y="87"/>
                  <a:pt x="66" y="53"/>
                  <a:pt x="104" y="39"/>
                </a:cubicBezTo>
                <a:cubicBezTo>
                  <a:pt x="132" y="9"/>
                  <a:pt x="172" y="6"/>
                  <a:pt x="212" y="0"/>
                </a:cubicBezTo>
                <a:cubicBezTo>
                  <a:pt x="262" y="3"/>
                  <a:pt x="286" y="0"/>
                  <a:pt x="326" y="11"/>
                </a:cubicBezTo>
                <a:lnTo>
                  <a:pt x="386" y="39"/>
                </a:lnTo>
                <a:cubicBezTo>
                  <a:pt x="386" y="39"/>
                  <a:pt x="386" y="39"/>
                  <a:pt x="386" y="39"/>
                </a:cubicBezTo>
                <a:cubicBezTo>
                  <a:pt x="428" y="52"/>
                  <a:pt x="469" y="69"/>
                  <a:pt x="511" y="82"/>
                </a:cubicBezTo>
                <a:cubicBezTo>
                  <a:pt x="670" y="74"/>
                  <a:pt x="829" y="60"/>
                  <a:pt x="989" y="55"/>
                </a:cubicBezTo>
                <a:cubicBezTo>
                  <a:pt x="1017" y="51"/>
                  <a:pt x="1048" y="44"/>
                  <a:pt x="1076" y="44"/>
                </a:cubicBezTo>
              </a:path>
            </a:pathLst>
          </a:custGeom>
          <a:noFill/>
          <a:ln w="38100" cap="flat" cmpd="sng">
            <a:solidFill>
              <a:srgbClr val="00CC00">
                <a:alpha val="100000"/>
              </a:srgbClr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382" name="Freeform 57"/>
          <p:cNvSpPr/>
          <p:nvPr/>
        </p:nvSpPr>
        <p:spPr>
          <a:xfrm>
            <a:off x="2079625" y="3317875"/>
            <a:ext cx="2293938" cy="485775"/>
          </a:xfrm>
          <a:custGeom>
            <a:avLst/>
            <a:gdLst/>
            <a:ahLst/>
            <a:cxnLst>
              <a:cxn ang="0">
                <a:pos x="0" y="485775"/>
              </a:cxn>
              <a:cxn ang="0">
                <a:pos x="25400" y="477838"/>
              </a:cxn>
              <a:cxn ang="0">
                <a:pos x="42863" y="425450"/>
              </a:cxn>
              <a:cxn ang="0">
                <a:pos x="76200" y="374650"/>
              </a:cxn>
              <a:cxn ang="0">
                <a:pos x="198438" y="271463"/>
              </a:cxn>
              <a:cxn ang="0">
                <a:pos x="361950" y="166688"/>
              </a:cxn>
              <a:cxn ang="0">
                <a:pos x="473075" y="115888"/>
              </a:cxn>
              <a:cxn ang="0">
                <a:pos x="1008063" y="3175"/>
              </a:cxn>
              <a:cxn ang="0">
                <a:pos x="1655763" y="28575"/>
              </a:cxn>
              <a:cxn ang="0">
                <a:pos x="1776413" y="63500"/>
              </a:cxn>
              <a:cxn ang="0">
                <a:pos x="1931988" y="133350"/>
              </a:cxn>
              <a:cxn ang="0">
                <a:pos x="2120900" y="209550"/>
              </a:cxn>
              <a:cxn ang="0">
                <a:pos x="2293938" y="261938"/>
              </a:cxn>
            </a:cxnLst>
            <a:rect l="0" t="0" r="0" b="0"/>
            <a:pathLst>
              <a:path w="1445" h="306">
                <a:moveTo>
                  <a:pt x="0" y="306"/>
                </a:moveTo>
                <a:cubicBezTo>
                  <a:pt x="5" y="304"/>
                  <a:pt x="12" y="305"/>
                  <a:pt x="16" y="301"/>
                </a:cubicBezTo>
                <a:cubicBezTo>
                  <a:pt x="24" y="293"/>
                  <a:pt x="21" y="278"/>
                  <a:pt x="27" y="268"/>
                </a:cubicBezTo>
                <a:cubicBezTo>
                  <a:pt x="33" y="257"/>
                  <a:pt x="41" y="247"/>
                  <a:pt x="48" y="236"/>
                </a:cubicBezTo>
                <a:cubicBezTo>
                  <a:pt x="58" y="221"/>
                  <a:pt x="117" y="177"/>
                  <a:pt x="125" y="171"/>
                </a:cubicBezTo>
                <a:cubicBezTo>
                  <a:pt x="159" y="146"/>
                  <a:pt x="186" y="117"/>
                  <a:pt x="228" y="105"/>
                </a:cubicBezTo>
                <a:cubicBezTo>
                  <a:pt x="249" y="91"/>
                  <a:pt x="273" y="79"/>
                  <a:pt x="298" y="73"/>
                </a:cubicBezTo>
                <a:cubicBezTo>
                  <a:pt x="394" y="11"/>
                  <a:pt x="526" y="10"/>
                  <a:pt x="635" y="2"/>
                </a:cubicBezTo>
                <a:cubicBezTo>
                  <a:pt x="773" y="5"/>
                  <a:pt x="907" y="0"/>
                  <a:pt x="1043" y="18"/>
                </a:cubicBezTo>
                <a:cubicBezTo>
                  <a:pt x="1068" y="27"/>
                  <a:pt x="1093" y="34"/>
                  <a:pt x="1119" y="40"/>
                </a:cubicBezTo>
                <a:cubicBezTo>
                  <a:pt x="1150" y="63"/>
                  <a:pt x="1183" y="68"/>
                  <a:pt x="1217" y="84"/>
                </a:cubicBezTo>
                <a:cubicBezTo>
                  <a:pt x="1257" y="104"/>
                  <a:pt x="1293" y="119"/>
                  <a:pt x="1336" y="132"/>
                </a:cubicBezTo>
                <a:cubicBezTo>
                  <a:pt x="1370" y="142"/>
                  <a:pt x="1410" y="165"/>
                  <a:pt x="1445" y="165"/>
                </a:cubicBezTo>
              </a:path>
            </a:pathLst>
          </a:custGeom>
          <a:noFill/>
          <a:ln w="38100" cap="flat" cmpd="sng">
            <a:solidFill>
              <a:srgbClr val="00CC00">
                <a:alpha val="100000"/>
              </a:srgbClr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383" name="Freeform 58"/>
          <p:cNvSpPr/>
          <p:nvPr/>
        </p:nvSpPr>
        <p:spPr>
          <a:xfrm>
            <a:off x="2105025" y="3994150"/>
            <a:ext cx="1733550" cy="449263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06375" y="85725"/>
              </a:cxn>
              <a:cxn ang="0">
                <a:pos x="517525" y="233363"/>
              </a:cxn>
              <a:cxn ang="0">
                <a:pos x="630238" y="276225"/>
              </a:cxn>
              <a:cxn ang="0">
                <a:pos x="836613" y="344488"/>
              </a:cxn>
              <a:cxn ang="0">
                <a:pos x="1733550" y="431800"/>
              </a:cxn>
            </a:cxnLst>
            <a:rect l="0" t="0" r="0" b="0"/>
            <a:pathLst>
              <a:path w="1092" h="283">
                <a:moveTo>
                  <a:pt x="0" y="0"/>
                </a:moveTo>
                <a:cubicBezTo>
                  <a:pt x="47" y="9"/>
                  <a:pt x="84" y="40"/>
                  <a:pt x="130" y="54"/>
                </a:cubicBezTo>
                <a:cubicBezTo>
                  <a:pt x="184" y="96"/>
                  <a:pt x="261" y="129"/>
                  <a:pt x="326" y="147"/>
                </a:cubicBezTo>
                <a:cubicBezTo>
                  <a:pt x="348" y="162"/>
                  <a:pt x="373" y="163"/>
                  <a:pt x="397" y="174"/>
                </a:cubicBezTo>
                <a:cubicBezTo>
                  <a:pt x="439" y="193"/>
                  <a:pt x="481" y="209"/>
                  <a:pt x="527" y="217"/>
                </a:cubicBezTo>
                <a:cubicBezTo>
                  <a:pt x="704" y="283"/>
                  <a:pt x="907" y="272"/>
                  <a:pt x="1092" y="272"/>
                </a:cubicBezTo>
              </a:path>
            </a:pathLst>
          </a:custGeom>
          <a:noFill/>
          <a:ln w="38100" cap="flat" cmpd="sng">
            <a:solidFill>
              <a:srgbClr val="00CC00">
                <a:alpha val="100000"/>
              </a:srgbClr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3131" name="Oval 59"/>
          <p:cNvSpPr>
            <a:spLocks noChangeArrowheads="1"/>
          </p:cNvSpPr>
          <p:nvPr/>
        </p:nvSpPr>
        <p:spPr bwMode="auto">
          <a:xfrm>
            <a:off x="4341813" y="3579813"/>
            <a:ext cx="152400" cy="152400"/>
          </a:xfrm>
          <a:prstGeom prst="ellipse">
            <a:avLst/>
          </a:prstGeom>
          <a:noFill/>
          <a:ln w="38100">
            <a:solidFill>
              <a:srgbClr val="00CC00"/>
            </a:solidFill>
            <a:prstDash val="dash"/>
            <a:round/>
          </a:ln>
          <a:effectLst/>
        </p:spPr>
        <p:txBody>
          <a:bodyPr wrap="none"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3132" name="Oval 60"/>
          <p:cNvSpPr>
            <a:spLocks noChangeArrowheads="1"/>
          </p:cNvSpPr>
          <p:nvPr/>
        </p:nvSpPr>
        <p:spPr bwMode="auto">
          <a:xfrm>
            <a:off x="3844925" y="3689350"/>
            <a:ext cx="152400" cy="152400"/>
          </a:xfrm>
          <a:prstGeom prst="ellipse">
            <a:avLst/>
          </a:prstGeom>
          <a:noFill/>
          <a:ln w="38100">
            <a:solidFill>
              <a:srgbClr val="00CC00"/>
            </a:solidFill>
            <a:prstDash val="dash"/>
            <a:round/>
          </a:ln>
          <a:effectLst/>
        </p:spPr>
        <p:txBody>
          <a:bodyPr wrap="none"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3133" name="Oval 61"/>
          <p:cNvSpPr>
            <a:spLocks noChangeArrowheads="1"/>
          </p:cNvSpPr>
          <p:nvPr/>
        </p:nvSpPr>
        <p:spPr bwMode="auto">
          <a:xfrm>
            <a:off x="3833813" y="4384675"/>
            <a:ext cx="152400" cy="152400"/>
          </a:xfrm>
          <a:prstGeom prst="ellipse">
            <a:avLst/>
          </a:prstGeom>
          <a:noFill/>
          <a:ln w="38100">
            <a:solidFill>
              <a:srgbClr val="00CC00"/>
            </a:solidFill>
            <a:prstDash val="dash"/>
            <a:round/>
          </a:ln>
          <a:effectLst/>
        </p:spPr>
        <p:txBody>
          <a:bodyPr wrap="none"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3135" name="Text Box 63"/>
          <p:cNvSpPr txBox="1">
            <a:spLocks noChangeArrowheads="1"/>
          </p:cNvSpPr>
          <p:nvPr/>
        </p:nvSpPr>
        <p:spPr bwMode="auto">
          <a:xfrm>
            <a:off x="5572125" y="1406525"/>
            <a:ext cx="3365500" cy="3968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R="0" algn="ctr" defTabSz="914400">
              <a:buSzTx/>
              <a:buFontTx/>
              <a:defRPr/>
            </a:pPr>
            <a:endParaRPr kumimoji="0" lang="zh-CN" altLang="en-US" kern="1200" cap="none" spc="0" normalizeH="0" baseline="0" noProof="0">
              <a:latin typeface="Tahoma" panose="020B060403050404020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43145" name="Text Box 73"/>
          <p:cNvSpPr txBox="1">
            <a:spLocks noChangeArrowheads="1"/>
          </p:cNvSpPr>
          <p:nvPr/>
        </p:nvSpPr>
        <p:spPr bwMode="auto">
          <a:xfrm>
            <a:off x="0" y="3675063"/>
            <a:ext cx="2293938" cy="13112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r>
              <a:rPr lang="zh-CN" altLang="en-US" dirty="0">
                <a:solidFill>
                  <a:srgbClr val="00CC00"/>
                </a:solidFill>
                <a:latin typeface="Tahoma" panose="020B0604030504040204" charset="0"/>
                <a:ea typeface="宋体" panose="02010600030101010101" pitchFamily="2" charset="-122"/>
              </a:rPr>
              <a:t>支持向量(</a:t>
            </a:r>
            <a:r>
              <a:rPr lang="en-US" altLang="zh-CN" dirty="0">
                <a:solidFill>
                  <a:srgbClr val="00CC00"/>
                </a:solidFill>
                <a:latin typeface="Tahoma" panose="020B0604030504040204" charset="0"/>
                <a:ea typeface="宋体" panose="02010600030101010101" pitchFamily="2" charset="-122"/>
              </a:rPr>
              <a:t>Support Vectors) :</a:t>
            </a:r>
            <a:r>
              <a:rPr lang="zh-CN" altLang="en-US" dirty="0">
                <a:latin typeface="Tahoma" panose="020B0604030504040204" charset="0"/>
                <a:ea typeface="宋体" panose="02010600030101010101" pitchFamily="2" charset="-122"/>
              </a:rPr>
              <a:t>是那些距离超平面最近的点。</a:t>
            </a:r>
          </a:p>
        </p:txBody>
      </p:sp>
      <p:sp>
        <p:nvSpPr>
          <p:cNvPr id="643146" name="Text Box 74"/>
          <p:cNvSpPr txBox="1">
            <a:spLocks noChangeArrowheads="1"/>
          </p:cNvSpPr>
          <p:nvPr/>
        </p:nvSpPr>
        <p:spPr bwMode="auto">
          <a:xfrm>
            <a:off x="6400800" y="2286000"/>
            <a:ext cx="2743200" cy="337820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r>
              <a:rPr lang="zh-CN" altLang="en-US" sz="2400" dirty="0">
                <a:latin typeface="Tahoma" panose="020B0604030504040204" charset="0"/>
                <a:ea typeface="宋体" panose="02010600030101010101" pitchFamily="2" charset="-122"/>
              </a:rPr>
              <a:t>具有最大间隔的线性分类器叫做</a:t>
            </a:r>
            <a:r>
              <a:rPr lang="zh-CN" altLang="en-US" sz="2400" dirty="0">
                <a:solidFill>
                  <a:schemeClr val="hlink"/>
                </a:solidFill>
                <a:latin typeface="Tahoma" panose="020B0604030504040204" charset="0"/>
                <a:ea typeface="宋体" panose="02010600030101010101" pitchFamily="2" charset="-122"/>
              </a:rPr>
              <a:t>最大间隔线性分类器</a:t>
            </a:r>
            <a:r>
              <a:rPr lang="zh-CN" altLang="en-US" sz="2400" dirty="0">
                <a:latin typeface="Tahoma" panose="020B0604030504040204" charset="0"/>
                <a:ea typeface="宋体" panose="02010600030101010101" pitchFamily="2" charset="-122"/>
              </a:rPr>
              <a:t>。</a:t>
            </a:r>
          </a:p>
          <a:p>
            <a:endParaRPr lang="zh-CN" altLang="en-US" sz="2400" dirty="0">
              <a:latin typeface="Tahoma" panose="020B0604030504040204" charset="0"/>
              <a:ea typeface="宋体" panose="02010600030101010101" pitchFamily="2" charset="-122"/>
            </a:endParaRPr>
          </a:p>
          <a:p>
            <a:r>
              <a:rPr lang="zh-CN" altLang="en-US" sz="2400" dirty="0">
                <a:latin typeface="Tahoma" panose="020B0604030504040204" charset="0"/>
                <a:ea typeface="宋体" panose="02010600030101010101" pitchFamily="2" charset="-122"/>
              </a:rPr>
              <a:t>其就是一种最简单的支持向量机(</a:t>
            </a:r>
            <a:r>
              <a:rPr lang="en-US" altLang="zh-CN" sz="2400" dirty="0">
                <a:latin typeface="Tahoma" panose="020B0604030504040204" charset="0"/>
                <a:ea typeface="宋体" panose="02010600030101010101" pitchFamily="2" charset="-122"/>
              </a:rPr>
              <a:t>SVM) (</a:t>
            </a:r>
            <a:r>
              <a:rPr lang="zh-CN" altLang="en-US" sz="2400" dirty="0">
                <a:latin typeface="Tahoma" panose="020B0604030504040204" charset="0"/>
                <a:ea typeface="宋体" panose="02010600030101010101" pitchFamily="2" charset="-122"/>
              </a:rPr>
              <a:t>称为线性支持向量机，即</a:t>
            </a:r>
            <a:r>
              <a:rPr lang="en-US" altLang="zh-CN" sz="2400" dirty="0">
                <a:latin typeface="Tahoma" panose="020B0604030504040204" charset="0"/>
                <a:ea typeface="宋体" panose="02010600030101010101" pitchFamily="2" charset="-122"/>
              </a:rPr>
              <a:t>LSVM)</a:t>
            </a:r>
          </a:p>
        </p:txBody>
      </p:sp>
      <p:sp>
        <p:nvSpPr>
          <p:cNvPr id="643147" name="AutoShape 75"/>
          <p:cNvSpPr>
            <a:spLocks noChangeArrowheads="1"/>
          </p:cNvSpPr>
          <p:nvPr/>
        </p:nvSpPr>
        <p:spPr bwMode="auto">
          <a:xfrm>
            <a:off x="4641850" y="5867400"/>
            <a:ext cx="1758950" cy="381000"/>
          </a:xfrm>
          <a:prstGeom prst="wedgeRectCallout">
            <a:avLst>
              <a:gd name="adj1" fmla="val 64713"/>
              <a:gd name="adj2" fmla="val -86250"/>
            </a:avLst>
          </a:prstGeom>
          <a:solidFill>
            <a:srgbClr val="CCFFCC"/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/>
          <a:lstStyle/>
          <a:p>
            <a:pPr algn="ctr"/>
            <a:r>
              <a:rPr lang="zh-CN" altLang="en-US" sz="1600" dirty="0">
                <a:latin typeface="Tahoma" panose="020B0604030504040204" charset="0"/>
                <a:ea typeface="宋体" panose="02010600030101010101" pitchFamily="2" charset="-122"/>
              </a:rPr>
              <a:t>线性支持向量机</a:t>
            </a:r>
            <a:endParaRPr lang="en-US" altLang="zh-CN" sz="1600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643136" name="Text Box 64"/>
          <p:cNvSpPr txBox="1">
            <a:spLocks noChangeArrowheads="1"/>
          </p:cNvSpPr>
          <p:nvPr/>
        </p:nvSpPr>
        <p:spPr bwMode="auto">
          <a:xfrm>
            <a:off x="4162425" y="1409700"/>
            <a:ext cx="4968875" cy="1814830"/>
          </a:xfrm>
          <a:prstGeom prst="rect">
            <a:avLst/>
          </a:prstGeom>
          <a:solidFill>
            <a:srgbClr val="CCFFCC"/>
          </a:solidFill>
          <a:ln w="28575">
            <a:solidFill>
              <a:schemeClr val="tx1"/>
            </a:solidFill>
            <a:miter lim="800000"/>
          </a:ln>
          <a:effectLst/>
        </p:spPr>
        <p:txBody>
          <a:bodyPr>
            <a:spAutoFit/>
          </a:bodyPr>
          <a:lstStyle/>
          <a:p>
            <a:r>
              <a:rPr lang="zh-CN" altLang="en-US" sz="2000" dirty="0">
                <a:latin typeface="Tahoma" panose="020B0604030504040204" charset="0"/>
                <a:ea typeface="宋体" panose="02010600030101010101" pitchFamily="2" charset="-122"/>
              </a:rPr>
              <a:t> </a:t>
            </a:r>
          </a:p>
          <a:p>
            <a:r>
              <a:rPr lang="zh-CN" altLang="en-US" sz="2000" dirty="0">
                <a:latin typeface="Tahoma" panose="020B0604030504040204" charset="0"/>
                <a:ea typeface="宋体" panose="02010600030101010101" pitchFamily="2" charset="-122"/>
              </a:rPr>
              <a:t>学习得到线性分类器，其对未知样本的预测能力与分类器间隔有如下关系：</a:t>
            </a:r>
          </a:p>
          <a:p>
            <a:pPr marL="457200" indent="-457200">
              <a:buAutoNum type="arabicPeriod"/>
            </a:pPr>
            <a:endParaRPr lang="zh-CN" altLang="en-US" sz="2000" dirty="0">
              <a:latin typeface="Tahoma" panose="020B0604030504040204" charset="0"/>
              <a:ea typeface="宋体" panose="02010600030101010101" pitchFamily="2" charset="-122"/>
            </a:endParaRPr>
          </a:p>
          <a:p>
            <a:pPr marL="457200" indent="-457200">
              <a:buAutoNum type="arabicPeriod"/>
            </a:pPr>
            <a:endParaRPr lang="zh-CN" altLang="en-US" sz="2000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graphicFrame>
        <p:nvGraphicFramePr>
          <p:cNvPr id="14392" name="Object 72"/>
          <p:cNvGraphicFramePr>
            <a:graphicFrameLocks noChangeAspect="1"/>
          </p:cNvGraphicFramePr>
          <p:nvPr/>
        </p:nvGraphicFramePr>
        <p:xfrm>
          <a:off x="5105400" y="2375535"/>
          <a:ext cx="3321050" cy="752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0" r:id="rId3" imgW="1854200" imgH="419100" progId="Equation.3">
                  <p:embed/>
                </p:oleObj>
              </mc:Choice>
              <mc:Fallback>
                <p:oleObj r:id="rId3" imgW="1854200" imgH="419100" progId="Equation.3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105400" y="2375535"/>
                        <a:ext cx="3321050" cy="7524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176655"/>
            <a:ext cx="8101965" cy="4937125"/>
          </a:xfrm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>
              <a:buClr>
                <a:schemeClr val="tx1"/>
              </a:buClr>
              <a:buSzTx/>
              <a:buFontTx/>
            </a:pPr>
            <a:r>
              <a:rPr lang="zh-CN" altLang="en-US" sz="2400" b="1">
                <a:latin typeface="楷体_GB2312" pitchFamily="49" charset="-122"/>
                <a:ea typeface="楷体_GB2312" pitchFamily="49" charset="-122"/>
              </a:rPr>
              <a:t>学习机器的实际风险由两部分组成</a:t>
            </a:r>
            <a:r>
              <a:rPr lang="en-US" altLang="zh-CN" sz="2400" b="1">
                <a:latin typeface="楷体_GB2312" pitchFamily="49" charset="-122"/>
                <a:ea typeface="楷体_GB2312" pitchFamily="49" charset="-122"/>
              </a:rPr>
              <a:t>:</a:t>
            </a:r>
          </a:p>
          <a:p>
            <a:pPr lvl="1"/>
            <a:r>
              <a:rPr lang="zh-CN" altLang="en-US" sz="2400" b="1">
                <a:latin typeface="楷体_GB2312" pitchFamily="49" charset="-122"/>
                <a:ea typeface="楷体_GB2312" pitchFamily="49" charset="-122"/>
              </a:rPr>
              <a:t>训练样本的经验风险</a:t>
            </a:r>
          </a:p>
          <a:p>
            <a:pPr lvl="1"/>
            <a:r>
              <a:rPr lang="zh-CN" altLang="en-US" sz="2400" b="1">
                <a:latin typeface="楷体_GB2312" pitchFamily="49" charset="-122"/>
                <a:ea typeface="楷体_GB2312" pitchFamily="49" charset="-122"/>
              </a:rPr>
              <a:t>置信范围</a:t>
            </a:r>
          </a:p>
          <a:p>
            <a:pPr>
              <a:buClr>
                <a:schemeClr val="tx1"/>
              </a:buClr>
              <a:buSzTx/>
              <a:buFontTx/>
              <a:buNone/>
            </a:pPr>
            <a:endParaRPr lang="en-US" altLang="zh-CN" sz="2000" b="1">
              <a:latin typeface="楷体_GB2312" pitchFamily="49" charset="-122"/>
              <a:ea typeface="楷体_GB2312" pitchFamily="49" charset="-122"/>
            </a:endParaRPr>
          </a:p>
          <a:p>
            <a:pPr>
              <a:buClr>
                <a:schemeClr val="tx1"/>
              </a:buClr>
              <a:buSzTx/>
              <a:buFontTx/>
              <a:buNone/>
            </a:pPr>
            <a:endParaRPr lang="zh-CN" altLang="en-US" sz="2000" b="1">
              <a:latin typeface="楷体_GB2312" pitchFamily="49" charset="-122"/>
              <a:ea typeface="楷体_GB2312" pitchFamily="49" charset="-122"/>
            </a:endParaRPr>
          </a:p>
          <a:p>
            <a:pPr>
              <a:buClr>
                <a:schemeClr val="tx1"/>
              </a:buClr>
              <a:buSzTx/>
              <a:buFontTx/>
            </a:pPr>
            <a:r>
              <a:rPr lang="zh-CN" altLang="en-US" sz="2400" b="1">
                <a:latin typeface="楷体_GB2312" pitchFamily="49" charset="-122"/>
                <a:ea typeface="楷体_GB2312" pitchFamily="49" charset="-122"/>
              </a:rPr>
              <a:t>与两个量有关</a:t>
            </a:r>
            <a:endParaRPr lang="en-US" altLang="zh-CN" sz="2400" b="1">
              <a:latin typeface="楷体_GB2312" pitchFamily="49" charset="-122"/>
              <a:ea typeface="楷体_GB2312" pitchFamily="49" charset="-122"/>
            </a:endParaRPr>
          </a:p>
          <a:p>
            <a:pPr lvl="1"/>
            <a:r>
              <a:rPr lang="zh-CN" altLang="en-US" sz="2400" b="1">
                <a:latin typeface="楷体_GB2312" pitchFamily="49" charset="-122"/>
                <a:ea typeface="楷体_GB2312" pitchFamily="49" charset="-122"/>
              </a:rPr>
              <a:t>一是</a:t>
            </a:r>
            <a:r>
              <a:rPr lang="zh-CN" altLang="en-US" sz="2400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样本数量</a:t>
            </a:r>
            <a:r>
              <a:rPr lang="zh-CN" altLang="en-US" sz="2400" b="1">
                <a:latin typeface="楷体_GB2312" pitchFamily="49" charset="-122"/>
                <a:ea typeface="楷体_GB2312" pitchFamily="49" charset="-122"/>
              </a:rPr>
              <a:t>，显然给定的</a:t>
            </a:r>
            <a:r>
              <a:rPr lang="zh-CN" altLang="en-US" sz="2400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样本数量越大</a:t>
            </a:r>
            <a:r>
              <a:rPr lang="zh-CN" altLang="en-US" sz="2400" b="1">
                <a:latin typeface="楷体_GB2312" pitchFamily="49" charset="-122"/>
                <a:ea typeface="楷体_GB2312" pitchFamily="49" charset="-122"/>
              </a:rPr>
              <a:t>，学习结果越有可能正确，此时</a:t>
            </a:r>
            <a:r>
              <a:rPr lang="zh-CN" altLang="en-US" sz="2400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置信风险越小</a:t>
            </a:r>
            <a:r>
              <a:rPr lang="zh-CN" altLang="en-US" sz="2400" b="1">
                <a:latin typeface="楷体_GB2312" pitchFamily="49" charset="-122"/>
                <a:ea typeface="楷体_GB2312" pitchFamily="49" charset="-122"/>
              </a:rPr>
              <a:t>；</a:t>
            </a:r>
            <a:endParaRPr lang="en-US" altLang="zh-CN" sz="2400" b="1">
              <a:latin typeface="楷体_GB2312" pitchFamily="49" charset="-122"/>
              <a:ea typeface="楷体_GB2312" pitchFamily="49" charset="-122"/>
            </a:endParaRPr>
          </a:p>
          <a:p>
            <a:pPr lvl="1"/>
            <a:r>
              <a:rPr lang="zh-CN" altLang="en-US" sz="2400" b="1">
                <a:latin typeface="楷体_GB2312" pitchFamily="49" charset="-122"/>
                <a:ea typeface="楷体_GB2312" pitchFamily="49" charset="-122"/>
              </a:rPr>
              <a:t>二是</a:t>
            </a:r>
            <a:r>
              <a:rPr lang="zh-CN" altLang="en-US" sz="2400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分类函数的</a:t>
            </a:r>
            <a:r>
              <a:rPr lang="en-US" altLang="zh-CN" sz="2400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VC</a:t>
            </a:r>
            <a:r>
              <a:rPr lang="zh-CN" altLang="en-US" sz="2400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维，</a:t>
            </a:r>
            <a:r>
              <a:rPr lang="zh-CN" altLang="en-US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显然</a:t>
            </a:r>
            <a:r>
              <a:rPr lang="en-US" altLang="zh-CN" sz="2400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VC</a:t>
            </a:r>
            <a:r>
              <a:rPr lang="zh-CN" altLang="en-US" sz="2400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维越小</a:t>
            </a:r>
            <a:r>
              <a:rPr lang="zh-CN" altLang="en-US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，推广能力越好，置信风险会变小。</a:t>
            </a:r>
            <a:r>
              <a:rPr lang="zh-CN" altLang="en-US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endParaRPr lang="en-US" altLang="zh-CN" b="1">
              <a:solidFill>
                <a:srgbClr val="FF0000"/>
              </a:solidFill>
              <a:latin typeface="楷体_GB2312" pitchFamily="49" charset="-122"/>
              <a:ea typeface="楷体_GB2312" pitchFamily="49" charset="-122"/>
            </a:endParaRPr>
          </a:p>
          <a:p>
            <a:pPr>
              <a:buClr>
                <a:schemeClr val="tx1"/>
              </a:buClr>
              <a:buSzTx/>
              <a:buFontTx/>
            </a:pPr>
            <a:r>
              <a:rPr lang="en-US" altLang="zh-CN" sz="2400" b="1">
                <a:latin typeface="楷体_GB2312" pitchFamily="49" charset="-122"/>
                <a:ea typeface="楷体_GB2312" pitchFamily="49" charset="-122"/>
              </a:rPr>
              <a:t>N</a:t>
            </a:r>
            <a:r>
              <a:rPr lang="zh-CN" altLang="en-US" sz="2400" b="1">
                <a:latin typeface="楷体_GB2312" pitchFamily="49" charset="-122"/>
                <a:ea typeface="楷体_GB2312" pitchFamily="49" charset="-122"/>
              </a:rPr>
              <a:t>维实数空间中线性分类器和线性实函数的</a:t>
            </a:r>
            <a:r>
              <a:rPr lang="en-US" altLang="zh-CN" sz="2400" b="1">
                <a:latin typeface="楷体_GB2312" pitchFamily="49" charset="-122"/>
                <a:ea typeface="楷体_GB2312" pitchFamily="49" charset="-122"/>
              </a:rPr>
              <a:t>VC</a:t>
            </a:r>
            <a:r>
              <a:rPr lang="zh-CN" altLang="en-US" sz="2400" b="1">
                <a:latin typeface="楷体_GB2312" pitchFamily="49" charset="-122"/>
                <a:ea typeface="楷体_GB2312" pitchFamily="49" charset="-122"/>
              </a:rPr>
              <a:t>维是</a:t>
            </a:r>
            <a:r>
              <a:rPr lang="en-US" altLang="zh-CN" sz="2400" b="1">
                <a:latin typeface="楷体_GB2312" pitchFamily="49" charset="-122"/>
                <a:ea typeface="楷体_GB2312" pitchFamily="49" charset="-122"/>
              </a:rPr>
              <a:t>n+1</a:t>
            </a:r>
            <a:r>
              <a:rPr lang="zh-CN" altLang="en-US" sz="2400" b="1">
                <a:latin typeface="楷体_GB2312" pitchFamily="49" charset="-122"/>
                <a:ea typeface="楷体_GB2312" pitchFamily="49" charset="-122"/>
              </a:rPr>
              <a:t>。</a:t>
            </a:r>
          </a:p>
          <a:p>
            <a:pPr>
              <a:buClr>
                <a:schemeClr val="tx1"/>
              </a:buClr>
              <a:buSzTx/>
              <a:buFontTx/>
            </a:pPr>
            <a:r>
              <a:rPr lang="zh-CN" altLang="en-US" sz="2000" b="1">
                <a:latin typeface="楷体_GB2312" pitchFamily="49" charset="-122"/>
                <a:ea typeface="楷体_GB2312" pitchFamily="49" charset="-122"/>
              </a:rPr>
              <a:t>VC维的通俗定义是：对于一个指示函数集，如果存在H个样本能够被函数集中的函数按所有可能的 2^H</a:t>
            </a:r>
            <a:r>
              <a:rPr lang="en-US" altLang="zh-CN" sz="2000" b="1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000" b="1">
                <a:latin typeface="楷体_GB2312" pitchFamily="49" charset="-122"/>
                <a:ea typeface="楷体_GB2312" pitchFamily="49" charset="-122"/>
              </a:rPr>
              <a:t>种形式分开，则称函数集能够将  H个样本打散，函数集的VC维就是它能够打散的最大样本数目 Hmax​</a:t>
            </a:r>
            <a:r>
              <a:rPr lang="zh-CN" altLang="en-US" sz="2400" b="1">
                <a:latin typeface="楷体_GB2312" pitchFamily="49" charset="-122"/>
                <a:ea typeface="楷体_GB2312" pitchFamily="49" charset="-122"/>
              </a:rPr>
              <a:t>。</a:t>
            </a:r>
          </a:p>
        </p:txBody>
      </p:sp>
      <p:graphicFrame>
        <p:nvGraphicFramePr>
          <p:cNvPr id="15362" name="Object 4"/>
          <p:cNvGraphicFramePr>
            <a:graphicFrameLocks noChangeAspect="1"/>
          </p:cNvGraphicFramePr>
          <p:nvPr/>
        </p:nvGraphicFramePr>
        <p:xfrm>
          <a:off x="2987675" y="2402205"/>
          <a:ext cx="3240088" cy="808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36" r:id="rId4" imgW="1435100" imgH="393700" progId="Equation.3">
                  <p:embed/>
                </p:oleObj>
              </mc:Choice>
              <mc:Fallback>
                <p:oleObj r:id="rId4" imgW="1435100" imgH="393700" progId="Equation.3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987675" y="2402205"/>
                        <a:ext cx="3240088" cy="8080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4"/>
          <p:cNvSpPr>
            <a:spLocks noGrp="1" noChangeArrowheads="1"/>
          </p:cNvSpPr>
          <p:nvPr>
            <p:ph type="title"/>
          </p:nvPr>
        </p:nvSpPr>
        <p:spPr>
          <a:xfrm>
            <a:off x="323533" y="246380"/>
            <a:ext cx="8534400" cy="685800"/>
          </a:xfrm>
        </p:spPr>
        <p:txBody>
          <a:bodyPr vert="horz" wrap="square" lIns="91440" tIns="45720" rIns="91440" bIns="45720" numCol="1" anchor="b" anchorCtr="0" compatLnSpc="1"/>
          <a:lstStyle/>
          <a:p>
            <a:r>
              <a:rPr lang="zh-CN" altLang="en-US">
                <a:ea typeface="宋体" panose="02010600030101010101" pitchFamily="2" charset="-122"/>
              </a:rPr>
              <a:t>损失函数</a:t>
            </a:r>
          </a:p>
        </p:txBody>
      </p:sp>
      <p:graphicFrame>
        <p:nvGraphicFramePr>
          <p:cNvPr id="15364" name="Object 4"/>
          <p:cNvGraphicFramePr>
            <a:graphicFrameLocks noChangeAspect="1"/>
          </p:cNvGraphicFramePr>
          <p:nvPr/>
        </p:nvGraphicFramePr>
        <p:xfrm>
          <a:off x="2540635" y="1837690"/>
          <a:ext cx="1146175" cy="547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37" r:id="rId6" imgW="502920" imgH="265430" progId="Equation.3">
                  <p:embed/>
                </p:oleObj>
              </mc:Choice>
              <mc:Fallback>
                <p:oleObj r:id="rId6" imgW="502920" imgH="265430" progId="Equation.3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540635" y="1837690"/>
                        <a:ext cx="1146175" cy="5476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5" name="Object 4"/>
          <p:cNvGraphicFramePr>
            <a:graphicFrameLocks noChangeAspect="1"/>
          </p:cNvGraphicFramePr>
          <p:nvPr/>
        </p:nvGraphicFramePr>
        <p:xfrm>
          <a:off x="3899535" y="1524000"/>
          <a:ext cx="803275" cy="417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38" r:id="rId8" imgW="356870" imgH="201295" progId="Equation.3">
                  <p:embed/>
                </p:oleObj>
              </mc:Choice>
              <mc:Fallback>
                <p:oleObj r:id="rId8" imgW="356870" imgH="201295" progId="Equation.3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3899535" y="1524000"/>
                        <a:ext cx="803275" cy="4175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14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04800" y="3429000"/>
            <a:ext cx="8229600" cy="990600"/>
          </a:xfrm>
        </p:spPr>
        <p:txBody>
          <a:bodyPr vert="horz" wrap="square" lIns="91440" tIns="45720" rIns="91440" bIns="45720" numCol="1" anchor="t" anchorCtr="0" compatLnSpc="1"/>
          <a:lstStyle/>
          <a:p>
            <a:pPr>
              <a:buClr>
                <a:schemeClr val="tx1"/>
              </a:buClr>
              <a:buSzTx/>
              <a:buFontTx/>
            </a:pPr>
            <a:r>
              <a:rPr lang="en-US" altLang="zh-CN" sz="2400" dirty="0">
                <a:ea typeface="宋体" panose="02010600030101010101" pitchFamily="2" charset="-122"/>
              </a:rPr>
              <a:t>Plus-plane   =    </a:t>
            </a:r>
            <a:r>
              <a:rPr lang="en-US" altLang="zh-CN" sz="2400" i="1" dirty="0">
                <a:ea typeface="宋体" panose="02010600030101010101" pitchFamily="2" charset="-122"/>
              </a:rPr>
              <a:t>{ </a:t>
            </a:r>
            <a:r>
              <a:rPr lang="en-US" altLang="zh-CN" sz="2400" b="1" i="1" dirty="0">
                <a:ea typeface="宋体" panose="02010600030101010101" pitchFamily="2" charset="-122"/>
              </a:rPr>
              <a:t>x</a:t>
            </a:r>
            <a:r>
              <a:rPr lang="en-US" altLang="zh-CN" sz="2400" i="1" dirty="0">
                <a:ea typeface="宋体" panose="02010600030101010101" pitchFamily="2" charset="-122"/>
              </a:rPr>
              <a:t> : </a:t>
            </a:r>
            <a:r>
              <a:rPr lang="en-US" altLang="zh-CN" sz="2400" b="1" i="1" dirty="0">
                <a:ea typeface="宋体" panose="02010600030101010101" pitchFamily="2" charset="-122"/>
              </a:rPr>
              <a:t>w</a:t>
            </a:r>
            <a:r>
              <a:rPr lang="en-US" altLang="zh-CN" sz="2400" i="1" dirty="0">
                <a:ea typeface="宋体" panose="02010600030101010101" pitchFamily="2" charset="-122"/>
              </a:rPr>
              <a:t> . </a:t>
            </a:r>
            <a:r>
              <a:rPr lang="en-US" altLang="zh-CN" sz="2400" b="1" i="1" dirty="0">
                <a:ea typeface="宋体" panose="02010600030101010101" pitchFamily="2" charset="-122"/>
              </a:rPr>
              <a:t>x</a:t>
            </a:r>
            <a:r>
              <a:rPr lang="en-US" altLang="zh-CN" sz="2400" i="1" dirty="0">
                <a:ea typeface="宋体" panose="02010600030101010101" pitchFamily="2" charset="-122"/>
              </a:rPr>
              <a:t> + b = +1 }</a:t>
            </a:r>
          </a:p>
          <a:p>
            <a:pPr>
              <a:buClr>
                <a:schemeClr val="tx1"/>
              </a:buClr>
              <a:buSzTx/>
              <a:buFontTx/>
            </a:pPr>
            <a:r>
              <a:rPr lang="en-US" altLang="zh-CN" sz="2400" dirty="0">
                <a:ea typeface="宋体" panose="02010600030101010101" pitchFamily="2" charset="-122"/>
              </a:rPr>
              <a:t>Minus-plane =   </a:t>
            </a:r>
            <a:r>
              <a:rPr lang="en-US" altLang="zh-CN" sz="2400" i="1" dirty="0">
                <a:ea typeface="宋体" panose="02010600030101010101" pitchFamily="2" charset="-122"/>
              </a:rPr>
              <a:t>{ </a:t>
            </a:r>
            <a:r>
              <a:rPr lang="en-US" altLang="zh-CN" sz="2400" b="1" i="1" dirty="0">
                <a:ea typeface="宋体" panose="02010600030101010101" pitchFamily="2" charset="-122"/>
              </a:rPr>
              <a:t>x</a:t>
            </a:r>
            <a:r>
              <a:rPr lang="en-US" altLang="zh-CN" sz="2400" i="1" dirty="0">
                <a:ea typeface="宋体" panose="02010600030101010101" pitchFamily="2" charset="-122"/>
              </a:rPr>
              <a:t> : </a:t>
            </a:r>
            <a:r>
              <a:rPr lang="en-US" altLang="zh-CN" sz="2400" b="1" i="1" dirty="0">
                <a:ea typeface="宋体" panose="02010600030101010101" pitchFamily="2" charset="-122"/>
              </a:rPr>
              <a:t>w</a:t>
            </a:r>
            <a:r>
              <a:rPr lang="en-US" altLang="zh-CN" sz="2400" i="1" dirty="0">
                <a:ea typeface="宋体" panose="02010600030101010101" pitchFamily="2" charset="-122"/>
              </a:rPr>
              <a:t> . </a:t>
            </a:r>
            <a:r>
              <a:rPr lang="en-US" altLang="zh-CN" sz="2400" b="1" i="1" dirty="0">
                <a:ea typeface="宋体" panose="02010600030101010101" pitchFamily="2" charset="-122"/>
              </a:rPr>
              <a:t>x</a:t>
            </a:r>
            <a:r>
              <a:rPr lang="en-US" altLang="zh-CN" sz="2400" i="1" dirty="0">
                <a:ea typeface="宋体" panose="02010600030101010101" pitchFamily="2" charset="-122"/>
              </a:rPr>
              <a:t> + b = -1 }</a:t>
            </a:r>
          </a:p>
          <a:p>
            <a:pPr>
              <a:buClr>
                <a:schemeClr val="tx1"/>
              </a:buClr>
              <a:buSzTx/>
              <a:buFontTx/>
            </a:pPr>
            <a:endParaRPr lang="zh-CN" altLang="en-US" sz="2400" i="1" dirty="0">
              <a:ea typeface="宋体" panose="02010600030101010101" pitchFamily="2" charset="-122"/>
            </a:endParaRPr>
          </a:p>
        </p:txBody>
      </p:sp>
      <p:graphicFrame>
        <p:nvGraphicFramePr>
          <p:cNvPr id="646272" name="Group 128"/>
          <p:cNvGraphicFramePr>
            <a:graphicFrameLocks noGrp="1"/>
          </p:cNvGraphicFramePr>
          <p:nvPr>
            <p:ph sz="half" idx="1"/>
          </p:nvPr>
        </p:nvGraphicFramePr>
        <p:xfrm>
          <a:off x="762000" y="4495800"/>
          <a:ext cx="7278688" cy="1676400"/>
        </p:xfrm>
        <a:graphic>
          <a:graphicData uri="http://schemas.openxmlformats.org/drawingml/2006/table">
            <a:tbl>
              <a:tblPr/>
              <a:tblGrid>
                <a:gridCol w="1819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08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70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114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58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Classify as..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anose="020B060403050404020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anose="020B060403050404020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if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anose="020B060403050404020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w</a:t>
                      </a:r>
                      <a:r>
                        <a:rPr kumimoji="0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anose="020B060403050404020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. </a:t>
                      </a: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anose="020B060403050404020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x</a:t>
                      </a:r>
                      <a:r>
                        <a:rPr kumimoji="0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anose="020B060403050404020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+ b &gt;= 1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</a:pPr>
                      <a:endParaRPr kumimoji="0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ahoma" panose="020B060403050404020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ahoma" panose="020B060403050404020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if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ahoma" panose="020B060403050404020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w</a:t>
                      </a:r>
                      <a:r>
                        <a:rPr kumimoji="0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ahoma" panose="020B060403050404020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. </a:t>
                      </a: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ahoma" panose="020B060403050404020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x</a:t>
                      </a:r>
                      <a:r>
                        <a:rPr kumimoji="0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ahoma" panose="020B060403050404020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+ b &lt;= -1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</a:pPr>
                      <a:endParaRPr kumimoji="0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不可分情况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if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-1 &lt; </a:t>
                      </a: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w</a:t>
                      </a:r>
                      <a:r>
                        <a:rPr kumimoji="0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. </a:t>
                      </a: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x</a:t>
                      </a:r>
                      <a:r>
                        <a:rPr kumimoji="0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+ b &lt; 1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46260" name="Rectangle 116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r>
              <a:rPr lang="zh-CN" altLang="en-US" sz="3200" b="1" dirty="0">
                <a:ea typeface="宋体" panose="02010600030101010101" pitchFamily="2" charset="-122"/>
              </a:rPr>
              <a:t>具体化分类超平面及其间隔</a:t>
            </a:r>
          </a:p>
        </p:txBody>
      </p:sp>
      <p:sp>
        <p:nvSpPr>
          <p:cNvPr id="646261" name="Line 117"/>
          <p:cNvSpPr>
            <a:spLocks noChangeShapeType="1"/>
          </p:cNvSpPr>
          <p:nvPr/>
        </p:nvSpPr>
        <p:spPr bwMode="auto">
          <a:xfrm rot="-23199335">
            <a:off x="1758950" y="2014538"/>
            <a:ext cx="2971800" cy="0"/>
          </a:xfrm>
          <a:prstGeom prst="line">
            <a:avLst/>
          </a:prstGeom>
          <a:noFill/>
          <a:ln w="12700">
            <a:solidFill>
              <a:schemeClr val="hlink"/>
            </a:solidFill>
            <a:round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6262" name="Line 118"/>
          <p:cNvSpPr>
            <a:spLocks noChangeShapeType="1"/>
          </p:cNvSpPr>
          <p:nvPr/>
        </p:nvSpPr>
        <p:spPr bwMode="auto">
          <a:xfrm rot="-23199335">
            <a:off x="1905000" y="2305050"/>
            <a:ext cx="2971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6263" name="Line 119"/>
          <p:cNvSpPr>
            <a:spLocks noChangeShapeType="1"/>
          </p:cNvSpPr>
          <p:nvPr/>
        </p:nvSpPr>
        <p:spPr bwMode="auto">
          <a:xfrm rot="-23199335">
            <a:off x="2049463" y="2593975"/>
            <a:ext cx="2971800" cy="0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6264" name="Text Box 120"/>
          <p:cNvSpPr txBox="1">
            <a:spLocks noChangeArrowheads="1"/>
          </p:cNvSpPr>
          <p:nvPr/>
        </p:nvSpPr>
        <p:spPr bwMode="auto">
          <a:xfrm>
            <a:off x="5029200" y="1143000"/>
            <a:ext cx="1447800" cy="3968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 marL="342900" indent="-342900">
              <a:spcBef>
                <a:spcPct val="0"/>
              </a:spcBef>
              <a:defRPr sz="240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sz="240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sz="240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sz="240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sz="240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rPr>
              <a:t>Plus-Plane</a:t>
            </a:r>
          </a:p>
        </p:txBody>
      </p:sp>
      <p:sp>
        <p:nvSpPr>
          <p:cNvPr id="646265" name="Text Box 121"/>
          <p:cNvSpPr txBox="1">
            <a:spLocks noChangeArrowheads="1"/>
          </p:cNvSpPr>
          <p:nvPr/>
        </p:nvSpPr>
        <p:spPr bwMode="auto">
          <a:xfrm>
            <a:off x="5715000" y="1905000"/>
            <a:ext cx="1981200" cy="3968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 marL="342900" indent="-342900">
              <a:spcBef>
                <a:spcPct val="0"/>
              </a:spcBef>
              <a:defRPr sz="240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sz="240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sz="240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sz="240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sz="240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rPr>
              <a:t>Minus-Plane</a:t>
            </a:r>
          </a:p>
        </p:txBody>
      </p:sp>
      <p:sp>
        <p:nvSpPr>
          <p:cNvPr id="20501" name="Freeform 122"/>
          <p:cNvSpPr/>
          <p:nvPr/>
        </p:nvSpPr>
        <p:spPr>
          <a:xfrm>
            <a:off x="4718050" y="1992313"/>
            <a:ext cx="1055688" cy="150812"/>
          </a:xfrm>
          <a:custGeom>
            <a:avLst/>
            <a:gdLst/>
            <a:ahLst/>
            <a:cxnLst>
              <a:cxn ang="0">
                <a:pos x="1055688" y="117475"/>
              </a:cxn>
              <a:cxn ang="0">
                <a:pos x="246063" y="130175"/>
              </a:cxn>
              <a:cxn ang="0">
                <a:pos x="82550" y="82550"/>
              </a:cxn>
              <a:cxn ang="0">
                <a:pos x="12700" y="36512"/>
              </a:cxn>
              <a:cxn ang="0">
                <a:pos x="0" y="0"/>
              </a:cxn>
            </a:cxnLst>
            <a:rect l="0" t="0" r="0" b="0"/>
            <a:pathLst>
              <a:path w="665" h="95">
                <a:moveTo>
                  <a:pt x="665" y="74"/>
                </a:moveTo>
                <a:cubicBezTo>
                  <a:pt x="347" y="95"/>
                  <a:pt x="517" y="91"/>
                  <a:pt x="155" y="82"/>
                </a:cubicBezTo>
                <a:cubicBezTo>
                  <a:pt x="119" y="74"/>
                  <a:pt x="87" y="63"/>
                  <a:pt x="52" y="52"/>
                </a:cubicBezTo>
                <a:cubicBezTo>
                  <a:pt x="37" y="42"/>
                  <a:pt x="14" y="40"/>
                  <a:pt x="8" y="23"/>
                </a:cubicBezTo>
                <a:cubicBezTo>
                  <a:pt x="5" y="15"/>
                  <a:pt x="0" y="0"/>
                  <a:pt x="0" y="0"/>
                </a:cubicBezTo>
              </a:path>
            </a:pathLst>
          </a:custGeom>
          <a:noFill/>
          <a:ln w="38100" cap="flat" cmpd="sng">
            <a:solidFill>
              <a:schemeClr val="folHlink">
                <a:alpha val="100000"/>
              </a:schemeClr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502" name="Freeform 123"/>
          <p:cNvSpPr/>
          <p:nvPr/>
        </p:nvSpPr>
        <p:spPr>
          <a:xfrm>
            <a:off x="4402138" y="1395413"/>
            <a:ext cx="692150" cy="128587"/>
          </a:xfrm>
          <a:custGeom>
            <a:avLst/>
            <a:gdLst/>
            <a:ahLst/>
            <a:cxnLst>
              <a:cxn ang="0">
                <a:pos x="692150" y="0"/>
              </a:cxn>
              <a:cxn ang="0">
                <a:pos x="585788" y="46037"/>
              </a:cxn>
              <a:cxn ang="0">
                <a:pos x="433388" y="104775"/>
              </a:cxn>
              <a:cxn ang="0">
                <a:pos x="304800" y="128587"/>
              </a:cxn>
              <a:cxn ang="0">
                <a:pos x="93663" y="93662"/>
              </a:cxn>
              <a:cxn ang="0">
                <a:pos x="0" y="23812"/>
              </a:cxn>
            </a:cxnLst>
            <a:rect l="0" t="0" r="0" b="0"/>
            <a:pathLst>
              <a:path w="436" h="81">
                <a:moveTo>
                  <a:pt x="436" y="0"/>
                </a:moveTo>
                <a:cubicBezTo>
                  <a:pt x="411" y="8"/>
                  <a:pt x="394" y="21"/>
                  <a:pt x="369" y="29"/>
                </a:cubicBezTo>
                <a:cubicBezTo>
                  <a:pt x="340" y="49"/>
                  <a:pt x="308" y="59"/>
                  <a:pt x="273" y="66"/>
                </a:cubicBezTo>
                <a:cubicBezTo>
                  <a:pt x="246" y="71"/>
                  <a:pt x="192" y="81"/>
                  <a:pt x="192" y="81"/>
                </a:cubicBezTo>
                <a:cubicBezTo>
                  <a:pt x="127" y="76"/>
                  <a:pt x="110" y="75"/>
                  <a:pt x="59" y="59"/>
                </a:cubicBezTo>
                <a:cubicBezTo>
                  <a:pt x="38" y="45"/>
                  <a:pt x="23" y="26"/>
                  <a:pt x="0" y="15"/>
                </a:cubicBezTo>
              </a:path>
            </a:pathLst>
          </a:custGeom>
          <a:noFill/>
          <a:ln w="38100" cap="flat" cmpd="sng">
            <a:solidFill>
              <a:schemeClr val="hlink">
                <a:alpha val="100000"/>
              </a:schemeClr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6268" name="Text Box 124"/>
          <p:cNvSpPr txBox="1">
            <a:spLocks noChangeArrowheads="1"/>
          </p:cNvSpPr>
          <p:nvPr/>
        </p:nvSpPr>
        <p:spPr bwMode="auto">
          <a:xfrm>
            <a:off x="5943600" y="1524000"/>
            <a:ext cx="2438400" cy="3968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 marL="342900" indent="-342900">
              <a:spcBef>
                <a:spcPct val="0"/>
              </a:spcBef>
              <a:defRPr sz="240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sz="240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sz="240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sz="240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sz="240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rPr>
              <a:t>Classifier Boundary</a:t>
            </a:r>
          </a:p>
        </p:txBody>
      </p:sp>
      <p:sp>
        <p:nvSpPr>
          <p:cNvPr id="20504" name="Freeform 125"/>
          <p:cNvSpPr/>
          <p:nvPr/>
        </p:nvSpPr>
        <p:spPr>
          <a:xfrm>
            <a:off x="4530725" y="1735138"/>
            <a:ext cx="1465263" cy="69850"/>
          </a:xfrm>
          <a:custGeom>
            <a:avLst/>
            <a:gdLst/>
            <a:ahLst/>
            <a:cxnLst>
              <a:cxn ang="0">
                <a:pos x="1465263" y="0"/>
              </a:cxn>
              <a:cxn ang="0">
                <a:pos x="1125538" y="69850"/>
              </a:cxn>
              <a:cxn ang="0">
                <a:pos x="574675" y="58738"/>
              </a:cxn>
              <a:cxn ang="0">
                <a:pos x="0" y="11113"/>
              </a:cxn>
            </a:cxnLst>
            <a:rect l="0" t="0" r="0" b="0"/>
            <a:pathLst>
              <a:path w="923" h="44">
                <a:moveTo>
                  <a:pt x="923" y="0"/>
                </a:moveTo>
                <a:cubicBezTo>
                  <a:pt x="857" y="34"/>
                  <a:pt x="782" y="37"/>
                  <a:pt x="709" y="44"/>
                </a:cubicBezTo>
                <a:cubicBezTo>
                  <a:pt x="593" y="42"/>
                  <a:pt x="478" y="42"/>
                  <a:pt x="362" y="37"/>
                </a:cubicBezTo>
                <a:cubicBezTo>
                  <a:pt x="241" y="32"/>
                  <a:pt x="122" y="7"/>
                  <a:pt x="0" y="7"/>
                </a:cubicBezTo>
              </a:path>
            </a:pathLst>
          </a:custGeom>
          <a:noFill/>
          <a:ln w="38100" cap="flat" cmpd="sng">
            <a:solidFill>
              <a:schemeClr val="tx1">
                <a:alpha val="100000"/>
              </a:schemeClr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6270" name="Text Box 126"/>
          <p:cNvSpPr txBox="1">
            <a:spLocks noChangeArrowheads="1"/>
          </p:cNvSpPr>
          <p:nvPr/>
        </p:nvSpPr>
        <p:spPr bwMode="auto">
          <a:xfrm rot="-1586986">
            <a:off x="1371600" y="1192213"/>
            <a:ext cx="3048000" cy="8540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L="342900" indent="-342900" algn="ctr"/>
            <a:r>
              <a:rPr lang="en-US" altLang="zh-CN" dirty="0">
                <a:solidFill>
                  <a:schemeClr val="hlink"/>
                </a:solidFill>
                <a:latin typeface="Tahoma" panose="020B0604030504040204" charset="0"/>
                <a:ea typeface="宋体" panose="02010600030101010101" pitchFamily="2" charset="-122"/>
              </a:rPr>
              <a:t>zone</a:t>
            </a:r>
          </a:p>
          <a:p>
            <a:pPr marL="342900" indent="-342900" algn="ctr"/>
            <a:r>
              <a:rPr lang="zh-CN" altLang="en-US" dirty="0">
                <a:solidFill>
                  <a:schemeClr val="hlink"/>
                </a:solidFill>
                <a:latin typeface="Tahoma" panose="020B0604030504040204" charset="0"/>
                <a:ea typeface="宋体" panose="02010600030101010101" pitchFamily="2" charset="-122"/>
              </a:rPr>
              <a:t>“</a:t>
            </a:r>
            <a:r>
              <a:rPr lang="en-US" altLang="zh-CN" dirty="0">
                <a:solidFill>
                  <a:schemeClr val="hlink"/>
                </a:solidFill>
                <a:latin typeface="Tahoma" panose="020B0604030504040204" charset="0"/>
                <a:ea typeface="宋体" panose="02010600030101010101" pitchFamily="2" charset="-122"/>
              </a:rPr>
              <a:t>Predict Class = +1”</a:t>
            </a:r>
          </a:p>
        </p:txBody>
      </p:sp>
      <p:sp>
        <p:nvSpPr>
          <p:cNvPr id="646271" name="Text Box 127"/>
          <p:cNvSpPr txBox="1">
            <a:spLocks noChangeArrowheads="1"/>
          </p:cNvSpPr>
          <p:nvPr/>
        </p:nvSpPr>
        <p:spPr bwMode="auto">
          <a:xfrm rot="-1586986">
            <a:off x="2293938" y="2547938"/>
            <a:ext cx="2887663" cy="7016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L="342900" indent="-342900" algn="ctr"/>
            <a:r>
              <a:rPr lang="zh-CN" altLang="en-US" dirty="0">
                <a:solidFill>
                  <a:schemeClr val="folHlink"/>
                </a:solidFill>
                <a:latin typeface="Tahoma" panose="020B0604030504040204" charset="0"/>
                <a:ea typeface="宋体" panose="02010600030101010101" pitchFamily="2" charset="-122"/>
              </a:rPr>
              <a:t>“</a:t>
            </a:r>
            <a:r>
              <a:rPr lang="en-US" altLang="zh-CN" dirty="0">
                <a:solidFill>
                  <a:schemeClr val="folHlink"/>
                </a:solidFill>
                <a:latin typeface="Tahoma" panose="020B0604030504040204" charset="0"/>
                <a:ea typeface="宋体" panose="02010600030101010101" pitchFamily="2" charset="-122"/>
              </a:rPr>
              <a:t>Predict Class = -1” zone</a:t>
            </a:r>
          </a:p>
        </p:txBody>
      </p:sp>
    </p:spTree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10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04800" y="3429000"/>
            <a:ext cx="8686800" cy="3048000"/>
          </a:xfrm>
        </p:spPr>
        <p:txBody>
          <a:bodyPr vert="horz" wrap="square" lIns="91440" tIns="45720" rIns="91440" bIns="45720" numCol="1" anchor="t" anchorCtr="0" compatLnSpc="1"/>
          <a:lstStyle/>
          <a:p>
            <a:pPr>
              <a:buClr>
                <a:schemeClr val="tx1"/>
              </a:buClr>
              <a:buSzTx/>
              <a:buFontTx/>
            </a:pPr>
            <a:r>
              <a:rPr lang="en-US" altLang="zh-CN" sz="2400" dirty="0">
                <a:ea typeface="宋体" panose="02010600030101010101" pitchFamily="2" charset="-122"/>
              </a:rPr>
              <a:t>Plus-plane   =    </a:t>
            </a:r>
            <a:r>
              <a:rPr lang="en-US" altLang="zh-CN" sz="2400" i="1" dirty="0">
                <a:ea typeface="宋体" panose="02010600030101010101" pitchFamily="2" charset="-122"/>
              </a:rPr>
              <a:t>{ </a:t>
            </a:r>
            <a:r>
              <a:rPr lang="en-US" altLang="zh-CN" sz="2400" b="1" i="1" dirty="0">
                <a:ea typeface="宋体" panose="02010600030101010101" pitchFamily="2" charset="-122"/>
              </a:rPr>
              <a:t>x</a:t>
            </a:r>
            <a:r>
              <a:rPr lang="en-US" altLang="zh-CN" sz="2400" i="1" dirty="0">
                <a:ea typeface="宋体" panose="02010600030101010101" pitchFamily="2" charset="-122"/>
              </a:rPr>
              <a:t> : </a:t>
            </a:r>
            <a:r>
              <a:rPr lang="en-US" altLang="zh-CN" sz="2400" b="1" i="1" dirty="0">
                <a:ea typeface="宋体" panose="02010600030101010101" pitchFamily="2" charset="-122"/>
              </a:rPr>
              <a:t>w</a:t>
            </a:r>
            <a:r>
              <a:rPr lang="en-US" altLang="zh-CN" sz="2400" i="1" dirty="0">
                <a:ea typeface="宋体" panose="02010600030101010101" pitchFamily="2" charset="-122"/>
              </a:rPr>
              <a:t> . </a:t>
            </a:r>
            <a:r>
              <a:rPr lang="en-US" altLang="zh-CN" sz="2400" b="1" i="1" dirty="0">
                <a:ea typeface="宋体" panose="02010600030101010101" pitchFamily="2" charset="-122"/>
              </a:rPr>
              <a:t>x</a:t>
            </a:r>
            <a:r>
              <a:rPr lang="en-US" altLang="zh-CN" sz="2400" i="1" dirty="0">
                <a:ea typeface="宋体" panose="02010600030101010101" pitchFamily="2" charset="-122"/>
              </a:rPr>
              <a:t> + b = +1 }</a:t>
            </a:r>
          </a:p>
          <a:p>
            <a:pPr>
              <a:buClr>
                <a:schemeClr val="tx1"/>
              </a:buClr>
              <a:buSzTx/>
              <a:buFontTx/>
            </a:pPr>
            <a:r>
              <a:rPr lang="en-US" altLang="zh-CN" sz="2400" dirty="0">
                <a:ea typeface="宋体" panose="02010600030101010101" pitchFamily="2" charset="-122"/>
              </a:rPr>
              <a:t>Minus-plane =   </a:t>
            </a:r>
            <a:r>
              <a:rPr lang="en-US" altLang="zh-CN" sz="2400" i="1" dirty="0">
                <a:ea typeface="宋体" panose="02010600030101010101" pitchFamily="2" charset="-122"/>
              </a:rPr>
              <a:t>{ </a:t>
            </a:r>
            <a:r>
              <a:rPr lang="en-US" altLang="zh-CN" sz="2400" b="1" i="1" dirty="0">
                <a:ea typeface="宋体" panose="02010600030101010101" pitchFamily="2" charset="-122"/>
              </a:rPr>
              <a:t>x</a:t>
            </a:r>
            <a:r>
              <a:rPr lang="en-US" altLang="zh-CN" sz="2400" i="1" dirty="0">
                <a:ea typeface="宋体" panose="02010600030101010101" pitchFamily="2" charset="-122"/>
              </a:rPr>
              <a:t> : </a:t>
            </a:r>
            <a:r>
              <a:rPr lang="en-US" altLang="zh-CN" sz="2400" b="1" i="1" dirty="0">
                <a:ea typeface="宋体" panose="02010600030101010101" pitchFamily="2" charset="-122"/>
              </a:rPr>
              <a:t>w</a:t>
            </a:r>
            <a:r>
              <a:rPr lang="en-US" altLang="zh-CN" sz="2400" i="1" dirty="0">
                <a:ea typeface="宋体" panose="02010600030101010101" pitchFamily="2" charset="-122"/>
              </a:rPr>
              <a:t> . </a:t>
            </a:r>
            <a:r>
              <a:rPr lang="en-US" altLang="zh-CN" sz="2400" b="1" i="1" dirty="0">
                <a:ea typeface="宋体" panose="02010600030101010101" pitchFamily="2" charset="-122"/>
              </a:rPr>
              <a:t>x</a:t>
            </a:r>
            <a:r>
              <a:rPr lang="en-US" altLang="zh-CN" sz="2400" i="1" dirty="0">
                <a:ea typeface="宋体" panose="02010600030101010101" pitchFamily="2" charset="-122"/>
              </a:rPr>
              <a:t> + b = -1 }</a:t>
            </a:r>
          </a:p>
          <a:p>
            <a:pPr>
              <a:buClr>
                <a:schemeClr val="tx1"/>
              </a:buClr>
              <a:buSzTx/>
              <a:buFontTx/>
            </a:pPr>
            <a:r>
              <a:rPr lang="zh-CN" altLang="en-US" sz="2400" dirty="0">
                <a:ea typeface="宋体" panose="02010600030101010101" pitchFamily="2" charset="-122"/>
              </a:rPr>
              <a:t>向量</a:t>
            </a:r>
            <a:r>
              <a:rPr lang="en-US" altLang="zh-CN" sz="2400" dirty="0">
                <a:ea typeface="宋体" panose="02010600030101010101" pitchFamily="2" charset="-122"/>
              </a:rPr>
              <a:t> </a:t>
            </a:r>
            <a:r>
              <a:rPr lang="en-US" altLang="zh-CN" sz="2400" b="1" dirty="0">
                <a:ea typeface="宋体" panose="02010600030101010101" pitchFamily="2" charset="-122"/>
              </a:rPr>
              <a:t>w</a:t>
            </a:r>
            <a:r>
              <a:rPr lang="en-US" altLang="zh-CN" sz="2400" dirty="0">
                <a:ea typeface="宋体" panose="02010600030101010101" pitchFamily="2" charset="-122"/>
              </a:rPr>
              <a:t> </a:t>
            </a:r>
            <a:r>
              <a:rPr lang="zh-CN" altLang="en-US" sz="2400" dirty="0">
                <a:ea typeface="宋体" panose="02010600030101010101" pitchFamily="2" charset="-122"/>
              </a:rPr>
              <a:t>与 </a:t>
            </a:r>
            <a:r>
              <a:rPr lang="en-US" altLang="zh-CN" sz="2400" dirty="0">
                <a:ea typeface="宋体" panose="02010600030101010101" pitchFamily="2" charset="-122"/>
              </a:rPr>
              <a:t>Plus Plane </a:t>
            </a:r>
            <a:r>
              <a:rPr lang="zh-CN" altLang="en-US" sz="2400" dirty="0">
                <a:ea typeface="宋体" panose="02010600030101010101" pitchFamily="2" charset="-122"/>
              </a:rPr>
              <a:t>垂直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>
              <a:buClr>
                <a:schemeClr val="tx1"/>
              </a:buClr>
              <a:buSzTx/>
              <a:buFontTx/>
            </a:pPr>
            <a:r>
              <a:rPr lang="zh-CN" altLang="en-US" sz="2400" dirty="0">
                <a:ea typeface="宋体" panose="02010600030101010101" pitchFamily="2" charset="-122"/>
              </a:rPr>
              <a:t>设 </a:t>
            </a:r>
            <a:r>
              <a:rPr lang="en-US" altLang="zh-CN" sz="2400" b="1" i="1" dirty="0">
                <a:ea typeface="宋体" panose="02010600030101010101" pitchFamily="2" charset="-122"/>
              </a:rPr>
              <a:t>x</a:t>
            </a:r>
            <a:r>
              <a:rPr lang="en-US" altLang="zh-CN" sz="2400" b="1" i="1" baseline="30000" dirty="0">
                <a:ea typeface="宋体" panose="02010600030101010101" pitchFamily="2" charset="-122"/>
              </a:rPr>
              <a:t>-</a:t>
            </a:r>
            <a:r>
              <a:rPr lang="en-US" altLang="zh-CN" sz="2400" dirty="0">
                <a:ea typeface="宋体" panose="02010600030101010101" pitchFamily="2" charset="-122"/>
              </a:rPr>
              <a:t> </a:t>
            </a:r>
            <a:r>
              <a:rPr lang="zh-CN" altLang="en-US" sz="2400" dirty="0">
                <a:ea typeface="宋体" panose="02010600030101010101" pitchFamily="2" charset="-122"/>
              </a:rPr>
              <a:t>是 </a:t>
            </a:r>
            <a:r>
              <a:rPr lang="en-US" altLang="zh-CN" sz="2400" dirty="0">
                <a:ea typeface="宋体" panose="02010600030101010101" pitchFamily="2" charset="-122"/>
              </a:rPr>
              <a:t>minus plane</a:t>
            </a:r>
            <a:r>
              <a:rPr lang="zh-CN" altLang="en-US" sz="2400" dirty="0">
                <a:ea typeface="宋体" panose="02010600030101010101" pitchFamily="2" charset="-122"/>
              </a:rPr>
              <a:t>上任意一点</a:t>
            </a:r>
          </a:p>
          <a:p>
            <a:pPr>
              <a:buClr>
                <a:schemeClr val="tx1"/>
              </a:buClr>
              <a:buSzTx/>
              <a:buFontTx/>
            </a:pPr>
            <a:r>
              <a:rPr lang="zh-CN" altLang="en-US" sz="2400" dirty="0">
                <a:ea typeface="宋体" panose="02010600030101010101" pitchFamily="2" charset="-122"/>
              </a:rPr>
              <a:t>设 </a:t>
            </a:r>
            <a:r>
              <a:rPr lang="en-US" altLang="zh-CN" sz="2400" b="1" i="1" dirty="0">
                <a:ea typeface="宋体" panose="02010600030101010101" pitchFamily="2" charset="-122"/>
              </a:rPr>
              <a:t>x</a:t>
            </a:r>
            <a:r>
              <a:rPr lang="en-US" altLang="zh-CN" sz="2400" b="1" i="1" baseline="30000" dirty="0">
                <a:ea typeface="宋体" panose="02010600030101010101" pitchFamily="2" charset="-122"/>
              </a:rPr>
              <a:t>+</a:t>
            </a:r>
            <a:r>
              <a:rPr lang="zh-CN" altLang="en-US" sz="2400" dirty="0">
                <a:ea typeface="宋体" panose="02010600030101010101" pitchFamily="2" charset="-122"/>
              </a:rPr>
              <a:t>是</a:t>
            </a:r>
            <a:r>
              <a:rPr lang="en-US" altLang="zh-CN" sz="2400" dirty="0">
                <a:ea typeface="宋体" panose="02010600030101010101" pitchFamily="2" charset="-122"/>
              </a:rPr>
              <a:t>plus-plane</a:t>
            </a:r>
            <a:r>
              <a:rPr lang="zh-CN" altLang="en-US" sz="2400" dirty="0">
                <a:ea typeface="宋体" panose="02010600030101010101" pitchFamily="2" charset="-122"/>
              </a:rPr>
              <a:t>上距离 </a:t>
            </a:r>
            <a:r>
              <a:rPr lang="en-US" altLang="zh-CN" sz="2400" b="1" i="1" dirty="0">
                <a:ea typeface="宋体" panose="02010600030101010101" pitchFamily="2" charset="-122"/>
              </a:rPr>
              <a:t>x</a:t>
            </a:r>
            <a:r>
              <a:rPr lang="en-US" altLang="zh-CN" sz="2400" b="1" i="1" baseline="30000" dirty="0">
                <a:ea typeface="宋体" panose="02010600030101010101" pitchFamily="2" charset="-122"/>
              </a:rPr>
              <a:t>-</a:t>
            </a:r>
            <a:r>
              <a:rPr lang="zh-CN" altLang="en-US" sz="2400" dirty="0">
                <a:ea typeface="宋体" panose="02010600030101010101" pitchFamily="2" charset="-122"/>
              </a:rPr>
              <a:t>最近的点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>
              <a:buClr>
                <a:schemeClr val="tx1"/>
              </a:buClr>
              <a:buSzTx/>
              <a:buFontTx/>
            </a:pPr>
            <a:r>
              <a:rPr lang="zh-CN" altLang="en-US" sz="2400" dirty="0">
                <a:solidFill>
                  <a:srgbClr val="009900"/>
                </a:solidFill>
                <a:ea typeface="宋体" panose="02010600030101010101" pitchFamily="2" charset="-122"/>
              </a:rPr>
              <a:t>注:</a:t>
            </a:r>
            <a:r>
              <a:rPr lang="zh-CN" altLang="en-US" sz="2400" dirty="0">
                <a:ea typeface="宋体" panose="02010600030101010101" pitchFamily="2" charset="-122"/>
              </a:rPr>
              <a:t> 对于某实数</a:t>
            </a:r>
            <a:r>
              <a:rPr lang="en-US" altLang="zh-CN" sz="2400" i="1" dirty="0">
                <a:latin typeface="Symbol" panose="05050102010706020507" charset="2"/>
                <a:ea typeface="宋体" panose="02010600030101010101" pitchFamily="2" charset="-122"/>
              </a:rPr>
              <a:t>l，</a:t>
            </a:r>
            <a:r>
              <a:rPr lang="zh-CN" altLang="en-US" sz="2400" dirty="0">
                <a:ea typeface="宋体" panose="02010600030101010101" pitchFamily="2" charset="-122"/>
              </a:rPr>
              <a:t> </a:t>
            </a:r>
            <a:r>
              <a:rPr lang="en-US" altLang="zh-CN" sz="2400" b="1" i="1" dirty="0">
                <a:ea typeface="宋体" panose="02010600030101010101" pitchFamily="2" charset="-122"/>
              </a:rPr>
              <a:t>x</a:t>
            </a:r>
            <a:r>
              <a:rPr lang="en-US" altLang="zh-CN" sz="2400" b="1" i="1" baseline="30000" dirty="0">
                <a:ea typeface="宋体" panose="02010600030101010101" pitchFamily="2" charset="-122"/>
              </a:rPr>
              <a:t>+</a:t>
            </a:r>
            <a:r>
              <a:rPr lang="en-US" altLang="zh-CN" sz="2400" dirty="0">
                <a:ea typeface="宋体" panose="02010600030101010101" pitchFamily="2" charset="-122"/>
              </a:rPr>
              <a:t> = </a:t>
            </a:r>
            <a:r>
              <a:rPr lang="en-US" altLang="zh-CN" sz="2400" b="1" i="1" dirty="0">
                <a:ea typeface="宋体" panose="02010600030101010101" pitchFamily="2" charset="-122"/>
              </a:rPr>
              <a:t>x</a:t>
            </a:r>
            <a:r>
              <a:rPr lang="en-US" altLang="zh-CN" sz="2400" b="1" i="1" baseline="30000" dirty="0">
                <a:ea typeface="宋体" panose="02010600030101010101" pitchFamily="2" charset="-122"/>
              </a:rPr>
              <a:t>-</a:t>
            </a:r>
            <a:r>
              <a:rPr lang="en-US" altLang="zh-CN" sz="2400" dirty="0">
                <a:ea typeface="宋体" panose="02010600030101010101" pitchFamily="2" charset="-122"/>
              </a:rPr>
              <a:t> + </a:t>
            </a:r>
            <a:r>
              <a:rPr lang="en-US" altLang="zh-CN" sz="2400" i="1" dirty="0">
                <a:latin typeface="Symbol" panose="05050102010706020507" charset="2"/>
                <a:ea typeface="宋体" panose="02010600030101010101" pitchFamily="2" charset="-122"/>
              </a:rPr>
              <a:t>l</a:t>
            </a:r>
            <a:r>
              <a:rPr lang="en-US" altLang="zh-CN" sz="2400" dirty="0">
                <a:ea typeface="宋体" panose="02010600030101010101" pitchFamily="2" charset="-122"/>
              </a:rPr>
              <a:t> </a:t>
            </a:r>
            <a:r>
              <a:rPr lang="en-US" altLang="zh-CN" sz="2400" b="1" i="1" dirty="0">
                <a:ea typeface="宋体" panose="02010600030101010101" pitchFamily="2" charset="-122"/>
              </a:rPr>
              <a:t>w</a:t>
            </a:r>
            <a:r>
              <a:rPr lang="en-US" altLang="zh-CN" sz="2400" dirty="0">
                <a:ea typeface="宋体" panose="02010600030101010101" pitchFamily="2" charset="-122"/>
              </a:rPr>
              <a:t>. </a:t>
            </a:r>
            <a:endParaRPr lang="zh-CN" altLang="en-US" sz="2400" dirty="0">
              <a:solidFill>
                <a:srgbClr val="009900"/>
              </a:solidFill>
              <a:ea typeface="宋体" panose="02010600030101010101" pitchFamily="2" charset="-122"/>
            </a:endParaRPr>
          </a:p>
        </p:txBody>
      </p:sp>
      <p:sp>
        <p:nvSpPr>
          <p:cNvPr id="687128" name="Oval 24"/>
          <p:cNvSpPr>
            <a:spLocks noChangeArrowheads="1"/>
          </p:cNvSpPr>
          <p:nvPr/>
        </p:nvSpPr>
        <p:spPr bwMode="auto">
          <a:xfrm>
            <a:off x="4419600" y="2273300"/>
            <a:ext cx="76200" cy="76200"/>
          </a:xfrm>
          <a:prstGeom prst="ellipse">
            <a:avLst/>
          </a:prstGeom>
          <a:solidFill>
            <a:srgbClr val="990099"/>
          </a:solidFill>
          <a:ln>
            <a:noFill/>
          </a:ln>
          <a:effectLst/>
        </p:spPr>
        <p:txBody>
          <a:bodyPr wrap="none"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87129" name="Text Box 25"/>
          <p:cNvSpPr txBox="1">
            <a:spLocks noChangeArrowheads="1"/>
          </p:cNvSpPr>
          <p:nvPr/>
        </p:nvSpPr>
        <p:spPr bwMode="auto">
          <a:xfrm>
            <a:off x="4495800" y="1752600"/>
            <a:ext cx="515938" cy="415925"/>
          </a:xfrm>
          <a:prstGeom prst="rect">
            <a:avLst/>
          </a:prstGeom>
          <a:solidFill>
            <a:schemeClr val="bg1"/>
          </a:solidFill>
          <a:ln w="19050">
            <a:solidFill>
              <a:srgbClr val="990099"/>
            </a:solidFill>
            <a:miter lim="800000"/>
          </a:ln>
          <a:effectLst/>
        </p:spPr>
        <p:txBody>
          <a:bodyPr>
            <a:spAutoFit/>
          </a:bodyPr>
          <a:lstStyle>
            <a:lvl1pPr marL="342900" indent="-342900">
              <a:spcBef>
                <a:spcPct val="0"/>
              </a:spcBef>
              <a:defRPr sz="240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sz="240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sz="240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sz="240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sz="240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rgbClr val="990099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rPr>
              <a:t>x</a:t>
            </a:r>
            <a:r>
              <a:rPr kumimoji="0" lang="en-US" altLang="zh-CN" sz="2400" b="0" i="1" u="none" strike="noStrike" kern="1200" cap="none" spc="0" normalizeH="0" baseline="30000" noProof="0">
                <a:ln>
                  <a:noFill/>
                </a:ln>
                <a:solidFill>
                  <a:srgbClr val="990099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rPr>
              <a:t>-</a:t>
            </a:r>
          </a:p>
        </p:txBody>
      </p:sp>
      <p:sp>
        <p:nvSpPr>
          <p:cNvPr id="687130" name="Oval 26"/>
          <p:cNvSpPr>
            <a:spLocks noChangeArrowheads="1"/>
          </p:cNvSpPr>
          <p:nvPr/>
        </p:nvSpPr>
        <p:spPr bwMode="auto">
          <a:xfrm>
            <a:off x="4114800" y="1676400"/>
            <a:ext cx="76200" cy="76200"/>
          </a:xfrm>
          <a:prstGeom prst="ellipse">
            <a:avLst/>
          </a:prstGeom>
          <a:solidFill>
            <a:srgbClr val="CC3300"/>
          </a:solidFill>
          <a:ln>
            <a:noFill/>
          </a:ln>
          <a:effectLst/>
        </p:spPr>
        <p:txBody>
          <a:bodyPr wrap="none"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87131" name="Text Box 27"/>
          <p:cNvSpPr txBox="1">
            <a:spLocks noChangeArrowheads="1"/>
          </p:cNvSpPr>
          <p:nvPr/>
        </p:nvSpPr>
        <p:spPr bwMode="auto">
          <a:xfrm>
            <a:off x="4572000" y="914400"/>
            <a:ext cx="515938" cy="415925"/>
          </a:xfrm>
          <a:prstGeom prst="rect">
            <a:avLst/>
          </a:prstGeom>
          <a:solidFill>
            <a:schemeClr val="bg1"/>
          </a:solidFill>
          <a:ln w="19050">
            <a:solidFill>
              <a:srgbClr val="CC3300"/>
            </a:solidFill>
            <a:miter lim="800000"/>
          </a:ln>
          <a:effectLst/>
        </p:spPr>
        <p:txBody>
          <a:bodyPr>
            <a:spAutoFit/>
          </a:bodyPr>
          <a:lstStyle>
            <a:lvl1pPr marL="342900" indent="-342900">
              <a:spcBef>
                <a:spcPct val="0"/>
              </a:spcBef>
              <a:defRPr sz="240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sz="240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sz="240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sz="240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sz="240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rPr>
              <a:t>x</a:t>
            </a:r>
            <a:r>
              <a:rPr kumimoji="0" lang="en-US" altLang="zh-CN" sz="2400" b="0" i="1" u="none" strike="noStrike" kern="1200" cap="none" spc="0" normalizeH="0" baseline="30000" noProof="0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rPr>
              <a:t>+</a:t>
            </a:r>
          </a:p>
        </p:txBody>
      </p:sp>
      <p:sp>
        <p:nvSpPr>
          <p:cNvPr id="687132" name="Rectangle 28"/>
          <p:cNvSpPr>
            <a:spLocks noChangeArrowheads="1"/>
          </p:cNvSpPr>
          <p:nvPr/>
        </p:nvSpPr>
        <p:spPr bwMode="auto">
          <a:xfrm>
            <a:off x="228600" y="76200"/>
            <a:ext cx="8534400" cy="685800"/>
          </a:xfrm>
          <a:prstGeom prst="rect">
            <a:avLst/>
          </a:prstGeom>
          <a:noFill/>
          <a:ln>
            <a:noFill/>
          </a:ln>
          <a:effectLst/>
        </p:spPr>
        <p:txBody>
          <a:bodyPr anchor="b"/>
          <a:lstStyle/>
          <a:p>
            <a:pPr algn="ctr">
              <a:spcBef>
                <a:spcPct val="0"/>
              </a:spcBef>
              <a:buClrTx/>
            </a:pPr>
            <a:r>
              <a:rPr lang="zh-CN" altLang="en-US" sz="3200" b="1" dirty="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rPr>
              <a:t>计算间隔</a:t>
            </a:r>
          </a:p>
        </p:txBody>
      </p:sp>
      <p:sp>
        <p:nvSpPr>
          <p:cNvPr id="687133" name="Line 29"/>
          <p:cNvSpPr>
            <a:spLocks noChangeShapeType="1"/>
          </p:cNvSpPr>
          <p:nvPr/>
        </p:nvSpPr>
        <p:spPr bwMode="auto">
          <a:xfrm rot="-23199335">
            <a:off x="2292350" y="1905000"/>
            <a:ext cx="2971800" cy="0"/>
          </a:xfrm>
          <a:prstGeom prst="line">
            <a:avLst/>
          </a:prstGeom>
          <a:noFill/>
          <a:ln w="12700">
            <a:solidFill>
              <a:schemeClr val="hlink"/>
            </a:solidFill>
            <a:round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87134" name="Line 30"/>
          <p:cNvSpPr>
            <a:spLocks noChangeShapeType="1"/>
          </p:cNvSpPr>
          <p:nvPr/>
        </p:nvSpPr>
        <p:spPr bwMode="auto">
          <a:xfrm rot="-23199335">
            <a:off x="2438400" y="2195513"/>
            <a:ext cx="2971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87135" name="Line 31"/>
          <p:cNvSpPr>
            <a:spLocks noChangeShapeType="1"/>
          </p:cNvSpPr>
          <p:nvPr/>
        </p:nvSpPr>
        <p:spPr bwMode="auto">
          <a:xfrm rot="-23199335">
            <a:off x="2582863" y="2484438"/>
            <a:ext cx="2971800" cy="0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87136" name="Text Box 32"/>
          <p:cNvSpPr txBox="1">
            <a:spLocks noChangeArrowheads="1"/>
          </p:cNvSpPr>
          <p:nvPr/>
        </p:nvSpPr>
        <p:spPr bwMode="auto">
          <a:xfrm rot="-1586986">
            <a:off x="1470025" y="1075690"/>
            <a:ext cx="3048000" cy="8540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L="342900" indent="-342900" algn="ctr"/>
            <a:r>
              <a:rPr lang="en-US" altLang="zh-CN" dirty="0">
                <a:solidFill>
                  <a:schemeClr val="hlink"/>
                </a:solidFill>
                <a:latin typeface="Tahoma" panose="020B0604030504040204" charset="0"/>
                <a:ea typeface="宋体" panose="02010600030101010101" pitchFamily="2" charset="-122"/>
              </a:rPr>
              <a:t>Zone</a:t>
            </a:r>
          </a:p>
          <a:p>
            <a:pPr marL="342900" indent="-342900" algn="ctr"/>
            <a:r>
              <a:rPr lang="zh-CN" altLang="en-US" dirty="0">
                <a:solidFill>
                  <a:schemeClr val="hlink"/>
                </a:solidFill>
                <a:latin typeface="Tahoma" panose="020B0604030504040204" charset="0"/>
                <a:ea typeface="宋体" panose="02010600030101010101" pitchFamily="2" charset="-122"/>
              </a:rPr>
              <a:t>“</a:t>
            </a:r>
            <a:r>
              <a:rPr lang="en-US" altLang="zh-CN" dirty="0">
                <a:solidFill>
                  <a:schemeClr val="hlink"/>
                </a:solidFill>
                <a:latin typeface="Tahoma" panose="020B0604030504040204" charset="0"/>
                <a:ea typeface="宋体" panose="02010600030101010101" pitchFamily="2" charset="-122"/>
              </a:rPr>
              <a:t>Predict Class = +1”</a:t>
            </a:r>
          </a:p>
        </p:txBody>
      </p:sp>
      <p:sp>
        <p:nvSpPr>
          <p:cNvPr id="687137" name="Text Box 33"/>
          <p:cNvSpPr txBox="1">
            <a:spLocks noChangeArrowheads="1"/>
          </p:cNvSpPr>
          <p:nvPr/>
        </p:nvSpPr>
        <p:spPr bwMode="auto">
          <a:xfrm rot="-1586986">
            <a:off x="2827338" y="2438400"/>
            <a:ext cx="2887663" cy="7016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L="342900" indent="-342900" algn="ctr"/>
            <a:r>
              <a:rPr lang="zh-CN" altLang="en-US" dirty="0">
                <a:solidFill>
                  <a:schemeClr val="folHlink"/>
                </a:solidFill>
                <a:latin typeface="Tahoma" panose="020B0604030504040204" charset="0"/>
                <a:ea typeface="宋体" panose="02010600030101010101" pitchFamily="2" charset="-122"/>
              </a:rPr>
              <a:t>“</a:t>
            </a:r>
            <a:r>
              <a:rPr lang="en-US" altLang="zh-CN" dirty="0">
                <a:solidFill>
                  <a:schemeClr val="folHlink"/>
                </a:solidFill>
                <a:latin typeface="Tahoma" panose="020B0604030504040204" charset="0"/>
                <a:ea typeface="宋体" panose="02010600030101010101" pitchFamily="2" charset="-122"/>
              </a:rPr>
              <a:t>Predict Class = -1” zone</a:t>
            </a:r>
          </a:p>
        </p:txBody>
      </p:sp>
      <p:sp>
        <p:nvSpPr>
          <p:cNvPr id="687138" name="Text Box 34"/>
          <p:cNvSpPr txBox="1">
            <a:spLocks noChangeArrowheads="1"/>
          </p:cNvSpPr>
          <p:nvPr/>
        </p:nvSpPr>
        <p:spPr bwMode="auto">
          <a:xfrm rot="-1777892">
            <a:off x="1600200" y="2633663"/>
            <a:ext cx="9906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 marL="342900" indent="-342900">
              <a:spcBef>
                <a:spcPct val="0"/>
              </a:spcBef>
              <a:defRPr sz="240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sz="240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sz="240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sz="240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sz="240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9pPr>
          </a:lstStyle>
          <a:p>
            <a:pPr marL="342900" marR="0" lvl="0" indent="-34290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rPr>
              <a:t>wx+b=1</a:t>
            </a:r>
          </a:p>
        </p:txBody>
      </p:sp>
      <p:sp>
        <p:nvSpPr>
          <p:cNvPr id="687139" name="Text Box 35"/>
          <p:cNvSpPr txBox="1">
            <a:spLocks noChangeArrowheads="1"/>
          </p:cNvSpPr>
          <p:nvPr/>
        </p:nvSpPr>
        <p:spPr bwMode="auto">
          <a:xfrm rot="-1777892">
            <a:off x="1754188" y="2903538"/>
            <a:ext cx="9906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 marL="342900" indent="-342900">
              <a:spcBef>
                <a:spcPct val="0"/>
              </a:spcBef>
              <a:defRPr sz="240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sz="240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sz="240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sz="240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sz="240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9pPr>
          </a:lstStyle>
          <a:p>
            <a:pPr marL="342900" marR="0" lvl="0" indent="-34290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rPr>
              <a:t>wx+b=0</a:t>
            </a:r>
          </a:p>
        </p:txBody>
      </p:sp>
      <p:sp>
        <p:nvSpPr>
          <p:cNvPr id="687140" name="Text Box 36"/>
          <p:cNvSpPr txBox="1">
            <a:spLocks noChangeArrowheads="1"/>
          </p:cNvSpPr>
          <p:nvPr/>
        </p:nvSpPr>
        <p:spPr bwMode="auto">
          <a:xfrm rot="-1777892">
            <a:off x="1905000" y="3148013"/>
            <a:ext cx="9906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 marL="342900" indent="-342900">
              <a:spcBef>
                <a:spcPct val="0"/>
              </a:spcBef>
              <a:defRPr sz="240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sz="240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sz="240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sz="240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sz="240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9pPr>
          </a:lstStyle>
          <a:p>
            <a:pPr marL="342900" marR="0" lvl="0" indent="-34290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rPr>
              <a:t>wx+b=-1</a:t>
            </a:r>
          </a:p>
        </p:txBody>
      </p:sp>
      <p:sp>
        <p:nvSpPr>
          <p:cNvPr id="687141" name="Line 37"/>
          <p:cNvSpPr>
            <a:spLocks noChangeShapeType="1"/>
          </p:cNvSpPr>
          <p:nvPr/>
        </p:nvSpPr>
        <p:spPr bwMode="auto">
          <a:xfrm>
            <a:off x="5170488" y="1214438"/>
            <a:ext cx="327025" cy="5984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87142" name="Text Box 38"/>
          <p:cNvSpPr txBox="1">
            <a:spLocks noChangeArrowheads="1"/>
          </p:cNvSpPr>
          <p:nvPr/>
        </p:nvSpPr>
        <p:spPr bwMode="auto">
          <a:xfrm>
            <a:off x="5286375" y="1168400"/>
            <a:ext cx="2592388" cy="3968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 marL="342900" indent="-342900">
              <a:spcBef>
                <a:spcPct val="0"/>
              </a:spcBef>
              <a:defRPr sz="240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sz="240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sz="240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sz="240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sz="240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000" b="0" i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rPr>
              <a:t>M =</a:t>
            </a: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rPr>
              <a:t> Margin</a:t>
            </a:r>
          </a:p>
        </p:txBody>
      </p:sp>
      <p:sp>
        <p:nvSpPr>
          <p:cNvPr id="687143" name="Text Box 39"/>
          <p:cNvSpPr txBox="1">
            <a:spLocks noChangeArrowheads="1"/>
          </p:cNvSpPr>
          <p:nvPr/>
        </p:nvSpPr>
        <p:spPr bwMode="auto">
          <a:xfrm>
            <a:off x="5381625" y="1954213"/>
            <a:ext cx="3621088" cy="94615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L="342900" indent="-342900"/>
            <a:r>
              <a:rPr lang="zh-CN" altLang="en-US" sz="2800" dirty="0">
                <a:latin typeface="Tahoma" panose="020B0604030504040204" charset="0"/>
                <a:ea typeface="宋体" panose="02010600030101010101" pitchFamily="2" charset="-122"/>
              </a:rPr>
              <a:t>我们怎样利用</a:t>
            </a:r>
            <a:r>
              <a:rPr lang="en-US" altLang="zh-CN" sz="2800" dirty="0">
                <a:latin typeface="Tahoma" panose="020B0604030504040204" charset="0"/>
                <a:ea typeface="宋体" panose="02010600030101010101" pitchFamily="2" charset="-122"/>
              </a:rPr>
              <a:t> </a:t>
            </a:r>
            <a:r>
              <a:rPr lang="en-US" altLang="zh-CN" sz="2800" b="1" i="1" dirty="0">
                <a:latin typeface="Tahoma" panose="020B0604030504040204" charset="0"/>
                <a:ea typeface="宋体" panose="02010600030101010101" pitchFamily="2" charset="-122"/>
              </a:rPr>
              <a:t>w</a:t>
            </a:r>
            <a:r>
              <a:rPr lang="zh-CN" altLang="en-US" sz="2800" dirty="0">
                <a:latin typeface="Tahoma" panose="020B0604030504040204" charset="0"/>
                <a:ea typeface="宋体" panose="02010600030101010101" pitchFamily="2" charset="-122"/>
              </a:rPr>
              <a:t>与</a:t>
            </a:r>
            <a:r>
              <a:rPr lang="en-US" altLang="zh-CN" sz="2800" i="1" dirty="0">
                <a:latin typeface="Tahoma" panose="020B0604030504040204" charset="0"/>
                <a:ea typeface="宋体" panose="02010600030101010101" pitchFamily="2" charset="-122"/>
              </a:rPr>
              <a:t>b </a:t>
            </a:r>
            <a:r>
              <a:rPr lang="zh-CN" altLang="en-US" sz="2800" dirty="0">
                <a:latin typeface="Tahoma" panose="020B0604030504040204" charset="0"/>
                <a:ea typeface="宋体" panose="02010600030101010101" pitchFamily="2" charset="-122"/>
              </a:rPr>
              <a:t>计算</a:t>
            </a:r>
            <a:r>
              <a:rPr lang="en-US" altLang="zh-CN" sz="2800" i="1" dirty="0">
                <a:latin typeface="Tahoma" panose="020B0604030504040204" charset="0"/>
                <a:ea typeface="宋体" panose="02010600030101010101" pitchFamily="2" charset="-122"/>
              </a:rPr>
              <a:t>margin?</a:t>
            </a:r>
            <a:endParaRPr lang="en-US" altLang="zh-CN" sz="2800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26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45795" y="3311525"/>
            <a:ext cx="3235325" cy="3106738"/>
          </a:xfrm>
        </p:spPr>
        <p:txBody>
          <a:bodyPr vert="horz" wrap="square" lIns="91440" tIns="45720" rIns="91440" bIns="45720" numCol="1" anchor="t" anchorCtr="0" compatLnSpc="1"/>
          <a:lstStyle/>
          <a:p>
            <a:pPr>
              <a:buClr>
                <a:schemeClr val="tx1"/>
              </a:buClr>
              <a:buSzTx/>
              <a:buFontTx/>
              <a:buNone/>
            </a:pPr>
            <a:r>
              <a:rPr lang="zh-CN" altLang="en-US" sz="2400" dirty="0">
                <a:ea typeface="宋体" panose="02010600030101010101" pitchFamily="2" charset="-122"/>
              </a:rPr>
              <a:t>已知: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>
              <a:buClr>
                <a:schemeClr val="tx1"/>
              </a:buClr>
              <a:buSzTx/>
              <a:buFontTx/>
            </a:pPr>
            <a:r>
              <a:rPr lang="en-US" altLang="zh-CN" sz="2400" b="1" i="1" dirty="0">
                <a:solidFill>
                  <a:schemeClr val="hlink"/>
                </a:solidFill>
                <a:ea typeface="宋体" panose="02010600030101010101" pitchFamily="2" charset="-122"/>
              </a:rPr>
              <a:t>w</a:t>
            </a:r>
            <a:r>
              <a:rPr lang="en-US" altLang="zh-CN" sz="2400" i="1" dirty="0">
                <a:solidFill>
                  <a:schemeClr val="hlink"/>
                </a:solidFill>
                <a:ea typeface="宋体" panose="02010600030101010101" pitchFamily="2" charset="-122"/>
              </a:rPr>
              <a:t> . </a:t>
            </a:r>
            <a:r>
              <a:rPr lang="en-US" altLang="zh-CN" sz="2400" b="1" i="1" dirty="0">
                <a:solidFill>
                  <a:schemeClr val="hlink"/>
                </a:solidFill>
                <a:ea typeface="宋体" panose="02010600030101010101" pitchFamily="2" charset="-122"/>
              </a:rPr>
              <a:t>x</a:t>
            </a:r>
            <a:r>
              <a:rPr lang="en-US" altLang="zh-CN" sz="2400" b="1" i="1" baseline="30000" dirty="0">
                <a:solidFill>
                  <a:schemeClr val="hlink"/>
                </a:solidFill>
                <a:ea typeface="宋体" panose="02010600030101010101" pitchFamily="2" charset="-122"/>
              </a:rPr>
              <a:t>+</a:t>
            </a:r>
            <a:r>
              <a:rPr lang="en-US" altLang="zh-CN" sz="2400" i="1" dirty="0">
                <a:solidFill>
                  <a:schemeClr val="hlink"/>
                </a:solidFill>
                <a:ea typeface="宋体" panose="02010600030101010101" pitchFamily="2" charset="-122"/>
              </a:rPr>
              <a:t> + b = +1 </a:t>
            </a:r>
          </a:p>
          <a:p>
            <a:pPr>
              <a:buClr>
                <a:schemeClr val="tx1"/>
              </a:buClr>
              <a:buSzTx/>
              <a:buFontTx/>
            </a:pPr>
            <a:r>
              <a:rPr lang="en-US" altLang="zh-CN" sz="2400" b="1" i="1" dirty="0">
                <a:ea typeface="宋体" panose="02010600030101010101" pitchFamily="2" charset="-122"/>
              </a:rPr>
              <a:t>w</a:t>
            </a:r>
            <a:r>
              <a:rPr lang="en-US" altLang="zh-CN" sz="2400" i="1" dirty="0">
                <a:ea typeface="宋体" panose="02010600030101010101" pitchFamily="2" charset="-122"/>
              </a:rPr>
              <a:t> . </a:t>
            </a:r>
            <a:r>
              <a:rPr lang="en-US" altLang="zh-CN" sz="2400" b="1" i="1" dirty="0">
                <a:ea typeface="宋体" panose="02010600030101010101" pitchFamily="2" charset="-122"/>
              </a:rPr>
              <a:t>x</a:t>
            </a:r>
            <a:r>
              <a:rPr lang="en-US" altLang="zh-CN" sz="2400" b="1" i="1" baseline="30000" dirty="0">
                <a:ea typeface="宋体" panose="02010600030101010101" pitchFamily="2" charset="-122"/>
              </a:rPr>
              <a:t>-</a:t>
            </a:r>
            <a:r>
              <a:rPr lang="en-US" altLang="zh-CN" sz="2400" i="1" dirty="0">
                <a:ea typeface="宋体" panose="02010600030101010101" pitchFamily="2" charset="-122"/>
              </a:rPr>
              <a:t> + b = -1 </a:t>
            </a:r>
          </a:p>
          <a:p>
            <a:pPr>
              <a:buClr>
                <a:schemeClr val="tx1"/>
              </a:buClr>
              <a:buSzTx/>
              <a:buFontTx/>
            </a:pPr>
            <a:r>
              <a:rPr lang="en-US" altLang="zh-CN" sz="2400" b="1" i="1" dirty="0">
                <a:solidFill>
                  <a:schemeClr val="hlink"/>
                </a:solidFill>
                <a:ea typeface="宋体" panose="02010600030101010101" pitchFamily="2" charset="-122"/>
              </a:rPr>
              <a:t>x</a:t>
            </a:r>
            <a:r>
              <a:rPr lang="en-US" altLang="zh-CN" sz="2400" b="1" i="1" baseline="30000" dirty="0">
                <a:solidFill>
                  <a:schemeClr val="hlink"/>
                </a:solidFill>
                <a:ea typeface="宋体" panose="02010600030101010101" pitchFamily="2" charset="-122"/>
              </a:rPr>
              <a:t>+</a:t>
            </a:r>
            <a:r>
              <a:rPr lang="en-US" altLang="zh-CN" sz="2400" dirty="0">
                <a:solidFill>
                  <a:schemeClr val="hlink"/>
                </a:solidFill>
                <a:ea typeface="宋体" panose="02010600030101010101" pitchFamily="2" charset="-122"/>
              </a:rPr>
              <a:t> = </a:t>
            </a:r>
            <a:r>
              <a:rPr lang="en-US" altLang="zh-CN" sz="2400" b="1" i="1" dirty="0">
                <a:solidFill>
                  <a:schemeClr val="hlink"/>
                </a:solidFill>
                <a:ea typeface="宋体" panose="02010600030101010101" pitchFamily="2" charset="-122"/>
              </a:rPr>
              <a:t>x</a:t>
            </a:r>
            <a:r>
              <a:rPr lang="en-US" altLang="zh-CN" sz="2400" b="1" i="1" baseline="30000" dirty="0">
                <a:solidFill>
                  <a:schemeClr val="hlink"/>
                </a:solidFill>
                <a:ea typeface="宋体" panose="02010600030101010101" pitchFamily="2" charset="-122"/>
              </a:rPr>
              <a:t>-</a:t>
            </a:r>
            <a:r>
              <a:rPr lang="en-US" altLang="zh-CN" sz="2400" dirty="0">
                <a:solidFill>
                  <a:schemeClr val="hlink"/>
                </a:solidFill>
                <a:ea typeface="宋体" panose="02010600030101010101" pitchFamily="2" charset="-122"/>
              </a:rPr>
              <a:t> + </a:t>
            </a:r>
            <a:r>
              <a:rPr lang="en-US" altLang="zh-CN" sz="2400" i="1" dirty="0">
                <a:solidFill>
                  <a:schemeClr val="hlink"/>
                </a:solidFill>
                <a:latin typeface="Symbol" panose="05050102010706020507" charset="2"/>
                <a:ea typeface="宋体" panose="02010600030101010101" pitchFamily="2" charset="-122"/>
              </a:rPr>
              <a:t>l</a:t>
            </a:r>
            <a:r>
              <a:rPr lang="en-US" altLang="zh-CN" sz="2400" dirty="0">
                <a:solidFill>
                  <a:schemeClr val="hlink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400" b="1" i="1" dirty="0">
                <a:solidFill>
                  <a:schemeClr val="hlink"/>
                </a:solidFill>
                <a:ea typeface="宋体" panose="02010600030101010101" pitchFamily="2" charset="-122"/>
              </a:rPr>
              <a:t>w</a:t>
            </a:r>
          </a:p>
          <a:p>
            <a:pPr>
              <a:buClr>
                <a:schemeClr val="tx1"/>
              </a:buClr>
              <a:buSzTx/>
              <a:buFontTx/>
            </a:pPr>
            <a:r>
              <a:rPr lang="en-US" altLang="zh-CN" sz="2400" dirty="0">
                <a:ea typeface="宋体" panose="02010600030101010101" pitchFamily="2" charset="-122"/>
              </a:rPr>
              <a:t>|</a:t>
            </a:r>
            <a:r>
              <a:rPr lang="en-US" altLang="zh-CN" sz="2400" b="1" i="1" dirty="0">
                <a:ea typeface="宋体" panose="02010600030101010101" pitchFamily="2" charset="-122"/>
              </a:rPr>
              <a:t>x</a:t>
            </a:r>
            <a:r>
              <a:rPr lang="en-US" altLang="zh-CN" sz="2400" b="1" i="1" baseline="30000" dirty="0">
                <a:ea typeface="宋体" panose="02010600030101010101" pitchFamily="2" charset="-122"/>
              </a:rPr>
              <a:t>+</a:t>
            </a:r>
            <a:r>
              <a:rPr lang="en-US" altLang="zh-CN" sz="2400" dirty="0">
                <a:ea typeface="宋体" panose="02010600030101010101" pitchFamily="2" charset="-122"/>
              </a:rPr>
              <a:t> - </a:t>
            </a:r>
            <a:r>
              <a:rPr lang="en-US" altLang="zh-CN" sz="2400" b="1" i="1" dirty="0">
                <a:ea typeface="宋体" panose="02010600030101010101" pitchFamily="2" charset="-122"/>
              </a:rPr>
              <a:t>x</a:t>
            </a:r>
            <a:r>
              <a:rPr lang="en-US" altLang="zh-CN" sz="2400" b="1" i="1" baseline="30000" dirty="0">
                <a:ea typeface="宋体" panose="02010600030101010101" pitchFamily="2" charset="-122"/>
              </a:rPr>
              <a:t>-</a:t>
            </a:r>
            <a:r>
              <a:rPr lang="en-US" altLang="zh-CN" sz="2400" dirty="0">
                <a:ea typeface="宋体" panose="02010600030101010101" pitchFamily="2" charset="-122"/>
              </a:rPr>
              <a:t> | </a:t>
            </a:r>
            <a:r>
              <a:rPr lang="en-US" altLang="zh-CN" sz="2400" i="1" dirty="0">
                <a:ea typeface="宋体" panose="02010600030101010101" pitchFamily="2" charset="-122"/>
              </a:rPr>
              <a:t>= M</a:t>
            </a:r>
          </a:p>
          <a:p>
            <a:pPr>
              <a:buClr>
                <a:schemeClr val="tx1"/>
              </a:buClr>
              <a:buSzTx/>
              <a:buFontTx/>
              <a:buNone/>
            </a:pPr>
            <a:r>
              <a:rPr lang="zh-CN" altLang="en-US" sz="2400" dirty="0">
                <a:ea typeface="宋体" panose="02010600030101010101" pitchFamily="2" charset="-122"/>
              </a:rPr>
              <a:t>于是很容易由</a:t>
            </a:r>
            <a:r>
              <a:rPr lang="en-US" altLang="zh-CN" sz="2400" b="1" i="1" dirty="0">
                <a:ea typeface="宋体" panose="02010600030101010101" pitchFamily="2" charset="-122"/>
              </a:rPr>
              <a:t>w</a:t>
            </a:r>
            <a:r>
              <a:rPr lang="en-US" altLang="zh-CN" sz="2400" dirty="0">
                <a:ea typeface="宋体" panose="02010600030101010101" pitchFamily="2" charset="-122"/>
              </a:rPr>
              <a:t> </a:t>
            </a:r>
            <a:r>
              <a:rPr lang="zh-CN" altLang="en-US" sz="2400" dirty="0">
                <a:ea typeface="宋体" panose="02010600030101010101" pitchFamily="2" charset="-122"/>
              </a:rPr>
              <a:t>和</a:t>
            </a:r>
            <a:r>
              <a:rPr lang="en-US" altLang="zh-CN" sz="2400" i="1" dirty="0">
                <a:ea typeface="宋体" panose="02010600030101010101" pitchFamily="2" charset="-122"/>
              </a:rPr>
              <a:t>b </a:t>
            </a:r>
            <a:r>
              <a:rPr lang="zh-CN" altLang="en-US" sz="2400" dirty="0">
                <a:ea typeface="宋体" panose="02010600030101010101" pitchFamily="2" charset="-122"/>
              </a:rPr>
              <a:t>得到</a:t>
            </a:r>
            <a:r>
              <a:rPr lang="en-US" altLang="zh-CN" sz="2400" dirty="0">
                <a:ea typeface="宋体" panose="02010600030101010101" pitchFamily="2" charset="-122"/>
              </a:rPr>
              <a:t> </a:t>
            </a:r>
            <a:r>
              <a:rPr lang="en-US" altLang="zh-CN" sz="2400" i="1" dirty="0">
                <a:ea typeface="宋体" panose="02010600030101010101" pitchFamily="2" charset="-122"/>
              </a:rPr>
              <a:t>M</a:t>
            </a:r>
          </a:p>
        </p:txBody>
      </p:sp>
      <p:sp>
        <p:nvSpPr>
          <p:cNvPr id="651268" name="Line 4"/>
          <p:cNvSpPr>
            <a:spLocks noChangeShapeType="1"/>
          </p:cNvSpPr>
          <p:nvPr/>
        </p:nvSpPr>
        <p:spPr bwMode="auto">
          <a:xfrm rot="-23199335">
            <a:off x="2292350" y="1709738"/>
            <a:ext cx="2971800" cy="0"/>
          </a:xfrm>
          <a:prstGeom prst="line">
            <a:avLst/>
          </a:prstGeom>
          <a:noFill/>
          <a:ln w="12700">
            <a:solidFill>
              <a:schemeClr val="hlink"/>
            </a:solidFill>
            <a:round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51269" name="Line 5"/>
          <p:cNvSpPr>
            <a:spLocks noChangeShapeType="1"/>
          </p:cNvSpPr>
          <p:nvPr/>
        </p:nvSpPr>
        <p:spPr bwMode="auto">
          <a:xfrm rot="-23199335">
            <a:off x="2438400" y="2000250"/>
            <a:ext cx="2971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51270" name="Line 6"/>
          <p:cNvSpPr>
            <a:spLocks noChangeShapeType="1"/>
          </p:cNvSpPr>
          <p:nvPr/>
        </p:nvSpPr>
        <p:spPr bwMode="auto">
          <a:xfrm rot="-23199335">
            <a:off x="2582863" y="2289175"/>
            <a:ext cx="2971800" cy="0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51271" name="Text Box 7"/>
          <p:cNvSpPr txBox="1">
            <a:spLocks noChangeArrowheads="1"/>
          </p:cNvSpPr>
          <p:nvPr/>
        </p:nvSpPr>
        <p:spPr bwMode="auto">
          <a:xfrm rot="-1586986">
            <a:off x="1857693" y="851535"/>
            <a:ext cx="3048000" cy="8540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L="342900" indent="-342900" algn="ctr"/>
            <a:r>
              <a:rPr lang="en-US" altLang="zh-CN" dirty="0">
                <a:solidFill>
                  <a:schemeClr val="hlink"/>
                </a:solidFill>
                <a:latin typeface="Tahoma" panose="020B0604030504040204" charset="0"/>
                <a:ea typeface="宋体" panose="02010600030101010101" pitchFamily="2" charset="-122"/>
              </a:rPr>
              <a:t>Zone</a:t>
            </a:r>
          </a:p>
          <a:p>
            <a:pPr marL="342900" indent="-342900" algn="ctr"/>
            <a:r>
              <a:rPr lang="zh-CN" altLang="en-US" dirty="0">
                <a:solidFill>
                  <a:schemeClr val="hlink"/>
                </a:solidFill>
                <a:latin typeface="Tahoma" panose="020B0604030504040204" charset="0"/>
                <a:ea typeface="宋体" panose="02010600030101010101" pitchFamily="2" charset="-122"/>
              </a:rPr>
              <a:t>“</a:t>
            </a:r>
            <a:r>
              <a:rPr lang="en-US" altLang="zh-CN" dirty="0">
                <a:solidFill>
                  <a:schemeClr val="hlink"/>
                </a:solidFill>
                <a:latin typeface="Tahoma" panose="020B0604030504040204" charset="0"/>
                <a:ea typeface="宋体" panose="02010600030101010101" pitchFamily="2" charset="-122"/>
              </a:rPr>
              <a:t>Predict Class = +1”</a:t>
            </a:r>
          </a:p>
        </p:txBody>
      </p:sp>
      <p:sp>
        <p:nvSpPr>
          <p:cNvPr id="651272" name="Text Box 8"/>
          <p:cNvSpPr txBox="1">
            <a:spLocks noChangeArrowheads="1"/>
          </p:cNvSpPr>
          <p:nvPr/>
        </p:nvSpPr>
        <p:spPr bwMode="auto">
          <a:xfrm rot="-1586986">
            <a:off x="2827338" y="2243138"/>
            <a:ext cx="2887663" cy="7016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L="342900" indent="-342900" algn="ctr"/>
            <a:r>
              <a:rPr lang="zh-CN" altLang="en-US" dirty="0">
                <a:solidFill>
                  <a:schemeClr val="folHlink"/>
                </a:solidFill>
                <a:latin typeface="Tahoma" panose="020B0604030504040204" charset="0"/>
                <a:ea typeface="宋体" panose="02010600030101010101" pitchFamily="2" charset="-122"/>
              </a:rPr>
              <a:t>“</a:t>
            </a:r>
            <a:r>
              <a:rPr lang="en-US" altLang="zh-CN" dirty="0">
                <a:solidFill>
                  <a:schemeClr val="folHlink"/>
                </a:solidFill>
                <a:latin typeface="Tahoma" panose="020B0604030504040204" charset="0"/>
                <a:ea typeface="宋体" panose="02010600030101010101" pitchFamily="2" charset="-122"/>
              </a:rPr>
              <a:t>Predict Class = -1” zone</a:t>
            </a:r>
          </a:p>
        </p:txBody>
      </p:sp>
      <p:sp>
        <p:nvSpPr>
          <p:cNvPr id="651273" name="Text Box 9"/>
          <p:cNvSpPr txBox="1">
            <a:spLocks noChangeArrowheads="1"/>
          </p:cNvSpPr>
          <p:nvPr/>
        </p:nvSpPr>
        <p:spPr bwMode="auto">
          <a:xfrm rot="-1777892">
            <a:off x="1600200" y="2438400"/>
            <a:ext cx="9906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 marL="342900" indent="-342900">
              <a:spcBef>
                <a:spcPct val="0"/>
              </a:spcBef>
              <a:defRPr sz="240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sz="240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sz="240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sz="240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sz="240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9pPr>
          </a:lstStyle>
          <a:p>
            <a:pPr marL="342900" marR="0" lvl="0" indent="-34290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rPr>
              <a:t>wx+b=1</a:t>
            </a:r>
          </a:p>
        </p:txBody>
      </p:sp>
      <p:sp>
        <p:nvSpPr>
          <p:cNvPr id="651274" name="Text Box 10"/>
          <p:cNvSpPr txBox="1">
            <a:spLocks noChangeArrowheads="1"/>
          </p:cNvSpPr>
          <p:nvPr/>
        </p:nvSpPr>
        <p:spPr bwMode="auto">
          <a:xfrm rot="-1777892">
            <a:off x="1754188" y="2708275"/>
            <a:ext cx="9906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 marL="342900" indent="-342900">
              <a:spcBef>
                <a:spcPct val="0"/>
              </a:spcBef>
              <a:defRPr sz="240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sz="240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sz="240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sz="240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sz="240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9pPr>
          </a:lstStyle>
          <a:p>
            <a:pPr marL="342900" marR="0" lvl="0" indent="-34290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rPr>
              <a:t>wx+b=0</a:t>
            </a:r>
          </a:p>
        </p:txBody>
      </p:sp>
      <p:sp>
        <p:nvSpPr>
          <p:cNvPr id="651275" name="Text Box 11"/>
          <p:cNvSpPr txBox="1">
            <a:spLocks noChangeArrowheads="1"/>
          </p:cNvSpPr>
          <p:nvPr/>
        </p:nvSpPr>
        <p:spPr bwMode="auto">
          <a:xfrm rot="-1777892">
            <a:off x="1905000" y="2952750"/>
            <a:ext cx="9906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 marL="342900" indent="-342900">
              <a:spcBef>
                <a:spcPct val="0"/>
              </a:spcBef>
              <a:defRPr sz="240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sz="240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sz="240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sz="240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sz="240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9pPr>
          </a:lstStyle>
          <a:p>
            <a:pPr marL="342900" marR="0" lvl="0" indent="-34290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rPr>
              <a:t>wx+b=-1</a:t>
            </a:r>
          </a:p>
        </p:txBody>
      </p:sp>
      <p:sp>
        <p:nvSpPr>
          <p:cNvPr id="651276" name="Line 12"/>
          <p:cNvSpPr>
            <a:spLocks noChangeShapeType="1"/>
          </p:cNvSpPr>
          <p:nvPr/>
        </p:nvSpPr>
        <p:spPr bwMode="auto">
          <a:xfrm>
            <a:off x="5170488" y="1019175"/>
            <a:ext cx="327025" cy="5984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51277" name="Text Box 13"/>
          <p:cNvSpPr txBox="1">
            <a:spLocks noChangeArrowheads="1"/>
          </p:cNvSpPr>
          <p:nvPr/>
        </p:nvSpPr>
        <p:spPr bwMode="auto">
          <a:xfrm>
            <a:off x="5286375" y="973138"/>
            <a:ext cx="2592388" cy="3968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 marL="342900" indent="-342900">
              <a:spcBef>
                <a:spcPct val="0"/>
              </a:spcBef>
              <a:defRPr sz="240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sz="240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sz="240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sz="240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sz="240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000" b="0" i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rPr>
              <a:t>M =</a:t>
            </a: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rPr>
              <a:t> Margin Width</a:t>
            </a:r>
          </a:p>
        </p:txBody>
      </p:sp>
      <p:sp>
        <p:nvSpPr>
          <p:cNvPr id="651278" name="Text Box 14"/>
          <p:cNvSpPr txBox="1">
            <a:spLocks noChangeArrowheads="1"/>
          </p:cNvSpPr>
          <p:nvPr/>
        </p:nvSpPr>
        <p:spPr bwMode="auto">
          <a:xfrm>
            <a:off x="4808538" y="2590800"/>
            <a:ext cx="4160838" cy="310515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 marL="342900" indent="-342900">
              <a:spcBef>
                <a:spcPct val="0"/>
              </a:spcBef>
              <a:defRPr sz="240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sz="240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sz="240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sz="240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sz="240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400" b="1" i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rPr>
              <a:t>w</a:t>
            </a:r>
            <a:r>
              <a:rPr kumimoji="0" lang="en-US" altLang="zh-CN" sz="2400" b="0" i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rPr>
              <a:t> . (</a:t>
            </a:r>
            <a:r>
              <a:rPr kumimoji="0" lang="en-US" altLang="zh-CN" sz="2400" b="1" i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rPr>
              <a:t>x </a:t>
            </a:r>
            <a:r>
              <a:rPr kumimoji="0" lang="en-US" altLang="zh-CN" sz="2400" b="1" i="1" u="none" strike="noStrike" kern="1200" cap="none" spc="0" normalizeH="0" baseline="3000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rPr>
              <a:t>-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rPr>
              <a:t> + </a:t>
            </a:r>
            <a:r>
              <a:rPr kumimoji="0" lang="en-US" altLang="zh-CN" sz="2400" b="0" i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ymbol" panose="05050102010706020507" charset="0"/>
                <a:ea typeface="宋体" panose="02010600030101010101" pitchFamily="2" charset="-122"/>
                <a:cs typeface="宋体" panose="02010600030101010101" pitchFamily="2" charset="-122"/>
              </a:rPr>
              <a:t>l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ymbol" panose="05050102010706020507" charset="0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kumimoji="0" lang="en-US" altLang="zh-CN" sz="2400" b="1" i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rPr>
              <a:t>w)</a:t>
            </a:r>
            <a:r>
              <a:rPr kumimoji="0" lang="en-US" altLang="zh-CN" sz="2400" b="0" i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rPr>
              <a:t> + b = 1 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400" b="0" i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rPr>
              <a:t>=&gt;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400" b="1" i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rPr>
              <a:t>w</a:t>
            </a:r>
            <a:r>
              <a:rPr kumimoji="0" lang="en-US" altLang="zh-CN" sz="2400" b="0" i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rPr>
              <a:t> . </a:t>
            </a:r>
            <a:r>
              <a:rPr kumimoji="0" lang="en-US" altLang="zh-CN" sz="2400" b="1" i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rPr>
              <a:t>x </a:t>
            </a:r>
            <a:r>
              <a:rPr kumimoji="0" lang="en-US" altLang="zh-CN" sz="2400" b="1" i="1" u="none" strike="noStrike" kern="1200" cap="none" spc="0" normalizeH="0" baseline="3000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rPr>
              <a:t>-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kumimoji="0" lang="en-US" altLang="zh-CN" sz="2400" b="0" i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rPr>
              <a:t>+ b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rPr>
              <a:t> + </a:t>
            </a:r>
            <a:r>
              <a:rPr kumimoji="0" lang="en-US" altLang="zh-CN" sz="2400" b="0" i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ymbol" panose="05050102010706020507" charset="0"/>
                <a:ea typeface="宋体" panose="02010600030101010101" pitchFamily="2" charset="-122"/>
                <a:cs typeface="宋体" panose="02010600030101010101" pitchFamily="2" charset="-122"/>
              </a:rPr>
              <a:t>l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ymbol" panose="05050102010706020507" charset="0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kumimoji="0" lang="en-US" altLang="zh-CN" sz="2400" b="1" i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rPr>
              <a:t>w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rPr>
              <a:t> .</a:t>
            </a:r>
            <a:r>
              <a:rPr kumimoji="0" lang="en-US" altLang="zh-CN" sz="2400" b="1" i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rPr>
              <a:t>w</a:t>
            </a:r>
            <a:r>
              <a:rPr kumimoji="0" lang="en-US" altLang="zh-CN" sz="2400" b="0" i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rPr>
              <a:t> = 1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400" b="0" i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rPr>
              <a:t>=&gt;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400" b="0" i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rPr>
              <a:t>-1 + </a:t>
            </a:r>
            <a:r>
              <a:rPr kumimoji="0" lang="en-US" altLang="zh-CN" sz="2400" b="0" i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ymbol" panose="05050102010706020507" charset="0"/>
                <a:ea typeface="宋体" panose="02010600030101010101" pitchFamily="2" charset="-122"/>
                <a:cs typeface="宋体" panose="02010600030101010101" pitchFamily="2" charset="-122"/>
              </a:rPr>
              <a:t>l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ymbol" panose="05050102010706020507" charset="0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kumimoji="0" lang="en-US" altLang="zh-CN" sz="2400" b="1" i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rPr>
              <a:t>w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rPr>
              <a:t> .</a:t>
            </a:r>
            <a:r>
              <a:rPr kumimoji="0" lang="en-US" altLang="zh-CN" sz="2400" b="1" i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rPr>
              <a:t>w</a:t>
            </a:r>
            <a:r>
              <a:rPr kumimoji="0" lang="en-US" altLang="zh-CN" sz="2400" b="0" i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rPr>
              <a:t> = 1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000" b="0" i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rPr>
              <a:t>=&gt;</a:t>
            </a:r>
          </a:p>
        </p:txBody>
      </p:sp>
      <p:sp>
        <p:nvSpPr>
          <p:cNvPr id="651279" name="Oval 15"/>
          <p:cNvSpPr>
            <a:spLocks noChangeArrowheads="1"/>
          </p:cNvSpPr>
          <p:nvPr/>
        </p:nvSpPr>
        <p:spPr bwMode="auto">
          <a:xfrm>
            <a:off x="4483100" y="2022475"/>
            <a:ext cx="76200" cy="76200"/>
          </a:xfrm>
          <a:prstGeom prst="ellipse">
            <a:avLst/>
          </a:prstGeom>
          <a:solidFill>
            <a:srgbClr val="990099"/>
          </a:solidFill>
          <a:ln>
            <a:noFill/>
          </a:ln>
          <a:effectLst/>
        </p:spPr>
        <p:txBody>
          <a:bodyPr wrap="none"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51280" name="Text Box 16"/>
          <p:cNvSpPr txBox="1">
            <a:spLocks noChangeArrowheads="1"/>
          </p:cNvSpPr>
          <p:nvPr/>
        </p:nvSpPr>
        <p:spPr bwMode="auto">
          <a:xfrm>
            <a:off x="4583113" y="2006600"/>
            <a:ext cx="515938" cy="415925"/>
          </a:xfrm>
          <a:prstGeom prst="rect">
            <a:avLst/>
          </a:prstGeom>
          <a:solidFill>
            <a:schemeClr val="bg1"/>
          </a:solidFill>
          <a:ln w="19050">
            <a:solidFill>
              <a:srgbClr val="990099"/>
            </a:solidFill>
            <a:miter lim="800000"/>
          </a:ln>
          <a:effectLst/>
        </p:spPr>
        <p:txBody>
          <a:bodyPr>
            <a:spAutoFit/>
          </a:bodyPr>
          <a:lstStyle>
            <a:lvl1pPr marL="342900" indent="-342900">
              <a:spcBef>
                <a:spcPct val="0"/>
              </a:spcBef>
              <a:defRPr sz="240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sz="240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sz="240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sz="240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sz="240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rgbClr val="990099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rPr>
              <a:t>x</a:t>
            </a:r>
            <a:r>
              <a:rPr kumimoji="0" lang="en-US" altLang="zh-CN" sz="2400" b="0" i="1" u="none" strike="noStrike" kern="1200" cap="none" spc="0" normalizeH="0" baseline="30000" noProof="0">
                <a:ln>
                  <a:noFill/>
                </a:ln>
                <a:solidFill>
                  <a:srgbClr val="990099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rPr>
              <a:t>-</a:t>
            </a:r>
          </a:p>
        </p:txBody>
      </p:sp>
      <p:sp>
        <p:nvSpPr>
          <p:cNvPr id="651281" name="Oval 17"/>
          <p:cNvSpPr>
            <a:spLocks noChangeArrowheads="1"/>
          </p:cNvSpPr>
          <p:nvPr/>
        </p:nvSpPr>
        <p:spPr bwMode="auto">
          <a:xfrm>
            <a:off x="4189413" y="1460500"/>
            <a:ext cx="76200" cy="76200"/>
          </a:xfrm>
          <a:prstGeom prst="ellipse">
            <a:avLst/>
          </a:prstGeom>
          <a:solidFill>
            <a:srgbClr val="CC3300"/>
          </a:solidFill>
          <a:ln>
            <a:noFill/>
          </a:ln>
          <a:effectLst/>
        </p:spPr>
        <p:txBody>
          <a:bodyPr wrap="none"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51282" name="Text Box 18"/>
          <p:cNvSpPr txBox="1">
            <a:spLocks noChangeArrowheads="1"/>
          </p:cNvSpPr>
          <p:nvPr/>
        </p:nvSpPr>
        <p:spPr bwMode="auto">
          <a:xfrm>
            <a:off x="4300538" y="1022350"/>
            <a:ext cx="515938" cy="415925"/>
          </a:xfrm>
          <a:prstGeom prst="rect">
            <a:avLst/>
          </a:prstGeom>
          <a:solidFill>
            <a:schemeClr val="bg1"/>
          </a:solidFill>
          <a:ln w="19050">
            <a:solidFill>
              <a:srgbClr val="CC3300"/>
            </a:solidFill>
            <a:miter lim="800000"/>
          </a:ln>
          <a:effectLst/>
        </p:spPr>
        <p:txBody>
          <a:bodyPr>
            <a:spAutoFit/>
          </a:bodyPr>
          <a:lstStyle>
            <a:lvl1pPr marL="342900" indent="-342900">
              <a:spcBef>
                <a:spcPct val="0"/>
              </a:spcBef>
              <a:defRPr sz="240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sz="240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sz="240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sz="240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sz="240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rPr>
              <a:t>x</a:t>
            </a:r>
            <a:r>
              <a:rPr kumimoji="0" lang="en-US" altLang="zh-CN" sz="2400" b="0" i="1" u="none" strike="noStrike" kern="1200" cap="none" spc="0" normalizeH="0" baseline="30000" noProof="0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rPr>
              <a:t>+</a:t>
            </a:r>
          </a:p>
        </p:txBody>
      </p:sp>
      <p:graphicFrame>
        <p:nvGraphicFramePr>
          <p:cNvPr id="27665" name="Object 19"/>
          <p:cNvGraphicFramePr>
            <a:graphicFrameLocks noGrp="1" noChangeAspect="1"/>
          </p:cNvGraphicFramePr>
          <p:nvPr>
            <p:ph sz="half" idx="2"/>
          </p:nvPr>
        </p:nvGraphicFramePr>
        <p:xfrm>
          <a:off x="5607050" y="5627688"/>
          <a:ext cx="1333500" cy="919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58" r:id="rId3" imgW="571500" imgH="393700" progId="Equation.3">
                  <p:embed/>
                </p:oleObj>
              </mc:Choice>
              <mc:Fallback>
                <p:oleObj r:id="rId3" imgW="571500" imgH="393700" progId="Equation.3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607050" y="5627688"/>
                        <a:ext cx="1333500" cy="919162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66" name="Freeform 20"/>
          <p:cNvSpPr/>
          <p:nvPr/>
        </p:nvSpPr>
        <p:spPr>
          <a:xfrm>
            <a:off x="2930525" y="2825750"/>
            <a:ext cx="1946275" cy="1147763"/>
          </a:xfrm>
          <a:custGeom>
            <a:avLst/>
            <a:gdLst/>
            <a:ahLst/>
            <a:cxnLst>
              <a:cxn ang="0">
                <a:pos x="0" y="1147763"/>
              </a:cxn>
              <a:cxn ang="0">
                <a:pos x="593043" y="517466"/>
              </a:cxn>
              <a:cxn ang="0">
                <a:pos x="784296" y="373509"/>
              </a:cxn>
              <a:cxn ang="0">
                <a:pos x="985191" y="202318"/>
              </a:cxn>
              <a:cxn ang="0">
                <a:pos x="1353232" y="0"/>
              </a:cxn>
              <a:cxn ang="0">
                <a:pos x="1946275" y="27235"/>
              </a:cxn>
            </a:cxnLst>
            <a:rect l="0" t="0" r="0" b="0"/>
            <a:pathLst>
              <a:path w="1211" h="295">
                <a:moveTo>
                  <a:pt x="0" y="295"/>
                </a:moveTo>
                <a:cubicBezTo>
                  <a:pt x="116" y="241"/>
                  <a:pt x="239" y="164"/>
                  <a:pt x="369" y="133"/>
                </a:cubicBezTo>
                <a:cubicBezTo>
                  <a:pt x="407" y="114"/>
                  <a:pt x="447" y="106"/>
                  <a:pt x="488" y="96"/>
                </a:cubicBezTo>
                <a:cubicBezTo>
                  <a:pt x="524" y="72"/>
                  <a:pt x="571" y="63"/>
                  <a:pt x="613" y="52"/>
                </a:cubicBezTo>
                <a:cubicBezTo>
                  <a:pt x="690" y="32"/>
                  <a:pt x="762" y="11"/>
                  <a:pt x="842" y="0"/>
                </a:cubicBezTo>
                <a:cubicBezTo>
                  <a:pt x="1118" y="8"/>
                  <a:pt x="995" y="7"/>
                  <a:pt x="1211" y="7"/>
                </a:cubicBezTo>
              </a:path>
            </a:pathLst>
          </a:custGeom>
          <a:noFill/>
          <a:ln w="57150" cap="flat" cmpd="sng">
            <a:solidFill>
              <a:schemeClr val="hlink">
                <a:alpha val="100000"/>
              </a:schemeClr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667" name="Freeform 21"/>
          <p:cNvSpPr/>
          <p:nvPr/>
        </p:nvSpPr>
        <p:spPr>
          <a:xfrm>
            <a:off x="2614613" y="3117850"/>
            <a:ext cx="2251075" cy="1770063"/>
          </a:xfrm>
          <a:custGeom>
            <a:avLst/>
            <a:gdLst/>
            <a:ahLst/>
            <a:cxnLst>
              <a:cxn ang="0">
                <a:pos x="0" y="1770063"/>
              </a:cxn>
              <a:cxn ang="0">
                <a:pos x="252655" y="1492683"/>
              </a:cxn>
              <a:cxn ang="0">
                <a:pos x="469449" y="1302277"/>
              </a:cxn>
              <a:cxn ang="0">
                <a:pos x="541171" y="1231757"/>
              </a:cxn>
              <a:cxn ang="0">
                <a:pos x="577032" y="1180042"/>
              </a:cxn>
              <a:cxn ang="0">
                <a:pos x="746555" y="1060157"/>
              </a:cxn>
              <a:cxn ang="0">
                <a:pos x="889998" y="954377"/>
              </a:cxn>
              <a:cxn ang="0">
                <a:pos x="1178514" y="763971"/>
              </a:cxn>
              <a:cxn ang="0">
                <a:pos x="1647963" y="470136"/>
              </a:cxn>
              <a:cxn ang="0">
                <a:pos x="1877798" y="312641"/>
              </a:cxn>
              <a:cxn ang="0">
                <a:pos x="2021240" y="190405"/>
              </a:cxn>
              <a:cxn ang="0">
                <a:pos x="2177724" y="51715"/>
              </a:cxn>
              <a:cxn ang="0">
                <a:pos x="2215214" y="18805"/>
              </a:cxn>
              <a:cxn ang="0">
                <a:pos x="2251075" y="0"/>
              </a:cxn>
            </a:cxnLst>
            <a:rect l="0" t="0" r="0" b="0"/>
            <a:pathLst>
              <a:path w="1381" h="753">
                <a:moveTo>
                  <a:pt x="0" y="753"/>
                </a:moveTo>
                <a:cubicBezTo>
                  <a:pt x="47" y="706"/>
                  <a:pt x="98" y="667"/>
                  <a:pt x="155" y="635"/>
                </a:cubicBezTo>
                <a:cubicBezTo>
                  <a:pt x="200" y="610"/>
                  <a:pt x="238" y="570"/>
                  <a:pt x="288" y="554"/>
                </a:cubicBezTo>
                <a:cubicBezTo>
                  <a:pt x="358" y="484"/>
                  <a:pt x="269" y="567"/>
                  <a:pt x="332" y="524"/>
                </a:cubicBezTo>
                <a:cubicBezTo>
                  <a:pt x="341" y="518"/>
                  <a:pt x="345" y="508"/>
                  <a:pt x="354" y="502"/>
                </a:cubicBezTo>
                <a:cubicBezTo>
                  <a:pt x="384" y="481"/>
                  <a:pt x="423" y="462"/>
                  <a:pt x="458" y="451"/>
                </a:cubicBezTo>
                <a:cubicBezTo>
                  <a:pt x="486" y="432"/>
                  <a:pt x="516" y="421"/>
                  <a:pt x="546" y="406"/>
                </a:cubicBezTo>
                <a:cubicBezTo>
                  <a:pt x="603" y="378"/>
                  <a:pt x="661" y="340"/>
                  <a:pt x="723" y="325"/>
                </a:cubicBezTo>
                <a:cubicBezTo>
                  <a:pt x="819" y="279"/>
                  <a:pt x="910" y="232"/>
                  <a:pt x="1011" y="200"/>
                </a:cubicBezTo>
                <a:cubicBezTo>
                  <a:pt x="1053" y="172"/>
                  <a:pt x="1104" y="148"/>
                  <a:pt x="1152" y="133"/>
                </a:cubicBezTo>
                <a:cubicBezTo>
                  <a:pt x="1182" y="113"/>
                  <a:pt x="1207" y="93"/>
                  <a:pt x="1240" y="81"/>
                </a:cubicBezTo>
                <a:cubicBezTo>
                  <a:pt x="1271" y="59"/>
                  <a:pt x="1303" y="42"/>
                  <a:pt x="1336" y="22"/>
                </a:cubicBezTo>
                <a:cubicBezTo>
                  <a:pt x="1344" y="17"/>
                  <a:pt x="1351" y="12"/>
                  <a:pt x="1359" y="8"/>
                </a:cubicBezTo>
                <a:cubicBezTo>
                  <a:pt x="1366" y="5"/>
                  <a:pt x="1381" y="0"/>
                  <a:pt x="1381" y="0"/>
                </a:cubicBezTo>
              </a:path>
            </a:pathLst>
          </a:custGeom>
          <a:noFill/>
          <a:ln w="57150" cap="flat" cmpd="sng">
            <a:solidFill>
              <a:schemeClr val="hlink">
                <a:alpha val="100000"/>
              </a:schemeClr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51287" name="Rectangle 23"/>
          <p:cNvSpPr>
            <a:spLocks noChangeArrowheads="1"/>
          </p:cNvSpPr>
          <p:nvPr/>
        </p:nvSpPr>
        <p:spPr bwMode="auto">
          <a:xfrm>
            <a:off x="228600" y="76200"/>
            <a:ext cx="8534400" cy="685800"/>
          </a:xfrm>
          <a:prstGeom prst="rect">
            <a:avLst/>
          </a:prstGeom>
          <a:noFill/>
          <a:ln>
            <a:noFill/>
          </a:ln>
          <a:effectLst/>
        </p:spPr>
        <p:txBody>
          <a:bodyPr anchor="b"/>
          <a:lstStyle/>
          <a:p>
            <a:pPr algn="ctr">
              <a:spcBef>
                <a:spcPct val="0"/>
              </a:spcBef>
              <a:buClrTx/>
            </a:pPr>
            <a:r>
              <a:rPr lang="zh-CN" altLang="en-US" sz="3200" b="1" dirty="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rPr>
              <a:t>计算间隔</a:t>
            </a:r>
          </a:p>
        </p:txBody>
      </p:sp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31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914400" y="3463925"/>
            <a:ext cx="3235325" cy="3106738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indent="0">
              <a:buClr>
                <a:schemeClr val="tx1"/>
              </a:buClr>
              <a:buSzTx/>
              <a:buFontTx/>
              <a:buNone/>
            </a:pPr>
            <a:r>
              <a:rPr lang="zh-CN" altLang="en-US" sz="2400" b="1" i="1" dirty="0">
                <a:ea typeface="宋体" panose="02010600030101010101" pitchFamily="2" charset="-122"/>
              </a:rPr>
              <a:t>已知：</a:t>
            </a:r>
          </a:p>
          <a:p>
            <a:pPr>
              <a:buClr>
                <a:schemeClr val="tx1"/>
              </a:buClr>
              <a:buSzTx/>
              <a:buFontTx/>
            </a:pPr>
            <a:r>
              <a:rPr lang="en-US" altLang="zh-CN" sz="2400" b="1" i="1" dirty="0">
                <a:ea typeface="宋体" panose="02010600030101010101" pitchFamily="2" charset="-122"/>
              </a:rPr>
              <a:t>w</a:t>
            </a:r>
            <a:r>
              <a:rPr lang="en-US" altLang="zh-CN" sz="2400" i="1" dirty="0">
                <a:ea typeface="宋体" panose="02010600030101010101" pitchFamily="2" charset="-122"/>
              </a:rPr>
              <a:t> . </a:t>
            </a:r>
            <a:r>
              <a:rPr lang="en-US" altLang="zh-CN" sz="2400" b="1" i="1" dirty="0">
                <a:ea typeface="宋体" panose="02010600030101010101" pitchFamily="2" charset="-122"/>
              </a:rPr>
              <a:t>x</a:t>
            </a:r>
            <a:r>
              <a:rPr lang="en-US" altLang="zh-CN" sz="2400" b="1" i="1" baseline="30000" dirty="0">
                <a:ea typeface="宋体" panose="02010600030101010101" pitchFamily="2" charset="-122"/>
              </a:rPr>
              <a:t>+</a:t>
            </a:r>
            <a:r>
              <a:rPr lang="en-US" altLang="zh-CN" sz="2400" i="1" dirty="0">
                <a:ea typeface="宋体" panose="02010600030101010101" pitchFamily="2" charset="-122"/>
              </a:rPr>
              <a:t> + b = +1 </a:t>
            </a:r>
          </a:p>
          <a:p>
            <a:pPr>
              <a:buClr>
                <a:schemeClr val="tx1"/>
              </a:buClr>
              <a:buSzTx/>
              <a:buFontTx/>
            </a:pPr>
            <a:r>
              <a:rPr lang="en-US" altLang="zh-CN" sz="2400" b="1" i="1" dirty="0">
                <a:ea typeface="宋体" panose="02010600030101010101" pitchFamily="2" charset="-122"/>
              </a:rPr>
              <a:t>w</a:t>
            </a:r>
            <a:r>
              <a:rPr lang="en-US" altLang="zh-CN" sz="2400" i="1" dirty="0">
                <a:ea typeface="宋体" panose="02010600030101010101" pitchFamily="2" charset="-122"/>
              </a:rPr>
              <a:t> . </a:t>
            </a:r>
            <a:r>
              <a:rPr lang="en-US" altLang="zh-CN" sz="2400" b="1" i="1" dirty="0">
                <a:ea typeface="宋体" panose="02010600030101010101" pitchFamily="2" charset="-122"/>
              </a:rPr>
              <a:t>x</a:t>
            </a:r>
            <a:r>
              <a:rPr lang="en-US" altLang="zh-CN" sz="2400" b="1" i="1" baseline="30000" dirty="0">
                <a:ea typeface="宋体" panose="02010600030101010101" pitchFamily="2" charset="-122"/>
              </a:rPr>
              <a:t>-</a:t>
            </a:r>
            <a:r>
              <a:rPr lang="en-US" altLang="zh-CN" sz="2400" i="1" dirty="0">
                <a:ea typeface="宋体" panose="02010600030101010101" pitchFamily="2" charset="-122"/>
              </a:rPr>
              <a:t> + b = -1 </a:t>
            </a:r>
          </a:p>
          <a:p>
            <a:pPr>
              <a:buClr>
                <a:schemeClr val="tx1"/>
              </a:buClr>
              <a:buSzTx/>
              <a:buFontTx/>
            </a:pPr>
            <a:r>
              <a:rPr lang="en-US" altLang="zh-CN" sz="2400" b="1" i="1" dirty="0">
                <a:ea typeface="宋体" panose="02010600030101010101" pitchFamily="2" charset="-122"/>
              </a:rPr>
              <a:t>x</a:t>
            </a:r>
            <a:r>
              <a:rPr lang="en-US" altLang="zh-CN" sz="2400" b="1" i="1" baseline="30000" dirty="0">
                <a:ea typeface="宋体" panose="02010600030101010101" pitchFamily="2" charset="-122"/>
              </a:rPr>
              <a:t>+</a:t>
            </a:r>
            <a:r>
              <a:rPr lang="en-US" altLang="zh-CN" sz="2400" dirty="0">
                <a:ea typeface="宋体" panose="02010600030101010101" pitchFamily="2" charset="-122"/>
              </a:rPr>
              <a:t> = </a:t>
            </a:r>
            <a:r>
              <a:rPr lang="en-US" altLang="zh-CN" sz="2400" b="1" i="1" dirty="0">
                <a:ea typeface="宋体" panose="02010600030101010101" pitchFamily="2" charset="-122"/>
              </a:rPr>
              <a:t>x</a:t>
            </a:r>
            <a:r>
              <a:rPr lang="en-US" altLang="zh-CN" sz="2400" b="1" i="1" baseline="30000" dirty="0">
                <a:ea typeface="宋体" panose="02010600030101010101" pitchFamily="2" charset="-122"/>
              </a:rPr>
              <a:t>-</a:t>
            </a:r>
            <a:r>
              <a:rPr lang="en-US" altLang="zh-CN" sz="2400" dirty="0">
                <a:ea typeface="宋体" panose="02010600030101010101" pitchFamily="2" charset="-122"/>
              </a:rPr>
              <a:t> + </a:t>
            </a:r>
            <a:r>
              <a:rPr lang="en-US" altLang="zh-CN" sz="2400" i="1" dirty="0">
                <a:latin typeface="Symbol" panose="05050102010706020507" charset="2"/>
                <a:ea typeface="宋体" panose="02010600030101010101" pitchFamily="2" charset="-122"/>
              </a:rPr>
              <a:t>l</a:t>
            </a:r>
            <a:r>
              <a:rPr lang="en-US" altLang="zh-CN" sz="2400" dirty="0">
                <a:ea typeface="宋体" panose="02010600030101010101" pitchFamily="2" charset="-122"/>
              </a:rPr>
              <a:t> </a:t>
            </a:r>
            <a:r>
              <a:rPr lang="en-US" altLang="zh-CN" sz="2400" b="1" i="1" dirty="0">
                <a:ea typeface="宋体" panose="02010600030101010101" pitchFamily="2" charset="-122"/>
              </a:rPr>
              <a:t>w</a:t>
            </a:r>
          </a:p>
          <a:p>
            <a:pPr>
              <a:buClr>
                <a:schemeClr val="tx1"/>
              </a:buClr>
              <a:buSzTx/>
              <a:buFontTx/>
            </a:pPr>
            <a:r>
              <a:rPr lang="en-US" altLang="zh-CN" sz="2400" dirty="0">
                <a:ea typeface="宋体" panose="02010600030101010101" pitchFamily="2" charset="-122"/>
              </a:rPr>
              <a:t>|</a:t>
            </a:r>
            <a:r>
              <a:rPr lang="en-US" altLang="zh-CN" sz="2400" b="1" i="1" dirty="0">
                <a:ea typeface="宋体" panose="02010600030101010101" pitchFamily="2" charset="-122"/>
              </a:rPr>
              <a:t>x</a:t>
            </a:r>
            <a:r>
              <a:rPr lang="en-US" altLang="zh-CN" sz="2400" b="1" i="1" baseline="30000" dirty="0">
                <a:ea typeface="宋体" panose="02010600030101010101" pitchFamily="2" charset="-122"/>
              </a:rPr>
              <a:t>+</a:t>
            </a:r>
            <a:r>
              <a:rPr lang="en-US" altLang="zh-CN" sz="2400" dirty="0">
                <a:ea typeface="宋体" panose="02010600030101010101" pitchFamily="2" charset="-122"/>
              </a:rPr>
              <a:t> - </a:t>
            </a:r>
            <a:r>
              <a:rPr lang="en-US" altLang="zh-CN" sz="2400" b="1" i="1" dirty="0">
                <a:ea typeface="宋体" panose="02010600030101010101" pitchFamily="2" charset="-122"/>
              </a:rPr>
              <a:t>x</a:t>
            </a:r>
            <a:r>
              <a:rPr lang="en-US" altLang="zh-CN" sz="2400" b="1" i="1" baseline="30000" dirty="0">
                <a:ea typeface="宋体" panose="02010600030101010101" pitchFamily="2" charset="-122"/>
              </a:rPr>
              <a:t>-</a:t>
            </a:r>
            <a:r>
              <a:rPr lang="en-US" altLang="zh-CN" sz="2400" dirty="0">
                <a:ea typeface="宋体" panose="02010600030101010101" pitchFamily="2" charset="-122"/>
              </a:rPr>
              <a:t> | </a:t>
            </a:r>
            <a:r>
              <a:rPr lang="en-US" altLang="zh-CN" sz="2400" i="1" dirty="0">
                <a:ea typeface="宋体" panose="02010600030101010101" pitchFamily="2" charset="-122"/>
              </a:rPr>
              <a:t>= M</a:t>
            </a:r>
          </a:p>
          <a:p>
            <a:pPr>
              <a:buClr>
                <a:schemeClr val="tx1"/>
              </a:buClr>
              <a:buSzTx/>
              <a:buFontTx/>
            </a:pPr>
            <a:r>
              <a:rPr lang="en-US" altLang="zh-CN" sz="2400" i="1" dirty="0"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653316" name="Line 4"/>
          <p:cNvSpPr>
            <a:spLocks noChangeShapeType="1"/>
          </p:cNvSpPr>
          <p:nvPr/>
        </p:nvSpPr>
        <p:spPr bwMode="auto">
          <a:xfrm rot="-23199335">
            <a:off x="2292350" y="1709738"/>
            <a:ext cx="2971800" cy="0"/>
          </a:xfrm>
          <a:prstGeom prst="line">
            <a:avLst/>
          </a:prstGeom>
          <a:noFill/>
          <a:ln w="12700">
            <a:solidFill>
              <a:schemeClr val="hlink"/>
            </a:solidFill>
            <a:round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53317" name="Line 5"/>
          <p:cNvSpPr>
            <a:spLocks noChangeShapeType="1"/>
          </p:cNvSpPr>
          <p:nvPr/>
        </p:nvSpPr>
        <p:spPr bwMode="auto">
          <a:xfrm rot="-23199335">
            <a:off x="2438400" y="2000250"/>
            <a:ext cx="2971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53318" name="Line 6"/>
          <p:cNvSpPr>
            <a:spLocks noChangeShapeType="1"/>
          </p:cNvSpPr>
          <p:nvPr/>
        </p:nvSpPr>
        <p:spPr bwMode="auto">
          <a:xfrm rot="-23199335">
            <a:off x="2582863" y="2289175"/>
            <a:ext cx="2971800" cy="0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53319" name="Text Box 7"/>
          <p:cNvSpPr txBox="1">
            <a:spLocks noChangeArrowheads="1"/>
          </p:cNvSpPr>
          <p:nvPr/>
        </p:nvSpPr>
        <p:spPr bwMode="auto">
          <a:xfrm rot="-1586986">
            <a:off x="1785938" y="851535"/>
            <a:ext cx="3048000" cy="8540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L="342900" indent="-342900" algn="ctr"/>
            <a:r>
              <a:rPr lang="en-US" altLang="zh-CN" dirty="0">
                <a:solidFill>
                  <a:schemeClr val="hlink"/>
                </a:solidFill>
                <a:latin typeface="Tahoma" panose="020B0604030504040204" charset="0"/>
                <a:ea typeface="宋体" panose="02010600030101010101" pitchFamily="2" charset="-122"/>
              </a:rPr>
              <a:t>Zone</a:t>
            </a:r>
          </a:p>
          <a:p>
            <a:pPr marL="342900" indent="-342900" algn="ctr"/>
            <a:r>
              <a:rPr lang="zh-CN" altLang="en-US" dirty="0">
                <a:solidFill>
                  <a:schemeClr val="hlink"/>
                </a:solidFill>
                <a:latin typeface="Tahoma" panose="020B0604030504040204" charset="0"/>
                <a:ea typeface="宋体" panose="02010600030101010101" pitchFamily="2" charset="-122"/>
              </a:rPr>
              <a:t>“</a:t>
            </a:r>
            <a:r>
              <a:rPr lang="en-US" altLang="zh-CN" dirty="0">
                <a:solidFill>
                  <a:schemeClr val="hlink"/>
                </a:solidFill>
                <a:latin typeface="Tahoma" panose="020B0604030504040204" charset="0"/>
                <a:ea typeface="宋体" panose="02010600030101010101" pitchFamily="2" charset="-122"/>
              </a:rPr>
              <a:t>Predict Class = +1”</a:t>
            </a:r>
          </a:p>
        </p:txBody>
      </p:sp>
      <p:sp>
        <p:nvSpPr>
          <p:cNvPr id="653320" name="Text Box 8"/>
          <p:cNvSpPr txBox="1">
            <a:spLocks noChangeArrowheads="1"/>
          </p:cNvSpPr>
          <p:nvPr/>
        </p:nvSpPr>
        <p:spPr bwMode="auto">
          <a:xfrm rot="-1586986">
            <a:off x="2827338" y="2243138"/>
            <a:ext cx="2887663" cy="7016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L="342900" indent="-342900" algn="ctr"/>
            <a:r>
              <a:rPr lang="zh-CN" altLang="en-US" dirty="0">
                <a:solidFill>
                  <a:schemeClr val="folHlink"/>
                </a:solidFill>
                <a:latin typeface="Tahoma" panose="020B0604030504040204" charset="0"/>
                <a:ea typeface="宋体" panose="02010600030101010101" pitchFamily="2" charset="-122"/>
              </a:rPr>
              <a:t>“</a:t>
            </a:r>
            <a:r>
              <a:rPr lang="en-US" altLang="zh-CN" dirty="0">
                <a:solidFill>
                  <a:schemeClr val="folHlink"/>
                </a:solidFill>
                <a:latin typeface="Tahoma" panose="020B0604030504040204" charset="0"/>
                <a:ea typeface="宋体" panose="02010600030101010101" pitchFamily="2" charset="-122"/>
              </a:rPr>
              <a:t>Predict Class = -1” zone</a:t>
            </a:r>
          </a:p>
        </p:txBody>
      </p:sp>
      <p:sp>
        <p:nvSpPr>
          <p:cNvPr id="653321" name="Text Box 9"/>
          <p:cNvSpPr txBox="1">
            <a:spLocks noChangeArrowheads="1"/>
          </p:cNvSpPr>
          <p:nvPr/>
        </p:nvSpPr>
        <p:spPr bwMode="auto">
          <a:xfrm rot="-1777892">
            <a:off x="1600200" y="2438400"/>
            <a:ext cx="9906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 marL="342900" indent="-342900">
              <a:spcBef>
                <a:spcPct val="0"/>
              </a:spcBef>
              <a:defRPr sz="240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sz="240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sz="240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sz="240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sz="240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9pPr>
          </a:lstStyle>
          <a:p>
            <a:pPr marL="342900" marR="0" lvl="0" indent="-34290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rPr>
              <a:t>wx+b=1</a:t>
            </a:r>
          </a:p>
        </p:txBody>
      </p:sp>
      <p:sp>
        <p:nvSpPr>
          <p:cNvPr id="653322" name="Text Box 10"/>
          <p:cNvSpPr txBox="1">
            <a:spLocks noChangeArrowheads="1"/>
          </p:cNvSpPr>
          <p:nvPr/>
        </p:nvSpPr>
        <p:spPr bwMode="auto">
          <a:xfrm rot="-1777892">
            <a:off x="1754188" y="2708275"/>
            <a:ext cx="9906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 marL="342900" indent="-342900">
              <a:spcBef>
                <a:spcPct val="0"/>
              </a:spcBef>
              <a:defRPr sz="240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sz="240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sz="240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sz="240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sz="240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9pPr>
          </a:lstStyle>
          <a:p>
            <a:pPr marL="342900" marR="0" lvl="0" indent="-34290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rPr>
              <a:t>wx+b=0</a:t>
            </a:r>
          </a:p>
        </p:txBody>
      </p:sp>
      <p:sp>
        <p:nvSpPr>
          <p:cNvPr id="653323" name="Text Box 11"/>
          <p:cNvSpPr txBox="1">
            <a:spLocks noChangeArrowheads="1"/>
          </p:cNvSpPr>
          <p:nvPr/>
        </p:nvSpPr>
        <p:spPr bwMode="auto">
          <a:xfrm rot="-1777892">
            <a:off x="1905000" y="2952750"/>
            <a:ext cx="9906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 marL="342900" indent="-342900">
              <a:spcBef>
                <a:spcPct val="0"/>
              </a:spcBef>
              <a:defRPr sz="240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sz="240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sz="240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sz="240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sz="240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9pPr>
          </a:lstStyle>
          <a:p>
            <a:pPr marL="342900" marR="0" lvl="0" indent="-34290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rPr>
              <a:t>wx+b=-1</a:t>
            </a:r>
          </a:p>
        </p:txBody>
      </p:sp>
      <p:sp>
        <p:nvSpPr>
          <p:cNvPr id="653324" name="Line 12"/>
          <p:cNvSpPr>
            <a:spLocks noChangeShapeType="1"/>
          </p:cNvSpPr>
          <p:nvPr/>
        </p:nvSpPr>
        <p:spPr bwMode="auto">
          <a:xfrm>
            <a:off x="5170488" y="1019175"/>
            <a:ext cx="327025" cy="5984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53325" name="Text Box 13"/>
          <p:cNvSpPr txBox="1">
            <a:spLocks noChangeArrowheads="1"/>
          </p:cNvSpPr>
          <p:nvPr/>
        </p:nvSpPr>
        <p:spPr bwMode="auto">
          <a:xfrm>
            <a:off x="5286375" y="973138"/>
            <a:ext cx="2592388" cy="3968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 marL="342900" indent="-342900">
              <a:spcBef>
                <a:spcPct val="0"/>
              </a:spcBef>
              <a:defRPr sz="240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sz="240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sz="240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sz="240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sz="240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000" b="0" i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rPr>
              <a:t>M =</a:t>
            </a: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rPr>
              <a:t> Margin Width =</a:t>
            </a:r>
          </a:p>
        </p:txBody>
      </p:sp>
      <p:sp>
        <p:nvSpPr>
          <p:cNvPr id="653326" name="Text Box 14"/>
          <p:cNvSpPr txBox="1">
            <a:spLocks noChangeArrowheads="1"/>
          </p:cNvSpPr>
          <p:nvPr/>
        </p:nvSpPr>
        <p:spPr bwMode="auto">
          <a:xfrm>
            <a:off x="4579938" y="3657600"/>
            <a:ext cx="4160838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L="342900" indent="-342900"/>
            <a:r>
              <a:rPr lang="en-US" altLang="zh-CN" i="1" dirty="0">
                <a:solidFill>
                  <a:srgbClr val="C00000"/>
                </a:solidFill>
                <a:latin typeface="Tahoma" panose="020B0604030504040204" charset="0"/>
                <a:ea typeface="宋体" panose="02010600030101010101" pitchFamily="2" charset="-122"/>
              </a:rPr>
              <a:t>M</a:t>
            </a:r>
            <a:r>
              <a:rPr lang="en-US" altLang="zh-CN" dirty="0">
                <a:solidFill>
                  <a:srgbClr val="C00000"/>
                </a:solidFill>
                <a:latin typeface="Tahoma" panose="020B0604030504040204" charset="0"/>
                <a:ea typeface="宋体" panose="02010600030101010101" pitchFamily="2" charset="-122"/>
              </a:rPr>
              <a:t> </a:t>
            </a:r>
            <a:r>
              <a:rPr lang="en-US" altLang="zh-CN" dirty="0">
                <a:latin typeface="Tahoma" panose="020B0604030504040204" charset="0"/>
                <a:ea typeface="宋体" panose="02010600030101010101" pitchFamily="2" charset="-122"/>
              </a:rPr>
              <a:t>= </a:t>
            </a:r>
            <a:r>
              <a:rPr lang="en-US" altLang="zh-CN" sz="2400" dirty="0">
                <a:latin typeface="Tahoma" panose="020B0604030504040204" charset="0"/>
                <a:ea typeface="宋体" panose="02010600030101010101" pitchFamily="2" charset="-122"/>
              </a:rPr>
              <a:t>|</a:t>
            </a:r>
            <a:r>
              <a:rPr lang="en-US" altLang="zh-CN" sz="2400" b="1" i="1" dirty="0">
                <a:latin typeface="Tahoma" panose="020B0604030504040204" charset="0"/>
                <a:ea typeface="宋体" panose="02010600030101010101" pitchFamily="2" charset="-122"/>
              </a:rPr>
              <a:t>x</a:t>
            </a:r>
            <a:r>
              <a:rPr lang="en-US" altLang="zh-CN" sz="2400" b="1" i="1" baseline="30000" dirty="0">
                <a:latin typeface="Tahoma" panose="020B0604030504040204" charset="0"/>
                <a:ea typeface="宋体" panose="02010600030101010101" pitchFamily="2" charset="-122"/>
              </a:rPr>
              <a:t>+</a:t>
            </a:r>
            <a:r>
              <a:rPr lang="en-US" altLang="zh-CN" sz="2400" dirty="0">
                <a:latin typeface="Tahoma" panose="020B0604030504040204" charset="0"/>
                <a:ea typeface="宋体" panose="02010600030101010101" pitchFamily="2" charset="-122"/>
              </a:rPr>
              <a:t> - </a:t>
            </a:r>
            <a:r>
              <a:rPr lang="en-US" altLang="zh-CN" sz="2400" b="1" i="1" dirty="0">
                <a:latin typeface="Tahoma" panose="020B0604030504040204" charset="0"/>
                <a:ea typeface="宋体" panose="02010600030101010101" pitchFamily="2" charset="-122"/>
              </a:rPr>
              <a:t>x</a:t>
            </a:r>
            <a:r>
              <a:rPr lang="en-US" altLang="zh-CN" sz="2400" b="1" i="1" baseline="30000" dirty="0">
                <a:latin typeface="Tahoma" panose="020B0604030504040204" charset="0"/>
                <a:ea typeface="宋体" panose="02010600030101010101" pitchFamily="2" charset="-122"/>
              </a:rPr>
              <a:t>-</a:t>
            </a:r>
            <a:r>
              <a:rPr lang="en-US" altLang="zh-CN" sz="2400" dirty="0">
                <a:latin typeface="Tahoma" panose="020B0604030504040204" charset="0"/>
                <a:ea typeface="宋体" panose="02010600030101010101" pitchFamily="2" charset="-122"/>
              </a:rPr>
              <a:t> | =| </a:t>
            </a:r>
            <a:r>
              <a:rPr lang="en-US" altLang="zh-CN" sz="2400" i="1" dirty="0">
                <a:latin typeface="Symbol" panose="05050102010706020507" charset="2"/>
                <a:ea typeface="宋体" panose="02010600030101010101" pitchFamily="2" charset="-122"/>
              </a:rPr>
              <a:t>l</a:t>
            </a:r>
            <a:r>
              <a:rPr lang="en-US" altLang="zh-CN" sz="2400" dirty="0">
                <a:latin typeface="Symbol" panose="05050102010706020507" charset="2"/>
                <a:ea typeface="宋体" panose="02010600030101010101" pitchFamily="2" charset="-122"/>
              </a:rPr>
              <a:t> </a:t>
            </a:r>
            <a:r>
              <a:rPr lang="en-US" altLang="zh-CN" sz="2400" b="1" i="1" dirty="0">
                <a:latin typeface="Tahoma" panose="020B0604030504040204" charset="0"/>
                <a:ea typeface="宋体" panose="02010600030101010101" pitchFamily="2" charset="-122"/>
              </a:rPr>
              <a:t>w</a:t>
            </a:r>
            <a:r>
              <a:rPr lang="en-US" altLang="zh-CN" sz="2400" dirty="0">
                <a:latin typeface="Tahoma" panose="020B0604030504040204" charset="0"/>
                <a:ea typeface="宋体" panose="02010600030101010101" pitchFamily="2" charset="-122"/>
              </a:rPr>
              <a:t> |=</a:t>
            </a:r>
            <a:endParaRPr lang="en-US" altLang="zh-CN" i="1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653327" name="Oval 15"/>
          <p:cNvSpPr>
            <a:spLocks noChangeArrowheads="1"/>
          </p:cNvSpPr>
          <p:nvPr/>
        </p:nvSpPr>
        <p:spPr bwMode="auto">
          <a:xfrm>
            <a:off x="4483100" y="2022475"/>
            <a:ext cx="76200" cy="76200"/>
          </a:xfrm>
          <a:prstGeom prst="ellipse">
            <a:avLst/>
          </a:prstGeom>
          <a:solidFill>
            <a:srgbClr val="990099"/>
          </a:solidFill>
          <a:ln>
            <a:noFill/>
          </a:ln>
          <a:effectLst/>
        </p:spPr>
        <p:txBody>
          <a:bodyPr wrap="none"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53328" name="Text Box 16"/>
          <p:cNvSpPr txBox="1">
            <a:spLocks noChangeArrowheads="1"/>
          </p:cNvSpPr>
          <p:nvPr/>
        </p:nvSpPr>
        <p:spPr bwMode="auto">
          <a:xfrm>
            <a:off x="4583113" y="2006600"/>
            <a:ext cx="515938" cy="415925"/>
          </a:xfrm>
          <a:prstGeom prst="rect">
            <a:avLst/>
          </a:prstGeom>
          <a:solidFill>
            <a:schemeClr val="bg1"/>
          </a:solidFill>
          <a:ln w="19050">
            <a:solidFill>
              <a:srgbClr val="990099"/>
            </a:solidFill>
            <a:miter lim="800000"/>
          </a:ln>
          <a:effectLst/>
        </p:spPr>
        <p:txBody>
          <a:bodyPr>
            <a:spAutoFit/>
          </a:bodyPr>
          <a:lstStyle>
            <a:lvl1pPr marL="342900" indent="-342900">
              <a:spcBef>
                <a:spcPct val="0"/>
              </a:spcBef>
              <a:defRPr sz="240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sz="240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sz="240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sz="240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sz="240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rgbClr val="990099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rPr>
              <a:t>x</a:t>
            </a:r>
            <a:r>
              <a:rPr kumimoji="0" lang="en-US" altLang="zh-CN" sz="2400" b="0" i="1" u="none" strike="noStrike" kern="1200" cap="none" spc="0" normalizeH="0" baseline="30000" noProof="0">
                <a:ln>
                  <a:noFill/>
                </a:ln>
                <a:solidFill>
                  <a:srgbClr val="990099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rPr>
              <a:t>-</a:t>
            </a:r>
          </a:p>
        </p:txBody>
      </p:sp>
      <p:sp>
        <p:nvSpPr>
          <p:cNvPr id="653329" name="Oval 17"/>
          <p:cNvSpPr>
            <a:spLocks noChangeArrowheads="1"/>
          </p:cNvSpPr>
          <p:nvPr/>
        </p:nvSpPr>
        <p:spPr bwMode="auto">
          <a:xfrm>
            <a:off x="4189413" y="1460500"/>
            <a:ext cx="76200" cy="76200"/>
          </a:xfrm>
          <a:prstGeom prst="ellipse">
            <a:avLst/>
          </a:prstGeom>
          <a:solidFill>
            <a:srgbClr val="CC3300"/>
          </a:solidFill>
          <a:ln>
            <a:noFill/>
          </a:ln>
          <a:effectLst/>
        </p:spPr>
        <p:txBody>
          <a:bodyPr wrap="none"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53330" name="Text Box 18"/>
          <p:cNvSpPr txBox="1">
            <a:spLocks noChangeArrowheads="1"/>
          </p:cNvSpPr>
          <p:nvPr/>
        </p:nvSpPr>
        <p:spPr bwMode="auto">
          <a:xfrm>
            <a:off x="4300538" y="1022350"/>
            <a:ext cx="515938" cy="415925"/>
          </a:xfrm>
          <a:prstGeom prst="rect">
            <a:avLst/>
          </a:prstGeom>
          <a:solidFill>
            <a:schemeClr val="bg1"/>
          </a:solidFill>
          <a:ln w="19050">
            <a:solidFill>
              <a:srgbClr val="CC3300"/>
            </a:solidFill>
            <a:miter lim="800000"/>
          </a:ln>
          <a:effectLst/>
        </p:spPr>
        <p:txBody>
          <a:bodyPr>
            <a:spAutoFit/>
          </a:bodyPr>
          <a:lstStyle>
            <a:lvl1pPr marL="342900" indent="-342900">
              <a:spcBef>
                <a:spcPct val="0"/>
              </a:spcBef>
              <a:defRPr sz="240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sz="240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sz="240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sz="240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sz="240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rPr>
              <a:t>x</a:t>
            </a:r>
            <a:r>
              <a:rPr kumimoji="0" lang="en-US" altLang="zh-CN" sz="2400" b="0" i="1" u="none" strike="noStrike" kern="1200" cap="none" spc="0" normalizeH="0" baseline="30000" noProof="0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rPr>
              <a:t>+</a:t>
            </a:r>
          </a:p>
        </p:txBody>
      </p:sp>
      <p:graphicFrame>
        <p:nvGraphicFramePr>
          <p:cNvPr id="28689" name="Object 19"/>
          <p:cNvGraphicFramePr>
            <a:graphicFrameLocks noGrp="1" noChangeAspect="1"/>
          </p:cNvGraphicFramePr>
          <p:nvPr>
            <p:ph sz="half" idx="2"/>
          </p:nvPr>
        </p:nvGraphicFramePr>
        <p:xfrm>
          <a:off x="1738313" y="5649913"/>
          <a:ext cx="1333500" cy="919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5" r:id="rId3" imgW="571500" imgH="393700" progId="Equation.3">
                  <p:embed/>
                </p:oleObj>
              </mc:Choice>
              <mc:Fallback>
                <p:oleObj r:id="rId3" imgW="571500" imgH="393700" progId="Equation.3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738313" y="5649913"/>
                        <a:ext cx="1333500" cy="919162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90" name="Object 28"/>
          <p:cNvGraphicFramePr>
            <a:graphicFrameLocks noChangeAspect="1"/>
          </p:cNvGraphicFramePr>
          <p:nvPr/>
        </p:nvGraphicFramePr>
        <p:xfrm>
          <a:off x="4943475" y="5238750"/>
          <a:ext cx="2905125" cy="1111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6" r:id="rId5" imgW="1193800" imgH="457200" progId="Equation.3">
                  <p:embed/>
                </p:oleObj>
              </mc:Choice>
              <mc:Fallback>
                <p:oleObj r:id="rId5" imgW="1193800" imgH="457200" progId="Equation.3">
                  <p:embed/>
                  <p:pic>
                    <p:nvPicPr>
                      <p:cNvPr id="0" name="图片 3080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943475" y="5238750"/>
                        <a:ext cx="2905125" cy="11112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91" name="Object 29"/>
          <p:cNvGraphicFramePr>
            <a:graphicFrameLocks noChangeAspect="1"/>
          </p:cNvGraphicFramePr>
          <p:nvPr/>
        </p:nvGraphicFramePr>
        <p:xfrm>
          <a:off x="4810125" y="4375150"/>
          <a:ext cx="2657475" cy="585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7" r:id="rId7" imgW="1091565" imgH="241300" progId="Equation.3">
                  <p:embed/>
                </p:oleObj>
              </mc:Choice>
              <mc:Fallback>
                <p:oleObj r:id="rId7" imgW="1091565" imgH="241300" progId="Equation.3">
                  <p:embed/>
                  <p:pic>
                    <p:nvPicPr>
                      <p:cNvPr id="0" name="图片 3082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810125" y="4375150"/>
                        <a:ext cx="2657475" cy="5857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92" name="Object 30"/>
          <p:cNvGraphicFramePr>
            <a:graphicFrameLocks noChangeAspect="1"/>
          </p:cNvGraphicFramePr>
          <p:nvPr/>
        </p:nvGraphicFramePr>
        <p:xfrm>
          <a:off x="7840663" y="842963"/>
          <a:ext cx="720725" cy="679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8" r:id="rId9" imgW="444500" imgH="419100" progId="Equation.3">
                  <p:embed/>
                </p:oleObj>
              </mc:Choice>
              <mc:Fallback>
                <p:oleObj r:id="rId9" imgW="444500" imgH="419100" progId="Equation.3">
                  <p:embed/>
                  <p:pic>
                    <p:nvPicPr>
                      <p:cNvPr id="0" name="图片 3081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7840663" y="842963"/>
                        <a:ext cx="720725" cy="6794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3344" name="Rectangle 32"/>
          <p:cNvSpPr>
            <a:spLocks noChangeArrowheads="1"/>
          </p:cNvSpPr>
          <p:nvPr/>
        </p:nvSpPr>
        <p:spPr bwMode="auto">
          <a:xfrm>
            <a:off x="228600" y="76200"/>
            <a:ext cx="8534400" cy="685800"/>
          </a:xfrm>
          <a:prstGeom prst="rect">
            <a:avLst/>
          </a:prstGeom>
          <a:noFill/>
          <a:ln>
            <a:noFill/>
          </a:ln>
          <a:effectLst/>
        </p:spPr>
        <p:txBody>
          <a:bodyPr anchor="b"/>
          <a:lstStyle/>
          <a:p>
            <a:pPr algn="ctr">
              <a:spcBef>
                <a:spcPct val="0"/>
              </a:spcBef>
              <a:buClrTx/>
            </a:pPr>
            <a:r>
              <a:rPr lang="zh-CN" altLang="en-US" sz="3200" b="1" dirty="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rPr>
              <a:t>计算间隔</a:t>
            </a:r>
          </a:p>
        </p:txBody>
      </p:sp>
    </p:spTree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5" name="Rectangle 3"/>
          <p:cNvSpPr>
            <a:spLocks noGrp="1" noChangeArrowheads="1"/>
          </p:cNvSpPr>
          <p:nvPr>
            <p:ph idx="1"/>
          </p:nvPr>
        </p:nvSpPr>
        <p:spPr>
          <a:xfrm>
            <a:off x="349250" y="1150620"/>
            <a:ext cx="8574088" cy="5715000"/>
          </a:xfrm>
        </p:spPr>
        <p:txBody>
          <a:bodyPr vert="horz" wrap="square" lIns="91440" tIns="45720" rIns="91440" bIns="45720" numCol="1" anchor="t" anchorCtr="0" compatLnSpc="1"/>
          <a:lstStyle/>
          <a:p>
            <a:r>
              <a:rPr lang="zh-CN" altLang="en-US" dirty="0">
                <a:solidFill>
                  <a:srgbClr val="FF0000"/>
                </a:solidFill>
                <a:ea typeface="宋体" panose="02010600030101010101" pitchFamily="2" charset="-122"/>
                <a:sym typeface="+mn-ea"/>
              </a:rPr>
              <a:t>需要通过一种算法求出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  <a:sym typeface="+mn-ea"/>
              </a:rPr>
              <a:t>w </a:t>
            </a:r>
            <a:r>
              <a:rPr lang="zh-CN" altLang="en-US" dirty="0">
                <a:solidFill>
                  <a:srgbClr val="FF0000"/>
                </a:solidFill>
                <a:ea typeface="宋体" panose="02010600030101010101" pitchFamily="2" charset="-122"/>
                <a:sym typeface="+mn-ea"/>
              </a:rPr>
              <a:t>与 </a:t>
            </a:r>
            <a:r>
              <a:rPr lang="en-US" altLang="zh-CN" i="1" dirty="0">
                <a:solidFill>
                  <a:srgbClr val="FF0000"/>
                </a:solidFill>
                <a:ea typeface="宋体" panose="02010600030101010101" pitchFamily="2" charset="-122"/>
                <a:sym typeface="+mn-ea"/>
              </a:rPr>
              <a:t>b，</a:t>
            </a:r>
            <a:r>
              <a:rPr lang="zh-CN" altLang="en-US" i="1" dirty="0">
                <a:solidFill>
                  <a:srgbClr val="FF0000"/>
                </a:solidFill>
                <a:ea typeface="宋体" panose="02010600030101010101" pitchFamily="2" charset="-122"/>
                <a:sym typeface="+mn-ea"/>
              </a:rPr>
              <a:t>使得间隔</a:t>
            </a:r>
            <a:r>
              <a:rPr lang="en-US" altLang="zh-CN" i="1" dirty="0">
                <a:solidFill>
                  <a:srgbClr val="FF0000"/>
                </a:solidFill>
                <a:ea typeface="宋体" panose="02010600030101010101" pitchFamily="2" charset="-122"/>
                <a:sym typeface="+mn-ea"/>
              </a:rPr>
              <a:t>M</a:t>
            </a:r>
            <a:r>
              <a:rPr lang="zh-CN" altLang="en-US" i="1" dirty="0">
                <a:solidFill>
                  <a:srgbClr val="FF0000"/>
                </a:solidFill>
                <a:ea typeface="宋体" panose="02010600030101010101" pitchFamily="2" charset="-122"/>
                <a:sym typeface="+mn-ea"/>
              </a:rPr>
              <a:t>最大</a:t>
            </a:r>
            <a:r>
              <a:rPr lang="zh-CN" altLang="en-US" i="1" dirty="0">
                <a:ea typeface="宋体" panose="02010600030101010101" pitchFamily="2" charset="-122"/>
                <a:sym typeface="+mn-ea"/>
              </a:rPr>
              <a:t>。如</a:t>
            </a:r>
            <a:r>
              <a:rPr lang="zh-CN" altLang="en-US" dirty="0">
                <a:solidFill>
                  <a:srgbClr val="009900"/>
                </a:solidFill>
                <a:ea typeface="宋体" panose="02010600030101010101" pitchFamily="2" charset="-122"/>
                <a:sym typeface="+mn-ea"/>
              </a:rPr>
              <a:t>梯度下降、 退火算法等</a:t>
            </a:r>
          </a:p>
          <a:p>
            <a:endParaRPr lang="zh-CN" altLang="en-US">
              <a:ea typeface="楷体_GB2312" pitchFamily="49" charset="-122"/>
            </a:endParaRPr>
          </a:p>
          <a:p>
            <a:r>
              <a:rPr lang="zh-CN" altLang="en-US">
                <a:ea typeface="楷体_GB2312" pitchFamily="49" charset="-122"/>
              </a:rPr>
              <a:t>最优分类面问题可以表示成约束优化问题</a:t>
            </a:r>
          </a:p>
          <a:p>
            <a:endParaRPr lang="en-US" altLang="ko-KR"/>
          </a:p>
          <a:p>
            <a:pPr lvl="1"/>
            <a:r>
              <a:rPr lang="en-US" altLang="ko-KR" sz="2400"/>
              <a:t>Minimize</a:t>
            </a:r>
          </a:p>
          <a:p>
            <a:pPr lvl="1"/>
            <a:endParaRPr lang="en-US" altLang="ko-KR" sz="2400"/>
          </a:p>
          <a:p>
            <a:pPr lvl="1"/>
            <a:r>
              <a:rPr lang="en-US" altLang="ko-KR" sz="2400"/>
              <a:t>Subject to</a:t>
            </a:r>
          </a:p>
          <a:p>
            <a:pPr lvl="1"/>
            <a:endParaRPr lang="en-US" altLang="ko-KR" sz="2400"/>
          </a:p>
          <a:p>
            <a:pPr>
              <a:buFont typeface="Wingdings" panose="05000000000000000000" pitchFamily="2" charset="2"/>
              <a:buNone/>
            </a:pPr>
            <a:endParaRPr lang="en-US" altLang="zh-CN"/>
          </a:p>
          <a:p>
            <a:pPr>
              <a:buFont typeface="Wingdings" panose="05000000000000000000" pitchFamily="2" charset="2"/>
              <a:buNone/>
            </a:pPr>
            <a:r>
              <a:rPr lang="en-US" altLang="ko-KR"/>
              <a:t>	</a:t>
            </a:r>
          </a:p>
        </p:txBody>
      </p:sp>
      <p:graphicFrame>
        <p:nvGraphicFramePr>
          <p:cNvPr id="30722" name="Object 4"/>
          <p:cNvGraphicFramePr>
            <a:graphicFrameLocks noChangeAspect="1"/>
          </p:cNvGraphicFramePr>
          <p:nvPr/>
        </p:nvGraphicFramePr>
        <p:xfrm>
          <a:off x="2272030" y="2880360"/>
          <a:ext cx="3908425" cy="11836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06" r:id="rId3" imgW="1663700" imgH="635000" progId="Equation.DSMT4">
                  <p:embed/>
                </p:oleObj>
              </mc:Choice>
              <mc:Fallback>
                <p:oleObj r:id="rId3" imgW="1663700" imgH="635000" progId="Equation.DSMT4">
                  <p:embed/>
                  <p:pic>
                    <p:nvPicPr>
                      <p:cNvPr id="0" name="图片 308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272030" y="2880360"/>
                        <a:ext cx="3908425" cy="118364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105" name="图片 1" descr="024f78f0f736afc3e82851a4bf19ebc14b64512ce.jpg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993900"/>
            <a:ext cx="7620000" cy="28575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7106" name="图片 2" descr="024f78f0f736afc3e82851a4bf19ebc4b64512ce.jpg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071370"/>
            <a:ext cx="7620000" cy="37846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7107" name="矩形 3"/>
          <p:cNvSpPr/>
          <p:nvPr/>
        </p:nvSpPr>
        <p:spPr>
          <a:xfrm>
            <a:off x="326390" y="895350"/>
            <a:ext cx="8663940" cy="103886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2800">
                <a:latin typeface="Tahoma" panose="020B0604030504040204" charset="0"/>
              </a:rPr>
              <a:t>线性可分：</a:t>
            </a:r>
            <a:endParaRPr lang="en-US" altLang="zh-CN" sz="2800">
              <a:latin typeface="Tahoma" panose="020B0604030504040204" charset="0"/>
            </a:endParaRPr>
          </a:p>
          <a:p>
            <a:r>
              <a:rPr lang="en-US" altLang="zh-CN" sz="2800">
                <a:latin typeface="Tahoma" panose="020B0604030504040204" charset="0"/>
              </a:rPr>
              <a:t>SVM</a:t>
            </a:r>
            <a:r>
              <a:rPr lang="zh-CN" altLang="en-US" sz="2800">
                <a:latin typeface="Tahoma" panose="020B0604030504040204" charset="0"/>
              </a:rPr>
              <a:t>通过核函数（</a:t>
            </a:r>
            <a:r>
              <a:rPr lang="en-US" altLang="zh-CN" sz="2800">
                <a:latin typeface="Tahoma" panose="020B0604030504040204" charset="0"/>
              </a:rPr>
              <a:t>kernels</a:t>
            </a:r>
            <a:r>
              <a:rPr lang="zh-CN" altLang="en-US" sz="2800">
                <a:latin typeface="Tahoma" panose="020B0604030504040204" charset="0"/>
              </a:rPr>
              <a:t>）将样本投影到线性空间。</a:t>
            </a:r>
          </a:p>
        </p:txBody>
      </p:sp>
    </p:spTree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85775" y="242570"/>
            <a:ext cx="8032115" cy="59347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30000"/>
              </a:lnSpc>
              <a:spcBef>
                <a:spcPts val="20"/>
              </a:spcBef>
              <a:spcAft>
                <a:spcPts val="0"/>
              </a:spcAft>
            </a:pPr>
            <a:r>
              <a:rPr lang="zh-CN" altLang="en-US" b="1">
                <a:solidFill>
                  <a:srgbClr val="0070C0"/>
                </a:solidFill>
              </a:rPr>
              <a:t>核函数：降维</a:t>
            </a:r>
            <a:r>
              <a:rPr lang="en-US" altLang="zh-CN" sz="2400" b="1"/>
              <a:t>     </a:t>
            </a:r>
          </a:p>
          <a:p>
            <a:pPr>
              <a:lnSpc>
                <a:spcPct val="130000"/>
              </a:lnSpc>
              <a:spcBef>
                <a:spcPts val="20"/>
              </a:spcBef>
              <a:spcAft>
                <a:spcPts val="0"/>
              </a:spcAft>
            </a:pPr>
            <a:r>
              <a:rPr lang="en-US" altLang="zh-CN" sz="2400" b="1"/>
              <a:t>      </a:t>
            </a:r>
            <a:r>
              <a:rPr lang="zh-CN" altLang="en-US" sz="2400" b="1"/>
              <a:t>支持向量机通过某非线性变换 φ( x) ，</a:t>
            </a:r>
            <a:r>
              <a:rPr lang="zh-CN" altLang="en-US" sz="2400" b="1">
                <a:solidFill>
                  <a:srgbClr val="C00000"/>
                </a:solidFill>
              </a:rPr>
              <a:t>将输入空间映射到高维特征空间</a:t>
            </a:r>
            <a:r>
              <a:rPr lang="zh-CN" altLang="en-US" sz="2400" b="1"/>
              <a:t>。特征空间的维数可能非常高。如果支持向量机的求解只用到内积运算，而在</a:t>
            </a:r>
            <a:r>
              <a:rPr lang="zh-CN" altLang="en-US" sz="2400" b="1">
                <a:solidFill>
                  <a:srgbClr val="C00000"/>
                </a:solidFill>
              </a:rPr>
              <a:t>低维输入空间又存在某个函数 K(x, x′) </a:t>
            </a:r>
            <a:r>
              <a:rPr lang="zh-CN" altLang="en-US" sz="2400" b="1"/>
              <a:t>，</a:t>
            </a:r>
            <a:r>
              <a:rPr lang="zh-CN" altLang="en-US" sz="2400" b="1">
                <a:solidFill>
                  <a:srgbClr val="C00000"/>
                </a:solidFill>
              </a:rPr>
              <a:t>它恰好等于在高维空间中这个内积</a:t>
            </a:r>
            <a:r>
              <a:rPr lang="zh-CN" altLang="en-US" sz="2400" b="1"/>
              <a:t>，即              K( x, x′) =&lt;φ( x) ⋅φ( x′) &gt; </a:t>
            </a:r>
          </a:p>
          <a:p>
            <a:pPr>
              <a:lnSpc>
                <a:spcPct val="130000"/>
              </a:lnSpc>
              <a:spcBef>
                <a:spcPts val="20"/>
              </a:spcBef>
              <a:spcAft>
                <a:spcPts val="0"/>
              </a:spcAft>
            </a:pPr>
            <a:r>
              <a:rPr lang="zh-CN" altLang="en-US" sz="2400" b="1"/>
              <a:t>      那么支持向量机就不用计算复杂的非线性变换，而由这个函数 K(x, x′) 直接得到非线性变换的内积，使大大简化了计算。这样的函数 K(x, x′) 称为核函数。</a:t>
            </a:r>
          </a:p>
          <a:p>
            <a:pPr>
              <a:lnSpc>
                <a:spcPct val="130000"/>
              </a:lnSpc>
              <a:spcBef>
                <a:spcPts val="20"/>
              </a:spcBef>
              <a:spcAft>
                <a:spcPts val="0"/>
              </a:spcAft>
            </a:pPr>
            <a:r>
              <a:rPr lang="zh-CN" altLang="en-US" sz="2400" b="1">
                <a:solidFill>
                  <a:srgbClr val="C00000"/>
                </a:solidFill>
              </a:rPr>
              <a:t>      常用的核函数</a:t>
            </a:r>
            <a:r>
              <a:rPr lang="zh-CN" altLang="en-US" sz="2400" b="1">
                <a:solidFill>
                  <a:schemeClr val="tx1"/>
                </a:solidFill>
              </a:rPr>
              <a:t>有：</a:t>
            </a:r>
            <a:r>
              <a:rPr lang="zh-CN" altLang="en-US" sz="2400" b="1">
                <a:solidFill>
                  <a:srgbClr val="0070C0"/>
                </a:solidFill>
              </a:rPr>
              <a:t>线性核函数，多项式核函数，径向基核函数，Sigmoid核函数和复合核函数，傅立叶级数核，B样条核函数和张量积核函数</a:t>
            </a:r>
            <a:r>
              <a:rPr lang="zh-CN" altLang="en-US" sz="2400" b="1"/>
              <a:t>等   。</a:t>
            </a:r>
          </a:p>
        </p:txBody>
      </p:sp>
    </p:spTree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7" name="Rectangle 2"/>
          <p:cNvSpPr>
            <a:spLocks noGrp="1" noRot="1"/>
          </p:cNvSpPr>
          <p:nvPr>
            <p:ph type="subTitle" idx="1"/>
          </p:nvPr>
        </p:nvSpPr>
        <p:spPr>
          <a:xfrm>
            <a:off x="628650" y="1374140"/>
            <a:ext cx="7886700" cy="2807335"/>
          </a:xfrm>
          <a:solidFill>
            <a:schemeClr val="bg1">
              <a:alpha val="100000"/>
            </a:schemeClr>
          </a:solidFill>
        </p:spPr>
        <p:txBody>
          <a:bodyPr vert="horz" wrap="square" lIns="91440" tIns="45720" rIns="91440" bIns="45720" anchor="t">
            <a:noAutofit/>
          </a:bodyPr>
          <a:lstStyle/>
          <a:p>
            <a:pPr marL="400050" lvl="1" indent="0" algn="l">
              <a:lnSpc>
                <a:spcPct val="150000"/>
              </a:lnSpc>
              <a:buNone/>
            </a:pPr>
            <a:r>
              <a:rPr lang="zh-CN" altLang="en-US" sz="2000" dirty="0"/>
              <a:t>最近邻分类的算法步骤如下：</a:t>
            </a:r>
          </a:p>
          <a:p>
            <a:pPr marL="400050" lvl="1" indent="0" algn="l">
              <a:lnSpc>
                <a:spcPct val="150000"/>
              </a:lnSpc>
              <a:buNone/>
            </a:pPr>
            <a:r>
              <a:rPr lang="zh-CN" altLang="en-US" sz="2000" dirty="0"/>
              <a:t>一、以向量空间模型的形式描述各训练样本。</a:t>
            </a:r>
          </a:p>
          <a:p>
            <a:pPr marL="400050" lvl="1" indent="0" algn="l">
              <a:lnSpc>
                <a:spcPct val="150000"/>
              </a:lnSpc>
              <a:buNone/>
            </a:pPr>
            <a:r>
              <a:rPr lang="zh-CN" altLang="en-US" sz="2000" dirty="0"/>
              <a:t>二、在全部训练样本集中</a:t>
            </a:r>
            <a:r>
              <a:rPr lang="en-US" altLang="zh-CN" sz="2000" dirty="0">
                <a:solidFill>
                  <a:srgbClr val="FF0000"/>
                </a:solidFill>
              </a:rPr>
              <a:t>选出</a:t>
            </a:r>
            <a:r>
              <a:rPr lang="en-US" altLang="zh-CN" sz="2000" dirty="0">
                <a:solidFill>
                  <a:srgbClr val="000000"/>
                </a:solidFill>
              </a:rPr>
              <a:t>与</a:t>
            </a:r>
            <a:r>
              <a:rPr lang="zh-CN" altLang="en-US" sz="2000" dirty="0">
                <a:solidFill>
                  <a:srgbClr val="FF0000"/>
                </a:solidFill>
              </a:rPr>
              <a:t>待分类样本最相似的</a:t>
            </a:r>
            <a:r>
              <a:rPr lang="en-US" altLang="zh-CN" sz="2000" dirty="0">
                <a:solidFill>
                  <a:srgbClr val="FF0000"/>
                </a:solidFill>
              </a:rPr>
              <a:t>K</a:t>
            </a:r>
            <a:r>
              <a:rPr lang="zh-CN" altLang="en-US" sz="2000" dirty="0">
                <a:solidFill>
                  <a:srgbClr val="FF0000"/>
                </a:solidFill>
              </a:rPr>
              <a:t>个样本</a:t>
            </a:r>
            <a:r>
              <a:rPr lang="zh-CN" altLang="en-US" sz="2000" dirty="0"/>
              <a:t>。</a:t>
            </a:r>
            <a:r>
              <a:rPr lang="en-US" altLang="zh-CN" sz="2000" dirty="0"/>
              <a:t>K</a:t>
            </a:r>
            <a:r>
              <a:rPr lang="zh-CN" altLang="en-US" sz="2000" dirty="0"/>
              <a:t>值的确定目前没有很好的方法，一般采用先定一个</a:t>
            </a:r>
            <a:r>
              <a:rPr lang="en-US" altLang="zh-CN" sz="2000" dirty="0"/>
              <a:t>100</a:t>
            </a:r>
            <a:r>
              <a:rPr lang="zh-CN" altLang="en-US" sz="2000" dirty="0"/>
              <a:t>左右的初始值，然后再调整。</a:t>
            </a:r>
          </a:p>
          <a:p>
            <a:pPr marL="400050" lvl="1" indent="0" algn="l">
              <a:lnSpc>
                <a:spcPct val="150000"/>
              </a:lnSpc>
              <a:buNone/>
            </a:pPr>
            <a:r>
              <a:rPr lang="zh-CN" altLang="en-US" sz="2000" dirty="0"/>
              <a:t>三、将待分类样本标记为其</a:t>
            </a:r>
            <a:r>
              <a:rPr lang="en-US" altLang="zh-CN" sz="2000" dirty="0"/>
              <a:t>K</a:t>
            </a:r>
            <a:r>
              <a:rPr lang="zh-CN" altLang="en-US" sz="2000" dirty="0"/>
              <a:t>个邻居中所属最多的那个类别中。</a:t>
            </a:r>
            <a:endParaRPr lang="en-US" altLang="zh-CN" sz="2000" dirty="0"/>
          </a:p>
          <a:p>
            <a:pPr marL="400050" lvl="1" indent="0" algn="l">
              <a:lnSpc>
                <a:spcPct val="150000"/>
              </a:lnSpc>
              <a:buNone/>
            </a:pPr>
            <a:endParaRPr lang="en-US" altLang="zh-CN" sz="2000" dirty="0"/>
          </a:p>
        </p:txBody>
      </p:sp>
      <p:graphicFrame>
        <p:nvGraphicFramePr>
          <p:cNvPr id="91138" name="Object 3"/>
          <p:cNvGraphicFramePr>
            <a:graphicFrameLocks noChangeAspect="1"/>
          </p:cNvGraphicFramePr>
          <p:nvPr/>
        </p:nvGraphicFramePr>
        <p:xfrm>
          <a:off x="6543675" y="4540250"/>
          <a:ext cx="2286000" cy="198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54" r:id="rId3" imgW="4064000" imgH="3488055" progId="Excel.Sheet.8">
                  <p:embed/>
                </p:oleObj>
              </mc:Choice>
              <mc:Fallback>
                <p:oleObj r:id="rId3" imgW="4064000" imgH="3488055" progId="Excel.Sheet.8">
                  <p:embed/>
                  <p:pic>
                    <p:nvPicPr>
                      <p:cNvPr id="0" name="图片 309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543675" y="4540250"/>
                        <a:ext cx="2286000" cy="1981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1139" name="椭圆 1"/>
          <p:cNvSpPr/>
          <p:nvPr/>
        </p:nvSpPr>
        <p:spPr>
          <a:xfrm>
            <a:off x="7613015" y="5012690"/>
            <a:ext cx="773113" cy="863600"/>
          </a:xfrm>
          <a:prstGeom prst="ellipse">
            <a:avLst/>
          </a:prstGeom>
          <a:noFill/>
          <a:ln w="9525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/>
            <a:endParaRPr lang="zh-CN" altLang="en-US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91141" name="文本框 5"/>
          <p:cNvSpPr txBox="1"/>
          <p:nvPr/>
        </p:nvSpPr>
        <p:spPr>
          <a:xfrm>
            <a:off x="899795" y="4364355"/>
            <a:ext cx="2736850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2400" dirty="0">
                <a:latin typeface="Arial" panose="020B0604020202020204" pitchFamily="34" charset="0"/>
              </a:rPr>
              <a:t>欧氏距离：</a:t>
            </a:r>
          </a:p>
        </p:txBody>
      </p:sp>
      <p:sp>
        <p:nvSpPr>
          <p:cNvPr id="91142" name="文本框 7"/>
          <p:cNvSpPr txBox="1"/>
          <p:nvPr/>
        </p:nvSpPr>
        <p:spPr>
          <a:xfrm>
            <a:off x="7811135" y="5147628"/>
            <a:ext cx="2447925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457200" indent="-457200">
              <a:buClr>
                <a:srgbClr val="00B050"/>
              </a:buClr>
              <a:buFont typeface="Arial" panose="020B0604020202020204" pitchFamily="34" charset="0"/>
              <a:buChar char="•"/>
            </a:pPr>
            <a:r>
              <a:rPr lang="en-US" altLang="zh-CN" sz="3200" dirty="0">
                <a:solidFill>
                  <a:srgbClr val="FF0000"/>
                </a:solidFill>
                <a:latin typeface="Arial" panose="020B0604020202020204" pitchFamily="34" charset="0"/>
              </a:rPr>
              <a:t>            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494665" y="231140"/>
            <a:ext cx="2415540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zh-CN" dirty="0">
                <a:solidFill>
                  <a:srgbClr val="0066FF"/>
                </a:solidFill>
                <a:sym typeface="+mn-ea"/>
              </a:rPr>
              <a:t> K-</a:t>
            </a:r>
            <a:r>
              <a:rPr lang="zh-CN" altLang="en-US" dirty="0">
                <a:solidFill>
                  <a:srgbClr val="0066FF"/>
                </a:solidFill>
                <a:sym typeface="+mn-ea"/>
              </a:rPr>
              <a:t>最近邻分类</a:t>
            </a:r>
            <a:endParaRPr lang="zh-CN" altLang="en-US"/>
          </a:p>
        </p:txBody>
      </p:sp>
      <p:pic>
        <p:nvPicPr>
          <p:cNvPr id="101" name="图片 100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55650" y="4798695"/>
            <a:ext cx="5581650" cy="831215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advClick="0"/>
    </mc:Choice>
    <mc:Fallback xmlns="">
      <p:transition advClick="0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v2-ebfed6384ecfeb1f62f20cde325f4187_1440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50" y="1196975"/>
            <a:ext cx="9144000" cy="504825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494665" y="231140"/>
            <a:ext cx="2415540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zh-CN" dirty="0">
                <a:solidFill>
                  <a:srgbClr val="0066FF"/>
                </a:solidFill>
                <a:sym typeface="+mn-ea"/>
              </a:rPr>
              <a:t> K-</a:t>
            </a:r>
            <a:r>
              <a:rPr lang="zh-CN" altLang="en-US" dirty="0">
                <a:solidFill>
                  <a:srgbClr val="0066FF"/>
                </a:solidFill>
                <a:sym typeface="+mn-ea"/>
              </a:rPr>
              <a:t>最近邻分类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advClick="0"/>
    </mc:Choice>
    <mc:Fallback xmlns="">
      <p:transition advClick="0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内容占位符 2"/>
          <p:cNvSpPr>
            <a:spLocks noGrp="1"/>
          </p:cNvSpPr>
          <p:nvPr>
            <p:ph idx="1"/>
          </p:nvPr>
        </p:nvSpPr>
        <p:spPr>
          <a:xfrm>
            <a:off x="628650" y="949325"/>
            <a:ext cx="7886700" cy="4016375"/>
          </a:xfrm>
        </p:spPr>
        <p:txBody>
          <a:bodyPr vert="horz" wrap="square" lIns="91440" tIns="45720" rIns="91440" bIns="45720" anchor="t">
            <a:no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zh-CN" sz="2400" dirty="0"/>
              <a:t>k-means</a:t>
            </a:r>
            <a:r>
              <a:rPr lang="zh-CN" altLang="en-US" sz="2400" dirty="0"/>
              <a:t>算法如下所示：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CN" sz="2400" dirty="0"/>
              <a:t> begin initialize </a:t>
            </a:r>
            <a:r>
              <a:rPr lang="zh-CN" altLang="en-US" sz="2400" dirty="0"/>
              <a:t>样本数</a:t>
            </a:r>
            <a:r>
              <a:rPr lang="en-US" altLang="zh-CN" sz="2400" dirty="0"/>
              <a:t>n</a:t>
            </a:r>
            <a:r>
              <a:rPr lang="zh-CN" altLang="en-US" sz="2400" dirty="0"/>
              <a:t>，聚类数</a:t>
            </a:r>
            <a:r>
              <a:rPr lang="en-US" altLang="zh-CN" sz="2400" dirty="0"/>
              <a:t>c</a:t>
            </a:r>
            <a:r>
              <a:rPr lang="zh-CN" altLang="en-US" sz="2400" dirty="0"/>
              <a:t>，初始聚类中心</a:t>
            </a:r>
            <a:r>
              <a:rPr lang="en-US" altLang="zh-CN" sz="2400" dirty="0"/>
              <a:t>m1, …, mc</a:t>
            </a:r>
            <a:r>
              <a:rPr lang="zh-CN" altLang="en-US" sz="2400" dirty="0"/>
              <a:t>；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CN" sz="2400" dirty="0"/>
              <a:t>    do </a:t>
            </a:r>
            <a:r>
              <a:rPr lang="zh-CN" altLang="en-US" sz="2400" dirty="0"/>
              <a:t>按照最邻近</a:t>
            </a:r>
            <a:r>
              <a:rPr lang="en-US" altLang="zh-CN" sz="2400" dirty="0"/>
              <a:t>mi</a:t>
            </a:r>
            <a:r>
              <a:rPr lang="zh-CN" altLang="en-US" sz="2400" dirty="0"/>
              <a:t>分类</a:t>
            </a:r>
            <a:r>
              <a:rPr lang="en-US" altLang="zh-CN" sz="2400" dirty="0"/>
              <a:t>n</a:t>
            </a:r>
            <a:r>
              <a:rPr lang="zh-CN" altLang="en-US" sz="2400" dirty="0"/>
              <a:t>个样本；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CN" sz="2400" dirty="0"/>
              <a:t>          </a:t>
            </a:r>
            <a:r>
              <a:rPr lang="zh-CN" altLang="en-US" sz="2400" dirty="0"/>
              <a:t>重新计算聚类中心</a:t>
            </a:r>
            <a:r>
              <a:rPr lang="en-US" altLang="zh-CN" sz="2400" dirty="0"/>
              <a:t>m1, …, mc</a:t>
            </a:r>
            <a:r>
              <a:rPr lang="zh-CN" altLang="en-US" sz="2400" dirty="0"/>
              <a:t>；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CN" sz="2400" dirty="0"/>
              <a:t>    until {mi}</a:t>
            </a:r>
            <a:r>
              <a:rPr lang="zh-CN" altLang="en-US" sz="2400" dirty="0"/>
              <a:t>不再改变；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CN" sz="2400" dirty="0"/>
              <a:t>return m1, …, mc;</a:t>
            </a:r>
            <a:endParaRPr lang="zh-CN" altLang="en-US" sz="2400" dirty="0"/>
          </a:p>
          <a:p>
            <a:pPr>
              <a:lnSpc>
                <a:spcPct val="150000"/>
              </a:lnSpc>
              <a:buNone/>
            </a:pPr>
            <a:r>
              <a:rPr lang="en-US" altLang="zh-CN" sz="2400" dirty="0"/>
              <a:t>end</a:t>
            </a:r>
            <a:endParaRPr lang="zh-CN" altLang="en-US" sz="2400" dirty="0"/>
          </a:p>
          <a:p>
            <a:pPr>
              <a:lnSpc>
                <a:spcPct val="150000"/>
              </a:lnSpc>
              <a:buNone/>
            </a:pPr>
            <a:r>
              <a:rPr lang="en-US" altLang="zh-CN" sz="2400" dirty="0"/>
              <a:t> </a:t>
            </a:r>
          </a:p>
        </p:txBody>
      </p:sp>
      <p:sp>
        <p:nvSpPr>
          <p:cNvPr id="93187" name="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None/>
              <a:defRPr sz="2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None/>
              <a:defRPr sz="2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None/>
              <a:defRPr sz="2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None/>
              <a:defRPr sz="2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None/>
              <a:defRPr sz="2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spcBef>
                <a:spcPct val="0"/>
              </a:spcBef>
              <a:buClrTx/>
              <a:buFontTx/>
            </a:pPr>
            <a:fld id="{9A0DB2DC-4C9A-4742-B13C-FB6460FD3503}" type="slidenum">
              <a:rPr lang="en-US" altLang="zh-CN" sz="1400" dirty="0"/>
              <a:t>33</a:t>
            </a:fld>
            <a:endParaRPr lang="en-US" altLang="zh-CN" sz="1400" dirty="0"/>
          </a:p>
        </p:txBody>
      </p:sp>
      <p:sp>
        <p:nvSpPr>
          <p:cNvPr id="63490" name="Rectangle 2"/>
          <p:cNvSpPr>
            <a:spLocks noGrp="1" noChangeArrowheads="1"/>
          </p:cNvSpPr>
          <p:nvPr/>
        </p:nvSpPr>
        <p:spPr>
          <a:xfrm>
            <a:off x="413385" y="-89535"/>
            <a:ext cx="7886700" cy="1325563"/>
          </a:xfrm>
          <a:prstGeom prst="rect">
            <a:avLst/>
          </a:prstGeom>
        </p:spPr>
        <p:txBody>
          <a:bodyPr vert="horz" wrap="square" lIns="91440" tIns="45720" rIns="91440" bIns="45720" numCol="1" rtlCol="0" anchor="ctr" anchorCtr="0" compatLnSpc="1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dirty="0">
                <a:effectLst>
                  <a:outerShdw blurRad="38100" dist="38100" dir="2700000">
                    <a:srgbClr val="000000"/>
                  </a:outerShdw>
                </a:effectLst>
                <a:latin typeface="楷体_GB2312" pitchFamily="49" charset="-122"/>
              </a:rPr>
              <a:t>1</a:t>
            </a:r>
            <a:r>
              <a:rPr lang="zh-CN" altLang="en-US" dirty="0">
                <a:effectLst>
                  <a:outerShdw blurRad="38100" dist="38100" dir="2700000">
                    <a:srgbClr val="000000"/>
                  </a:outerShdw>
                </a:effectLst>
                <a:latin typeface="楷体_GB2312" pitchFamily="49" charset="-122"/>
              </a:rPr>
              <a:t>、</a:t>
            </a:r>
            <a:r>
              <a:rPr lang="en-US" altLang="zh-CN" dirty="0">
                <a:effectLst>
                  <a:outerShdw blurRad="38100" dist="38100" dir="2700000">
                    <a:srgbClr val="000000"/>
                  </a:outerShdw>
                </a:effectLst>
                <a:latin typeface="楷体_GB2312" pitchFamily="49" charset="-122"/>
              </a:rPr>
              <a:t>K-</a:t>
            </a:r>
            <a:r>
              <a:rPr lang="zh-CN" altLang="en-US" dirty="0">
                <a:effectLst>
                  <a:outerShdw blurRad="38100" dist="38100" dir="2700000">
                    <a:srgbClr val="000000"/>
                  </a:outerShdw>
                </a:effectLst>
                <a:latin typeface="楷体_GB2312" pitchFamily="49" charset="-122"/>
              </a:rPr>
              <a:t>均值算法</a:t>
            </a:r>
            <a:r>
              <a:rPr lang="ko-KR" altLang="en-US" sz="3600" dirty="0">
                <a:effectLst>
                  <a:outerShdw blurRad="38100" dist="38100" dir="2700000">
                    <a:srgbClr val="000000"/>
                  </a:outerShdw>
                </a:effectLst>
                <a:latin typeface="楷体_GB2312" pitchFamily="49" charset="-122"/>
              </a:rPr>
              <a:t> </a:t>
            </a:r>
            <a:endParaRPr lang="ko-KR" altLang="en-US" sz="4000" dirty="0">
              <a:effectLst>
                <a:outerShdw blurRad="38100" dist="38100" dir="2700000">
                  <a:srgbClr val="000000"/>
                </a:outerShdw>
              </a:effectLst>
              <a:latin typeface="楷体_GB2312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advClick="0"/>
    </mc:Choice>
    <mc:Fallback xmlns="">
      <p:transition advClick="0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>
          <a:xfrm>
            <a:off x="413385" y="-89535"/>
            <a:ext cx="7886700" cy="1325563"/>
          </a:xfrm>
        </p:spPr>
        <p:txBody>
          <a:bodyPr vert="horz" wrap="square" lIns="91440" tIns="45720" rIns="91440" bIns="45720" numCol="1" anchor="ctr" anchorCtr="0" compatLnSpc="1"/>
          <a:lstStyle/>
          <a:p>
            <a:r>
              <a:rPr lang="en-US" altLang="zh-CN" dirty="0">
                <a:effectLst>
                  <a:outerShdw blurRad="38100" dist="38100" dir="2700000">
                    <a:srgbClr val="000000"/>
                  </a:outerShdw>
                </a:effectLst>
                <a:latin typeface="楷体_GB2312" pitchFamily="49" charset="-122"/>
              </a:rPr>
              <a:t>K-</a:t>
            </a:r>
            <a:r>
              <a:rPr lang="zh-CN" altLang="en-US" dirty="0">
                <a:effectLst>
                  <a:outerShdw blurRad="38100" dist="38100" dir="2700000">
                    <a:srgbClr val="000000"/>
                  </a:outerShdw>
                </a:effectLst>
                <a:latin typeface="楷体_GB2312" pitchFamily="49" charset="-122"/>
              </a:rPr>
              <a:t>均值算法</a:t>
            </a:r>
            <a:r>
              <a:rPr lang="ko-KR" altLang="en-US" sz="3600" dirty="0">
                <a:effectLst>
                  <a:outerShdw blurRad="38100" dist="38100" dir="2700000">
                    <a:srgbClr val="000000"/>
                  </a:outerShdw>
                </a:effectLst>
                <a:latin typeface="楷体_GB2312" pitchFamily="49" charset="-122"/>
              </a:rPr>
              <a:t> </a:t>
            </a:r>
            <a:endParaRPr lang="ko-KR" altLang="en-US" sz="4000" dirty="0">
              <a:effectLst>
                <a:outerShdw blurRad="38100" dist="38100" dir="2700000">
                  <a:srgbClr val="000000"/>
                </a:outerShdw>
              </a:effectLst>
              <a:latin typeface="楷体_GB2312" pitchFamily="49" charset="-122"/>
            </a:endParaRPr>
          </a:p>
        </p:txBody>
      </p:sp>
      <p:grpSp>
        <p:nvGrpSpPr>
          <p:cNvPr id="94210" name="Group 3"/>
          <p:cNvGrpSpPr/>
          <p:nvPr/>
        </p:nvGrpSpPr>
        <p:grpSpPr>
          <a:xfrm>
            <a:off x="3200400" y="1478915"/>
            <a:ext cx="2286000" cy="2057400"/>
            <a:chOff x="528" y="240"/>
            <a:chExt cx="2142" cy="1872"/>
          </a:xfrm>
        </p:grpSpPr>
        <p:graphicFrame>
          <p:nvGraphicFramePr>
            <p:cNvPr id="94398" name="Object 4"/>
            <p:cNvGraphicFramePr>
              <a:graphicFrameLocks noChangeAspect="1"/>
            </p:cNvGraphicFramePr>
            <p:nvPr/>
          </p:nvGraphicFramePr>
          <p:xfrm>
            <a:off x="528" y="240"/>
            <a:ext cx="2142" cy="18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604" r:id="rId3" imgW="4041140" imgH="3465830" progId="Excel.Sheet.8">
                    <p:embed/>
                  </p:oleObj>
                </mc:Choice>
                <mc:Fallback>
                  <p:oleObj r:id="rId3" imgW="4041140" imgH="3465830" progId="Excel.Sheet.8">
                    <p:embed/>
                    <p:pic>
                      <p:nvPicPr>
                        <p:cNvPr id="0" name="图片 3100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528" y="240"/>
                          <a:ext cx="2142" cy="187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4399" name="Freeform 5"/>
            <p:cNvSpPr/>
            <p:nvPr/>
          </p:nvSpPr>
          <p:spPr>
            <a:xfrm>
              <a:off x="1008" y="557"/>
              <a:ext cx="852" cy="1260"/>
            </a:xfrm>
            <a:custGeom>
              <a:avLst/>
              <a:gdLst>
                <a:gd name="txL" fmla="*/ 0 w 852"/>
                <a:gd name="txT" fmla="*/ 0 h 1260"/>
                <a:gd name="txR" fmla="*/ 852 w 852"/>
                <a:gd name="txB" fmla="*/ 1260 h 1260"/>
              </a:gdLst>
              <a:ahLst/>
              <a:cxnLst>
                <a:cxn ang="0">
                  <a:pos x="518" y="280"/>
                </a:cxn>
                <a:cxn ang="0">
                  <a:pos x="392" y="36"/>
                </a:cxn>
                <a:cxn ang="0">
                  <a:pos x="237" y="21"/>
                </a:cxn>
                <a:cxn ang="0">
                  <a:pos x="133" y="73"/>
                </a:cxn>
                <a:cxn ang="0">
                  <a:pos x="0" y="369"/>
                </a:cxn>
                <a:cxn ang="0">
                  <a:pos x="44" y="688"/>
                </a:cxn>
                <a:cxn ang="0">
                  <a:pos x="362" y="1117"/>
                </a:cxn>
                <a:cxn ang="0">
                  <a:pos x="429" y="1139"/>
                </a:cxn>
                <a:cxn ang="0">
                  <a:pos x="451" y="1154"/>
                </a:cxn>
                <a:cxn ang="0">
                  <a:pos x="525" y="1176"/>
                </a:cxn>
                <a:cxn ang="0">
                  <a:pos x="622" y="1228"/>
                </a:cxn>
                <a:cxn ang="0">
                  <a:pos x="792" y="1243"/>
                </a:cxn>
                <a:cxn ang="0">
                  <a:pos x="785" y="1021"/>
                </a:cxn>
                <a:cxn ang="0">
                  <a:pos x="748" y="954"/>
                </a:cxn>
                <a:cxn ang="0">
                  <a:pos x="688" y="858"/>
                </a:cxn>
                <a:cxn ang="0">
                  <a:pos x="622" y="762"/>
                </a:cxn>
                <a:cxn ang="0">
                  <a:pos x="607" y="732"/>
                </a:cxn>
                <a:cxn ang="0">
                  <a:pos x="592" y="710"/>
                </a:cxn>
                <a:cxn ang="0">
                  <a:pos x="555" y="643"/>
                </a:cxn>
                <a:cxn ang="0">
                  <a:pos x="540" y="621"/>
                </a:cxn>
                <a:cxn ang="0">
                  <a:pos x="518" y="280"/>
                </a:cxn>
              </a:cxnLst>
              <a:rect l="txL" t="txT" r="txR" b="txB"/>
              <a:pathLst>
                <a:path w="852" h="1260">
                  <a:moveTo>
                    <a:pt x="518" y="280"/>
                  </a:moveTo>
                  <a:cubicBezTo>
                    <a:pt x="509" y="187"/>
                    <a:pt x="497" y="69"/>
                    <a:pt x="392" y="36"/>
                  </a:cubicBezTo>
                  <a:cubicBezTo>
                    <a:pt x="339" y="0"/>
                    <a:pt x="309" y="15"/>
                    <a:pt x="237" y="21"/>
                  </a:cubicBezTo>
                  <a:cubicBezTo>
                    <a:pt x="194" y="31"/>
                    <a:pt x="168" y="45"/>
                    <a:pt x="133" y="73"/>
                  </a:cubicBezTo>
                  <a:cubicBezTo>
                    <a:pt x="84" y="168"/>
                    <a:pt x="20" y="262"/>
                    <a:pt x="0" y="369"/>
                  </a:cubicBezTo>
                  <a:cubicBezTo>
                    <a:pt x="5" y="481"/>
                    <a:pt x="3" y="584"/>
                    <a:pt x="44" y="688"/>
                  </a:cubicBezTo>
                  <a:cubicBezTo>
                    <a:pt x="78" y="870"/>
                    <a:pt x="173" y="1057"/>
                    <a:pt x="362" y="1117"/>
                  </a:cubicBezTo>
                  <a:cubicBezTo>
                    <a:pt x="415" y="1152"/>
                    <a:pt x="347" y="1112"/>
                    <a:pt x="429" y="1139"/>
                  </a:cubicBezTo>
                  <a:cubicBezTo>
                    <a:pt x="437" y="1142"/>
                    <a:pt x="443" y="1150"/>
                    <a:pt x="451" y="1154"/>
                  </a:cubicBezTo>
                  <a:cubicBezTo>
                    <a:pt x="473" y="1165"/>
                    <a:pt x="501" y="1168"/>
                    <a:pt x="525" y="1176"/>
                  </a:cubicBezTo>
                  <a:cubicBezTo>
                    <a:pt x="562" y="1201"/>
                    <a:pt x="581" y="1218"/>
                    <a:pt x="622" y="1228"/>
                  </a:cubicBezTo>
                  <a:cubicBezTo>
                    <a:pt x="684" y="1260"/>
                    <a:pt x="714" y="1249"/>
                    <a:pt x="792" y="1243"/>
                  </a:cubicBezTo>
                  <a:cubicBezTo>
                    <a:pt x="852" y="1183"/>
                    <a:pt x="819" y="1088"/>
                    <a:pt x="785" y="1021"/>
                  </a:cubicBezTo>
                  <a:cubicBezTo>
                    <a:pt x="770" y="992"/>
                    <a:pt x="773" y="979"/>
                    <a:pt x="748" y="954"/>
                  </a:cubicBezTo>
                  <a:cubicBezTo>
                    <a:pt x="735" y="917"/>
                    <a:pt x="711" y="888"/>
                    <a:pt x="688" y="858"/>
                  </a:cubicBezTo>
                  <a:cubicBezTo>
                    <a:pt x="676" y="821"/>
                    <a:pt x="643" y="795"/>
                    <a:pt x="622" y="762"/>
                  </a:cubicBezTo>
                  <a:cubicBezTo>
                    <a:pt x="616" y="753"/>
                    <a:pt x="613" y="742"/>
                    <a:pt x="607" y="732"/>
                  </a:cubicBezTo>
                  <a:cubicBezTo>
                    <a:pt x="603" y="724"/>
                    <a:pt x="597" y="717"/>
                    <a:pt x="592" y="710"/>
                  </a:cubicBezTo>
                  <a:cubicBezTo>
                    <a:pt x="580" y="671"/>
                    <a:pt x="589" y="694"/>
                    <a:pt x="555" y="643"/>
                  </a:cubicBezTo>
                  <a:cubicBezTo>
                    <a:pt x="550" y="636"/>
                    <a:pt x="540" y="621"/>
                    <a:pt x="540" y="621"/>
                  </a:cubicBezTo>
                  <a:cubicBezTo>
                    <a:pt x="519" y="510"/>
                    <a:pt x="518" y="392"/>
                    <a:pt x="518" y="28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400" name="Freeform 6"/>
            <p:cNvSpPr/>
            <p:nvPr/>
          </p:nvSpPr>
          <p:spPr>
            <a:xfrm>
              <a:off x="1587" y="889"/>
              <a:ext cx="768" cy="630"/>
            </a:xfrm>
            <a:custGeom>
              <a:avLst/>
              <a:gdLst>
                <a:gd name="txL" fmla="*/ 0 w 768"/>
                <a:gd name="txT" fmla="*/ 0 h 630"/>
                <a:gd name="txR" fmla="*/ 768 w 768"/>
                <a:gd name="txB" fmla="*/ 630 h 630"/>
              </a:gdLst>
              <a:ahLst/>
              <a:cxnLst>
                <a:cxn ang="0">
                  <a:pos x="183" y="67"/>
                </a:cxn>
                <a:cxn ang="0">
                  <a:pos x="72" y="74"/>
                </a:cxn>
                <a:cxn ang="0">
                  <a:pos x="5" y="170"/>
                </a:cxn>
                <a:cxn ang="0">
                  <a:pos x="13" y="311"/>
                </a:cxn>
                <a:cxn ang="0">
                  <a:pos x="57" y="356"/>
                </a:cxn>
                <a:cxn ang="0">
                  <a:pos x="109" y="415"/>
                </a:cxn>
                <a:cxn ang="0">
                  <a:pos x="235" y="548"/>
                </a:cxn>
                <a:cxn ang="0">
                  <a:pos x="257" y="570"/>
                </a:cxn>
                <a:cxn ang="0">
                  <a:pos x="331" y="593"/>
                </a:cxn>
                <a:cxn ang="0">
                  <a:pos x="450" y="630"/>
                </a:cxn>
                <a:cxn ang="0">
                  <a:pos x="598" y="607"/>
                </a:cxn>
                <a:cxn ang="0">
                  <a:pos x="657" y="585"/>
                </a:cxn>
                <a:cxn ang="0">
                  <a:pos x="687" y="533"/>
                </a:cxn>
                <a:cxn ang="0">
                  <a:pos x="717" y="474"/>
                </a:cxn>
                <a:cxn ang="0">
                  <a:pos x="724" y="437"/>
                </a:cxn>
                <a:cxn ang="0">
                  <a:pos x="739" y="415"/>
                </a:cxn>
                <a:cxn ang="0">
                  <a:pos x="768" y="296"/>
                </a:cxn>
                <a:cxn ang="0">
                  <a:pos x="761" y="178"/>
                </a:cxn>
                <a:cxn ang="0">
                  <a:pos x="724" y="111"/>
                </a:cxn>
                <a:cxn ang="0">
                  <a:pos x="465" y="0"/>
                </a:cxn>
                <a:cxn ang="0">
                  <a:pos x="205" y="30"/>
                </a:cxn>
                <a:cxn ang="0">
                  <a:pos x="183" y="67"/>
                </a:cxn>
              </a:cxnLst>
              <a:rect l="txL" t="txT" r="txR" b="txB"/>
              <a:pathLst>
                <a:path w="768" h="630">
                  <a:moveTo>
                    <a:pt x="183" y="67"/>
                  </a:moveTo>
                  <a:cubicBezTo>
                    <a:pt x="146" y="41"/>
                    <a:pt x="112" y="61"/>
                    <a:pt x="72" y="74"/>
                  </a:cubicBezTo>
                  <a:cubicBezTo>
                    <a:pt x="13" y="114"/>
                    <a:pt x="28" y="107"/>
                    <a:pt x="5" y="170"/>
                  </a:cubicBezTo>
                  <a:cubicBezTo>
                    <a:pt x="8" y="217"/>
                    <a:pt x="0" y="266"/>
                    <a:pt x="13" y="311"/>
                  </a:cubicBezTo>
                  <a:cubicBezTo>
                    <a:pt x="19" y="331"/>
                    <a:pt x="45" y="339"/>
                    <a:pt x="57" y="356"/>
                  </a:cubicBezTo>
                  <a:cubicBezTo>
                    <a:pt x="92" y="407"/>
                    <a:pt x="72" y="390"/>
                    <a:pt x="109" y="415"/>
                  </a:cubicBezTo>
                  <a:cubicBezTo>
                    <a:pt x="145" y="467"/>
                    <a:pt x="187" y="508"/>
                    <a:pt x="235" y="548"/>
                  </a:cubicBezTo>
                  <a:cubicBezTo>
                    <a:pt x="243" y="555"/>
                    <a:pt x="248" y="565"/>
                    <a:pt x="257" y="570"/>
                  </a:cubicBezTo>
                  <a:cubicBezTo>
                    <a:pt x="283" y="584"/>
                    <a:pt x="305" y="583"/>
                    <a:pt x="331" y="593"/>
                  </a:cubicBezTo>
                  <a:cubicBezTo>
                    <a:pt x="371" y="608"/>
                    <a:pt x="408" y="621"/>
                    <a:pt x="450" y="630"/>
                  </a:cubicBezTo>
                  <a:cubicBezTo>
                    <a:pt x="498" y="625"/>
                    <a:pt x="551" y="623"/>
                    <a:pt x="598" y="607"/>
                  </a:cubicBezTo>
                  <a:cubicBezTo>
                    <a:pt x="618" y="600"/>
                    <a:pt x="657" y="585"/>
                    <a:pt x="657" y="585"/>
                  </a:cubicBezTo>
                  <a:cubicBezTo>
                    <a:pt x="675" y="536"/>
                    <a:pt x="651" y="594"/>
                    <a:pt x="687" y="533"/>
                  </a:cubicBezTo>
                  <a:cubicBezTo>
                    <a:pt x="698" y="514"/>
                    <a:pt x="717" y="474"/>
                    <a:pt x="717" y="474"/>
                  </a:cubicBezTo>
                  <a:cubicBezTo>
                    <a:pt x="719" y="462"/>
                    <a:pt x="720" y="449"/>
                    <a:pt x="724" y="437"/>
                  </a:cubicBezTo>
                  <a:cubicBezTo>
                    <a:pt x="727" y="429"/>
                    <a:pt x="736" y="423"/>
                    <a:pt x="739" y="415"/>
                  </a:cubicBezTo>
                  <a:cubicBezTo>
                    <a:pt x="750" y="382"/>
                    <a:pt x="760" y="332"/>
                    <a:pt x="768" y="296"/>
                  </a:cubicBezTo>
                  <a:cubicBezTo>
                    <a:pt x="766" y="257"/>
                    <a:pt x="766" y="217"/>
                    <a:pt x="761" y="178"/>
                  </a:cubicBezTo>
                  <a:cubicBezTo>
                    <a:pt x="754" y="127"/>
                    <a:pt x="750" y="142"/>
                    <a:pt x="724" y="111"/>
                  </a:cubicBezTo>
                  <a:cubicBezTo>
                    <a:pt x="653" y="27"/>
                    <a:pt x="566" y="24"/>
                    <a:pt x="465" y="0"/>
                  </a:cubicBezTo>
                  <a:cubicBezTo>
                    <a:pt x="370" y="4"/>
                    <a:pt x="294" y="6"/>
                    <a:pt x="205" y="30"/>
                  </a:cubicBezTo>
                  <a:cubicBezTo>
                    <a:pt x="154" y="63"/>
                    <a:pt x="144" y="53"/>
                    <a:pt x="183" y="67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94211" name="Group 7"/>
          <p:cNvGrpSpPr/>
          <p:nvPr/>
        </p:nvGrpSpPr>
        <p:grpSpPr>
          <a:xfrm>
            <a:off x="6578600" y="1505903"/>
            <a:ext cx="2222500" cy="1990725"/>
            <a:chOff x="4144" y="1265"/>
            <a:chExt cx="1400" cy="1254"/>
          </a:xfrm>
        </p:grpSpPr>
        <p:sp>
          <p:nvSpPr>
            <p:cNvPr id="94314" name="Rectangle 8"/>
            <p:cNvSpPr/>
            <p:nvPr/>
          </p:nvSpPr>
          <p:spPr>
            <a:xfrm>
              <a:off x="4144" y="1265"/>
              <a:ext cx="1400" cy="1254"/>
            </a:xfrm>
            <a:prstGeom prst="rect">
              <a:avLst/>
            </a:prstGeom>
            <a:solidFill>
              <a:srgbClr val="FFFFFF"/>
            </a:solidFill>
            <a:ln w="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94315" name="Rectangle 9"/>
            <p:cNvSpPr/>
            <p:nvPr/>
          </p:nvSpPr>
          <p:spPr>
            <a:xfrm>
              <a:off x="4278" y="1354"/>
              <a:ext cx="1201" cy="1012"/>
            </a:xfrm>
            <a:prstGeom prst="rect">
              <a:avLst/>
            </a:prstGeom>
            <a:solidFill>
              <a:srgbClr val="FFFFFF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94316" name="Line 10"/>
            <p:cNvSpPr/>
            <p:nvPr/>
          </p:nvSpPr>
          <p:spPr>
            <a:xfrm>
              <a:off x="4278" y="2264"/>
              <a:ext cx="1201" cy="1"/>
            </a:xfrm>
            <a:prstGeom prst="line">
              <a:avLst/>
            </a:prstGeom>
            <a:ln w="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4317" name="Line 11"/>
            <p:cNvSpPr/>
            <p:nvPr/>
          </p:nvSpPr>
          <p:spPr>
            <a:xfrm>
              <a:off x="4278" y="2163"/>
              <a:ext cx="1201" cy="1"/>
            </a:xfrm>
            <a:prstGeom prst="line">
              <a:avLst/>
            </a:prstGeom>
            <a:ln w="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4318" name="Line 12"/>
            <p:cNvSpPr/>
            <p:nvPr/>
          </p:nvSpPr>
          <p:spPr>
            <a:xfrm>
              <a:off x="4278" y="2061"/>
              <a:ext cx="1201" cy="1"/>
            </a:xfrm>
            <a:prstGeom prst="line">
              <a:avLst/>
            </a:prstGeom>
            <a:ln w="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4319" name="Line 13"/>
            <p:cNvSpPr/>
            <p:nvPr/>
          </p:nvSpPr>
          <p:spPr>
            <a:xfrm>
              <a:off x="4278" y="1960"/>
              <a:ext cx="1201" cy="1"/>
            </a:xfrm>
            <a:prstGeom prst="line">
              <a:avLst/>
            </a:prstGeom>
            <a:ln w="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4320" name="Line 14"/>
            <p:cNvSpPr/>
            <p:nvPr/>
          </p:nvSpPr>
          <p:spPr>
            <a:xfrm>
              <a:off x="4278" y="1858"/>
              <a:ext cx="1201" cy="1"/>
            </a:xfrm>
            <a:prstGeom prst="line">
              <a:avLst/>
            </a:prstGeom>
            <a:ln w="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4321" name="Line 15"/>
            <p:cNvSpPr/>
            <p:nvPr/>
          </p:nvSpPr>
          <p:spPr>
            <a:xfrm>
              <a:off x="4278" y="1760"/>
              <a:ext cx="1201" cy="1"/>
            </a:xfrm>
            <a:prstGeom prst="line">
              <a:avLst/>
            </a:prstGeom>
            <a:ln w="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4322" name="Line 16"/>
            <p:cNvSpPr/>
            <p:nvPr/>
          </p:nvSpPr>
          <p:spPr>
            <a:xfrm>
              <a:off x="4278" y="1659"/>
              <a:ext cx="1201" cy="1"/>
            </a:xfrm>
            <a:prstGeom prst="line">
              <a:avLst/>
            </a:prstGeom>
            <a:ln w="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4323" name="Line 17"/>
            <p:cNvSpPr/>
            <p:nvPr/>
          </p:nvSpPr>
          <p:spPr>
            <a:xfrm>
              <a:off x="4278" y="1557"/>
              <a:ext cx="1201" cy="1"/>
            </a:xfrm>
            <a:prstGeom prst="line">
              <a:avLst/>
            </a:prstGeom>
            <a:ln w="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4324" name="Line 18"/>
            <p:cNvSpPr/>
            <p:nvPr/>
          </p:nvSpPr>
          <p:spPr>
            <a:xfrm>
              <a:off x="4278" y="1456"/>
              <a:ext cx="1201" cy="1"/>
            </a:xfrm>
            <a:prstGeom prst="line">
              <a:avLst/>
            </a:prstGeom>
            <a:ln w="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4325" name="Line 19"/>
            <p:cNvSpPr/>
            <p:nvPr/>
          </p:nvSpPr>
          <p:spPr>
            <a:xfrm>
              <a:off x="4278" y="1354"/>
              <a:ext cx="1201" cy="1"/>
            </a:xfrm>
            <a:prstGeom prst="line">
              <a:avLst/>
            </a:prstGeom>
            <a:ln w="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4326" name="Line 20"/>
            <p:cNvSpPr/>
            <p:nvPr/>
          </p:nvSpPr>
          <p:spPr>
            <a:xfrm>
              <a:off x="4399" y="1354"/>
              <a:ext cx="1" cy="1012"/>
            </a:xfrm>
            <a:prstGeom prst="line">
              <a:avLst/>
            </a:prstGeom>
            <a:ln w="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4327" name="Line 21"/>
            <p:cNvSpPr/>
            <p:nvPr/>
          </p:nvSpPr>
          <p:spPr>
            <a:xfrm>
              <a:off x="4516" y="1354"/>
              <a:ext cx="1" cy="1012"/>
            </a:xfrm>
            <a:prstGeom prst="line">
              <a:avLst/>
            </a:prstGeom>
            <a:ln w="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4328" name="Line 22"/>
            <p:cNvSpPr/>
            <p:nvPr/>
          </p:nvSpPr>
          <p:spPr>
            <a:xfrm>
              <a:off x="4638" y="1354"/>
              <a:ext cx="1" cy="1012"/>
            </a:xfrm>
            <a:prstGeom prst="line">
              <a:avLst/>
            </a:prstGeom>
            <a:ln w="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4329" name="Line 23"/>
            <p:cNvSpPr/>
            <p:nvPr/>
          </p:nvSpPr>
          <p:spPr>
            <a:xfrm>
              <a:off x="4759" y="1354"/>
              <a:ext cx="1" cy="1012"/>
            </a:xfrm>
            <a:prstGeom prst="line">
              <a:avLst/>
            </a:prstGeom>
            <a:ln w="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4330" name="Line 24"/>
            <p:cNvSpPr/>
            <p:nvPr/>
          </p:nvSpPr>
          <p:spPr>
            <a:xfrm>
              <a:off x="4880" y="1354"/>
              <a:ext cx="1" cy="1012"/>
            </a:xfrm>
            <a:prstGeom prst="line">
              <a:avLst/>
            </a:prstGeom>
            <a:ln w="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4331" name="Line 25"/>
            <p:cNvSpPr/>
            <p:nvPr/>
          </p:nvSpPr>
          <p:spPr>
            <a:xfrm>
              <a:off x="4998" y="1354"/>
              <a:ext cx="1" cy="1012"/>
            </a:xfrm>
            <a:prstGeom prst="line">
              <a:avLst/>
            </a:prstGeom>
            <a:ln w="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4332" name="Line 26"/>
            <p:cNvSpPr/>
            <p:nvPr/>
          </p:nvSpPr>
          <p:spPr>
            <a:xfrm>
              <a:off x="5119" y="1354"/>
              <a:ext cx="1" cy="1012"/>
            </a:xfrm>
            <a:prstGeom prst="line">
              <a:avLst/>
            </a:prstGeom>
            <a:ln w="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4333" name="Line 27"/>
            <p:cNvSpPr/>
            <p:nvPr/>
          </p:nvSpPr>
          <p:spPr>
            <a:xfrm>
              <a:off x="5240" y="1354"/>
              <a:ext cx="1" cy="1012"/>
            </a:xfrm>
            <a:prstGeom prst="line">
              <a:avLst/>
            </a:prstGeom>
            <a:ln w="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4334" name="Line 28"/>
            <p:cNvSpPr/>
            <p:nvPr/>
          </p:nvSpPr>
          <p:spPr>
            <a:xfrm>
              <a:off x="5358" y="1354"/>
              <a:ext cx="1" cy="1012"/>
            </a:xfrm>
            <a:prstGeom prst="line">
              <a:avLst/>
            </a:prstGeom>
            <a:ln w="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4335" name="Line 29"/>
            <p:cNvSpPr/>
            <p:nvPr/>
          </p:nvSpPr>
          <p:spPr>
            <a:xfrm>
              <a:off x="5479" y="1354"/>
              <a:ext cx="1" cy="1012"/>
            </a:xfrm>
            <a:prstGeom prst="line">
              <a:avLst/>
            </a:prstGeom>
            <a:ln w="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4336" name="Rectangle 30"/>
            <p:cNvSpPr/>
            <p:nvPr/>
          </p:nvSpPr>
          <p:spPr>
            <a:xfrm>
              <a:off x="4278" y="1354"/>
              <a:ext cx="1201" cy="1012"/>
            </a:xfrm>
            <a:prstGeom prst="rect">
              <a:avLst/>
            </a:prstGeom>
            <a:noFill/>
            <a:ln w="635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94337" name="Line 31"/>
            <p:cNvSpPr/>
            <p:nvPr/>
          </p:nvSpPr>
          <p:spPr>
            <a:xfrm>
              <a:off x="4278" y="1354"/>
              <a:ext cx="1" cy="1012"/>
            </a:xfrm>
            <a:prstGeom prst="line">
              <a:avLst/>
            </a:prstGeom>
            <a:ln w="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4338" name="Line 32"/>
            <p:cNvSpPr/>
            <p:nvPr/>
          </p:nvSpPr>
          <p:spPr>
            <a:xfrm>
              <a:off x="4266" y="2366"/>
              <a:ext cx="12" cy="1"/>
            </a:xfrm>
            <a:prstGeom prst="line">
              <a:avLst/>
            </a:prstGeom>
            <a:ln w="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4339" name="Line 33"/>
            <p:cNvSpPr/>
            <p:nvPr/>
          </p:nvSpPr>
          <p:spPr>
            <a:xfrm>
              <a:off x="4266" y="2264"/>
              <a:ext cx="12" cy="1"/>
            </a:xfrm>
            <a:prstGeom prst="line">
              <a:avLst/>
            </a:prstGeom>
            <a:ln w="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4340" name="Line 34"/>
            <p:cNvSpPr/>
            <p:nvPr/>
          </p:nvSpPr>
          <p:spPr>
            <a:xfrm>
              <a:off x="4266" y="2163"/>
              <a:ext cx="12" cy="1"/>
            </a:xfrm>
            <a:prstGeom prst="line">
              <a:avLst/>
            </a:prstGeom>
            <a:ln w="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4341" name="Line 35"/>
            <p:cNvSpPr/>
            <p:nvPr/>
          </p:nvSpPr>
          <p:spPr>
            <a:xfrm>
              <a:off x="4266" y="2061"/>
              <a:ext cx="12" cy="1"/>
            </a:xfrm>
            <a:prstGeom prst="line">
              <a:avLst/>
            </a:prstGeom>
            <a:ln w="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4342" name="Line 36"/>
            <p:cNvSpPr/>
            <p:nvPr/>
          </p:nvSpPr>
          <p:spPr>
            <a:xfrm>
              <a:off x="4266" y="1960"/>
              <a:ext cx="12" cy="1"/>
            </a:xfrm>
            <a:prstGeom prst="line">
              <a:avLst/>
            </a:prstGeom>
            <a:ln w="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4343" name="Line 37"/>
            <p:cNvSpPr/>
            <p:nvPr/>
          </p:nvSpPr>
          <p:spPr>
            <a:xfrm>
              <a:off x="4266" y="1858"/>
              <a:ext cx="12" cy="1"/>
            </a:xfrm>
            <a:prstGeom prst="line">
              <a:avLst/>
            </a:prstGeom>
            <a:ln w="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4344" name="Line 38"/>
            <p:cNvSpPr/>
            <p:nvPr/>
          </p:nvSpPr>
          <p:spPr>
            <a:xfrm>
              <a:off x="4266" y="1760"/>
              <a:ext cx="12" cy="1"/>
            </a:xfrm>
            <a:prstGeom prst="line">
              <a:avLst/>
            </a:prstGeom>
            <a:ln w="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4345" name="Line 39"/>
            <p:cNvSpPr/>
            <p:nvPr/>
          </p:nvSpPr>
          <p:spPr>
            <a:xfrm>
              <a:off x="4266" y="1659"/>
              <a:ext cx="12" cy="1"/>
            </a:xfrm>
            <a:prstGeom prst="line">
              <a:avLst/>
            </a:prstGeom>
            <a:ln w="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4346" name="Line 40"/>
            <p:cNvSpPr/>
            <p:nvPr/>
          </p:nvSpPr>
          <p:spPr>
            <a:xfrm>
              <a:off x="4266" y="1557"/>
              <a:ext cx="12" cy="1"/>
            </a:xfrm>
            <a:prstGeom prst="line">
              <a:avLst/>
            </a:prstGeom>
            <a:ln w="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4347" name="Line 41"/>
            <p:cNvSpPr/>
            <p:nvPr/>
          </p:nvSpPr>
          <p:spPr>
            <a:xfrm>
              <a:off x="4266" y="1456"/>
              <a:ext cx="12" cy="1"/>
            </a:xfrm>
            <a:prstGeom prst="line">
              <a:avLst/>
            </a:prstGeom>
            <a:ln w="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4348" name="Line 42"/>
            <p:cNvSpPr/>
            <p:nvPr/>
          </p:nvSpPr>
          <p:spPr>
            <a:xfrm>
              <a:off x="4266" y="1354"/>
              <a:ext cx="12" cy="1"/>
            </a:xfrm>
            <a:prstGeom prst="line">
              <a:avLst/>
            </a:prstGeom>
            <a:ln w="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4349" name="Line 43"/>
            <p:cNvSpPr/>
            <p:nvPr/>
          </p:nvSpPr>
          <p:spPr>
            <a:xfrm>
              <a:off x="4278" y="2366"/>
              <a:ext cx="1201" cy="1"/>
            </a:xfrm>
            <a:prstGeom prst="line">
              <a:avLst/>
            </a:prstGeom>
            <a:ln w="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4350" name="Line 44"/>
            <p:cNvSpPr/>
            <p:nvPr/>
          </p:nvSpPr>
          <p:spPr>
            <a:xfrm flipV="1">
              <a:off x="4278" y="2366"/>
              <a:ext cx="1" cy="13"/>
            </a:xfrm>
            <a:prstGeom prst="line">
              <a:avLst/>
            </a:prstGeom>
            <a:ln w="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4351" name="Line 45"/>
            <p:cNvSpPr/>
            <p:nvPr/>
          </p:nvSpPr>
          <p:spPr>
            <a:xfrm flipV="1">
              <a:off x="4399" y="2366"/>
              <a:ext cx="1" cy="13"/>
            </a:xfrm>
            <a:prstGeom prst="line">
              <a:avLst/>
            </a:prstGeom>
            <a:ln w="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4352" name="Line 46"/>
            <p:cNvSpPr/>
            <p:nvPr/>
          </p:nvSpPr>
          <p:spPr>
            <a:xfrm flipV="1">
              <a:off x="4516" y="2366"/>
              <a:ext cx="1" cy="13"/>
            </a:xfrm>
            <a:prstGeom prst="line">
              <a:avLst/>
            </a:prstGeom>
            <a:ln w="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4353" name="Line 47"/>
            <p:cNvSpPr/>
            <p:nvPr/>
          </p:nvSpPr>
          <p:spPr>
            <a:xfrm flipV="1">
              <a:off x="4638" y="2366"/>
              <a:ext cx="1" cy="13"/>
            </a:xfrm>
            <a:prstGeom prst="line">
              <a:avLst/>
            </a:prstGeom>
            <a:ln w="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4354" name="Line 48"/>
            <p:cNvSpPr/>
            <p:nvPr/>
          </p:nvSpPr>
          <p:spPr>
            <a:xfrm flipV="1">
              <a:off x="4759" y="2366"/>
              <a:ext cx="1" cy="13"/>
            </a:xfrm>
            <a:prstGeom prst="line">
              <a:avLst/>
            </a:prstGeom>
            <a:ln w="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4355" name="Line 49"/>
            <p:cNvSpPr/>
            <p:nvPr/>
          </p:nvSpPr>
          <p:spPr>
            <a:xfrm flipV="1">
              <a:off x="4880" y="2366"/>
              <a:ext cx="1" cy="13"/>
            </a:xfrm>
            <a:prstGeom prst="line">
              <a:avLst/>
            </a:prstGeom>
            <a:ln w="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4356" name="Line 50"/>
            <p:cNvSpPr/>
            <p:nvPr/>
          </p:nvSpPr>
          <p:spPr>
            <a:xfrm flipV="1">
              <a:off x="4998" y="2366"/>
              <a:ext cx="1" cy="13"/>
            </a:xfrm>
            <a:prstGeom prst="line">
              <a:avLst/>
            </a:prstGeom>
            <a:ln w="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4357" name="Line 51"/>
            <p:cNvSpPr/>
            <p:nvPr/>
          </p:nvSpPr>
          <p:spPr>
            <a:xfrm flipV="1">
              <a:off x="5119" y="2366"/>
              <a:ext cx="1" cy="13"/>
            </a:xfrm>
            <a:prstGeom prst="line">
              <a:avLst/>
            </a:prstGeom>
            <a:ln w="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4358" name="Line 52"/>
            <p:cNvSpPr/>
            <p:nvPr/>
          </p:nvSpPr>
          <p:spPr>
            <a:xfrm flipV="1">
              <a:off x="5240" y="2366"/>
              <a:ext cx="1" cy="13"/>
            </a:xfrm>
            <a:prstGeom prst="line">
              <a:avLst/>
            </a:prstGeom>
            <a:ln w="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4359" name="Line 53"/>
            <p:cNvSpPr/>
            <p:nvPr/>
          </p:nvSpPr>
          <p:spPr>
            <a:xfrm flipV="1">
              <a:off x="5358" y="2366"/>
              <a:ext cx="1" cy="13"/>
            </a:xfrm>
            <a:prstGeom prst="line">
              <a:avLst/>
            </a:prstGeom>
            <a:ln w="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4360" name="Line 54"/>
            <p:cNvSpPr/>
            <p:nvPr/>
          </p:nvSpPr>
          <p:spPr>
            <a:xfrm flipV="1">
              <a:off x="5479" y="2366"/>
              <a:ext cx="1" cy="13"/>
            </a:xfrm>
            <a:prstGeom prst="line">
              <a:avLst/>
            </a:prstGeom>
            <a:ln w="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4361" name="Freeform 55"/>
            <p:cNvSpPr/>
            <p:nvPr/>
          </p:nvSpPr>
          <p:spPr>
            <a:xfrm>
              <a:off x="4609" y="1930"/>
              <a:ext cx="57" cy="59"/>
            </a:xfrm>
            <a:custGeom>
              <a:avLst/>
              <a:gdLst>
                <a:gd name="txL" fmla="*/ 0 w 57"/>
                <a:gd name="txT" fmla="*/ 0 h 59"/>
                <a:gd name="txR" fmla="*/ 57 w 57"/>
                <a:gd name="txB" fmla="*/ 59 h 59"/>
              </a:gdLst>
              <a:ahLst/>
              <a:cxnLst>
                <a:cxn ang="0">
                  <a:pos x="29" y="0"/>
                </a:cxn>
                <a:cxn ang="0">
                  <a:pos x="57" y="30"/>
                </a:cxn>
                <a:cxn ang="0">
                  <a:pos x="29" y="59"/>
                </a:cxn>
                <a:cxn ang="0">
                  <a:pos x="0" y="30"/>
                </a:cxn>
                <a:cxn ang="0">
                  <a:pos x="29" y="0"/>
                </a:cxn>
              </a:cxnLst>
              <a:rect l="txL" t="txT" r="txR" b="txB"/>
              <a:pathLst>
                <a:path w="57" h="59">
                  <a:moveTo>
                    <a:pt x="29" y="0"/>
                  </a:moveTo>
                  <a:lnTo>
                    <a:pt x="57" y="30"/>
                  </a:lnTo>
                  <a:lnTo>
                    <a:pt x="29" y="59"/>
                  </a:lnTo>
                  <a:lnTo>
                    <a:pt x="0" y="30"/>
                  </a:lnTo>
                  <a:lnTo>
                    <a:pt x="29" y="0"/>
                  </a:lnTo>
                  <a:close/>
                </a:path>
              </a:pathLst>
            </a:custGeom>
            <a:solidFill>
              <a:srgbClr val="00FFFF">
                <a:alpha val="100000"/>
              </a:srgbClr>
            </a:solidFill>
            <a:ln w="6350" cap="flat" cmpd="sng">
              <a:solidFill>
                <a:srgbClr val="00008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362" name="Freeform 56"/>
            <p:cNvSpPr/>
            <p:nvPr/>
          </p:nvSpPr>
          <p:spPr>
            <a:xfrm>
              <a:off x="4609" y="1731"/>
              <a:ext cx="57" cy="59"/>
            </a:xfrm>
            <a:custGeom>
              <a:avLst/>
              <a:gdLst>
                <a:gd name="txL" fmla="*/ 0 w 57"/>
                <a:gd name="txT" fmla="*/ 0 h 59"/>
                <a:gd name="txR" fmla="*/ 57 w 57"/>
                <a:gd name="txB" fmla="*/ 59 h 59"/>
              </a:gdLst>
              <a:ahLst/>
              <a:cxnLst>
                <a:cxn ang="0">
                  <a:pos x="29" y="0"/>
                </a:cxn>
                <a:cxn ang="0">
                  <a:pos x="57" y="29"/>
                </a:cxn>
                <a:cxn ang="0">
                  <a:pos x="29" y="59"/>
                </a:cxn>
                <a:cxn ang="0">
                  <a:pos x="0" y="29"/>
                </a:cxn>
                <a:cxn ang="0">
                  <a:pos x="29" y="0"/>
                </a:cxn>
              </a:cxnLst>
              <a:rect l="txL" t="txT" r="txR" b="txB"/>
              <a:pathLst>
                <a:path w="57" h="59">
                  <a:moveTo>
                    <a:pt x="29" y="0"/>
                  </a:moveTo>
                  <a:lnTo>
                    <a:pt x="57" y="29"/>
                  </a:lnTo>
                  <a:lnTo>
                    <a:pt x="29" y="59"/>
                  </a:lnTo>
                  <a:lnTo>
                    <a:pt x="0" y="29"/>
                  </a:lnTo>
                  <a:lnTo>
                    <a:pt x="29" y="0"/>
                  </a:lnTo>
                  <a:close/>
                </a:path>
              </a:pathLst>
            </a:custGeom>
            <a:solidFill>
              <a:srgbClr val="00FFFF">
                <a:alpha val="100000"/>
              </a:srgbClr>
            </a:solidFill>
            <a:ln w="6350" cap="flat" cmpd="sng">
              <a:solidFill>
                <a:srgbClr val="00008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363" name="Freeform 57"/>
            <p:cNvSpPr/>
            <p:nvPr/>
          </p:nvSpPr>
          <p:spPr>
            <a:xfrm>
              <a:off x="5091" y="2032"/>
              <a:ext cx="56" cy="59"/>
            </a:xfrm>
            <a:custGeom>
              <a:avLst/>
              <a:gdLst>
                <a:gd name="txL" fmla="*/ 0 w 56"/>
                <a:gd name="txT" fmla="*/ 0 h 59"/>
                <a:gd name="txR" fmla="*/ 56 w 56"/>
                <a:gd name="txB" fmla="*/ 59 h 59"/>
              </a:gdLst>
              <a:ahLst/>
              <a:cxnLst>
                <a:cxn ang="0">
                  <a:pos x="28" y="0"/>
                </a:cxn>
                <a:cxn ang="0">
                  <a:pos x="56" y="29"/>
                </a:cxn>
                <a:cxn ang="0">
                  <a:pos x="28" y="59"/>
                </a:cxn>
                <a:cxn ang="0">
                  <a:pos x="0" y="29"/>
                </a:cxn>
                <a:cxn ang="0">
                  <a:pos x="28" y="0"/>
                </a:cxn>
              </a:cxnLst>
              <a:rect l="txL" t="txT" r="txR" b="txB"/>
              <a:pathLst>
                <a:path w="56" h="59">
                  <a:moveTo>
                    <a:pt x="28" y="0"/>
                  </a:moveTo>
                  <a:lnTo>
                    <a:pt x="56" y="29"/>
                  </a:lnTo>
                  <a:lnTo>
                    <a:pt x="28" y="59"/>
                  </a:lnTo>
                  <a:lnTo>
                    <a:pt x="0" y="29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000080">
                <a:alpha val="100000"/>
              </a:srgbClr>
            </a:solidFill>
            <a:ln w="6350" cap="flat" cmpd="sng">
              <a:solidFill>
                <a:srgbClr val="00008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364" name="Freeform 58"/>
            <p:cNvSpPr/>
            <p:nvPr/>
          </p:nvSpPr>
          <p:spPr>
            <a:xfrm>
              <a:off x="4731" y="1629"/>
              <a:ext cx="56" cy="59"/>
            </a:xfrm>
            <a:custGeom>
              <a:avLst/>
              <a:gdLst>
                <a:gd name="txL" fmla="*/ 0 w 56"/>
                <a:gd name="txT" fmla="*/ 0 h 59"/>
                <a:gd name="txR" fmla="*/ 56 w 56"/>
                <a:gd name="txB" fmla="*/ 59 h 59"/>
              </a:gdLst>
              <a:ahLst/>
              <a:cxnLst>
                <a:cxn ang="0">
                  <a:pos x="28" y="0"/>
                </a:cxn>
                <a:cxn ang="0">
                  <a:pos x="56" y="30"/>
                </a:cxn>
                <a:cxn ang="0">
                  <a:pos x="28" y="59"/>
                </a:cxn>
                <a:cxn ang="0">
                  <a:pos x="0" y="30"/>
                </a:cxn>
                <a:cxn ang="0">
                  <a:pos x="28" y="0"/>
                </a:cxn>
              </a:cxnLst>
              <a:rect l="txL" t="txT" r="txR" b="txB"/>
              <a:pathLst>
                <a:path w="56" h="59">
                  <a:moveTo>
                    <a:pt x="28" y="0"/>
                  </a:moveTo>
                  <a:lnTo>
                    <a:pt x="56" y="30"/>
                  </a:lnTo>
                  <a:lnTo>
                    <a:pt x="28" y="59"/>
                  </a:lnTo>
                  <a:lnTo>
                    <a:pt x="0" y="30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00FFFF">
                <a:alpha val="100000"/>
              </a:srgbClr>
            </a:solidFill>
            <a:ln w="6350" cap="flat" cmpd="sng">
              <a:solidFill>
                <a:srgbClr val="00008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365" name="Freeform 59"/>
            <p:cNvSpPr/>
            <p:nvPr/>
          </p:nvSpPr>
          <p:spPr>
            <a:xfrm>
              <a:off x="4609" y="1528"/>
              <a:ext cx="57" cy="59"/>
            </a:xfrm>
            <a:custGeom>
              <a:avLst/>
              <a:gdLst>
                <a:gd name="txL" fmla="*/ 0 w 57"/>
                <a:gd name="txT" fmla="*/ 0 h 59"/>
                <a:gd name="txR" fmla="*/ 57 w 57"/>
                <a:gd name="txB" fmla="*/ 59 h 59"/>
              </a:gdLst>
              <a:ahLst/>
              <a:cxnLst>
                <a:cxn ang="0">
                  <a:pos x="29" y="0"/>
                </a:cxn>
                <a:cxn ang="0">
                  <a:pos x="57" y="29"/>
                </a:cxn>
                <a:cxn ang="0">
                  <a:pos x="29" y="59"/>
                </a:cxn>
                <a:cxn ang="0">
                  <a:pos x="0" y="29"/>
                </a:cxn>
                <a:cxn ang="0">
                  <a:pos x="29" y="0"/>
                </a:cxn>
              </a:cxnLst>
              <a:rect l="txL" t="txT" r="txR" b="txB"/>
              <a:pathLst>
                <a:path w="57" h="59">
                  <a:moveTo>
                    <a:pt x="29" y="0"/>
                  </a:moveTo>
                  <a:lnTo>
                    <a:pt x="57" y="29"/>
                  </a:lnTo>
                  <a:lnTo>
                    <a:pt x="29" y="59"/>
                  </a:lnTo>
                  <a:lnTo>
                    <a:pt x="0" y="29"/>
                  </a:lnTo>
                  <a:lnTo>
                    <a:pt x="29" y="0"/>
                  </a:lnTo>
                  <a:close/>
                </a:path>
              </a:pathLst>
            </a:custGeom>
            <a:solidFill>
              <a:srgbClr val="00FFFF">
                <a:alpha val="100000"/>
              </a:srgbClr>
            </a:solidFill>
            <a:ln w="6350" cap="flat" cmpd="sng">
              <a:solidFill>
                <a:srgbClr val="00008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366" name="Freeform 60"/>
            <p:cNvSpPr/>
            <p:nvPr/>
          </p:nvSpPr>
          <p:spPr>
            <a:xfrm>
              <a:off x="5212" y="1832"/>
              <a:ext cx="57" cy="60"/>
            </a:xfrm>
            <a:custGeom>
              <a:avLst/>
              <a:gdLst>
                <a:gd name="txL" fmla="*/ 0 w 57"/>
                <a:gd name="txT" fmla="*/ 0 h 60"/>
                <a:gd name="txR" fmla="*/ 57 w 57"/>
                <a:gd name="txB" fmla="*/ 60 h 60"/>
              </a:gdLst>
              <a:ahLst/>
              <a:cxnLst>
                <a:cxn ang="0">
                  <a:pos x="28" y="0"/>
                </a:cxn>
                <a:cxn ang="0">
                  <a:pos x="57" y="30"/>
                </a:cxn>
                <a:cxn ang="0">
                  <a:pos x="28" y="60"/>
                </a:cxn>
                <a:cxn ang="0">
                  <a:pos x="0" y="30"/>
                </a:cxn>
                <a:cxn ang="0">
                  <a:pos x="28" y="0"/>
                </a:cxn>
              </a:cxnLst>
              <a:rect l="txL" t="txT" r="txR" b="txB"/>
              <a:pathLst>
                <a:path w="57" h="60">
                  <a:moveTo>
                    <a:pt x="28" y="0"/>
                  </a:moveTo>
                  <a:lnTo>
                    <a:pt x="57" y="30"/>
                  </a:lnTo>
                  <a:lnTo>
                    <a:pt x="28" y="60"/>
                  </a:lnTo>
                  <a:lnTo>
                    <a:pt x="0" y="30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000080">
                <a:alpha val="100000"/>
              </a:srgbClr>
            </a:solidFill>
            <a:ln w="6350" cap="flat" cmpd="sng">
              <a:solidFill>
                <a:srgbClr val="00008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367" name="Freeform 61"/>
            <p:cNvSpPr/>
            <p:nvPr/>
          </p:nvSpPr>
          <p:spPr>
            <a:xfrm>
              <a:off x="4731" y="1832"/>
              <a:ext cx="56" cy="60"/>
            </a:xfrm>
            <a:custGeom>
              <a:avLst/>
              <a:gdLst>
                <a:gd name="txL" fmla="*/ 0 w 56"/>
                <a:gd name="txT" fmla="*/ 0 h 60"/>
                <a:gd name="txR" fmla="*/ 56 w 56"/>
                <a:gd name="txB" fmla="*/ 60 h 60"/>
              </a:gdLst>
              <a:ahLst/>
              <a:cxnLst>
                <a:cxn ang="0">
                  <a:pos x="28" y="0"/>
                </a:cxn>
                <a:cxn ang="0">
                  <a:pos x="56" y="30"/>
                </a:cxn>
                <a:cxn ang="0">
                  <a:pos x="28" y="60"/>
                </a:cxn>
                <a:cxn ang="0">
                  <a:pos x="0" y="30"/>
                </a:cxn>
                <a:cxn ang="0">
                  <a:pos x="28" y="0"/>
                </a:cxn>
              </a:cxnLst>
              <a:rect l="txL" t="txT" r="txR" b="txB"/>
              <a:pathLst>
                <a:path w="56" h="60">
                  <a:moveTo>
                    <a:pt x="28" y="0"/>
                  </a:moveTo>
                  <a:lnTo>
                    <a:pt x="56" y="30"/>
                  </a:lnTo>
                  <a:lnTo>
                    <a:pt x="28" y="60"/>
                  </a:lnTo>
                  <a:lnTo>
                    <a:pt x="0" y="30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00FFFF">
                <a:alpha val="100000"/>
              </a:srgbClr>
            </a:solidFill>
            <a:ln w="6350" cap="flat" cmpd="sng">
              <a:solidFill>
                <a:srgbClr val="00008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368" name="Freeform 62"/>
            <p:cNvSpPr/>
            <p:nvPr/>
          </p:nvSpPr>
          <p:spPr>
            <a:xfrm>
              <a:off x="4852" y="2235"/>
              <a:ext cx="57" cy="59"/>
            </a:xfrm>
            <a:custGeom>
              <a:avLst/>
              <a:gdLst>
                <a:gd name="txL" fmla="*/ 0 w 57"/>
                <a:gd name="txT" fmla="*/ 0 h 59"/>
                <a:gd name="txR" fmla="*/ 57 w 57"/>
                <a:gd name="txB" fmla="*/ 59 h 59"/>
              </a:gdLst>
              <a:ahLst/>
              <a:cxnLst>
                <a:cxn ang="0">
                  <a:pos x="28" y="0"/>
                </a:cxn>
                <a:cxn ang="0">
                  <a:pos x="57" y="29"/>
                </a:cxn>
                <a:cxn ang="0">
                  <a:pos x="28" y="59"/>
                </a:cxn>
                <a:cxn ang="0">
                  <a:pos x="0" y="29"/>
                </a:cxn>
                <a:cxn ang="0">
                  <a:pos x="28" y="0"/>
                </a:cxn>
              </a:cxnLst>
              <a:rect l="txL" t="txT" r="txR" b="txB"/>
              <a:pathLst>
                <a:path w="57" h="59">
                  <a:moveTo>
                    <a:pt x="28" y="0"/>
                  </a:moveTo>
                  <a:lnTo>
                    <a:pt x="57" y="29"/>
                  </a:lnTo>
                  <a:lnTo>
                    <a:pt x="28" y="59"/>
                  </a:lnTo>
                  <a:lnTo>
                    <a:pt x="0" y="29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00FFFF">
                <a:alpha val="100000"/>
              </a:srgbClr>
            </a:solidFill>
            <a:ln w="6350" cap="flat" cmpd="sng">
              <a:solidFill>
                <a:srgbClr val="00008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369" name="Freeform 63"/>
            <p:cNvSpPr/>
            <p:nvPr/>
          </p:nvSpPr>
          <p:spPr>
            <a:xfrm>
              <a:off x="5091" y="1930"/>
              <a:ext cx="56" cy="59"/>
            </a:xfrm>
            <a:custGeom>
              <a:avLst/>
              <a:gdLst>
                <a:gd name="txL" fmla="*/ 0 w 56"/>
                <a:gd name="txT" fmla="*/ 0 h 59"/>
                <a:gd name="txR" fmla="*/ 56 w 56"/>
                <a:gd name="txB" fmla="*/ 59 h 59"/>
              </a:gdLst>
              <a:ahLst/>
              <a:cxnLst>
                <a:cxn ang="0">
                  <a:pos x="28" y="0"/>
                </a:cxn>
                <a:cxn ang="0">
                  <a:pos x="56" y="30"/>
                </a:cxn>
                <a:cxn ang="0">
                  <a:pos x="28" y="59"/>
                </a:cxn>
                <a:cxn ang="0">
                  <a:pos x="0" y="30"/>
                </a:cxn>
                <a:cxn ang="0">
                  <a:pos x="28" y="0"/>
                </a:cxn>
              </a:cxnLst>
              <a:rect l="txL" t="txT" r="txR" b="txB"/>
              <a:pathLst>
                <a:path w="56" h="59">
                  <a:moveTo>
                    <a:pt x="28" y="0"/>
                  </a:moveTo>
                  <a:lnTo>
                    <a:pt x="56" y="30"/>
                  </a:lnTo>
                  <a:lnTo>
                    <a:pt x="28" y="59"/>
                  </a:lnTo>
                  <a:lnTo>
                    <a:pt x="0" y="30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000080">
                <a:alpha val="100000"/>
              </a:srgbClr>
            </a:solidFill>
            <a:ln w="6350" cap="flat" cmpd="sng">
              <a:solidFill>
                <a:srgbClr val="00008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370" name="Freeform 64"/>
            <p:cNvSpPr/>
            <p:nvPr/>
          </p:nvSpPr>
          <p:spPr>
            <a:xfrm>
              <a:off x="4852" y="1832"/>
              <a:ext cx="57" cy="60"/>
            </a:xfrm>
            <a:custGeom>
              <a:avLst/>
              <a:gdLst>
                <a:gd name="txL" fmla="*/ 0 w 57"/>
                <a:gd name="txT" fmla="*/ 0 h 60"/>
                <a:gd name="txR" fmla="*/ 57 w 57"/>
                <a:gd name="txB" fmla="*/ 60 h 60"/>
              </a:gdLst>
              <a:ahLst/>
              <a:cxnLst>
                <a:cxn ang="0">
                  <a:pos x="28" y="0"/>
                </a:cxn>
                <a:cxn ang="0">
                  <a:pos x="57" y="30"/>
                </a:cxn>
                <a:cxn ang="0">
                  <a:pos x="28" y="60"/>
                </a:cxn>
                <a:cxn ang="0">
                  <a:pos x="0" y="30"/>
                </a:cxn>
                <a:cxn ang="0">
                  <a:pos x="28" y="0"/>
                </a:cxn>
              </a:cxnLst>
              <a:rect l="txL" t="txT" r="txR" b="txB"/>
              <a:pathLst>
                <a:path w="57" h="60">
                  <a:moveTo>
                    <a:pt x="28" y="0"/>
                  </a:moveTo>
                  <a:lnTo>
                    <a:pt x="57" y="30"/>
                  </a:lnTo>
                  <a:lnTo>
                    <a:pt x="28" y="60"/>
                  </a:lnTo>
                  <a:lnTo>
                    <a:pt x="0" y="30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000080">
                <a:alpha val="100000"/>
              </a:srgbClr>
            </a:solidFill>
            <a:ln w="6350" cap="flat" cmpd="sng">
              <a:solidFill>
                <a:srgbClr val="00008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371" name="Oval 65"/>
            <p:cNvSpPr/>
            <p:nvPr/>
          </p:nvSpPr>
          <p:spPr>
            <a:xfrm>
              <a:off x="4686" y="1811"/>
              <a:ext cx="53" cy="55"/>
            </a:xfrm>
            <a:prstGeom prst="ellipse">
              <a:avLst/>
            </a:prstGeom>
            <a:solidFill>
              <a:srgbClr val="FF0000"/>
            </a:solidFill>
            <a:ln w="63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94372" name="Oval 66"/>
            <p:cNvSpPr/>
            <p:nvPr/>
          </p:nvSpPr>
          <p:spPr>
            <a:xfrm>
              <a:off x="5054" y="1900"/>
              <a:ext cx="53" cy="55"/>
            </a:xfrm>
            <a:prstGeom prst="ellipse">
              <a:avLst/>
            </a:prstGeom>
            <a:solidFill>
              <a:srgbClr val="FF0000"/>
            </a:solidFill>
            <a:ln w="63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94373" name="Rectangle 67"/>
            <p:cNvSpPr/>
            <p:nvPr/>
          </p:nvSpPr>
          <p:spPr>
            <a:xfrm>
              <a:off x="4221" y="2336"/>
              <a:ext cx="44" cy="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ko-KR" altLang="en-US" sz="600" dirty="0">
                  <a:solidFill>
                    <a:srgbClr val="000000"/>
                  </a:solidFill>
                  <a:latin typeface="Arial" panose="020B0604020202020204" pitchFamily="34" charset="0"/>
                  <a:ea typeface="Gulim" pitchFamily="34" charset="-127"/>
                </a:rPr>
                <a:t>0</a:t>
              </a:r>
              <a:endParaRPr lang="ko-KR" altLang="en-US" sz="2400" dirty="0">
                <a:latin typeface="Tahoma" panose="020B0604030504040204" charset="0"/>
                <a:ea typeface="Gulim" pitchFamily="34" charset="-127"/>
              </a:endParaRPr>
            </a:p>
          </p:txBody>
        </p:sp>
        <p:sp>
          <p:nvSpPr>
            <p:cNvPr id="94374" name="Rectangle 68"/>
            <p:cNvSpPr/>
            <p:nvPr/>
          </p:nvSpPr>
          <p:spPr>
            <a:xfrm>
              <a:off x="4221" y="2235"/>
              <a:ext cx="44" cy="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ko-KR" altLang="en-US" sz="600" dirty="0">
                  <a:solidFill>
                    <a:srgbClr val="000000"/>
                  </a:solidFill>
                  <a:latin typeface="Arial" panose="020B0604020202020204" pitchFamily="34" charset="0"/>
                  <a:ea typeface="Gulim" pitchFamily="34" charset="-127"/>
                </a:rPr>
                <a:t>1</a:t>
              </a:r>
              <a:endParaRPr lang="ko-KR" altLang="en-US" sz="2400" dirty="0">
                <a:latin typeface="Tahoma" panose="020B0604030504040204" charset="0"/>
                <a:ea typeface="Gulim" pitchFamily="34" charset="-127"/>
              </a:endParaRPr>
            </a:p>
          </p:txBody>
        </p:sp>
        <p:sp>
          <p:nvSpPr>
            <p:cNvPr id="94375" name="Rectangle 69"/>
            <p:cNvSpPr/>
            <p:nvPr/>
          </p:nvSpPr>
          <p:spPr>
            <a:xfrm>
              <a:off x="4221" y="2133"/>
              <a:ext cx="44" cy="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ko-KR" altLang="en-US" sz="600" dirty="0">
                  <a:solidFill>
                    <a:srgbClr val="000000"/>
                  </a:solidFill>
                  <a:latin typeface="Arial" panose="020B0604020202020204" pitchFamily="34" charset="0"/>
                  <a:ea typeface="Gulim" pitchFamily="34" charset="-127"/>
                </a:rPr>
                <a:t>2</a:t>
              </a:r>
              <a:endParaRPr lang="ko-KR" altLang="en-US" sz="2400" dirty="0">
                <a:latin typeface="Tahoma" panose="020B0604030504040204" charset="0"/>
                <a:ea typeface="Gulim" pitchFamily="34" charset="-127"/>
              </a:endParaRPr>
            </a:p>
          </p:txBody>
        </p:sp>
        <p:sp>
          <p:nvSpPr>
            <p:cNvPr id="94376" name="Rectangle 70"/>
            <p:cNvSpPr/>
            <p:nvPr/>
          </p:nvSpPr>
          <p:spPr>
            <a:xfrm>
              <a:off x="4221" y="2032"/>
              <a:ext cx="44" cy="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ko-KR" altLang="en-US" sz="600" dirty="0">
                  <a:solidFill>
                    <a:srgbClr val="000000"/>
                  </a:solidFill>
                  <a:latin typeface="Arial" panose="020B0604020202020204" pitchFamily="34" charset="0"/>
                  <a:ea typeface="Gulim" pitchFamily="34" charset="-127"/>
                </a:rPr>
                <a:t>3</a:t>
              </a:r>
              <a:endParaRPr lang="ko-KR" altLang="en-US" sz="2400" dirty="0">
                <a:latin typeface="Tahoma" panose="020B0604030504040204" charset="0"/>
                <a:ea typeface="Gulim" pitchFamily="34" charset="-127"/>
              </a:endParaRPr>
            </a:p>
          </p:txBody>
        </p:sp>
        <p:sp>
          <p:nvSpPr>
            <p:cNvPr id="94377" name="Rectangle 71"/>
            <p:cNvSpPr/>
            <p:nvPr/>
          </p:nvSpPr>
          <p:spPr>
            <a:xfrm>
              <a:off x="4221" y="1930"/>
              <a:ext cx="44" cy="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ko-KR" altLang="en-US" sz="600" dirty="0">
                  <a:solidFill>
                    <a:srgbClr val="000000"/>
                  </a:solidFill>
                  <a:latin typeface="Arial" panose="020B0604020202020204" pitchFamily="34" charset="0"/>
                  <a:ea typeface="Gulim" pitchFamily="34" charset="-127"/>
                </a:rPr>
                <a:t>4</a:t>
              </a:r>
              <a:endParaRPr lang="ko-KR" altLang="en-US" sz="2400" dirty="0">
                <a:latin typeface="Tahoma" panose="020B0604030504040204" charset="0"/>
                <a:ea typeface="Gulim" pitchFamily="34" charset="-127"/>
              </a:endParaRPr>
            </a:p>
          </p:txBody>
        </p:sp>
        <p:sp>
          <p:nvSpPr>
            <p:cNvPr id="94378" name="Rectangle 72"/>
            <p:cNvSpPr/>
            <p:nvPr/>
          </p:nvSpPr>
          <p:spPr>
            <a:xfrm>
              <a:off x="4221" y="1828"/>
              <a:ext cx="44" cy="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ko-KR" altLang="en-US" sz="600" dirty="0">
                  <a:solidFill>
                    <a:srgbClr val="000000"/>
                  </a:solidFill>
                  <a:latin typeface="Arial" panose="020B0604020202020204" pitchFamily="34" charset="0"/>
                  <a:ea typeface="Gulim" pitchFamily="34" charset="-127"/>
                </a:rPr>
                <a:t>5</a:t>
              </a:r>
              <a:endParaRPr lang="ko-KR" altLang="en-US" sz="2400" dirty="0">
                <a:latin typeface="Tahoma" panose="020B0604030504040204" charset="0"/>
                <a:ea typeface="Gulim" pitchFamily="34" charset="-127"/>
              </a:endParaRPr>
            </a:p>
          </p:txBody>
        </p:sp>
        <p:sp>
          <p:nvSpPr>
            <p:cNvPr id="94379" name="Rectangle 73"/>
            <p:cNvSpPr/>
            <p:nvPr/>
          </p:nvSpPr>
          <p:spPr>
            <a:xfrm>
              <a:off x="4221" y="1731"/>
              <a:ext cx="44" cy="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ko-KR" altLang="en-US" sz="600" dirty="0">
                  <a:solidFill>
                    <a:srgbClr val="000000"/>
                  </a:solidFill>
                  <a:latin typeface="Arial" panose="020B0604020202020204" pitchFamily="34" charset="0"/>
                  <a:ea typeface="Gulim" pitchFamily="34" charset="-127"/>
                </a:rPr>
                <a:t>6</a:t>
              </a:r>
              <a:endParaRPr lang="ko-KR" altLang="en-US" sz="2400" dirty="0">
                <a:latin typeface="Tahoma" panose="020B0604030504040204" charset="0"/>
                <a:ea typeface="Gulim" pitchFamily="34" charset="-127"/>
              </a:endParaRPr>
            </a:p>
          </p:txBody>
        </p:sp>
        <p:sp>
          <p:nvSpPr>
            <p:cNvPr id="94380" name="Rectangle 74"/>
            <p:cNvSpPr/>
            <p:nvPr/>
          </p:nvSpPr>
          <p:spPr>
            <a:xfrm>
              <a:off x="4221" y="1629"/>
              <a:ext cx="44" cy="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ko-KR" altLang="en-US" sz="600" dirty="0">
                  <a:solidFill>
                    <a:srgbClr val="000000"/>
                  </a:solidFill>
                  <a:latin typeface="Arial" panose="020B0604020202020204" pitchFamily="34" charset="0"/>
                  <a:ea typeface="Gulim" pitchFamily="34" charset="-127"/>
                </a:rPr>
                <a:t>7</a:t>
              </a:r>
              <a:endParaRPr lang="ko-KR" altLang="en-US" sz="2400" dirty="0">
                <a:latin typeface="Tahoma" panose="020B0604030504040204" charset="0"/>
                <a:ea typeface="Gulim" pitchFamily="34" charset="-127"/>
              </a:endParaRPr>
            </a:p>
          </p:txBody>
        </p:sp>
        <p:sp>
          <p:nvSpPr>
            <p:cNvPr id="94381" name="Rectangle 75"/>
            <p:cNvSpPr/>
            <p:nvPr/>
          </p:nvSpPr>
          <p:spPr>
            <a:xfrm>
              <a:off x="4221" y="1528"/>
              <a:ext cx="44" cy="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ko-KR" altLang="en-US" sz="600" dirty="0">
                  <a:solidFill>
                    <a:srgbClr val="000000"/>
                  </a:solidFill>
                  <a:latin typeface="Arial" panose="020B0604020202020204" pitchFamily="34" charset="0"/>
                  <a:ea typeface="Gulim" pitchFamily="34" charset="-127"/>
                </a:rPr>
                <a:t>8</a:t>
              </a:r>
              <a:endParaRPr lang="ko-KR" altLang="en-US" sz="2400" dirty="0">
                <a:latin typeface="Tahoma" panose="020B0604030504040204" charset="0"/>
                <a:ea typeface="Gulim" pitchFamily="34" charset="-127"/>
              </a:endParaRPr>
            </a:p>
          </p:txBody>
        </p:sp>
        <p:sp>
          <p:nvSpPr>
            <p:cNvPr id="94382" name="Rectangle 76"/>
            <p:cNvSpPr/>
            <p:nvPr/>
          </p:nvSpPr>
          <p:spPr>
            <a:xfrm>
              <a:off x="4221" y="1426"/>
              <a:ext cx="44" cy="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ko-KR" altLang="en-US" sz="600" dirty="0">
                  <a:solidFill>
                    <a:srgbClr val="000000"/>
                  </a:solidFill>
                  <a:latin typeface="Arial" panose="020B0604020202020204" pitchFamily="34" charset="0"/>
                  <a:ea typeface="Gulim" pitchFamily="34" charset="-127"/>
                </a:rPr>
                <a:t>9</a:t>
              </a:r>
              <a:endParaRPr lang="ko-KR" altLang="en-US" sz="2400" dirty="0">
                <a:latin typeface="Tahoma" panose="020B0604030504040204" charset="0"/>
                <a:ea typeface="Gulim" pitchFamily="34" charset="-127"/>
              </a:endParaRPr>
            </a:p>
          </p:txBody>
        </p:sp>
        <p:sp>
          <p:nvSpPr>
            <p:cNvPr id="94383" name="Rectangle 77"/>
            <p:cNvSpPr/>
            <p:nvPr/>
          </p:nvSpPr>
          <p:spPr>
            <a:xfrm>
              <a:off x="4197" y="1324"/>
              <a:ext cx="73" cy="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ko-KR" altLang="en-US" sz="600" dirty="0">
                  <a:solidFill>
                    <a:srgbClr val="000000"/>
                  </a:solidFill>
                  <a:latin typeface="Arial" panose="020B0604020202020204" pitchFamily="34" charset="0"/>
                  <a:ea typeface="Gulim" pitchFamily="34" charset="-127"/>
                </a:rPr>
                <a:t>10</a:t>
              </a:r>
              <a:endParaRPr lang="ko-KR" altLang="en-US" sz="2400" dirty="0">
                <a:latin typeface="Tahoma" panose="020B0604030504040204" charset="0"/>
                <a:ea typeface="Gulim" pitchFamily="34" charset="-127"/>
              </a:endParaRPr>
            </a:p>
          </p:txBody>
        </p:sp>
        <p:sp>
          <p:nvSpPr>
            <p:cNvPr id="94384" name="Rectangle 78"/>
            <p:cNvSpPr/>
            <p:nvPr/>
          </p:nvSpPr>
          <p:spPr>
            <a:xfrm>
              <a:off x="4266" y="2404"/>
              <a:ext cx="44" cy="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ko-KR" altLang="en-US" sz="600" dirty="0">
                  <a:solidFill>
                    <a:srgbClr val="000000"/>
                  </a:solidFill>
                  <a:latin typeface="Arial" panose="020B0604020202020204" pitchFamily="34" charset="0"/>
                  <a:ea typeface="Gulim" pitchFamily="34" charset="-127"/>
                </a:rPr>
                <a:t>0</a:t>
              </a:r>
              <a:endParaRPr lang="ko-KR" altLang="en-US" sz="2400" dirty="0">
                <a:latin typeface="Tahoma" panose="020B0604030504040204" charset="0"/>
                <a:ea typeface="Gulim" pitchFamily="34" charset="-127"/>
              </a:endParaRPr>
            </a:p>
          </p:txBody>
        </p:sp>
        <p:sp>
          <p:nvSpPr>
            <p:cNvPr id="94385" name="Rectangle 79"/>
            <p:cNvSpPr/>
            <p:nvPr/>
          </p:nvSpPr>
          <p:spPr>
            <a:xfrm>
              <a:off x="4387" y="2404"/>
              <a:ext cx="44" cy="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ko-KR" altLang="en-US" sz="600" dirty="0">
                  <a:solidFill>
                    <a:srgbClr val="000000"/>
                  </a:solidFill>
                  <a:latin typeface="Arial" panose="020B0604020202020204" pitchFamily="34" charset="0"/>
                  <a:ea typeface="Gulim" pitchFamily="34" charset="-127"/>
                </a:rPr>
                <a:t>1</a:t>
              </a:r>
              <a:endParaRPr lang="ko-KR" altLang="en-US" sz="2400" dirty="0">
                <a:latin typeface="Tahoma" panose="020B0604030504040204" charset="0"/>
                <a:ea typeface="Gulim" pitchFamily="34" charset="-127"/>
              </a:endParaRPr>
            </a:p>
          </p:txBody>
        </p:sp>
        <p:sp>
          <p:nvSpPr>
            <p:cNvPr id="94386" name="Rectangle 80"/>
            <p:cNvSpPr/>
            <p:nvPr/>
          </p:nvSpPr>
          <p:spPr>
            <a:xfrm>
              <a:off x="4504" y="2404"/>
              <a:ext cx="44" cy="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ko-KR" altLang="en-US" sz="600" dirty="0">
                  <a:solidFill>
                    <a:srgbClr val="000000"/>
                  </a:solidFill>
                  <a:latin typeface="Arial" panose="020B0604020202020204" pitchFamily="34" charset="0"/>
                  <a:ea typeface="Gulim" pitchFamily="34" charset="-127"/>
                </a:rPr>
                <a:t>2</a:t>
              </a:r>
              <a:endParaRPr lang="ko-KR" altLang="en-US" sz="2400" dirty="0">
                <a:latin typeface="Tahoma" panose="020B0604030504040204" charset="0"/>
                <a:ea typeface="Gulim" pitchFamily="34" charset="-127"/>
              </a:endParaRPr>
            </a:p>
          </p:txBody>
        </p:sp>
        <p:sp>
          <p:nvSpPr>
            <p:cNvPr id="94387" name="Rectangle 81"/>
            <p:cNvSpPr/>
            <p:nvPr/>
          </p:nvSpPr>
          <p:spPr>
            <a:xfrm>
              <a:off x="4626" y="2404"/>
              <a:ext cx="44" cy="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ko-KR" altLang="en-US" sz="600" dirty="0">
                  <a:solidFill>
                    <a:srgbClr val="000000"/>
                  </a:solidFill>
                  <a:latin typeface="Arial" panose="020B0604020202020204" pitchFamily="34" charset="0"/>
                  <a:ea typeface="Gulim" pitchFamily="34" charset="-127"/>
                </a:rPr>
                <a:t>3</a:t>
              </a:r>
              <a:endParaRPr lang="ko-KR" altLang="en-US" sz="2400" dirty="0">
                <a:latin typeface="Tahoma" panose="020B0604030504040204" charset="0"/>
                <a:ea typeface="Gulim" pitchFamily="34" charset="-127"/>
              </a:endParaRPr>
            </a:p>
          </p:txBody>
        </p:sp>
        <p:sp>
          <p:nvSpPr>
            <p:cNvPr id="94388" name="Rectangle 82"/>
            <p:cNvSpPr/>
            <p:nvPr/>
          </p:nvSpPr>
          <p:spPr>
            <a:xfrm>
              <a:off x="4747" y="2404"/>
              <a:ext cx="44" cy="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ko-KR" altLang="en-US" sz="600" dirty="0">
                  <a:solidFill>
                    <a:srgbClr val="000000"/>
                  </a:solidFill>
                  <a:latin typeface="Arial" panose="020B0604020202020204" pitchFamily="34" charset="0"/>
                  <a:ea typeface="Gulim" pitchFamily="34" charset="-127"/>
                </a:rPr>
                <a:t>4</a:t>
              </a:r>
              <a:endParaRPr lang="ko-KR" altLang="en-US" sz="2400" dirty="0">
                <a:latin typeface="Tahoma" panose="020B0604030504040204" charset="0"/>
                <a:ea typeface="Gulim" pitchFamily="34" charset="-127"/>
              </a:endParaRPr>
            </a:p>
          </p:txBody>
        </p:sp>
        <p:sp>
          <p:nvSpPr>
            <p:cNvPr id="94389" name="Rectangle 83"/>
            <p:cNvSpPr/>
            <p:nvPr/>
          </p:nvSpPr>
          <p:spPr>
            <a:xfrm>
              <a:off x="4868" y="2404"/>
              <a:ext cx="44" cy="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ko-KR" altLang="en-US" sz="600" dirty="0">
                  <a:solidFill>
                    <a:srgbClr val="000000"/>
                  </a:solidFill>
                  <a:latin typeface="Arial" panose="020B0604020202020204" pitchFamily="34" charset="0"/>
                  <a:ea typeface="Gulim" pitchFamily="34" charset="-127"/>
                </a:rPr>
                <a:t>5</a:t>
              </a:r>
              <a:endParaRPr lang="ko-KR" altLang="en-US" sz="2400" dirty="0">
                <a:latin typeface="Tahoma" panose="020B0604030504040204" charset="0"/>
                <a:ea typeface="Gulim" pitchFamily="34" charset="-127"/>
              </a:endParaRPr>
            </a:p>
          </p:txBody>
        </p:sp>
        <p:sp>
          <p:nvSpPr>
            <p:cNvPr id="94390" name="Rectangle 84"/>
            <p:cNvSpPr/>
            <p:nvPr/>
          </p:nvSpPr>
          <p:spPr>
            <a:xfrm>
              <a:off x="4986" y="2404"/>
              <a:ext cx="44" cy="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ko-KR" altLang="en-US" sz="600" dirty="0">
                  <a:solidFill>
                    <a:srgbClr val="000000"/>
                  </a:solidFill>
                  <a:latin typeface="Arial" panose="020B0604020202020204" pitchFamily="34" charset="0"/>
                  <a:ea typeface="Gulim" pitchFamily="34" charset="-127"/>
                </a:rPr>
                <a:t>6</a:t>
              </a:r>
              <a:endParaRPr lang="ko-KR" altLang="en-US" sz="2400" dirty="0">
                <a:latin typeface="Tahoma" panose="020B0604030504040204" charset="0"/>
                <a:ea typeface="Gulim" pitchFamily="34" charset="-127"/>
              </a:endParaRPr>
            </a:p>
          </p:txBody>
        </p:sp>
        <p:sp>
          <p:nvSpPr>
            <p:cNvPr id="94391" name="Rectangle 85"/>
            <p:cNvSpPr/>
            <p:nvPr/>
          </p:nvSpPr>
          <p:spPr>
            <a:xfrm>
              <a:off x="5107" y="2404"/>
              <a:ext cx="44" cy="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ko-KR" altLang="en-US" sz="600" dirty="0">
                  <a:solidFill>
                    <a:srgbClr val="000000"/>
                  </a:solidFill>
                  <a:latin typeface="Arial" panose="020B0604020202020204" pitchFamily="34" charset="0"/>
                  <a:ea typeface="Gulim" pitchFamily="34" charset="-127"/>
                </a:rPr>
                <a:t>7</a:t>
              </a:r>
              <a:endParaRPr lang="ko-KR" altLang="en-US" sz="2400" dirty="0">
                <a:latin typeface="Tahoma" panose="020B0604030504040204" charset="0"/>
                <a:ea typeface="Gulim" pitchFamily="34" charset="-127"/>
              </a:endParaRPr>
            </a:p>
          </p:txBody>
        </p:sp>
        <p:sp>
          <p:nvSpPr>
            <p:cNvPr id="94392" name="Rectangle 86"/>
            <p:cNvSpPr/>
            <p:nvPr/>
          </p:nvSpPr>
          <p:spPr>
            <a:xfrm>
              <a:off x="5228" y="2404"/>
              <a:ext cx="44" cy="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ko-KR" altLang="en-US" sz="600" dirty="0">
                  <a:solidFill>
                    <a:srgbClr val="000000"/>
                  </a:solidFill>
                  <a:latin typeface="Arial" panose="020B0604020202020204" pitchFamily="34" charset="0"/>
                  <a:ea typeface="Gulim" pitchFamily="34" charset="-127"/>
                </a:rPr>
                <a:t>8</a:t>
              </a:r>
              <a:endParaRPr lang="ko-KR" altLang="en-US" sz="2400" dirty="0">
                <a:latin typeface="Tahoma" panose="020B0604030504040204" charset="0"/>
                <a:ea typeface="Gulim" pitchFamily="34" charset="-127"/>
              </a:endParaRPr>
            </a:p>
          </p:txBody>
        </p:sp>
        <p:sp>
          <p:nvSpPr>
            <p:cNvPr id="94393" name="Rectangle 87"/>
            <p:cNvSpPr/>
            <p:nvPr/>
          </p:nvSpPr>
          <p:spPr>
            <a:xfrm>
              <a:off x="5346" y="2404"/>
              <a:ext cx="44" cy="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ko-KR" altLang="en-US" sz="600" dirty="0">
                  <a:solidFill>
                    <a:srgbClr val="000000"/>
                  </a:solidFill>
                  <a:latin typeface="Arial" panose="020B0604020202020204" pitchFamily="34" charset="0"/>
                  <a:ea typeface="Gulim" pitchFamily="34" charset="-127"/>
                </a:rPr>
                <a:t>9</a:t>
              </a:r>
              <a:endParaRPr lang="ko-KR" altLang="en-US" sz="2400" dirty="0">
                <a:latin typeface="Tahoma" panose="020B0604030504040204" charset="0"/>
                <a:ea typeface="Gulim" pitchFamily="34" charset="-127"/>
              </a:endParaRPr>
            </a:p>
          </p:txBody>
        </p:sp>
        <p:sp>
          <p:nvSpPr>
            <p:cNvPr id="94394" name="Rectangle 88"/>
            <p:cNvSpPr/>
            <p:nvPr/>
          </p:nvSpPr>
          <p:spPr>
            <a:xfrm>
              <a:off x="5455" y="2404"/>
              <a:ext cx="73" cy="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ko-KR" altLang="en-US" sz="600" dirty="0">
                  <a:solidFill>
                    <a:srgbClr val="000000"/>
                  </a:solidFill>
                  <a:latin typeface="Arial" panose="020B0604020202020204" pitchFamily="34" charset="0"/>
                  <a:ea typeface="Gulim" pitchFamily="34" charset="-127"/>
                </a:rPr>
                <a:t>10</a:t>
              </a:r>
              <a:endParaRPr lang="ko-KR" altLang="en-US" sz="2400" dirty="0">
                <a:latin typeface="Tahoma" panose="020B0604030504040204" charset="0"/>
                <a:ea typeface="Gulim" pitchFamily="34" charset="-127"/>
              </a:endParaRPr>
            </a:p>
          </p:txBody>
        </p:sp>
        <p:sp>
          <p:nvSpPr>
            <p:cNvPr id="94395" name="Rectangle 89"/>
            <p:cNvSpPr/>
            <p:nvPr/>
          </p:nvSpPr>
          <p:spPr>
            <a:xfrm>
              <a:off x="4144" y="1265"/>
              <a:ext cx="1400" cy="1254"/>
            </a:xfrm>
            <a:prstGeom prst="rect">
              <a:avLst/>
            </a:prstGeom>
            <a:noFill/>
            <a:ln w="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94396" name="Freeform 90"/>
            <p:cNvSpPr/>
            <p:nvPr/>
          </p:nvSpPr>
          <p:spPr>
            <a:xfrm>
              <a:off x="4426" y="1447"/>
              <a:ext cx="573" cy="873"/>
            </a:xfrm>
            <a:custGeom>
              <a:avLst/>
              <a:gdLst>
                <a:gd name="txL" fmla="*/ 0 w 852"/>
                <a:gd name="txT" fmla="*/ 0 h 1260"/>
                <a:gd name="txR" fmla="*/ 852 w 852"/>
                <a:gd name="txB" fmla="*/ 1260 h 1260"/>
              </a:gdLst>
              <a:ahLst/>
              <a:cxnLst>
                <a:cxn ang="0">
                  <a:pos x="157" y="93"/>
                </a:cxn>
                <a:cxn ang="0">
                  <a:pos x="120" y="12"/>
                </a:cxn>
                <a:cxn ang="0">
                  <a:pos x="72" y="7"/>
                </a:cxn>
                <a:cxn ang="0">
                  <a:pos x="40" y="24"/>
                </a:cxn>
                <a:cxn ang="0">
                  <a:pos x="0" y="123"/>
                </a:cxn>
                <a:cxn ang="0">
                  <a:pos x="13" y="229"/>
                </a:cxn>
                <a:cxn ang="0">
                  <a:pos x="110" y="371"/>
                </a:cxn>
                <a:cxn ang="0">
                  <a:pos x="130" y="379"/>
                </a:cxn>
                <a:cxn ang="0">
                  <a:pos x="137" y="384"/>
                </a:cxn>
                <a:cxn ang="0">
                  <a:pos x="159" y="391"/>
                </a:cxn>
                <a:cxn ang="0">
                  <a:pos x="189" y="409"/>
                </a:cxn>
                <a:cxn ang="0">
                  <a:pos x="241" y="414"/>
                </a:cxn>
                <a:cxn ang="0">
                  <a:pos x="239" y="340"/>
                </a:cxn>
                <a:cxn ang="0">
                  <a:pos x="227" y="317"/>
                </a:cxn>
                <a:cxn ang="0">
                  <a:pos x="209" y="285"/>
                </a:cxn>
                <a:cxn ang="0">
                  <a:pos x="189" y="254"/>
                </a:cxn>
                <a:cxn ang="0">
                  <a:pos x="184" y="243"/>
                </a:cxn>
                <a:cxn ang="0">
                  <a:pos x="180" y="236"/>
                </a:cxn>
                <a:cxn ang="0">
                  <a:pos x="169" y="214"/>
                </a:cxn>
                <a:cxn ang="0">
                  <a:pos x="164" y="206"/>
                </a:cxn>
                <a:cxn ang="0">
                  <a:pos x="157" y="93"/>
                </a:cxn>
              </a:cxnLst>
              <a:rect l="txL" t="txT" r="txR" b="txB"/>
              <a:pathLst>
                <a:path w="852" h="1260">
                  <a:moveTo>
                    <a:pt x="518" y="280"/>
                  </a:moveTo>
                  <a:cubicBezTo>
                    <a:pt x="509" y="187"/>
                    <a:pt x="497" y="69"/>
                    <a:pt x="392" y="36"/>
                  </a:cubicBezTo>
                  <a:cubicBezTo>
                    <a:pt x="339" y="0"/>
                    <a:pt x="309" y="15"/>
                    <a:pt x="237" y="21"/>
                  </a:cubicBezTo>
                  <a:cubicBezTo>
                    <a:pt x="194" y="31"/>
                    <a:pt x="168" y="45"/>
                    <a:pt x="133" y="73"/>
                  </a:cubicBezTo>
                  <a:cubicBezTo>
                    <a:pt x="84" y="168"/>
                    <a:pt x="20" y="262"/>
                    <a:pt x="0" y="369"/>
                  </a:cubicBezTo>
                  <a:cubicBezTo>
                    <a:pt x="5" y="481"/>
                    <a:pt x="3" y="584"/>
                    <a:pt x="44" y="688"/>
                  </a:cubicBezTo>
                  <a:cubicBezTo>
                    <a:pt x="78" y="870"/>
                    <a:pt x="173" y="1057"/>
                    <a:pt x="362" y="1117"/>
                  </a:cubicBezTo>
                  <a:cubicBezTo>
                    <a:pt x="415" y="1152"/>
                    <a:pt x="347" y="1112"/>
                    <a:pt x="429" y="1139"/>
                  </a:cubicBezTo>
                  <a:cubicBezTo>
                    <a:pt x="437" y="1142"/>
                    <a:pt x="443" y="1150"/>
                    <a:pt x="451" y="1154"/>
                  </a:cubicBezTo>
                  <a:cubicBezTo>
                    <a:pt x="473" y="1165"/>
                    <a:pt x="501" y="1168"/>
                    <a:pt x="525" y="1176"/>
                  </a:cubicBezTo>
                  <a:cubicBezTo>
                    <a:pt x="562" y="1201"/>
                    <a:pt x="581" y="1218"/>
                    <a:pt x="622" y="1228"/>
                  </a:cubicBezTo>
                  <a:cubicBezTo>
                    <a:pt x="684" y="1260"/>
                    <a:pt x="714" y="1249"/>
                    <a:pt x="792" y="1243"/>
                  </a:cubicBezTo>
                  <a:cubicBezTo>
                    <a:pt x="852" y="1183"/>
                    <a:pt x="819" y="1088"/>
                    <a:pt x="785" y="1021"/>
                  </a:cubicBezTo>
                  <a:cubicBezTo>
                    <a:pt x="770" y="992"/>
                    <a:pt x="773" y="979"/>
                    <a:pt x="748" y="954"/>
                  </a:cubicBezTo>
                  <a:cubicBezTo>
                    <a:pt x="735" y="917"/>
                    <a:pt x="711" y="888"/>
                    <a:pt x="688" y="858"/>
                  </a:cubicBezTo>
                  <a:cubicBezTo>
                    <a:pt x="676" y="821"/>
                    <a:pt x="643" y="795"/>
                    <a:pt x="622" y="762"/>
                  </a:cubicBezTo>
                  <a:cubicBezTo>
                    <a:pt x="616" y="753"/>
                    <a:pt x="613" y="742"/>
                    <a:pt x="607" y="732"/>
                  </a:cubicBezTo>
                  <a:cubicBezTo>
                    <a:pt x="603" y="724"/>
                    <a:pt x="597" y="717"/>
                    <a:pt x="592" y="710"/>
                  </a:cubicBezTo>
                  <a:cubicBezTo>
                    <a:pt x="580" y="671"/>
                    <a:pt x="589" y="694"/>
                    <a:pt x="555" y="643"/>
                  </a:cubicBezTo>
                  <a:cubicBezTo>
                    <a:pt x="550" y="636"/>
                    <a:pt x="540" y="621"/>
                    <a:pt x="540" y="621"/>
                  </a:cubicBezTo>
                  <a:cubicBezTo>
                    <a:pt x="519" y="510"/>
                    <a:pt x="518" y="392"/>
                    <a:pt x="518" y="28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397" name="Freeform 91"/>
            <p:cNvSpPr/>
            <p:nvPr/>
          </p:nvSpPr>
          <p:spPr>
            <a:xfrm>
              <a:off x="4846" y="1713"/>
              <a:ext cx="516" cy="436"/>
            </a:xfrm>
            <a:custGeom>
              <a:avLst/>
              <a:gdLst>
                <a:gd name="txL" fmla="*/ 0 w 768"/>
                <a:gd name="txT" fmla="*/ 0 h 630"/>
                <a:gd name="txR" fmla="*/ 768 w 768"/>
                <a:gd name="txB" fmla="*/ 630 h 630"/>
              </a:gdLst>
              <a:ahLst/>
              <a:cxnLst>
                <a:cxn ang="0">
                  <a:pos x="56" y="22"/>
                </a:cxn>
                <a:cxn ang="0">
                  <a:pos x="22" y="24"/>
                </a:cxn>
                <a:cxn ang="0">
                  <a:pos x="1" y="57"/>
                </a:cxn>
                <a:cxn ang="0">
                  <a:pos x="4" y="103"/>
                </a:cxn>
                <a:cxn ang="0">
                  <a:pos x="17" y="118"/>
                </a:cxn>
                <a:cxn ang="0">
                  <a:pos x="33" y="138"/>
                </a:cxn>
                <a:cxn ang="0">
                  <a:pos x="71" y="181"/>
                </a:cxn>
                <a:cxn ang="0">
                  <a:pos x="78" y="189"/>
                </a:cxn>
                <a:cxn ang="0">
                  <a:pos x="100" y="197"/>
                </a:cxn>
                <a:cxn ang="0">
                  <a:pos x="136" y="209"/>
                </a:cxn>
                <a:cxn ang="0">
                  <a:pos x="181" y="201"/>
                </a:cxn>
                <a:cxn ang="0">
                  <a:pos x="199" y="194"/>
                </a:cxn>
                <a:cxn ang="0">
                  <a:pos x="208" y="176"/>
                </a:cxn>
                <a:cxn ang="0">
                  <a:pos x="218" y="157"/>
                </a:cxn>
                <a:cxn ang="0">
                  <a:pos x="220" y="145"/>
                </a:cxn>
                <a:cxn ang="0">
                  <a:pos x="224" y="138"/>
                </a:cxn>
                <a:cxn ang="0">
                  <a:pos x="233" y="98"/>
                </a:cxn>
                <a:cxn ang="0">
                  <a:pos x="230" y="59"/>
                </a:cxn>
                <a:cxn ang="0">
                  <a:pos x="220" y="37"/>
                </a:cxn>
                <a:cxn ang="0">
                  <a:pos x="141" y="0"/>
                </a:cxn>
                <a:cxn ang="0">
                  <a:pos x="62" y="10"/>
                </a:cxn>
                <a:cxn ang="0">
                  <a:pos x="56" y="22"/>
                </a:cxn>
              </a:cxnLst>
              <a:rect l="txL" t="txT" r="txR" b="txB"/>
              <a:pathLst>
                <a:path w="768" h="630">
                  <a:moveTo>
                    <a:pt x="183" y="67"/>
                  </a:moveTo>
                  <a:cubicBezTo>
                    <a:pt x="146" y="41"/>
                    <a:pt x="112" y="61"/>
                    <a:pt x="72" y="74"/>
                  </a:cubicBezTo>
                  <a:cubicBezTo>
                    <a:pt x="13" y="114"/>
                    <a:pt x="28" y="107"/>
                    <a:pt x="5" y="170"/>
                  </a:cubicBezTo>
                  <a:cubicBezTo>
                    <a:pt x="8" y="217"/>
                    <a:pt x="0" y="266"/>
                    <a:pt x="13" y="311"/>
                  </a:cubicBezTo>
                  <a:cubicBezTo>
                    <a:pt x="19" y="331"/>
                    <a:pt x="45" y="339"/>
                    <a:pt x="57" y="356"/>
                  </a:cubicBezTo>
                  <a:cubicBezTo>
                    <a:pt x="92" y="407"/>
                    <a:pt x="72" y="390"/>
                    <a:pt x="109" y="415"/>
                  </a:cubicBezTo>
                  <a:cubicBezTo>
                    <a:pt x="145" y="467"/>
                    <a:pt x="187" y="508"/>
                    <a:pt x="235" y="548"/>
                  </a:cubicBezTo>
                  <a:cubicBezTo>
                    <a:pt x="243" y="555"/>
                    <a:pt x="248" y="565"/>
                    <a:pt x="257" y="570"/>
                  </a:cubicBezTo>
                  <a:cubicBezTo>
                    <a:pt x="283" y="584"/>
                    <a:pt x="305" y="583"/>
                    <a:pt x="331" y="593"/>
                  </a:cubicBezTo>
                  <a:cubicBezTo>
                    <a:pt x="371" y="608"/>
                    <a:pt x="408" y="621"/>
                    <a:pt x="450" y="630"/>
                  </a:cubicBezTo>
                  <a:cubicBezTo>
                    <a:pt x="498" y="625"/>
                    <a:pt x="551" y="623"/>
                    <a:pt x="598" y="607"/>
                  </a:cubicBezTo>
                  <a:cubicBezTo>
                    <a:pt x="618" y="600"/>
                    <a:pt x="657" y="585"/>
                    <a:pt x="657" y="585"/>
                  </a:cubicBezTo>
                  <a:cubicBezTo>
                    <a:pt x="675" y="536"/>
                    <a:pt x="651" y="594"/>
                    <a:pt x="687" y="533"/>
                  </a:cubicBezTo>
                  <a:cubicBezTo>
                    <a:pt x="698" y="514"/>
                    <a:pt x="717" y="474"/>
                    <a:pt x="717" y="474"/>
                  </a:cubicBezTo>
                  <a:cubicBezTo>
                    <a:pt x="719" y="462"/>
                    <a:pt x="720" y="449"/>
                    <a:pt x="724" y="437"/>
                  </a:cubicBezTo>
                  <a:cubicBezTo>
                    <a:pt x="727" y="429"/>
                    <a:pt x="736" y="423"/>
                    <a:pt x="739" y="415"/>
                  </a:cubicBezTo>
                  <a:cubicBezTo>
                    <a:pt x="750" y="382"/>
                    <a:pt x="760" y="332"/>
                    <a:pt x="768" y="296"/>
                  </a:cubicBezTo>
                  <a:cubicBezTo>
                    <a:pt x="766" y="257"/>
                    <a:pt x="766" y="217"/>
                    <a:pt x="761" y="178"/>
                  </a:cubicBezTo>
                  <a:cubicBezTo>
                    <a:pt x="754" y="127"/>
                    <a:pt x="750" y="142"/>
                    <a:pt x="724" y="111"/>
                  </a:cubicBezTo>
                  <a:cubicBezTo>
                    <a:pt x="653" y="27"/>
                    <a:pt x="566" y="24"/>
                    <a:pt x="465" y="0"/>
                  </a:cubicBezTo>
                  <a:cubicBezTo>
                    <a:pt x="370" y="4"/>
                    <a:pt x="294" y="6"/>
                    <a:pt x="205" y="30"/>
                  </a:cubicBezTo>
                  <a:cubicBezTo>
                    <a:pt x="154" y="63"/>
                    <a:pt x="144" y="53"/>
                    <a:pt x="183" y="67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94212" name="Line 92"/>
          <p:cNvSpPr/>
          <p:nvPr/>
        </p:nvSpPr>
        <p:spPr>
          <a:xfrm>
            <a:off x="5638800" y="2469515"/>
            <a:ext cx="6858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grpSp>
        <p:nvGrpSpPr>
          <p:cNvPr id="94213" name="Group 93"/>
          <p:cNvGrpSpPr/>
          <p:nvPr/>
        </p:nvGrpSpPr>
        <p:grpSpPr>
          <a:xfrm>
            <a:off x="6629400" y="3612515"/>
            <a:ext cx="2286000" cy="2286000"/>
            <a:chOff x="3312" y="2640"/>
            <a:chExt cx="1440" cy="1440"/>
          </a:xfrm>
        </p:grpSpPr>
        <p:graphicFrame>
          <p:nvGraphicFramePr>
            <p:cNvPr id="94312" name="Object 3"/>
            <p:cNvGraphicFramePr>
              <a:graphicFrameLocks noChangeAspect="1"/>
            </p:cNvGraphicFramePr>
            <p:nvPr/>
          </p:nvGraphicFramePr>
          <p:xfrm>
            <a:off x="3312" y="2832"/>
            <a:ext cx="1440" cy="1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605" r:id="rId5" imgW="4064000" imgH="3488055" progId="Excel.Sheet.8">
                    <p:embed/>
                  </p:oleObj>
                </mc:Choice>
                <mc:Fallback>
                  <p:oleObj r:id="rId5" imgW="4064000" imgH="3488055" progId="Excel.Sheet.8">
                    <p:embed/>
                    <p:pic>
                      <p:nvPicPr>
                        <p:cNvPr id="0" name="图片 3078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3312" y="2832"/>
                          <a:ext cx="1440" cy="124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4313" name="Line 95"/>
            <p:cNvSpPr/>
            <p:nvPr/>
          </p:nvSpPr>
          <p:spPr>
            <a:xfrm>
              <a:off x="3984" y="2640"/>
              <a:ext cx="0" cy="14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94214" name="Group 96"/>
          <p:cNvGrpSpPr/>
          <p:nvPr/>
        </p:nvGrpSpPr>
        <p:grpSpPr>
          <a:xfrm>
            <a:off x="3276600" y="3917315"/>
            <a:ext cx="3200400" cy="1981200"/>
            <a:chOff x="1200" y="2832"/>
            <a:chExt cx="2016" cy="1248"/>
          </a:xfrm>
        </p:grpSpPr>
        <p:grpSp>
          <p:nvGrpSpPr>
            <p:cNvPr id="94307" name="Group 97"/>
            <p:cNvGrpSpPr/>
            <p:nvPr/>
          </p:nvGrpSpPr>
          <p:grpSpPr>
            <a:xfrm>
              <a:off x="1200" y="2832"/>
              <a:ext cx="1440" cy="1248"/>
              <a:chOff x="3108" y="2256"/>
              <a:chExt cx="2148" cy="1872"/>
            </a:xfrm>
          </p:grpSpPr>
          <p:graphicFrame>
            <p:nvGraphicFramePr>
              <p:cNvPr id="94309" name="Object 2"/>
              <p:cNvGraphicFramePr>
                <a:graphicFrameLocks noChangeAspect="1"/>
              </p:cNvGraphicFramePr>
              <p:nvPr/>
            </p:nvGraphicFramePr>
            <p:xfrm>
              <a:off x="3108" y="2256"/>
              <a:ext cx="2148" cy="187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5606" r:id="rId7" imgW="4052570" imgH="3477260" progId="Excel.Sheet.8">
                      <p:embed/>
                    </p:oleObj>
                  </mc:Choice>
                  <mc:Fallback>
                    <p:oleObj r:id="rId7" imgW="4052570" imgH="3477260" progId="Excel.Sheet.8">
                      <p:embed/>
                      <p:pic>
                        <p:nvPicPr>
                          <p:cNvPr id="0" name="图片 3079"/>
                          <p:cNvPicPr/>
                          <p:nvPr/>
                        </p:nvPicPr>
                        <p:blipFill>
                          <a:blip r:embed="rId8"/>
                          <a:stretch>
                            <a:fillRect/>
                          </a:stretch>
                        </p:blipFill>
                        <p:spPr>
                          <a:xfrm>
                            <a:off x="3108" y="2256"/>
                            <a:ext cx="2148" cy="1872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94310" name="Freeform 99"/>
              <p:cNvSpPr/>
              <p:nvPr/>
            </p:nvSpPr>
            <p:spPr>
              <a:xfrm>
                <a:off x="3638" y="2571"/>
                <a:ext cx="728" cy="896"/>
              </a:xfrm>
              <a:custGeom>
                <a:avLst/>
                <a:gdLst>
                  <a:gd name="txL" fmla="*/ 0 w 728"/>
                  <a:gd name="txT" fmla="*/ 0 h 896"/>
                  <a:gd name="txR" fmla="*/ 728 w 728"/>
                  <a:gd name="txB" fmla="*/ 896 h 896"/>
                </a:gdLst>
                <a:ahLst/>
                <a:cxnLst>
                  <a:cxn ang="0">
                    <a:pos x="199" y="7"/>
                  </a:cxn>
                  <a:cxn ang="0">
                    <a:pos x="110" y="96"/>
                  </a:cxn>
                  <a:cxn ang="0">
                    <a:pos x="80" y="140"/>
                  </a:cxn>
                  <a:cxn ang="0">
                    <a:pos x="65" y="162"/>
                  </a:cxn>
                  <a:cxn ang="0">
                    <a:pos x="21" y="303"/>
                  </a:cxn>
                  <a:cxn ang="0">
                    <a:pos x="65" y="703"/>
                  </a:cxn>
                  <a:cxn ang="0">
                    <a:pos x="110" y="763"/>
                  </a:cxn>
                  <a:cxn ang="0">
                    <a:pos x="332" y="896"/>
                  </a:cxn>
                  <a:cxn ang="0">
                    <a:pos x="495" y="851"/>
                  </a:cxn>
                  <a:cxn ang="0">
                    <a:pos x="636" y="711"/>
                  </a:cxn>
                  <a:cxn ang="0">
                    <a:pos x="688" y="607"/>
                  </a:cxn>
                  <a:cxn ang="0">
                    <a:pos x="702" y="563"/>
                  </a:cxn>
                  <a:cxn ang="0">
                    <a:pos x="710" y="540"/>
                  </a:cxn>
                  <a:cxn ang="0">
                    <a:pos x="680" y="296"/>
                  </a:cxn>
                  <a:cxn ang="0">
                    <a:pos x="569" y="133"/>
                  </a:cxn>
                  <a:cxn ang="0">
                    <a:pos x="510" y="88"/>
                  </a:cxn>
                  <a:cxn ang="0">
                    <a:pos x="465" y="59"/>
                  </a:cxn>
                  <a:cxn ang="0">
                    <a:pos x="295" y="0"/>
                  </a:cxn>
                  <a:cxn ang="0">
                    <a:pos x="206" y="7"/>
                  </a:cxn>
                  <a:cxn ang="0">
                    <a:pos x="184" y="14"/>
                  </a:cxn>
                  <a:cxn ang="0">
                    <a:pos x="199" y="7"/>
                  </a:cxn>
                </a:cxnLst>
                <a:rect l="txL" t="txT" r="txR" b="txB"/>
                <a:pathLst>
                  <a:path w="728" h="896">
                    <a:moveTo>
                      <a:pt x="199" y="7"/>
                    </a:moveTo>
                    <a:cubicBezTo>
                      <a:pt x="148" y="19"/>
                      <a:pt x="135" y="54"/>
                      <a:pt x="110" y="96"/>
                    </a:cubicBezTo>
                    <a:cubicBezTo>
                      <a:pt x="101" y="111"/>
                      <a:pt x="90" y="125"/>
                      <a:pt x="80" y="140"/>
                    </a:cubicBezTo>
                    <a:cubicBezTo>
                      <a:pt x="75" y="147"/>
                      <a:pt x="65" y="162"/>
                      <a:pt x="65" y="162"/>
                    </a:cubicBezTo>
                    <a:cubicBezTo>
                      <a:pt x="50" y="210"/>
                      <a:pt x="33" y="254"/>
                      <a:pt x="21" y="303"/>
                    </a:cubicBezTo>
                    <a:cubicBezTo>
                      <a:pt x="4" y="446"/>
                      <a:pt x="0" y="574"/>
                      <a:pt x="65" y="703"/>
                    </a:cubicBezTo>
                    <a:cubicBezTo>
                      <a:pt x="79" y="731"/>
                      <a:pt x="83" y="744"/>
                      <a:pt x="110" y="763"/>
                    </a:cubicBezTo>
                    <a:cubicBezTo>
                      <a:pt x="159" y="835"/>
                      <a:pt x="250" y="874"/>
                      <a:pt x="332" y="896"/>
                    </a:cubicBezTo>
                    <a:cubicBezTo>
                      <a:pt x="394" y="889"/>
                      <a:pt x="441" y="878"/>
                      <a:pt x="495" y="851"/>
                    </a:cubicBezTo>
                    <a:cubicBezTo>
                      <a:pt x="537" y="789"/>
                      <a:pt x="571" y="751"/>
                      <a:pt x="636" y="711"/>
                    </a:cubicBezTo>
                    <a:cubicBezTo>
                      <a:pt x="660" y="674"/>
                      <a:pt x="672" y="647"/>
                      <a:pt x="688" y="607"/>
                    </a:cubicBezTo>
                    <a:cubicBezTo>
                      <a:pt x="694" y="593"/>
                      <a:pt x="697" y="578"/>
                      <a:pt x="702" y="563"/>
                    </a:cubicBezTo>
                    <a:cubicBezTo>
                      <a:pt x="705" y="555"/>
                      <a:pt x="710" y="540"/>
                      <a:pt x="710" y="540"/>
                    </a:cubicBezTo>
                    <a:cubicBezTo>
                      <a:pt x="720" y="459"/>
                      <a:pt x="728" y="366"/>
                      <a:pt x="680" y="296"/>
                    </a:cubicBezTo>
                    <a:cubicBezTo>
                      <a:pt x="659" y="231"/>
                      <a:pt x="621" y="176"/>
                      <a:pt x="569" y="133"/>
                    </a:cubicBezTo>
                    <a:cubicBezTo>
                      <a:pt x="550" y="117"/>
                      <a:pt x="530" y="103"/>
                      <a:pt x="510" y="88"/>
                    </a:cubicBezTo>
                    <a:cubicBezTo>
                      <a:pt x="496" y="77"/>
                      <a:pt x="465" y="59"/>
                      <a:pt x="465" y="59"/>
                    </a:cubicBezTo>
                    <a:cubicBezTo>
                      <a:pt x="428" y="0"/>
                      <a:pt x="358" y="5"/>
                      <a:pt x="295" y="0"/>
                    </a:cubicBezTo>
                    <a:cubicBezTo>
                      <a:pt x="265" y="2"/>
                      <a:pt x="236" y="3"/>
                      <a:pt x="206" y="7"/>
                    </a:cubicBezTo>
                    <a:cubicBezTo>
                      <a:pt x="198" y="8"/>
                      <a:pt x="192" y="14"/>
                      <a:pt x="184" y="14"/>
                    </a:cubicBezTo>
                    <a:cubicBezTo>
                      <a:pt x="178" y="14"/>
                      <a:pt x="194" y="9"/>
                      <a:pt x="199" y="7"/>
                    </a:cubicBezTo>
                    <a:close/>
                  </a:path>
                </a:pathLst>
              </a:custGeom>
              <a:noFill/>
              <a:ln w="19050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4311" name="Freeform 100"/>
              <p:cNvSpPr/>
              <p:nvPr/>
            </p:nvSpPr>
            <p:spPr>
              <a:xfrm>
                <a:off x="4090" y="2934"/>
                <a:ext cx="802" cy="889"/>
              </a:xfrm>
              <a:custGeom>
                <a:avLst/>
                <a:gdLst>
                  <a:gd name="txL" fmla="*/ 0 w 802"/>
                  <a:gd name="txT" fmla="*/ 0 h 889"/>
                  <a:gd name="txR" fmla="*/ 802 w 802"/>
                  <a:gd name="txB" fmla="*/ 889 h 889"/>
                </a:gdLst>
                <a:ahLst/>
                <a:cxnLst>
                  <a:cxn ang="0">
                    <a:pos x="510" y="44"/>
                  </a:cxn>
                  <a:cxn ang="0">
                    <a:pos x="376" y="177"/>
                  </a:cxn>
                  <a:cxn ang="0">
                    <a:pos x="236" y="296"/>
                  </a:cxn>
                  <a:cxn ang="0">
                    <a:pos x="221" y="318"/>
                  </a:cxn>
                  <a:cxn ang="0">
                    <a:pos x="199" y="333"/>
                  </a:cxn>
                  <a:cxn ang="0">
                    <a:pos x="191" y="355"/>
                  </a:cxn>
                  <a:cxn ang="0">
                    <a:pos x="169" y="385"/>
                  </a:cxn>
                  <a:cxn ang="0">
                    <a:pos x="132" y="496"/>
                  </a:cxn>
                  <a:cxn ang="0">
                    <a:pos x="110" y="518"/>
                  </a:cxn>
                  <a:cxn ang="0">
                    <a:pos x="80" y="562"/>
                  </a:cxn>
                  <a:cxn ang="0">
                    <a:pos x="43" y="629"/>
                  </a:cxn>
                  <a:cxn ang="0">
                    <a:pos x="13" y="703"/>
                  </a:cxn>
                  <a:cxn ang="0">
                    <a:pos x="36" y="844"/>
                  </a:cxn>
                  <a:cxn ang="0">
                    <a:pos x="80" y="874"/>
                  </a:cxn>
                  <a:cxn ang="0">
                    <a:pos x="124" y="888"/>
                  </a:cxn>
                  <a:cxn ang="0">
                    <a:pos x="354" y="874"/>
                  </a:cxn>
                  <a:cxn ang="0">
                    <a:pos x="517" y="822"/>
                  </a:cxn>
                  <a:cxn ang="0">
                    <a:pos x="569" y="792"/>
                  </a:cxn>
                  <a:cxn ang="0">
                    <a:pos x="673" y="651"/>
                  </a:cxn>
                  <a:cxn ang="0">
                    <a:pos x="695" y="600"/>
                  </a:cxn>
                  <a:cxn ang="0">
                    <a:pos x="747" y="533"/>
                  </a:cxn>
                  <a:cxn ang="0">
                    <a:pos x="784" y="451"/>
                  </a:cxn>
                  <a:cxn ang="0">
                    <a:pos x="798" y="385"/>
                  </a:cxn>
                  <a:cxn ang="0">
                    <a:pos x="650" y="0"/>
                  </a:cxn>
                  <a:cxn ang="0">
                    <a:pos x="532" y="22"/>
                  </a:cxn>
                  <a:cxn ang="0">
                    <a:pos x="510" y="44"/>
                  </a:cxn>
                </a:cxnLst>
                <a:rect l="txL" t="txT" r="txR" b="txB"/>
                <a:pathLst>
                  <a:path w="802" h="889">
                    <a:moveTo>
                      <a:pt x="510" y="44"/>
                    </a:moveTo>
                    <a:cubicBezTo>
                      <a:pt x="455" y="80"/>
                      <a:pt x="422" y="133"/>
                      <a:pt x="376" y="177"/>
                    </a:cubicBezTo>
                    <a:cubicBezTo>
                      <a:pt x="346" y="236"/>
                      <a:pt x="298" y="273"/>
                      <a:pt x="236" y="296"/>
                    </a:cubicBezTo>
                    <a:cubicBezTo>
                      <a:pt x="231" y="303"/>
                      <a:pt x="227" y="312"/>
                      <a:pt x="221" y="318"/>
                    </a:cubicBezTo>
                    <a:cubicBezTo>
                      <a:pt x="215" y="324"/>
                      <a:pt x="205" y="326"/>
                      <a:pt x="199" y="333"/>
                    </a:cubicBezTo>
                    <a:cubicBezTo>
                      <a:pt x="194" y="339"/>
                      <a:pt x="195" y="348"/>
                      <a:pt x="191" y="355"/>
                    </a:cubicBezTo>
                    <a:cubicBezTo>
                      <a:pt x="185" y="366"/>
                      <a:pt x="176" y="375"/>
                      <a:pt x="169" y="385"/>
                    </a:cubicBezTo>
                    <a:cubicBezTo>
                      <a:pt x="156" y="422"/>
                      <a:pt x="155" y="463"/>
                      <a:pt x="132" y="496"/>
                    </a:cubicBezTo>
                    <a:cubicBezTo>
                      <a:pt x="126" y="504"/>
                      <a:pt x="116" y="510"/>
                      <a:pt x="110" y="518"/>
                    </a:cubicBezTo>
                    <a:cubicBezTo>
                      <a:pt x="99" y="532"/>
                      <a:pt x="80" y="562"/>
                      <a:pt x="80" y="562"/>
                    </a:cubicBezTo>
                    <a:cubicBezTo>
                      <a:pt x="68" y="602"/>
                      <a:pt x="78" y="578"/>
                      <a:pt x="43" y="629"/>
                    </a:cubicBezTo>
                    <a:cubicBezTo>
                      <a:pt x="28" y="651"/>
                      <a:pt x="22" y="678"/>
                      <a:pt x="13" y="703"/>
                    </a:cubicBezTo>
                    <a:cubicBezTo>
                      <a:pt x="15" y="727"/>
                      <a:pt x="0" y="812"/>
                      <a:pt x="36" y="844"/>
                    </a:cubicBezTo>
                    <a:cubicBezTo>
                      <a:pt x="49" y="856"/>
                      <a:pt x="65" y="864"/>
                      <a:pt x="80" y="874"/>
                    </a:cubicBezTo>
                    <a:cubicBezTo>
                      <a:pt x="93" y="883"/>
                      <a:pt x="124" y="888"/>
                      <a:pt x="124" y="888"/>
                    </a:cubicBezTo>
                    <a:cubicBezTo>
                      <a:pt x="167" y="886"/>
                      <a:pt x="287" y="889"/>
                      <a:pt x="354" y="874"/>
                    </a:cubicBezTo>
                    <a:cubicBezTo>
                      <a:pt x="410" y="861"/>
                      <a:pt x="461" y="835"/>
                      <a:pt x="517" y="822"/>
                    </a:cubicBezTo>
                    <a:cubicBezTo>
                      <a:pt x="534" y="811"/>
                      <a:pt x="553" y="804"/>
                      <a:pt x="569" y="792"/>
                    </a:cubicBezTo>
                    <a:cubicBezTo>
                      <a:pt x="613" y="757"/>
                      <a:pt x="651" y="702"/>
                      <a:pt x="673" y="651"/>
                    </a:cubicBezTo>
                    <a:cubicBezTo>
                      <a:pt x="680" y="634"/>
                      <a:pt x="685" y="615"/>
                      <a:pt x="695" y="600"/>
                    </a:cubicBezTo>
                    <a:cubicBezTo>
                      <a:pt x="711" y="577"/>
                      <a:pt x="747" y="533"/>
                      <a:pt x="747" y="533"/>
                    </a:cubicBezTo>
                    <a:cubicBezTo>
                      <a:pt x="756" y="504"/>
                      <a:pt x="784" y="451"/>
                      <a:pt x="784" y="451"/>
                    </a:cubicBezTo>
                    <a:cubicBezTo>
                      <a:pt x="787" y="439"/>
                      <a:pt x="798" y="395"/>
                      <a:pt x="798" y="385"/>
                    </a:cubicBezTo>
                    <a:cubicBezTo>
                      <a:pt x="798" y="264"/>
                      <a:pt x="802" y="46"/>
                      <a:pt x="650" y="0"/>
                    </a:cubicBezTo>
                    <a:cubicBezTo>
                      <a:pt x="598" y="5"/>
                      <a:pt x="575" y="6"/>
                      <a:pt x="532" y="22"/>
                    </a:cubicBezTo>
                    <a:cubicBezTo>
                      <a:pt x="516" y="46"/>
                      <a:pt x="526" y="44"/>
                      <a:pt x="510" y="44"/>
                    </a:cubicBezTo>
                    <a:close/>
                  </a:path>
                </a:pathLst>
              </a:custGeom>
              <a:noFill/>
              <a:ln w="19050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94308" name="Line 101"/>
            <p:cNvSpPr/>
            <p:nvPr/>
          </p:nvSpPr>
          <p:spPr>
            <a:xfrm flipH="1">
              <a:off x="2784" y="3264"/>
              <a:ext cx="43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</p:grpSp>
      <p:sp>
        <p:nvSpPr>
          <p:cNvPr id="94215" name="Rectangle 102"/>
          <p:cNvSpPr/>
          <p:nvPr/>
        </p:nvSpPr>
        <p:spPr>
          <a:xfrm>
            <a:off x="101600" y="1582103"/>
            <a:ext cx="2222500" cy="1990725"/>
          </a:xfrm>
          <a:prstGeom prst="rect">
            <a:avLst/>
          </a:prstGeom>
          <a:solidFill>
            <a:srgbClr val="FFFFFF"/>
          </a:solidFill>
          <a:ln w="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94216" name="Rectangle 103"/>
          <p:cNvSpPr/>
          <p:nvPr/>
        </p:nvSpPr>
        <p:spPr>
          <a:xfrm>
            <a:off x="314325" y="1723390"/>
            <a:ext cx="1906588" cy="1606550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  <p:txBody>
          <a:bodyPr/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94217" name="Line 104"/>
          <p:cNvSpPr/>
          <p:nvPr/>
        </p:nvSpPr>
        <p:spPr>
          <a:xfrm>
            <a:off x="314325" y="3168015"/>
            <a:ext cx="1906588" cy="1588"/>
          </a:xfrm>
          <a:prstGeom prst="line">
            <a:avLst/>
          </a:prstGeom>
          <a:ln w="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4218" name="Line 105"/>
          <p:cNvSpPr/>
          <p:nvPr/>
        </p:nvSpPr>
        <p:spPr>
          <a:xfrm>
            <a:off x="314325" y="3007678"/>
            <a:ext cx="1906588" cy="1587"/>
          </a:xfrm>
          <a:prstGeom prst="line">
            <a:avLst/>
          </a:prstGeom>
          <a:ln w="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4219" name="Line 106"/>
          <p:cNvSpPr/>
          <p:nvPr/>
        </p:nvSpPr>
        <p:spPr>
          <a:xfrm>
            <a:off x="314325" y="2845753"/>
            <a:ext cx="1906588" cy="1587"/>
          </a:xfrm>
          <a:prstGeom prst="line">
            <a:avLst/>
          </a:prstGeom>
          <a:ln w="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4220" name="Line 107"/>
          <p:cNvSpPr/>
          <p:nvPr/>
        </p:nvSpPr>
        <p:spPr>
          <a:xfrm>
            <a:off x="314325" y="2685415"/>
            <a:ext cx="1906588" cy="1588"/>
          </a:xfrm>
          <a:prstGeom prst="line">
            <a:avLst/>
          </a:prstGeom>
          <a:ln w="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4221" name="Line 108"/>
          <p:cNvSpPr/>
          <p:nvPr/>
        </p:nvSpPr>
        <p:spPr>
          <a:xfrm>
            <a:off x="314325" y="2523490"/>
            <a:ext cx="1906588" cy="1588"/>
          </a:xfrm>
          <a:prstGeom prst="line">
            <a:avLst/>
          </a:prstGeom>
          <a:ln w="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4222" name="Line 109"/>
          <p:cNvSpPr/>
          <p:nvPr/>
        </p:nvSpPr>
        <p:spPr>
          <a:xfrm>
            <a:off x="314325" y="2367915"/>
            <a:ext cx="1906588" cy="1588"/>
          </a:xfrm>
          <a:prstGeom prst="line">
            <a:avLst/>
          </a:prstGeom>
          <a:ln w="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4223" name="Line 110"/>
          <p:cNvSpPr/>
          <p:nvPr/>
        </p:nvSpPr>
        <p:spPr>
          <a:xfrm>
            <a:off x="314325" y="2207578"/>
            <a:ext cx="1906588" cy="1587"/>
          </a:xfrm>
          <a:prstGeom prst="line">
            <a:avLst/>
          </a:prstGeom>
          <a:ln w="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4224" name="Line 111"/>
          <p:cNvSpPr/>
          <p:nvPr/>
        </p:nvSpPr>
        <p:spPr>
          <a:xfrm>
            <a:off x="314325" y="2045653"/>
            <a:ext cx="1906588" cy="1587"/>
          </a:xfrm>
          <a:prstGeom prst="line">
            <a:avLst/>
          </a:prstGeom>
          <a:ln w="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4225" name="Line 112"/>
          <p:cNvSpPr/>
          <p:nvPr/>
        </p:nvSpPr>
        <p:spPr>
          <a:xfrm>
            <a:off x="314325" y="1885315"/>
            <a:ext cx="1906588" cy="1588"/>
          </a:xfrm>
          <a:prstGeom prst="line">
            <a:avLst/>
          </a:prstGeom>
          <a:ln w="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4226" name="Line 113"/>
          <p:cNvSpPr/>
          <p:nvPr/>
        </p:nvSpPr>
        <p:spPr>
          <a:xfrm>
            <a:off x="314325" y="1723390"/>
            <a:ext cx="1906588" cy="1588"/>
          </a:xfrm>
          <a:prstGeom prst="line">
            <a:avLst/>
          </a:prstGeom>
          <a:ln w="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4227" name="Line 114"/>
          <p:cNvSpPr/>
          <p:nvPr/>
        </p:nvSpPr>
        <p:spPr>
          <a:xfrm>
            <a:off x="506413" y="1723390"/>
            <a:ext cx="1587" cy="1606550"/>
          </a:xfrm>
          <a:prstGeom prst="line">
            <a:avLst/>
          </a:prstGeom>
          <a:ln w="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4228" name="Line 115"/>
          <p:cNvSpPr/>
          <p:nvPr/>
        </p:nvSpPr>
        <p:spPr>
          <a:xfrm>
            <a:off x="692150" y="1723390"/>
            <a:ext cx="1588" cy="1606550"/>
          </a:xfrm>
          <a:prstGeom prst="line">
            <a:avLst/>
          </a:prstGeom>
          <a:ln w="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4229" name="Line 116"/>
          <p:cNvSpPr/>
          <p:nvPr/>
        </p:nvSpPr>
        <p:spPr>
          <a:xfrm>
            <a:off x="885825" y="1723390"/>
            <a:ext cx="1588" cy="1606550"/>
          </a:xfrm>
          <a:prstGeom prst="line">
            <a:avLst/>
          </a:prstGeom>
          <a:ln w="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4230" name="Line 117"/>
          <p:cNvSpPr/>
          <p:nvPr/>
        </p:nvSpPr>
        <p:spPr>
          <a:xfrm>
            <a:off x="1077913" y="1723390"/>
            <a:ext cx="1587" cy="1606550"/>
          </a:xfrm>
          <a:prstGeom prst="line">
            <a:avLst/>
          </a:prstGeom>
          <a:ln w="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4231" name="Line 118"/>
          <p:cNvSpPr/>
          <p:nvPr/>
        </p:nvSpPr>
        <p:spPr>
          <a:xfrm>
            <a:off x="1270000" y="1723390"/>
            <a:ext cx="1588" cy="1606550"/>
          </a:xfrm>
          <a:prstGeom prst="line">
            <a:avLst/>
          </a:prstGeom>
          <a:ln w="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4232" name="Line 119"/>
          <p:cNvSpPr/>
          <p:nvPr/>
        </p:nvSpPr>
        <p:spPr>
          <a:xfrm>
            <a:off x="1457325" y="1723390"/>
            <a:ext cx="1588" cy="1606550"/>
          </a:xfrm>
          <a:prstGeom prst="line">
            <a:avLst/>
          </a:prstGeom>
          <a:ln w="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4233" name="Line 120"/>
          <p:cNvSpPr/>
          <p:nvPr/>
        </p:nvSpPr>
        <p:spPr>
          <a:xfrm>
            <a:off x="1649413" y="1723390"/>
            <a:ext cx="1587" cy="1606550"/>
          </a:xfrm>
          <a:prstGeom prst="line">
            <a:avLst/>
          </a:prstGeom>
          <a:ln w="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4234" name="Line 121"/>
          <p:cNvSpPr/>
          <p:nvPr/>
        </p:nvSpPr>
        <p:spPr>
          <a:xfrm>
            <a:off x="1841500" y="1723390"/>
            <a:ext cx="1588" cy="1606550"/>
          </a:xfrm>
          <a:prstGeom prst="line">
            <a:avLst/>
          </a:prstGeom>
          <a:ln w="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4235" name="Line 122"/>
          <p:cNvSpPr/>
          <p:nvPr/>
        </p:nvSpPr>
        <p:spPr>
          <a:xfrm>
            <a:off x="2028825" y="1723390"/>
            <a:ext cx="1588" cy="1606550"/>
          </a:xfrm>
          <a:prstGeom prst="line">
            <a:avLst/>
          </a:prstGeom>
          <a:ln w="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4236" name="Line 123"/>
          <p:cNvSpPr/>
          <p:nvPr/>
        </p:nvSpPr>
        <p:spPr>
          <a:xfrm>
            <a:off x="2220913" y="1723390"/>
            <a:ext cx="1587" cy="1606550"/>
          </a:xfrm>
          <a:prstGeom prst="line">
            <a:avLst/>
          </a:prstGeom>
          <a:ln w="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4237" name="Rectangle 124"/>
          <p:cNvSpPr/>
          <p:nvPr/>
        </p:nvSpPr>
        <p:spPr>
          <a:xfrm>
            <a:off x="314325" y="1723390"/>
            <a:ext cx="1906588" cy="1606550"/>
          </a:xfrm>
          <a:prstGeom prst="rect">
            <a:avLst/>
          </a:prstGeom>
          <a:noFill/>
          <a:ln w="635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94238" name="Line 125"/>
          <p:cNvSpPr/>
          <p:nvPr/>
        </p:nvSpPr>
        <p:spPr>
          <a:xfrm>
            <a:off x="314325" y="1723390"/>
            <a:ext cx="1588" cy="1606550"/>
          </a:xfrm>
          <a:prstGeom prst="line">
            <a:avLst/>
          </a:prstGeom>
          <a:ln w="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4239" name="Line 126"/>
          <p:cNvSpPr/>
          <p:nvPr/>
        </p:nvSpPr>
        <p:spPr>
          <a:xfrm>
            <a:off x="295275" y="3329940"/>
            <a:ext cx="19050" cy="1588"/>
          </a:xfrm>
          <a:prstGeom prst="line">
            <a:avLst/>
          </a:prstGeom>
          <a:ln w="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4240" name="Line 127"/>
          <p:cNvSpPr/>
          <p:nvPr/>
        </p:nvSpPr>
        <p:spPr>
          <a:xfrm>
            <a:off x="295275" y="3168015"/>
            <a:ext cx="19050" cy="1588"/>
          </a:xfrm>
          <a:prstGeom prst="line">
            <a:avLst/>
          </a:prstGeom>
          <a:ln w="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4241" name="Line 128"/>
          <p:cNvSpPr/>
          <p:nvPr/>
        </p:nvSpPr>
        <p:spPr>
          <a:xfrm>
            <a:off x="295275" y="3007678"/>
            <a:ext cx="19050" cy="1587"/>
          </a:xfrm>
          <a:prstGeom prst="line">
            <a:avLst/>
          </a:prstGeom>
          <a:ln w="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4242" name="Line 129"/>
          <p:cNvSpPr/>
          <p:nvPr/>
        </p:nvSpPr>
        <p:spPr>
          <a:xfrm>
            <a:off x="295275" y="2845753"/>
            <a:ext cx="19050" cy="1587"/>
          </a:xfrm>
          <a:prstGeom prst="line">
            <a:avLst/>
          </a:prstGeom>
          <a:ln w="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4243" name="Line 130"/>
          <p:cNvSpPr/>
          <p:nvPr/>
        </p:nvSpPr>
        <p:spPr>
          <a:xfrm>
            <a:off x="295275" y="2685415"/>
            <a:ext cx="19050" cy="1588"/>
          </a:xfrm>
          <a:prstGeom prst="line">
            <a:avLst/>
          </a:prstGeom>
          <a:ln w="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4244" name="Line 131"/>
          <p:cNvSpPr/>
          <p:nvPr/>
        </p:nvSpPr>
        <p:spPr>
          <a:xfrm>
            <a:off x="295275" y="2523490"/>
            <a:ext cx="19050" cy="1588"/>
          </a:xfrm>
          <a:prstGeom prst="line">
            <a:avLst/>
          </a:prstGeom>
          <a:ln w="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4245" name="Line 132"/>
          <p:cNvSpPr/>
          <p:nvPr/>
        </p:nvSpPr>
        <p:spPr>
          <a:xfrm>
            <a:off x="295275" y="2367915"/>
            <a:ext cx="19050" cy="1588"/>
          </a:xfrm>
          <a:prstGeom prst="line">
            <a:avLst/>
          </a:prstGeom>
          <a:ln w="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4246" name="Line 133"/>
          <p:cNvSpPr/>
          <p:nvPr/>
        </p:nvSpPr>
        <p:spPr>
          <a:xfrm>
            <a:off x="295275" y="2207578"/>
            <a:ext cx="19050" cy="1587"/>
          </a:xfrm>
          <a:prstGeom prst="line">
            <a:avLst/>
          </a:prstGeom>
          <a:ln w="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4247" name="Line 134"/>
          <p:cNvSpPr/>
          <p:nvPr/>
        </p:nvSpPr>
        <p:spPr>
          <a:xfrm>
            <a:off x="295275" y="2045653"/>
            <a:ext cx="19050" cy="1587"/>
          </a:xfrm>
          <a:prstGeom prst="line">
            <a:avLst/>
          </a:prstGeom>
          <a:ln w="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4248" name="Line 135"/>
          <p:cNvSpPr/>
          <p:nvPr/>
        </p:nvSpPr>
        <p:spPr>
          <a:xfrm>
            <a:off x="295275" y="1885315"/>
            <a:ext cx="19050" cy="1588"/>
          </a:xfrm>
          <a:prstGeom prst="line">
            <a:avLst/>
          </a:prstGeom>
          <a:ln w="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4249" name="Line 136"/>
          <p:cNvSpPr/>
          <p:nvPr/>
        </p:nvSpPr>
        <p:spPr>
          <a:xfrm>
            <a:off x="295275" y="1723390"/>
            <a:ext cx="19050" cy="1588"/>
          </a:xfrm>
          <a:prstGeom prst="line">
            <a:avLst/>
          </a:prstGeom>
          <a:ln w="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4250" name="Line 137"/>
          <p:cNvSpPr/>
          <p:nvPr/>
        </p:nvSpPr>
        <p:spPr>
          <a:xfrm>
            <a:off x="314325" y="3329940"/>
            <a:ext cx="1906588" cy="1588"/>
          </a:xfrm>
          <a:prstGeom prst="line">
            <a:avLst/>
          </a:prstGeom>
          <a:ln w="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4251" name="Line 138"/>
          <p:cNvSpPr/>
          <p:nvPr/>
        </p:nvSpPr>
        <p:spPr>
          <a:xfrm flipV="1">
            <a:off x="314325" y="3329940"/>
            <a:ext cx="1588" cy="20638"/>
          </a:xfrm>
          <a:prstGeom prst="line">
            <a:avLst/>
          </a:prstGeom>
          <a:ln w="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4252" name="Line 139"/>
          <p:cNvSpPr/>
          <p:nvPr/>
        </p:nvSpPr>
        <p:spPr>
          <a:xfrm flipV="1">
            <a:off x="506413" y="3329940"/>
            <a:ext cx="1587" cy="20638"/>
          </a:xfrm>
          <a:prstGeom prst="line">
            <a:avLst/>
          </a:prstGeom>
          <a:ln w="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4253" name="Line 140"/>
          <p:cNvSpPr/>
          <p:nvPr/>
        </p:nvSpPr>
        <p:spPr>
          <a:xfrm flipV="1">
            <a:off x="692150" y="3329940"/>
            <a:ext cx="1588" cy="20638"/>
          </a:xfrm>
          <a:prstGeom prst="line">
            <a:avLst/>
          </a:prstGeom>
          <a:ln w="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4254" name="Line 141"/>
          <p:cNvSpPr/>
          <p:nvPr/>
        </p:nvSpPr>
        <p:spPr>
          <a:xfrm flipV="1">
            <a:off x="885825" y="3329940"/>
            <a:ext cx="1588" cy="20638"/>
          </a:xfrm>
          <a:prstGeom prst="line">
            <a:avLst/>
          </a:prstGeom>
          <a:ln w="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4255" name="Line 142"/>
          <p:cNvSpPr/>
          <p:nvPr/>
        </p:nvSpPr>
        <p:spPr>
          <a:xfrm flipV="1">
            <a:off x="1077913" y="3329940"/>
            <a:ext cx="1587" cy="20638"/>
          </a:xfrm>
          <a:prstGeom prst="line">
            <a:avLst/>
          </a:prstGeom>
          <a:ln w="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4256" name="Line 143"/>
          <p:cNvSpPr/>
          <p:nvPr/>
        </p:nvSpPr>
        <p:spPr>
          <a:xfrm flipV="1">
            <a:off x="1270000" y="3329940"/>
            <a:ext cx="1588" cy="20638"/>
          </a:xfrm>
          <a:prstGeom prst="line">
            <a:avLst/>
          </a:prstGeom>
          <a:ln w="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4257" name="Line 144"/>
          <p:cNvSpPr/>
          <p:nvPr/>
        </p:nvSpPr>
        <p:spPr>
          <a:xfrm flipV="1">
            <a:off x="1457325" y="3329940"/>
            <a:ext cx="1588" cy="20638"/>
          </a:xfrm>
          <a:prstGeom prst="line">
            <a:avLst/>
          </a:prstGeom>
          <a:ln w="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4258" name="Line 145"/>
          <p:cNvSpPr/>
          <p:nvPr/>
        </p:nvSpPr>
        <p:spPr>
          <a:xfrm flipV="1">
            <a:off x="1649413" y="3329940"/>
            <a:ext cx="1587" cy="20638"/>
          </a:xfrm>
          <a:prstGeom prst="line">
            <a:avLst/>
          </a:prstGeom>
          <a:ln w="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4259" name="Line 146"/>
          <p:cNvSpPr/>
          <p:nvPr/>
        </p:nvSpPr>
        <p:spPr>
          <a:xfrm flipV="1">
            <a:off x="1841500" y="3329940"/>
            <a:ext cx="1588" cy="20638"/>
          </a:xfrm>
          <a:prstGeom prst="line">
            <a:avLst/>
          </a:prstGeom>
          <a:ln w="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4260" name="Line 147"/>
          <p:cNvSpPr/>
          <p:nvPr/>
        </p:nvSpPr>
        <p:spPr>
          <a:xfrm flipV="1">
            <a:off x="2028825" y="3329940"/>
            <a:ext cx="1588" cy="20638"/>
          </a:xfrm>
          <a:prstGeom prst="line">
            <a:avLst/>
          </a:prstGeom>
          <a:ln w="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4261" name="Line 148"/>
          <p:cNvSpPr/>
          <p:nvPr/>
        </p:nvSpPr>
        <p:spPr>
          <a:xfrm flipV="1">
            <a:off x="2220913" y="3329940"/>
            <a:ext cx="1587" cy="20638"/>
          </a:xfrm>
          <a:prstGeom prst="line">
            <a:avLst/>
          </a:prstGeom>
          <a:ln w="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4262" name="Freeform 149"/>
          <p:cNvSpPr/>
          <p:nvPr/>
        </p:nvSpPr>
        <p:spPr>
          <a:xfrm>
            <a:off x="839788" y="2321878"/>
            <a:ext cx="90487" cy="93662"/>
          </a:xfrm>
          <a:custGeom>
            <a:avLst/>
            <a:gdLst>
              <a:gd name="txL" fmla="*/ 0 w 57"/>
              <a:gd name="txT" fmla="*/ 0 h 59"/>
              <a:gd name="txR" fmla="*/ 57 w 57"/>
              <a:gd name="txB" fmla="*/ 59 h 59"/>
            </a:gdLst>
            <a:ahLst/>
            <a:cxnLst>
              <a:cxn ang="0">
                <a:pos x="2147483647" y="0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0" y="2147483647"/>
              </a:cxn>
              <a:cxn ang="0">
                <a:pos x="2147483647" y="0"/>
              </a:cxn>
            </a:cxnLst>
            <a:rect l="txL" t="txT" r="txR" b="txB"/>
            <a:pathLst>
              <a:path w="57" h="59">
                <a:moveTo>
                  <a:pt x="29" y="0"/>
                </a:moveTo>
                <a:lnTo>
                  <a:pt x="57" y="29"/>
                </a:lnTo>
                <a:lnTo>
                  <a:pt x="29" y="59"/>
                </a:lnTo>
                <a:lnTo>
                  <a:pt x="0" y="29"/>
                </a:lnTo>
                <a:lnTo>
                  <a:pt x="29" y="0"/>
                </a:lnTo>
                <a:close/>
              </a:path>
            </a:pathLst>
          </a:custGeom>
          <a:solidFill>
            <a:srgbClr val="00FFFF">
              <a:alpha val="100000"/>
            </a:srgbClr>
          </a:solidFill>
          <a:ln w="6350" cap="flat" cmpd="sng">
            <a:solidFill>
              <a:srgbClr val="00008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4263" name="Freeform 150"/>
          <p:cNvSpPr/>
          <p:nvPr/>
        </p:nvSpPr>
        <p:spPr>
          <a:xfrm>
            <a:off x="1604963" y="2799715"/>
            <a:ext cx="88900" cy="93663"/>
          </a:xfrm>
          <a:custGeom>
            <a:avLst/>
            <a:gdLst>
              <a:gd name="txL" fmla="*/ 0 w 56"/>
              <a:gd name="txT" fmla="*/ 0 h 59"/>
              <a:gd name="txR" fmla="*/ 56 w 56"/>
              <a:gd name="txB" fmla="*/ 59 h 59"/>
            </a:gdLst>
            <a:ahLst/>
            <a:cxnLst>
              <a:cxn ang="0">
                <a:pos x="2147483647" y="0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0" y="2147483647"/>
              </a:cxn>
              <a:cxn ang="0">
                <a:pos x="2147483647" y="0"/>
              </a:cxn>
            </a:cxnLst>
            <a:rect l="txL" t="txT" r="txR" b="txB"/>
            <a:pathLst>
              <a:path w="56" h="59">
                <a:moveTo>
                  <a:pt x="28" y="0"/>
                </a:moveTo>
                <a:lnTo>
                  <a:pt x="56" y="29"/>
                </a:lnTo>
                <a:lnTo>
                  <a:pt x="28" y="59"/>
                </a:lnTo>
                <a:lnTo>
                  <a:pt x="0" y="29"/>
                </a:lnTo>
                <a:lnTo>
                  <a:pt x="28" y="0"/>
                </a:lnTo>
                <a:close/>
              </a:path>
            </a:pathLst>
          </a:custGeom>
          <a:solidFill>
            <a:srgbClr val="000080">
              <a:alpha val="100000"/>
            </a:srgbClr>
          </a:solidFill>
          <a:ln w="6350" cap="flat" cmpd="sng">
            <a:solidFill>
              <a:srgbClr val="00008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4264" name="Freeform 151"/>
          <p:cNvSpPr/>
          <p:nvPr/>
        </p:nvSpPr>
        <p:spPr>
          <a:xfrm>
            <a:off x="1033463" y="2159953"/>
            <a:ext cx="88900" cy="93662"/>
          </a:xfrm>
          <a:custGeom>
            <a:avLst/>
            <a:gdLst>
              <a:gd name="txL" fmla="*/ 0 w 56"/>
              <a:gd name="txT" fmla="*/ 0 h 59"/>
              <a:gd name="txR" fmla="*/ 56 w 56"/>
              <a:gd name="txB" fmla="*/ 59 h 59"/>
            </a:gdLst>
            <a:ahLst/>
            <a:cxnLst>
              <a:cxn ang="0">
                <a:pos x="2147483647" y="0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0" y="2147483647"/>
              </a:cxn>
              <a:cxn ang="0">
                <a:pos x="2147483647" y="0"/>
              </a:cxn>
            </a:cxnLst>
            <a:rect l="txL" t="txT" r="txR" b="txB"/>
            <a:pathLst>
              <a:path w="56" h="59">
                <a:moveTo>
                  <a:pt x="28" y="0"/>
                </a:moveTo>
                <a:lnTo>
                  <a:pt x="56" y="30"/>
                </a:lnTo>
                <a:lnTo>
                  <a:pt x="28" y="59"/>
                </a:lnTo>
                <a:lnTo>
                  <a:pt x="0" y="30"/>
                </a:lnTo>
                <a:lnTo>
                  <a:pt x="28" y="0"/>
                </a:lnTo>
                <a:close/>
              </a:path>
            </a:pathLst>
          </a:custGeom>
          <a:solidFill>
            <a:srgbClr val="00FFFF">
              <a:alpha val="100000"/>
            </a:srgbClr>
          </a:solidFill>
          <a:ln w="6350" cap="flat" cmpd="sng">
            <a:solidFill>
              <a:srgbClr val="00008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4265" name="Freeform 152"/>
          <p:cNvSpPr/>
          <p:nvPr/>
        </p:nvSpPr>
        <p:spPr>
          <a:xfrm>
            <a:off x="839788" y="1999615"/>
            <a:ext cx="90487" cy="93663"/>
          </a:xfrm>
          <a:custGeom>
            <a:avLst/>
            <a:gdLst>
              <a:gd name="txL" fmla="*/ 0 w 57"/>
              <a:gd name="txT" fmla="*/ 0 h 59"/>
              <a:gd name="txR" fmla="*/ 57 w 57"/>
              <a:gd name="txB" fmla="*/ 59 h 59"/>
            </a:gdLst>
            <a:ahLst/>
            <a:cxnLst>
              <a:cxn ang="0">
                <a:pos x="2147483647" y="0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0" y="2147483647"/>
              </a:cxn>
              <a:cxn ang="0">
                <a:pos x="2147483647" y="0"/>
              </a:cxn>
            </a:cxnLst>
            <a:rect l="txL" t="txT" r="txR" b="txB"/>
            <a:pathLst>
              <a:path w="57" h="59">
                <a:moveTo>
                  <a:pt x="29" y="0"/>
                </a:moveTo>
                <a:lnTo>
                  <a:pt x="57" y="29"/>
                </a:lnTo>
                <a:lnTo>
                  <a:pt x="29" y="59"/>
                </a:lnTo>
                <a:lnTo>
                  <a:pt x="0" y="29"/>
                </a:lnTo>
                <a:lnTo>
                  <a:pt x="29" y="0"/>
                </a:lnTo>
                <a:close/>
              </a:path>
            </a:pathLst>
          </a:custGeom>
          <a:solidFill>
            <a:srgbClr val="00FFFF">
              <a:alpha val="100000"/>
            </a:srgbClr>
          </a:solidFill>
          <a:ln w="6350" cap="flat" cmpd="sng">
            <a:solidFill>
              <a:srgbClr val="00008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4266" name="Freeform 153"/>
          <p:cNvSpPr/>
          <p:nvPr/>
        </p:nvSpPr>
        <p:spPr>
          <a:xfrm>
            <a:off x="1797050" y="2482215"/>
            <a:ext cx="90488" cy="95250"/>
          </a:xfrm>
          <a:custGeom>
            <a:avLst/>
            <a:gdLst>
              <a:gd name="txL" fmla="*/ 0 w 57"/>
              <a:gd name="txT" fmla="*/ 0 h 60"/>
              <a:gd name="txR" fmla="*/ 57 w 57"/>
              <a:gd name="txB" fmla="*/ 60 h 60"/>
            </a:gdLst>
            <a:ahLst/>
            <a:cxnLst>
              <a:cxn ang="0">
                <a:pos x="2147483647" y="0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0" y="2147483647"/>
              </a:cxn>
              <a:cxn ang="0">
                <a:pos x="2147483647" y="0"/>
              </a:cxn>
            </a:cxnLst>
            <a:rect l="txL" t="txT" r="txR" b="txB"/>
            <a:pathLst>
              <a:path w="57" h="60">
                <a:moveTo>
                  <a:pt x="28" y="0"/>
                </a:moveTo>
                <a:lnTo>
                  <a:pt x="57" y="30"/>
                </a:lnTo>
                <a:lnTo>
                  <a:pt x="28" y="60"/>
                </a:lnTo>
                <a:lnTo>
                  <a:pt x="0" y="30"/>
                </a:lnTo>
                <a:lnTo>
                  <a:pt x="28" y="0"/>
                </a:lnTo>
                <a:close/>
              </a:path>
            </a:pathLst>
          </a:custGeom>
          <a:solidFill>
            <a:srgbClr val="000080">
              <a:alpha val="100000"/>
            </a:srgbClr>
          </a:solidFill>
          <a:ln w="6350" cap="flat" cmpd="sng">
            <a:solidFill>
              <a:srgbClr val="00008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4267" name="Freeform 154"/>
          <p:cNvSpPr/>
          <p:nvPr/>
        </p:nvSpPr>
        <p:spPr>
          <a:xfrm>
            <a:off x="1033463" y="2482215"/>
            <a:ext cx="88900" cy="95250"/>
          </a:xfrm>
          <a:custGeom>
            <a:avLst/>
            <a:gdLst>
              <a:gd name="txL" fmla="*/ 0 w 56"/>
              <a:gd name="txT" fmla="*/ 0 h 60"/>
              <a:gd name="txR" fmla="*/ 56 w 56"/>
              <a:gd name="txB" fmla="*/ 60 h 60"/>
            </a:gdLst>
            <a:ahLst/>
            <a:cxnLst>
              <a:cxn ang="0">
                <a:pos x="2147483647" y="0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0" y="2147483647"/>
              </a:cxn>
              <a:cxn ang="0">
                <a:pos x="2147483647" y="0"/>
              </a:cxn>
            </a:cxnLst>
            <a:rect l="txL" t="txT" r="txR" b="txB"/>
            <a:pathLst>
              <a:path w="56" h="60">
                <a:moveTo>
                  <a:pt x="28" y="0"/>
                </a:moveTo>
                <a:lnTo>
                  <a:pt x="56" y="30"/>
                </a:lnTo>
                <a:lnTo>
                  <a:pt x="28" y="60"/>
                </a:lnTo>
                <a:lnTo>
                  <a:pt x="0" y="30"/>
                </a:lnTo>
                <a:lnTo>
                  <a:pt x="28" y="0"/>
                </a:lnTo>
                <a:close/>
              </a:path>
            </a:pathLst>
          </a:custGeom>
          <a:solidFill>
            <a:srgbClr val="00FFFF">
              <a:alpha val="100000"/>
            </a:srgbClr>
          </a:solidFill>
          <a:ln w="6350" cap="flat" cmpd="sng">
            <a:solidFill>
              <a:srgbClr val="00008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4268" name="Freeform 155"/>
          <p:cNvSpPr/>
          <p:nvPr/>
        </p:nvSpPr>
        <p:spPr>
          <a:xfrm>
            <a:off x="1225550" y="3121978"/>
            <a:ext cx="90488" cy="93662"/>
          </a:xfrm>
          <a:custGeom>
            <a:avLst/>
            <a:gdLst>
              <a:gd name="txL" fmla="*/ 0 w 57"/>
              <a:gd name="txT" fmla="*/ 0 h 59"/>
              <a:gd name="txR" fmla="*/ 57 w 57"/>
              <a:gd name="txB" fmla="*/ 59 h 59"/>
            </a:gdLst>
            <a:ahLst/>
            <a:cxnLst>
              <a:cxn ang="0">
                <a:pos x="2147483647" y="0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0" y="2147483647"/>
              </a:cxn>
              <a:cxn ang="0">
                <a:pos x="2147483647" y="0"/>
              </a:cxn>
            </a:cxnLst>
            <a:rect l="txL" t="txT" r="txR" b="txB"/>
            <a:pathLst>
              <a:path w="57" h="59">
                <a:moveTo>
                  <a:pt x="28" y="0"/>
                </a:moveTo>
                <a:lnTo>
                  <a:pt x="57" y="29"/>
                </a:lnTo>
                <a:lnTo>
                  <a:pt x="28" y="59"/>
                </a:lnTo>
                <a:lnTo>
                  <a:pt x="0" y="29"/>
                </a:lnTo>
                <a:lnTo>
                  <a:pt x="28" y="0"/>
                </a:lnTo>
                <a:close/>
              </a:path>
            </a:pathLst>
          </a:custGeom>
          <a:solidFill>
            <a:srgbClr val="00FFFF">
              <a:alpha val="100000"/>
            </a:srgbClr>
          </a:solidFill>
          <a:ln w="6350" cap="flat" cmpd="sng">
            <a:solidFill>
              <a:srgbClr val="00008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4269" name="Freeform 156"/>
          <p:cNvSpPr/>
          <p:nvPr/>
        </p:nvSpPr>
        <p:spPr>
          <a:xfrm>
            <a:off x="1225550" y="2482215"/>
            <a:ext cx="90488" cy="95250"/>
          </a:xfrm>
          <a:custGeom>
            <a:avLst/>
            <a:gdLst>
              <a:gd name="txL" fmla="*/ 0 w 57"/>
              <a:gd name="txT" fmla="*/ 0 h 60"/>
              <a:gd name="txR" fmla="*/ 57 w 57"/>
              <a:gd name="txB" fmla="*/ 60 h 60"/>
            </a:gdLst>
            <a:ahLst/>
            <a:cxnLst>
              <a:cxn ang="0">
                <a:pos x="2147483647" y="0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0" y="2147483647"/>
              </a:cxn>
              <a:cxn ang="0">
                <a:pos x="2147483647" y="0"/>
              </a:cxn>
            </a:cxnLst>
            <a:rect l="txL" t="txT" r="txR" b="txB"/>
            <a:pathLst>
              <a:path w="57" h="60">
                <a:moveTo>
                  <a:pt x="28" y="0"/>
                </a:moveTo>
                <a:lnTo>
                  <a:pt x="57" y="30"/>
                </a:lnTo>
                <a:lnTo>
                  <a:pt x="28" y="60"/>
                </a:lnTo>
                <a:lnTo>
                  <a:pt x="0" y="30"/>
                </a:lnTo>
                <a:lnTo>
                  <a:pt x="28" y="0"/>
                </a:lnTo>
                <a:close/>
              </a:path>
            </a:pathLst>
          </a:custGeom>
          <a:solidFill>
            <a:srgbClr val="000080">
              <a:alpha val="100000"/>
            </a:srgbClr>
          </a:solidFill>
          <a:ln w="6350" cap="flat" cmpd="sng">
            <a:solidFill>
              <a:srgbClr val="00008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4270" name="Rectangle 157"/>
          <p:cNvSpPr/>
          <p:nvPr/>
        </p:nvSpPr>
        <p:spPr>
          <a:xfrm>
            <a:off x="223838" y="3282315"/>
            <a:ext cx="69850" cy="1016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/>
          <a:p>
            <a:r>
              <a:rPr lang="ko-KR" altLang="en-US" sz="600" dirty="0">
                <a:solidFill>
                  <a:srgbClr val="000000"/>
                </a:solidFill>
                <a:latin typeface="Arial" panose="020B0604020202020204" pitchFamily="34" charset="0"/>
                <a:ea typeface="Gulim" pitchFamily="34" charset="-127"/>
              </a:rPr>
              <a:t>0</a:t>
            </a:r>
            <a:endParaRPr lang="ko-KR" altLang="en-US" sz="2400" dirty="0">
              <a:latin typeface="Tahoma" panose="020B0604030504040204" charset="0"/>
              <a:ea typeface="Gulim" pitchFamily="34" charset="-127"/>
            </a:endParaRPr>
          </a:p>
        </p:txBody>
      </p:sp>
      <p:sp>
        <p:nvSpPr>
          <p:cNvPr id="94271" name="Rectangle 158"/>
          <p:cNvSpPr/>
          <p:nvPr/>
        </p:nvSpPr>
        <p:spPr>
          <a:xfrm>
            <a:off x="223838" y="3121978"/>
            <a:ext cx="69850" cy="1016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/>
          <a:p>
            <a:r>
              <a:rPr lang="ko-KR" altLang="en-US" sz="600" dirty="0">
                <a:solidFill>
                  <a:srgbClr val="000000"/>
                </a:solidFill>
                <a:latin typeface="Arial" panose="020B0604020202020204" pitchFamily="34" charset="0"/>
                <a:ea typeface="Gulim" pitchFamily="34" charset="-127"/>
              </a:rPr>
              <a:t>1</a:t>
            </a:r>
            <a:endParaRPr lang="ko-KR" altLang="en-US" sz="2400" dirty="0">
              <a:latin typeface="Tahoma" panose="020B0604030504040204" charset="0"/>
              <a:ea typeface="Gulim" pitchFamily="34" charset="-127"/>
            </a:endParaRPr>
          </a:p>
        </p:txBody>
      </p:sp>
      <p:sp>
        <p:nvSpPr>
          <p:cNvPr id="94272" name="Rectangle 159"/>
          <p:cNvSpPr/>
          <p:nvPr/>
        </p:nvSpPr>
        <p:spPr>
          <a:xfrm>
            <a:off x="223838" y="2960053"/>
            <a:ext cx="69850" cy="1016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/>
          <a:p>
            <a:r>
              <a:rPr lang="ko-KR" altLang="en-US" sz="600" dirty="0">
                <a:solidFill>
                  <a:srgbClr val="000000"/>
                </a:solidFill>
                <a:latin typeface="Arial" panose="020B0604020202020204" pitchFamily="34" charset="0"/>
                <a:ea typeface="Gulim" pitchFamily="34" charset="-127"/>
              </a:rPr>
              <a:t>2</a:t>
            </a:r>
            <a:endParaRPr lang="ko-KR" altLang="en-US" sz="2400" dirty="0">
              <a:latin typeface="Tahoma" panose="020B0604030504040204" charset="0"/>
              <a:ea typeface="Gulim" pitchFamily="34" charset="-127"/>
            </a:endParaRPr>
          </a:p>
        </p:txBody>
      </p:sp>
      <p:sp>
        <p:nvSpPr>
          <p:cNvPr id="94273" name="Rectangle 160"/>
          <p:cNvSpPr/>
          <p:nvPr/>
        </p:nvSpPr>
        <p:spPr>
          <a:xfrm>
            <a:off x="223838" y="2799715"/>
            <a:ext cx="69850" cy="1016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/>
          <a:p>
            <a:r>
              <a:rPr lang="ko-KR" altLang="en-US" sz="600" dirty="0">
                <a:solidFill>
                  <a:srgbClr val="000000"/>
                </a:solidFill>
                <a:latin typeface="Arial" panose="020B0604020202020204" pitchFamily="34" charset="0"/>
                <a:ea typeface="Gulim" pitchFamily="34" charset="-127"/>
              </a:rPr>
              <a:t>3</a:t>
            </a:r>
            <a:endParaRPr lang="ko-KR" altLang="en-US" sz="2400" dirty="0">
              <a:latin typeface="Tahoma" panose="020B0604030504040204" charset="0"/>
              <a:ea typeface="Gulim" pitchFamily="34" charset="-127"/>
            </a:endParaRPr>
          </a:p>
        </p:txBody>
      </p:sp>
      <p:sp>
        <p:nvSpPr>
          <p:cNvPr id="94274" name="Rectangle 161"/>
          <p:cNvSpPr/>
          <p:nvPr/>
        </p:nvSpPr>
        <p:spPr>
          <a:xfrm>
            <a:off x="223838" y="2637790"/>
            <a:ext cx="69850" cy="1016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/>
          <a:p>
            <a:r>
              <a:rPr lang="ko-KR" altLang="en-US" sz="600" dirty="0">
                <a:solidFill>
                  <a:srgbClr val="000000"/>
                </a:solidFill>
                <a:latin typeface="Arial" panose="020B0604020202020204" pitchFamily="34" charset="0"/>
                <a:ea typeface="Gulim" pitchFamily="34" charset="-127"/>
              </a:rPr>
              <a:t>4</a:t>
            </a:r>
            <a:endParaRPr lang="ko-KR" altLang="en-US" sz="2400" dirty="0">
              <a:latin typeface="Tahoma" panose="020B0604030504040204" charset="0"/>
              <a:ea typeface="Gulim" pitchFamily="34" charset="-127"/>
            </a:endParaRPr>
          </a:p>
        </p:txBody>
      </p:sp>
      <p:sp>
        <p:nvSpPr>
          <p:cNvPr id="94275" name="Rectangle 162"/>
          <p:cNvSpPr/>
          <p:nvPr/>
        </p:nvSpPr>
        <p:spPr>
          <a:xfrm>
            <a:off x="223838" y="2475865"/>
            <a:ext cx="69850" cy="1016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/>
          <a:p>
            <a:r>
              <a:rPr lang="ko-KR" altLang="en-US" sz="600" dirty="0">
                <a:solidFill>
                  <a:srgbClr val="000000"/>
                </a:solidFill>
                <a:latin typeface="Arial" panose="020B0604020202020204" pitchFamily="34" charset="0"/>
                <a:ea typeface="Gulim" pitchFamily="34" charset="-127"/>
              </a:rPr>
              <a:t>5</a:t>
            </a:r>
            <a:endParaRPr lang="ko-KR" altLang="en-US" sz="2400" dirty="0">
              <a:latin typeface="Tahoma" panose="020B0604030504040204" charset="0"/>
              <a:ea typeface="Gulim" pitchFamily="34" charset="-127"/>
            </a:endParaRPr>
          </a:p>
        </p:txBody>
      </p:sp>
      <p:sp>
        <p:nvSpPr>
          <p:cNvPr id="94276" name="Rectangle 163"/>
          <p:cNvSpPr/>
          <p:nvPr/>
        </p:nvSpPr>
        <p:spPr>
          <a:xfrm>
            <a:off x="223838" y="2321878"/>
            <a:ext cx="69850" cy="1016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/>
          <a:p>
            <a:r>
              <a:rPr lang="ko-KR" altLang="en-US" sz="600" dirty="0">
                <a:solidFill>
                  <a:srgbClr val="000000"/>
                </a:solidFill>
                <a:latin typeface="Arial" panose="020B0604020202020204" pitchFamily="34" charset="0"/>
                <a:ea typeface="Gulim" pitchFamily="34" charset="-127"/>
              </a:rPr>
              <a:t>6</a:t>
            </a:r>
            <a:endParaRPr lang="ko-KR" altLang="en-US" sz="2400" dirty="0">
              <a:latin typeface="Tahoma" panose="020B0604030504040204" charset="0"/>
              <a:ea typeface="Gulim" pitchFamily="34" charset="-127"/>
            </a:endParaRPr>
          </a:p>
        </p:txBody>
      </p:sp>
      <p:sp>
        <p:nvSpPr>
          <p:cNvPr id="94277" name="Rectangle 164"/>
          <p:cNvSpPr/>
          <p:nvPr/>
        </p:nvSpPr>
        <p:spPr>
          <a:xfrm>
            <a:off x="223838" y="2159953"/>
            <a:ext cx="69850" cy="1016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/>
          <a:p>
            <a:r>
              <a:rPr lang="ko-KR" altLang="en-US" sz="600" dirty="0">
                <a:solidFill>
                  <a:srgbClr val="000000"/>
                </a:solidFill>
                <a:latin typeface="Arial" panose="020B0604020202020204" pitchFamily="34" charset="0"/>
                <a:ea typeface="Gulim" pitchFamily="34" charset="-127"/>
              </a:rPr>
              <a:t>7</a:t>
            </a:r>
            <a:endParaRPr lang="ko-KR" altLang="en-US" sz="2400" dirty="0">
              <a:latin typeface="Tahoma" panose="020B0604030504040204" charset="0"/>
              <a:ea typeface="Gulim" pitchFamily="34" charset="-127"/>
            </a:endParaRPr>
          </a:p>
        </p:txBody>
      </p:sp>
      <p:sp>
        <p:nvSpPr>
          <p:cNvPr id="94278" name="Rectangle 165"/>
          <p:cNvSpPr/>
          <p:nvPr/>
        </p:nvSpPr>
        <p:spPr>
          <a:xfrm>
            <a:off x="223838" y="1999615"/>
            <a:ext cx="69850" cy="1016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/>
          <a:p>
            <a:r>
              <a:rPr lang="ko-KR" altLang="en-US" sz="600" dirty="0">
                <a:solidFill>
                  <a:srgbClr val="000000"/>
                </a:solidFill>
                <a:latin typeface="Arial" panose="020B0604020202020204" pitchFamily="34" charset="0"/>
                <a:ea typeface="Gulim" pitchFamily="34" charset="-127"/>
              </a:rPr>
              <a:t>8</a:t>
            </a:r>
            <a:endParaRPr lang="ko-KR" altLang="en-US" sz="2400" dirty="0">
              <a:latin typeface="Tahoma" panose="020B0604030504040204" charset="0"/>
              <a:ea typeface="Gulim" pitchFamily="34" charset="-127"/>
            </a:endParaRPr>
          </a:p>
        </p:txBody>
      </p:sp>
      <p:sp>
        <p:nvSpPr>
          <p:cNvPr id="94279" name="Rectangle 166"/>
          <p:cNvSpPr/>
          <p:nvPr/>
        </p:nvSpPr>
        <p:spPr>
          <a:xfrm>
            <a:off x="223838" y="1837690"/>
            <a:ext cx="69850" cy="1016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/>
          <a:p>
            <a:r>
              <a:rPr lang="ko-KR" altLang="en-US" sz="600" dirty="0">
                <a:solidFill>
                  <a:srgbClr val="000000"/>
                </a:solidFill>
                <a:latin typeface="Arial" panose="020B0604020202020204" pitchFamily="34" charset="0"/>
                <a:ea typeface="Gulim" pitchFamily="34" charset="-127"/>
              </a:rPr>
              <a:t>9</a:t>
            </a:r>
            <a:endParaRPr lang="ko-KR" altLang="en-US" sz="2400" dirty="0">
              <a:latin typeface="Tahoma" panose="020B0604030504040204" charset="0"/>
              <a:ea typeface="Gulim" pitchFamily="34" charset="-127"/>
            </a:endParaRPr>
          </a:p>
        </p:txBody>
      </p:sp>
      <p:sp>
        <p:nvSpPr>
          <p:cNvPr id="94280" name="Rectangle 167"/>
          <p:cNvSpPr/>
          <p:nvPr/>
        </p:nvSpPr>
        <p:spPr>
          <a:xfrm>
            <a:off x="185738" y="1675765"/>
            <a:ext cx="115887" cy="1016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/>
          <a:p>
            <a:r>
              <a:rPr lang="ko-KR" altLang="en-US" sz="600" dirty="0">
                <a:solidFill>
                  <a:srgbClr val="000000"/>
                </a:solidFill>
                <a:latin typeface="Arial" panose="020B0604020202020204" pitchFamily="34" charset="0"/>
                <a:ea typeface="Gulim" pitchFamily="34" charset="-127"/>
              </a:rPr>
              <a:t>10</a:t>
            </a:r>
            <a:endParaRPr lang="ko-KR" altLang="en-US" sz="2400" dirty="0">
              <a:latin typeface="Tahoma" panose="020B0604030504040204" charset="0"/>
              <a:ea typeface="Gulim" pitchFamily="34" charset="-127"/>
            </a:endParaRPr>
          </a:p>
        </p:txBody>
      </p:sp>
      <p:sp>
        <p:nvSpPr>
          <p:cNvPr id="94281" name="Rectangle 168"/>
          <p:cNvSpPr/>
          <p:nvPr/>
        </p:nvSpPr>
        <p:spPr>
          <a:xfrm>
            <a:off x="295275" y="3390265"/>
            <a:ext cx="69850" cy="1016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/>
          <a:p>
            <a:r>
              <a:rPr lang="ko-KR" altLang="en-US" sz="600" dirty="0">
                <a:solidFill>
                  <a:srgbClr val="000000"/>
                </a:solidFill>
                <a:latin typeface="Arial" panose="020B0604020202020204" pitchFamily="34" charset="0"/>
                <a:ea typeface="Gulim" pitchFamily="34" charset="-127"/>
              </a:rPr>
              <a:t>0</a:t>
            </a:r>
            <a:endParaRPr lang="ko-KR" altLang="en-US" sz="2400" dirty="0">
              <a:latin typeface="Tahoma" panose="020B0604030504040204" charset="0"/>
              <a:ea typeface="Gulim" pitchFamily="34" charset="-127"/>
            </a:endParaRPr>
          </a:p>
        </p:txBody>
      </p:sp>
      <p:sp>
        <p:nvSpPr>
          <p:cNvPr id="94282" name="Rectangle 169"/>
          <p:cNvSpPr/>
          <p:nvPr/>
        </p:nvSpPr>
        <p:spPr>
          <a:xfrm>
            <a:off x="487363" y="3390265"/>
            <a:ext cx="69850" cy="1016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/>
          <a:p>
            <a:r>
              <a:rPr lang="ko-KR" altLang="en-US" sz="600" dirty="0">
                <a:solidFill>
                  <a:srgbClr val="000000"/>
                </a:solidFill>
                <a:latin typeface="Arial" panose="020B0604020202020204" pitchFamily="34" charset="0"/>
                <a:ea typeface="Gulim" pitchFamily="34" charset="-127"/>
              </a:rPr>
              <a:t>1</a:t>
            </a:r>
            <a:endParaRPr lang="ko-KR" altLang="en-US" sz="2400" dirty="0">
              <a:latin typeface="Tahoma" panose="020B0604030504040204" charset="0"/>
              <a:ea typeface="Gulim" pitchFamily="34" charset="-127"/>
            </a:endParaRPr>
          </a:p>
        </p:txBody>
      </p:sp>
      <p:sp>
        <p:nvSpPr>
          <p:cNvPr id="94283" name="Rectangle 170"/>
          <p:cNvSpPr/>
          <p:nvPr/>
        </p:nvSpPr>
        <p:spPr>
          <a:xfrm>
            <a:off x="673100" y="3390265"/>
            <a:ext cx="69850" cy="1016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/>
          <a:p>
            <a:r>
              <a:rPr lang="ko-KR" altLang="en-US" sz="600" dirty="0">
                <a:solidFill>
                  <a:srgbClr val="000000"/>
                </a:solidFill>
                <a:latin typeface="Arial" panose="020B0604020202020204" pitchFamily="34" charset="0"/>
                <a:ea typeface="Gulim" pitchFamily="34" charset="-127"/>
              </a:rPr>
              <a:t>2</a:t>
            </a:r>
            <a:endParaRPr lang="ko-KR" altLang="en-US" sz="2400" dirty="0">
              <a:latin typeface="Tahoma" panose="020B0604030504040204" charset="0"/>
              <a:ea typeface="Gulim" pitchFamily="34" charset="-127"/>
            </a:endParaRPr>
          </a:p>
        </p:txBody>
      </p:sp>
      <p:sp>
        <p:nvSpPr>
          <p:cNvPr id="94284" name="Rectangle 171"/>
          <p:cNvSpPr/>
          <p:nvPr/>
        </p:nvSpPr>
        <p:spPr>
          <a:xfrm>
            <a:off x="866775" y="3390265"/>
            <a:ext cx="69850" cy="1016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/>
          <a:p>
            <a:r>
              <a:rPr lang="ko-KR" altLang="en-US" sz="600" dirty="0">
                <a:solidFill>
                  <a:srgbClr val="000000"/>
                </a:solidFill>
                <a:latin typeface="Arial" panose="020B0604020202020204" pitchFamily="34" charset="0"/>
                <a:ea typeface="Gulim" pitchFamily="34" charset="-127"/>
              </a:rPr>
              <a:t>3</a:t>
            </a:r>
            <a:endParaRPr lang="ko-KR" altLang="en-US" sz="2400" dirty="0">
              <a:latin typeface="Tahoma" panose="020B0604030504040204" charset="0"/>
              <a:ea typeface="Gulim" pitchFamily="34" charset="-127"/>
            </a:endParaRPr>
          </a:p>
        </p:txBody>
      </p:sp>
      <p:sp>
        <p:nvSpPr>
          <p:cNvPr id="94285" name="Rectangle 172"/>
          <p:cNvSpPr/>
          <p:nvPr/>
        </p:nvSpPr>
        <p:spPr>
          <a:xfrm>
            <a:off x="1058863" y="3390265"/>
            <a:ext cx="69850" cy="1016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/>
          <a:p>
            <a:r>
              <a:rPr lang="ko-KR" altLang="en-US" sz="600" dirty="0">
                <a:solidFill>
                  <a:srgbClr val="000000"/>
                </a:solidFill>
                <a:latin typeface="Arial" panose="020B0604020202020204" pitchFamily="34" charset="0"/>
                <a:ea typeface="Gulim" pitchFamily="34" charset="-127"/>
              </a:rPr>
              <a:t>4</a:t>
            </a:r>
            <a:endParaRPr lang="ko-KR" altLang="en-US" sz="2400" dirty="0">
              <a:latin typeface="Tahoma" panose="020B0604030504040204" charset="0"/>
              <a:ea typeface="Gulim" pitchFamily="34" charset="-127"/>
            </a:endParaRPr>
          </a:p>
        </p:txBody>
      </p:sp>
      <p:sp>
        <p:nvSpPr>
          <p:cNvPr id="94286" name="Rectangle 173"/>
          <p:cNvSpPr/>
          <p:nvPr/>
        </p:nvSpPr>
        <p:spPr>
          <a:xfrm>
            <a:off x="1250950" y="3390265"/>
            <a:ext cx="69850" cy="1016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/>
          <a:p>
            <a:r>
              <a:rPr lang="ko-KR" altLang="en-US" sz="600" dirty="0">
                <a:solidFill>
                  <a:srgbClr val="000000"/>
                </a:solidFill>
                <a:latin typeface="Arial" panose="020B0604020202020204" pitchFamily="34" charset="0"/>
                <a:ea typeface="Gulim" pitchFamily="34" charset="-127"/>
              </a:rPr>
              <a:t>5</a:t>
            </a:r>
            <a:endParaRPr lang="ko-KR" altLang="en-US" sz="2400" dirty="0">
              <a:latin typeface="Tahoma" panose="020B0604030504040204" charset="0"/>
              <a:ea typeface="Gulim" pitchFamily="34" charset="-127"/>
            </a:endParaRPr>
          </a:p>
        </p:txBody>
      </p:sp>
      <p:sp>
        <p:nvSpPr>
          <p:cNvPr id="94287" name="Rectangle 174"/>
          <p:cNvSpPr/>
          <p:nvPr/>
        </p:nvSpPr>
        <p:spPr>
          <a:xfrm>
            <a:off x="1438275" y="3390265"/>
            <a:ext cx="69850" cy="1016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/>
          <a:p>
            <a:r>
              <a:rPr lang="ko-KR" altLang="en-US" sz="600" dirty="0">
                <a:solidFill>
                  <a:srgbClr val="000000"/>
                </a:solidFill>
                <a:latin typeface="Arial" panose="020B0604020202020204" pitchFamily="34" charset="0"/>
                <a:ea typeface="Gulim" pitchFamily="34" charset="-127"/>
              </a:rPr>
              <a:t>6</a:t>
            </a:r>
            <a:endParaRPr lang="ko-KR" altLang="en-US" sz="2400" dirty="0">
              <a:latin typeface="Tahoma" panose="020B0604030504040204" charset="0"/>
              <a:ea typeface="Gulim" pitchFamily="34" charset="-127"/>
            </a:endParaRPr>
          </a:p>
        </p:txBody>
      </p:sp>
      <p:sp>
        <p:nvSpPr>
          <p:cNvPr id="94288" name="Rectangle 175"/>
          <p:cNvSpPr/>
          <p:nvPr/>
        </p:nvSpPr>
        <p:spPr>
          <a:xfrm>
            <a:off x="1630363" y="3390265"/>
            <a:ext cx="69850" cy="1016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/>
          <a:p>
            <a:r>
              <a:rPr lang="ko-KR" altLang="en-US" sz="600" dirty="0">
                <a:solidFill>
                  <a:srgbClr val="000000"/>
                </a:solidFill>
                <a:latin typeface="Arial" panose="020B0604020202020204" pitchFamily="34" charset="0"/>
                <a:ea typeface="Gulim" pitchFamily="34" charset="-127"/>
              </a:rPr>
              <a:t>7</a:t>
            </a:r>
            <a:endParaRPr lang="ko-KR" altLang="en-US" sz="2400" dirty="0">
              <a:latin typeface="Tahoma" panose="020B0604030504040204" charset="0"/>
              <a:ea typeface="Gulim" pitchFamily="34" charset="-127"/>
            </a:endParaRPr>
          </a:p>
        </p:txBody>
      </p:sp>
      <p:sp>
        <p:nvSpPr>
          <p:cNvPr id="94289" name="Rectangle 176"/>
          <p:cNvSpPr/>
          <p:nvPr/>
        </p:nvSpPr>
        <p:spPr>
          <a:xfrm>
            <a:off x="1822450" y="3390265"/>
            <a:ext cx="69850" cy="1016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/>
          <a:p>
            <a:r>
              <a:rPr lang="ko-KR" altLang="en-US" sz="600" dirty="0">
                <a:solidFill>
                  <a:srgbClr val="000000"/>
                </a:solidFill>
                <a:latin typeface="Arial" panose="020B0604020202020204" pitchFamily="34" charset="0"/>
                <a:ea typeface="Gulim" pitchFamily="34" charset="-127"/>
              </a:rPr>
              <a:t>8</a:t>
            </a:r>
            <a:endParaRPr lang="ko-KR" altLang="en-US" sz="2400" dirty="0">
              <a:latin typeface="Tahoma" panose="020B0604030504040204" charset="0"/>
              <a:ea typeface="Gulim" pitchFamily="34" charset="-127"/>
            </a:endParaRPr>
          </a:p>
        </p:txBody>
      </p:sp>
      <p:sp>
        <p:nvSpPr>
          <p:cNvPr id="94290" name="Rectangle 177"/>
          <p:cNvSpPr/>
          <p:nvPr/>
        </p:nvSpPr>
        <p:spPr>
          <a:xfrm>
            <a:off x="2009775" y="3390265"/>
            <a:ext cx="69850" cy="1016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/>
          <a:p>
            <a:r>
              <a:rPr lang="ko-KR" altLang="en-US" sz="600" dirty="0">
                <a:solidFill>
                  <a:srgbClr val="000000"/>
                </a:solidFill>
                <a:latin typeface="Arial" panose="020B0604020202020204" pitchFamily="34" charset="0"/>
                <a:ea typeface="Gulim" pitchFamily="34" charset="-127"/>
              </a:rPr>
              <a:t>9</a:t>
            </a:r>
            <a:endParaRPr lang="ko-KR" altLang="en-US" sz="2400" dirty="0">
              <a:latin typeface="Tahoma" panose="020B0604030504040204" charset="0"/>
              <a:ea typeface="Gulim" pitchFamily="34" charset="-127"/>
            </a:endParaRPr>
          </a:p>
        </p:txBody>
      </p:sp>
      <p:sp>
        <p:nvSpPr>
          <p:cNvPr id="94291" name="Rectangle 178"/>
          <p:cNvSpPr/>
          <p:nvPr/>
        </p:nvSpPr>
        <p:spPr>
          <a:xfrm>
            <a:off x="2182813" y="3390265"/>
            <a:ext cx="115887" cy="1016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/>
          <a:p>
            <a:r>
              <a:rPr lang="ko-KR" altLang="en-US" sz="600" dirty="0">
                <a:solidFill>
                  <a:srgbClr val="000000"/>
                </a:solidFill>
                <a:latin typeface="Arial" panose="020B0604020202020204" pitchFamily="34" charset="0"/>
                <a:ea typeface="Gulim" pitchFamily="34" charset="-127"/>
              </a:rPr>
              <a:t>10</a:t>
            </a:r>
            <a:endParaRPr lang="ko-KR" altLang="en-US" sz="2400" dirty="0">
              <a:latin typeface="Tahoma" panose="020B0604030504040204" charset="0"/>
              <a:ea typeface="Gulim" pitchFamily="34" charset="-127"/>
            </a:endParaRPr>
          </a:p>
        </p:txBody>
      </p:sp>
      <p:sp>
        <p:nvSpPr>
          <p:cNvPr id="94292" name="Rectangle 179"/>
          <p:cNvSpPr/>
          <p:nvPr/>
        </p:nvSpPr>
        <p:spPr>
          <a:xfrm>
            <a:off x="101600" y="1582103"/>
            <a:ext cx="2222500" cy="1990725"/>
          </a:xfrm>
          <a:prstGeom prst="rect">
            <a:avLst/>
          </a:prstGeom>
          <a:noFill/>
          <a:ln w="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94293" name="Text Box 180"/>
          <p:cNvSpPr txBox="1"/>
          <p:nvPr/>
        </p:nvSpPr>
        <p:spPr>
          <a:xfrm>
            <a:off x="228600" y="4069715"/>
            <a:ext cx="1905000" cy="10493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ko-KR" sz="1400" dirty="0">
                <a:latin typeface="Tahoma" panose="020B0604030504040204" charset="0"/>
                <a:ea typeface="Gulim" pitchFamily="34" charset="-127"/>
              </a:rPr>
              <a:t>K=2</a:t>
            </a:r>
          </a:p>
          <a:p>
            <a:pPr>
              <a:spcBef>
                <a:spcPct val="50000"/>
              </a:spcBef>
            </a:pPr>
            <a:r>
              <a:rPr lang="en-US" altLang="ko-KR" sz="1400" dirty="0">
                <a:latin typeface="Tahoma" panose="020B0604030504040204" charset="0"/>
                <a:ea typeface="Gulim" pitchFamily="34" charset="-127"/>
              </a:rPr>
              <a:t>Arbitrarily choose K object as initial cluster center</a:t>
            </a:r>
          </a:p>
        </p:txBody>
      </p:sp>
      <p:sp>
        <p:nvSpPr>
          <p:cNvPr id="94294" name="Line 181"/>
          <p:cNvSpPr/>
          <p:nvPr/>
        </p:nvSpPr>
        <p:spPr>
          <a:xfrm flipV="1">
            <a:off x="1066800" y="3764915"/>
            <a:ext cx="0" cy="5334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triangle" w="med" len="med"/>
          </a:ln>
        </p:spPr>
      </p:sp>
      <p:sp>
        <p:nvSpPr>
          <p:cNvPr id="94295" name="Line 182"/>
          <p:cNvSpPr/>
          <p:nvPr/>
        </p:nvSpPr>
        <p:spPr>
          <a:xfrm>
            <a:off x="2438400" y="2393315"/>
            <a:ext cx="6858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triangle" w="med" len="med"/>
          </a:ln>
        </p:spPr>
      </p:sp>
      <p:sp>
        <p:nvSpPr>
          <p:cNvPr id="94296" name="Text Box 183"/>
          <p:cNvSpPr txBox="1"/>
          <p:nvPr/>
        </p:nvSpPr>
        <p:spPr>
          <a:xfrm>
            <a:off x="2362200" y="2621915"/>
            <a:ext cx="838200" cy="13684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ko-KR" sz="1400" dirty="0">
                <a:latin typeface="Tahoma" panose="020B0604030504040204" charset="0"/>
                <a:ea typeface="Gulim" pitchFamily="34" charset="-127"/>
              </a:rPr>
              <a:t>Assign each objects to most similar center</a:t>
            </a:r>
          </a:p>
        </p:txBody>
      </p:sp>
      <p:sp>
        <p:nvSpPr>
          <p:cNvPr id="94297" name="Text Box 184"/>
          <p:cNvSpPr txBox="1"/>
          <p:nvPr/>
        </p:nvSpPr>
        <p:spPr>
          <a:xfrm>
            <a:off x="5638800" y="2545715"/>
            <a:ext cx="838200" cy="9429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ko-KR" sz="1400" dirty="0">
                <a:latin typeface="Tahoma" panose="020B0604030504040204" charset="0"/>
                <a:ea typeface="Gulim" pitchFamily="34" charset="-127"/>
              </a:rPr>
              <a:t>Update the cluster means</a:t>
            </a:r>
          </a:p>
        </p:txBody>
      </p:sp>
      <p:sp>
        <p:nvSpPr>
          <p:cNvPr id="94298" name="Freeform 185"/>
          <p:cNvSpPr/>
          <p:nvPr/>
        </p:nvSpPr>
        <p:spPr>
          <a:xfrm>
            <a:off x="838200" y="2634615"/>
            <a:ext cx="88900" cy="95250"/>
          </a:xfrm>
          <a:custGeom>
            <a:avLst/>
            <a:gdLst>
              <a:gd name="txL" fmla="*/ 0 w 56"/>
              <a:gd name="txT" fmla="*/ 0 h 60"/>
              <a:gd name="txR" fmla="*/ 56 w 56"/>
              <a:gd name="txB" fmla="*/ 60 h 60"/>
            </a:gdLst>
            <a:ahLst/>
            <a:cxnLst>
              <a:cxn ang="0">
                <a:pos x="2147483647" y="0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0" y="2147483647"/>
              </a:cxn>
              <a:cxn ang="0">
                <a:pos x="2147483647" y="0"/>
              </a:cxn>
            </a:cxnLst>
            <a:rect l="txL" t="txT" r="txR" b="txB"/>
            <a:pathLst>
              <a:path w="56" h="60">
                <a:moveTo>
                  <a:pt x="28" y="0"/>
                </a:moveTo>
                <a:lnTo>
                  <a:pt x="56" y="30"/>
                </a:lnTo>
                <a:lnTo>
                  <a:pt x="28" y="60"/>
                </a:lnTo>
                <a:lnTo>
                  <a:pt x="0" y="30"/>
                </a:lnTo>
                <a:lnTo>
                  <a:pt x="28" y="0"/>
                </a:lnTo>
                <a:close/>
              </a:path>
            </a:pathLst>
          </a:custGeom>
          <a:solidFill>
            <a:srgbClr val="00FFFF">
              <a:alpha val="100000"/>
            </a:srgbClr>
          </a:solidFill>
          <a:ln w="6350" cap="flat" cmpd="sng">
            <a:solidFill>
              <a:srgbClr val="00008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4299" name="Freeform 186"/>
          <p:cNvSpPr/>
          <p:nvPr/>
        </p:nvSpPr>
        <p:spPr>
          <a:xfrm>
            <a:off x="1600200" y="2469515"/>
            <a:ext cx="88900" cy="93663"/>
          </a:xfrm>
          <a:custGeom>
            <a:avLst/>
            <a:gdLst>
              <a:gd name="txL" fmla="*/ 0 w 56"/>
              <a:gd name="txT" fmla="*/ 0 h 59"/>
              <a:gd name="txR" fmla="*/ 56 w 56"/>
              <a:gd name="txB" fmla="*/ 59 h 59"/>
            </a:gdLst>
            <a:ahLst/>
            <a:cxnLst>
              <a:cxn ang="0">
                <a:pos x="2147483647" y="0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0" y="2147483647"/>
              </a:cxn>
              <a:cxn ang="0">
                <a:pos x="2147483647" y="0"/>
              </a:cxn>
            </a:cxnLst>
            <a:rect l="txL" t="txT" r="txR" b="txB"/>
            <a:pathLst>
              <a:path w="56" h="59">
                <a:moveTo>
                  <a:pt x="28" y="0"/>
                </a:moveTo>
                <a:lnTo>
                  <a:pt x="56" y="29"/>
                </a:lnTo>
                <a:lnTo>
                  <a:pt x="28" y="59"/>
                </a:lnTo>
                <a:lnTo>
                  <a:pt x="0" y="29"/>
                </a:lnTo>
                <a:lnTo>
                  <a:pt x="28" y="0"/>
                </a:lnTo>
                <a:close/>
              </a:path>
            </a:pathLst>
          </a:custGeom>
          <a:solidFill>
            <a:srgbClr val="000080">
              <a:alpha val="100000"/>
            </a:srgbClr>
          </a:solidFill>
          <a:ln w="6350" cap="flat" cmpd="sng">
            <a:solidFill>
              <a:srgbClr val="00008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4300" name="Oval 187"/>
          <p:cNvSpPr/>
          <p:nvPr/>
        </p:nvSpPr>
        <p:spPr>
          <a:xfrm>
            <a:off x="457200" y="2763203"/>
            <a:ext cx="84138" cy="87312"/>
          </a:xfrm>
          <a:prstGeom prst="ellipse">
            <a:avLst/>
          </a:prstGeom>
          <a:solidFill>
            <a:srgbClr val="FF0000"/>
          </a:solidFill>
          <a:ln w="635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94301" name="Oval 188"/>
          <p:cNvSpPr/>
          <p:nvPr/>
        </p:nvSpPr>
        <p:spPr>
          <a:xfrm>
            <a:off x="1973263" y="2610803"/>
            <a:ext cx="84137" cy="87312"/>
          </a:xfrm>
          <a:prstGeom prst="ellipse">
            <a:avLst/>
          </a:prstGeom>
          <a:solidFill>
            <a:srgbClr val="FF0000"/>
          </a:solidFill>
          <a:ln w="635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94302" name="Text Box 189"/>
          <p:cNvSpPr txBox="1"/>
          <p:nvPr/>
        </p:nvSpPr>
        <p:spPr>
          <a:xfrm>
            <a:off x="5638800" y="4831715"/>
            <a:ext cx="838200" cy="9429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ko-KR" sz="1400" dirty="0">
                <a:latin typeface="Tahoma" panose="020B0604030504040204" charset="0"/>
                <a:ea typeface="Gulim" pitchFamily="34" charset="-127"/>
              </a:rPr>
              <a:t>Update the cluster means</a:t>
            </a:r>
          </a:p>
        </p:txBody>
      </p:sp>
      <p:sp>
        <p:nvSpPr>
          <p:cNvPr id="94303" name="Text Box 190"/>
          <p:cNvSpPr txBox="1"/>
          <p:nvPr/>
        </p:nvSpPr>
        <p:spPr>
          <a:xfrm>
            <a:off x="7848600" y="3612515"/>
            <a:ext cx="990600" cy="3048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ko-KR" sz="1400" dirty="0">
                <a:latin typeface="Tahoma" panose="020B0604030504040204" charset="0"/>
                <a:ea typeface="Gulim" pitchFamily="34" charset="-127"/>
              </a:rPr>
              <a:t>reassign</a:t>
            </a:r>
          </a:p>
        </p:txBody>
      </p:sp>
      <p:sp>
        <p:nvSpPr>
          <p:cNvPr id="94304" name="Line 191"/>
          <p:cNvSpPr/>
          <p:nvPr/>
        </p:nvSpPr>
        <p:spPr>
          <a:xfrm flipV="1">
            <a:off x="4267200" y="3612515"/>
            <a:ext cx="0" cy="2286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triangle" w="med" len="med"/>
          </a:ln>
        </p:spPr>
      </p:sp>
      <p:sp>
        <p:nvSpPr>
          <p:cNvPr id="94305" name="Text Box 192"/>
          <p:cNvSpPr txBox="1"/>
          <p:nvPr/>
        </p:nvSpPr>
        <p:spPr>
          <a:xfrm>
            <a:off x="4419600" y="3612515"/>
            <a:ext cx="990600" cy="3048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ko-KR" sz="1400" dirty="0">
                <a:latin typeface="Tahoma" panose="020B0604030504040204" charset="0"/>
                <a:ea typeface="Gulim" pitchFamily="34" charset="-127"/>
              </a:rPr>
              <a:t>reassign</a:t>
            </a:r>
          </a:p>
        </p:txBody>
      </p:sp>
      <p:sp>
        <p:nvSpPr>
          <p:cNvPr id="94306" name="Rectangle 3"/>
          <p:cNvSpPr txBox="1">
            <a:spLocks noRot="1"/>
          </p:cNvSpPr>
          <p:nvPr/>
        </p:nvSpPr>
        <p:spPr>
          <a:xfrm>
            <a:off x="250825" y="5087303"/>
            <a:ext cx="8153400" cy="115252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42900" indent="-342900">
              <a:buChar char="l"/>
            </a:pPr>
            <a:r>
              <a:rPr lang="zh-CN" altLang="en-US" sz="2400" b="1" dirty="0">
                <a:solidFill>
                  <a:srgbClr val="030301"/>
                </a:solidFill>
                <a:latin typeface="Arial" panose="020B0604020202020204" pitchFamily="34" charset="0"/>
              </a:rPr>
              <a:t>初值敏感</a:t>
            </a:r>
          </a:p>
          <a:p>
            <a:pPr marL="342900" indent="-342900">
              <a:buChar char="l"/>
            </a:pPr>
            <a:r>
              <a:rPr lang="zh-CN" altLang="en-US" sz="2400" b="1" dirty="0">
                <a:solidFill>
                  <a:srgbClr val="030301"/>
                </a:solidFill>
                <a:latin typeface="Arial" panose="020B0604020202020204" pitchFamily="34" charset="0"/>
              </a:rPr>
              <a:t>已知</a:t>
            </a:r>
            <a:r>
              <a:rPr lang="en-US" altLang="zh-CN" sz="2400" b="1" dirty="0">
                <a:solidFill>
                  <a:srgbClr val="030301"/>
                </a:solidFill>
                <a:latin typeface="Arial" panose="020B0604020202020204" pitchFamily="34" charset="0"/>
              </a:rPr>
              <a:t>K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advClick="0"/>
    </mc:Choice>
    <mc:Fallback xmlns="">
      <p:transition advClick="0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内容占位符 2"/>
          <p:cNvSpPr>
            <a:spLocks noGrp="1"/>
          </p:cNvSpPr>
          <p:nvPr>
            <p:ph idx="1"/>
          </p:nvPr>
        </p:nvSpPr>
        <p:spPr>
          <a:xfrm>
            <a:off x="628650" y="1210310"/>
            <a:ext cx="7886700" cy="4966970"/>
          </a:xfrm>
        </p:spPr>
        <p:txBody>
          <a:bodyPr vert="horz" wrap="square" lIns="91440" tIns="45720" rIns="91440" bIns="45720" anchor="t">
            <a:noAutofit/>
          </a:bodyPr>
          <a:lstStyle/>
          <a:p>
            <a:pPr>
              <a:buNone/>
            </a:pPr>
            <a:r>
              <a:rPr lang="zh-CN" altLang="en-US" sz="2000" dirty="0"/>
              <a:t>例</a:t>
            </a:r>
            <a:r>
              <a:rPr lang="en-US" altLang="zh-CN" sz="2000" dirty="0"/>
              <a:t>:</a:t>
            </a:r>
            <a:r>
              <a:rPr lang="zh-CN" altLang="en-US" sz="2000" dirty="0"/>
              <a:t>假设给定如下要进行聚类的元组</a:t>
            </a:r>
            <a:r>
              <a:rPr lang="en-US" altLang="zh-CN" sz="2000" dirty="0"/>
              <a:t>:</a:t>
            </a:r>
            <a:endParaRPr lang="zh-CN" altLang="en-US" sz="2000" dirty="0"/>
          </a:p>
          <a:p>
            <a:pPr>
              <a:buNone/>
            </a:pPr>
            <a:r>
              <a:rPr lang="en-US" altLang="zh-CN" sz="2000" dirty="0"/>
              <a:t>{2</a:t>
            </a:r>
            <a:r>
              <a:rPr lang="zh-CN" altLang="en-US" sz="2000" dirty="0"/>
              <a:t>，</a:t>
            </a:r>
            <a:r>
              <a:rPr lang="en-US" altLang="zh-CN" sz="2000" dirty="0"/>
              <a:t>4</a:t>
            </a:r>
            <a:r>
              <a:rPr lang="zh-CN" altLang="en-US" sz="2000" dirty="0"/>
              <a:t>，</a:t>
            </a:r>
            <a:r>
              <a:rPr lang="en-US" altLang="zh-CN" sz="2000" dirty="0"/>
              <a:t>10</a:t>
            </a:r>
            <a:r>
              <a:rPr lang="zh-CN" altLang="en-US" sz="2000" dirty="0"/>
              <a:t>，</a:t>
            </a:r>
            <a:r>
              <a:rPr lang="en-US" altLang="zh-CN" sz="2000" dirty="0"/>
              <a:t>12</a:t>
            </a:r>
            <a:r>
              <a:rPr lang="zh-CN" altLang="en-US" sz="2000" dirty="0"/>
              <a:t>，</a:t>
            </a:r>
            <a:r>
              <a:rPr lang="en-US" altLang="zh-CN" sz="2000" dirty="0"/>
              <a:t>3</a:t>
            </a:r>
            <a:r>
              <a:rPr lang="zh-CN" altLang="en-US" sz="2000" dirty="0"/>
              <a:t>，</a:t>
            </a:r>
            <a:r>
              <a:rPr lang="en-US" altLang="zh-CN" sz="2000" dirty="0"/>
              <a:t>20</a:t>
            </a:r>
            <a:r>
              <a:rPr lang="zh-CN" altLang="en-US" sz="2000" dirty="0"/>
              <a:t>，</a:t>
            </a:r>
            <a:r>
              <a:rPr lang="en-US" altLang="zh-CN" sz="2000" dirty="0"/>
              <a:t>30</a:t>
            </a:r>
            <a:r>
              <a:rPr lang="zh-CN" altLang="en-US" sz="2000" dirty="0"/>
              <a:t>，</a:t>
            </a:r>
            <a:r>
              <a:rPr lang="en-US" altLang="zh-CN" sz="2000" dirty="0"/>
              <a:t>11</a:t>
            </a:r>
            <a:r>
              <a:rPr lang="zh-CN" altLang="en-US" sz="2000" dirty="0"/>
              <a:t>，</a:t>
            </a:r>
            <a:r>
              <a:rPr lang="en-US" altLang="zh-CN" sz="2000" dirty="0"/>
              <a:t>25}</a:t>
            </a:r>
            <a:endParaRPr lang="zh-CN" altLang="en-US" sz="2000" dirty="0"/>
          </a:p>
          <a:p>
            <a:pPr>
              <a:buNone/>
            </a:pPr>
            <a:r>
              <a:rPr lang="zh-CN" altLang="en-US" sz="2000" dirty="0"/>
              <a:t>假设要求的类的数量为</a:t>
            </a:r>
            <a:r>
              <a:rPr lang="en-US" altLang="zh-CN" sz="2000" dirty="0"/>
              <a:t>k=2</a:t>
            </a:r>
            <a:r>
              <a:rPr lang="zh-CN" altLang="en-US" sz="2000" dirty="0"/>
              <a:t>。</a:t>
            </a:r>
          </a:p>
          <a:p>
            <a:pPr>
              <a:buNone/>
            </a:pPr>
            <a:r>
              <a:rPr lang="zh-CN" altLang="en-US" sz="2000" dirty="0"/>
              <a:t>应用</a:t>
            </a:r>
            <a:r>
              <a:rPr lang="en-US" altLang="zh-CN" sz="2000" dirty="0"/>
              <a:t>K-means</a:t>
            </a:r>
            <a:r>
              <a:rPr lang="zh-CN" altLang="en-US" sz="2000" dirty="0"/>
              <a:t>算法</a:t>
            </a:r>
            <a:r>
              <a:rPr lang="en-US" altLang="zh-CN" sz="2000" dirty="0"/>
              <a:t>:</a:t>
            </a:r>
            <a:endParaRPr lang="zh-CN" altLang="en-US" sz="2000" dirty="0"/>
          </a:p>
          <a:p>
            <a:pPr>
              <a:buNone/>
            </a:pPr>
            <a:endParaRPr lang="zh-CN" altLang="en-US" sz="2000" dirty="0"/>
          </a:p>
          <a:p>
            <a:pPr>
              <a:buNone/>
            </a:pPr>
            <a:r>
              <a:rPr lang="zh-CN" altLang="en-US" sz="2000" dirty="0"/>
              <a:t>第一步</a:t>
            </a:r>
            <a:r>
              <a:rPr lang="en-US" altLang="zh-CN" sz="2000" dirty="0"/>
              <a:t>:</a:t>
            </a:r>
            <a:r>
              <a:rPr lang="zh-CN" altLang="en-US" sz="2000" dirty="0"/>
              <a:t>初始时用前两个数值作为类的质心，这两个类的质心是</a:t>
            </a:r>
            <a:r>
              <a:rPr lang="en-US" altLang="zh-CN" sz="2000" dirty="0"/>
              <a:t>:ml=2;m2=4;</a:t>
            </a:r>
            <a:endParaRPr lang="zh-CN" altLang="en-US" sz="2000" dirty="0"/>
          </a:p>
          <a:p>
            <a:pPr>
              <a:buNone/>
            </a:pPr>
            <a:r>
              <a:rPr lang="zh-CN" altLang="en-US" sz="2000" dirty="0"/>
              <a:t>第二步</a:t>
            </a:r>
            <a:r>
              <a:rPr lang="en-US" altLang="zh-CN" sz="2000" dirty="0"/>
              <a:t>:</a:t>
            </a:r>
            <a:r>
              <a:rPr lang="zh-CN" altLang="en-US" sz="2000" dirty="0"/>
              <a:t>对剩余的每个对象，根据其与各个类中心的距离，将它赋给最近的类，可得</a:t>
            </a:r>
            <a:r>
              <a:rPr lang="en-US" altLang="zh-CN" sz="2000" dirty="0"/>
              <a:t>:</a:t>
            </a:r>
            <a:endParaRPr lang="zh-CN" altLang="en-US" sz="2000" dirty="0"/>
          </a:p>
          <a:p>
            <a:pPr>
              <a:buNone/>
            </a:pPr>
            <a:r>
              <a:rPr lang="en-US" altLang="zh-CN" sz="2000" dirty="0"/>
              <a:t>K1=(2</a:t>
            </a:r>
            <a:r>
              <a:rPr lang="zh-CN" altLang="en-US" sz="2000" dirty="0"/>
              <a:t>，</a:t>
            </a:r>
            <a:r>
              <a:rPr lang="en-US" altLang="zh-CN" sz="2000" dirty="0"/>
              <a:t>3}:</a:t>
            </a:r>
            <a:endParaRPr lang="zh-CN" altLang="en-US" sz="2000" dirty="0"/>
          </a:p>
          <a:p>
            <a:pPr>
              <a:buNone/>
            </a:pPr>
            <a:r>
              <a:rPr lang="en-US" altLang="zh-CN" sz="2000" dirty="0"/>
              <a:t>K2={4</a:t>
            </a:r>
            <a:r>
              <a:rPr lang="en-US" altLang="en-US" sz="2000" dirty="0"/>
              <a:t>，</a:t>
            </a:r>
            <a:r>
              <a:rPr lang="en-US" altLang="zh-CN" sz="2000" dirty="0"/>
              <a:t>10</a:t>
            </a:r>
            <a:r>
              <a:rPr lang="en-US" altLang="en-US" sz="2000" dirty="0"/>
              <a:t>，</a:t>
            </a:r>
            <a:r>
              <a:rPr lang="en-US" altLang="zh-CN" sz="2000" dirty="0"/>
              <a:t>12</a:t>
            </a:r>
            <a:r>
              <a:rPr lang="en-US" altLang="en-US" sz="2000" dirty="0"/>
              <a:t>，</a:t>
            </a:r>
            <a:r>
              <a:rPr lang="en-US" altLang="zh-CN" sz="2000" dirty="0"/>
              <a:t>20</a:t>
            </a:r>
            <a:r>
              <a:rPr lang="en-US" altLang="en-US" sz="2000" dirty="0"/>
              <a:t>，</a:t>
            </a:r>
            <a:r>
              <a:rPr lang="en-US" altLang="zh-CN" sz="2000" dirty="0"/>
              <a:t>30</a:t>
            </a:r>
            <a:r>
              <a:rPr lang="en-US" altLang="en-US" sz="2000" dirty="0"/>
              <a:t>，</a:t>
            </a:r>
            <a:r>
              <a:rPr lang="en-US" altLang="zh-CN" sz="2000" dirty="0"/>
              <a:t>11</a:t>
            </a:r>
            <a:r>
              <a:rPr lang="en-US" altLang="en-US" sz="2000" dirty="0"/>
              <a:t>，</a:t>
            </a:r>
            <a:r>
              <a:rPr lang="en-US" altLang="zh-CN" sz="2000" dirty="0"/>
              <a:t>25}:</a:t>
            </a:r>
            <a:endParaRPr lang="zh-CN" altLang="en-US" sz="2000" dirty="0"/>
          </a:p>
          <a:p>
            <a:pPr>
              <a:buNone/>
            </a:pPr>
            <a:r>
              <a:rPr lang="zh-CN" altLang="en-US" sz="2000" dirty="0"/>
              <a:t>元素</a:t>
            </a:r>
            <a:r>
              <a:rPr lang="en-US" altLang="zh-CN" sz="2000" dirty="0"/>
              <a:t>3</a:t>
            </a:r>
            <a:r>
              <a:rPr lang="zh-CN" altLang="en-US" sz="2000" dirty="0"/>
              <a:t>与两个均值的距离相等，所以选择二者之一作为其所属的类。</a:t>
            </a:r>
          </a:p>
          <a:p>
            <a:pPr>
              <a:buNone/>
            </a:pPr>
            <a:r>
              <a:rPr lang="zh-CN" altLang="en-US" sz="2000" dirty="0"/>
              <a:t>第三步</a:t>
            </a:r>
            <a:r>
              <a:rPr lang="en-US" altLang="zh-CN" sz="2000" dirty="0"/>
              <a:t>:</a:t>
            </a:r>
            <a:r>
              <a:rPr lang="zh-CN" altLang="en-US" sz="2000" dirty="0"/>
              <a:t>计算新的质心</a:t>
            </a:r>
            <a:r>
              <a:rPr lang="en-US" altLang="zh-CN" sz="2000" dirty="0"/>
              <a:t>:</a:t>
            </a:r>
            <a:endParaRPr lang="zh-CN" altLang="en-US" sz="2000" dirty="0"/>
          </a:p>
          <a:p>
            <a:pPr>
              <a:buNone/>
            </a:pPr>
            <a:r>
              <a:rPr lang="en-US" altLang="zh-CN" sz="2000" dirty="0"/>
              <a:t>ml=(2+3)/2=2.5;</a:t>
            </a:r>
            <a:endParaRPr lang="zh-CN" altLang="en-US" sz="2000" dirty="0"/>
          </a:p>
          <a:p>
            <a:pPr>
              <a:buNone/>
            </a:pPr>
            <a:r>
              <a:rPr lang="en-US" altLang="zh-CN" sz="2000" dirty="0"/>
              <a:t>m2=(4+10+12+20+30+11+25)/7=16;</a:t>
            </a:r>
            <a:endParaRPr lang="zh-CN" altLang="en-US" sz="2000" dirty="0"/>
          </a:p>
          <a:p>
            <a:pPr>
              <a:buNone/>
            </a:pPr>
            <a:endParaRPr lang="zh-CN" altLang="en-US" sz="2000" dirty="0"/>
          </a:p>
        </p:txBody>
      </p:sp>
      <p:sp>
        <p:nvSpPr>
          <p:cNvPr id="95235" name="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None/>
              <a:defRPr sz="2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None/>
              <a:defRPr sz="2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None/>
              <a:defRPr sz="2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None/>
              <a:defRPr sz="2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None/>
              <a:defRPr sz="2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spcBef>
                <a:spcPct val="0"/>
              </a:spcBef>
              <a:buClrTx/>
              <a:buFontTx/>
            </a:pPr>
            <a:fld id="{9A0DB2DC-4C9A-4742-B13C-FB6460FD3503}" type="slidenum">
              <a:rPr lang="en-US" altLang="zh-CN" sz="1400" dirty="0"/>
              <a:t>35</a:t>
            </a:fld>
            <a:endParaRPr lang="en-US" altLang="zh-CN" sz="1400" dirty="0"/>
          </a:p>
        </p:txBody>
      </p:sp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>
          <a:xfrm>
            <a:off x="413385" y="-89535"/>
            <a:ext cx="7886700" cy="1325563"/>
          </a:xfrm>
        </p:spPr>
        <p:txBody>
          <a:bodyPr vert="horz" wrap="square" lIns="91440" tIns="45720" rIns="91440" bIns="45720" numCol="1" anchor="ctr" anchorCtr="0" compatLnSpc="1"/>
          <a:lstStyle/>
          <a:p>
            <a:r>
              <a:rPr lang="en-US" altLang="zh-CN" dirty="0">
                <a:effectLst>
                  <a:outerShdw blurRad="38100" dist="38100" dir="2700000">
                    <a:srgbClr val="000000"/>
                  </a:outerShdw>
                </a:effectLst>
                <a:latin typeface="楷体_GB2312" pitchFamily="49" charset="-122"/>
              </a:rPr>
              <a:t>K-</a:t>
            </a:r>
            <a:r>
              <a:rPr lang="zh-CN" altLang="en-US" dirty="0">
                <a:effectLst>
                  <a:outerShdw blurRad="38100" dist="38100" dir="2700000">
                    <a:srgbClr val="000000"/>
                  </a:outerShdw>
                </a:effectLst>
                <a:latin typeface="楷体_GB2312" pitchFamily="49" charset="-122"/>
              </a:rPr>
              <a:t>均值算法</a:t>
            </a:r>
            <a:r>
              <a:rPr lang="ko-KR" altLang="en-US" sz="3600" dirty="0">
                <a:effectLst>
                  <a:outerShdw blurRad="38100" dist="38100" dir="2700000">
                    <a:srgbClr val="000000"/>
                  </a:outerShdw>
                </a:effectLst>
                <a:latin typeface="楷体_GB2312" pitchFamily="49" charset="-122"/>
              </a:rPr>
              <a:t> </a:t>
            </a:r>
            <a:endParaRPr lang="ko-KR" altLang="en-US" sz="4000" dirty="0">
              <a:effectLst>
                <a:outerShdw blurRad="38100" dist="38100" dir="2700000">
                  <a:srgbClr val="000000"/>
                </a:outerShdw>
              </a:effectLst>
              <a:latin typeface="楷体_GB2312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内容占位符 2"/>
          <p:cNvSpPr>
            <a:spLocks noGrp="1"/>
          </p:cNvSpPr>
          <p:nvPr>
            <p:ph idx="1"/>
          </p:nvPr>
        </p:nvSpPr>
        <p:spPr>
          <a:xfrm>
            <a:off x="628650" y="2348231"/>
            <a:ext cx="7886700" cy="4474845"/>
          </a:xfrm>
        </p:spPr>
        <p:txBody>
          <a:bodyPr vert="horz" wrap="square" lIns="91440" tIns="45720" rIns="91440" bIns="45720" anchor="t"/>
          <a:lstStyle/>
          <a:p>
            <a:pPr>
              <a:buNone/>
            </a:pPr>
            <a:r>
              <a:rPr lang="en-US" altLang="zh-CN" sz="2000" dirty="0"/>
              <a:t>    </a:t>
            </a:r>
            <a:r>
              <a:rPr lang="zh-CN" altLang="en-US" sz="2000" dirty="0"/>
              <a:t>重新对类中的成员进行分配可得</a:t>
            </a:r>
            <a:r>
              <a:rPr lang="en-US" altLang="zh-CN" sz="2000" dirty="0"/>
              <a:t>K</a:t>
            </a:r>
            <a:r>
              <a:rPr lang="en-US" altLang="zh-CN" sz="2000" baseline="-25000" dirty="0"/>
              <a:t>1</a:t>
            </a:r>
            <a:r>
              <a:rPr lang="en-US" altLang="zh-CN" sz="2000" dirty="0"/>
              <a:t>={2</a:t>
            </a:r>
            <a:r>
              <a:rPr lang="en-US" altLang="en-US" sz="2000" dirty="0"/>
              <a:t>，</a:t>
            </a:r>
            <a:r>
              <a:rPr lang="en-US" altLang="zh-CN" sz="2000" dirty="0"/>
              <a:t>3</a:t>
            </a:r>
            <a:r>
              <a:rPr lang="en-US" altLang="en-US" sz="2000" dirty="0"/>
              <a:t>，</a:t>
            </a:r>
            <a:r>
              <a:rPr lang="en-US" altLang="zh-CN" sz="2000" dirty="0"/>
              <a:t>4}</a:t>
            </a:r>
            <a:r>
              <a:rPr lang="zh-CN" altLang="en-US" sz="2000" dirty="0"/>
              <a:t>和</a:t>
            </a:r>
            <a:r>
              <a:rPr lang="en-US" altLang="zh-CN" sz="2000" dirty="0"/>
              <a:t>K</a:t>
            </a:r>
            <a:r>
              <a:rPr lang="en-US" altLang="zh-CN" sz="2000" baseline="-25000" dirty="0"/>
              <a:t>2</a:t>
            </a:r>
            <a:r>
              <a:rPr lang="en-US" altLang="zh-CN" sz="2000" dirty="0"/>
              <a:t>={10</a:t>
            </a:r>
            <a:r>
              <a:rPr lang="en-US" altLang="en-US" sz="2000" dirty="0"/>
              <a:t>，</a:t>
            </a:r>
            <a:r>
              <a:rPr lang="en-US" altLang="zh-CN" sz="2000" dirty="0"/>
              <a:t>12</a:t>
            </a:r>
            <a:r>
              <a:rPr lang="en-US" altLang="en-US" sz="2000" dirty="0"/>
              <a:t>，</a:t>
            </a:r>
            <a:r>
              <a:rPr lang="en-US" altLang="zh-CN" sz="2000" dirty="0"/>
              <a:t>20</a:t>
            </a:r>
            <a:r>
              <a:rPr lang="en-US" altLang="en-US" sz="2000" dirty="0"/>
              <a:t>，</a:t>
            </a:r>
            <a:endParaRPr lang="en-US" altLang="zh-CN" sz="2000" dirty="0"/>
          </a:p>
          <a:p>
            <a:pPr>
              <a:buNone/>
            </a:pPr>
            <a:r>
              <a:rPr lang="en-US" altLang="zh-CN" sz="2000" dirty="0"/>
              <a:t>      30</a:t>
            </a:r>
            <a:r>
              <a:rPr lang="en-US" altLang="en-US" sz="2000" dirty="0"/>
              <a:t>，</a:t>
            </a:r>
            <a:r>
              <a:rPr lang="en-US" altLang="zh-CN" sz="2000" dirty="0"/>
              <a:t>11</a:t>
            </a:r>
            <a:r>
              <a:rPr lang="en-US" altLang="en-US" sz="2000" dirty="0"/>
              <a:t>，</a:t>
            </a:r>
            <a:r>
              <a:rPr lang="en-US" altLang="zh-CN" sz="2000" dirty="0"/>
              <a:t>25}</a:t>
            </a:r>
            <a:r>
              <a:rPr lang="zh-CN" altLang="en-US" sz="2000" dirty="0"/>
              <a:t>，不断重复这个过程可得</a:t>
            </a:r>
            <a:r>
              <a:rPr lang="en-US" altLang="zh-CN" sz="2000" dirty="0"/>
              <a:t>:</a:t>
            </a:r>
            <a:endParaRPr lang="zh-CN" altLang="en-US" sz="2000" dirty="0"/>
          </a:p>
          <a:p>
            <a:pPr>
              <a:buNone/>
            </a:pPr>
            <a:endParaRPr lang="en-US" altLang="zh-CN" sz="2000" dirty="0"/>
          </a:p>
          <a:p>
            <a:pPr>
              <a:buNone/>
            </a:pPr>
            <a:endParaRPr lang="en-US" altLang="zh-CN" sz="2000" dirty="0"/>
          </a:p>
          <a:p>
            <a:pPr>
              <a:buNone/>
            </a:pPr>
            <a:endParaRPr lang="en-US" altLang="zh-CN" sz="2000" dirty="0"/>
          </a:p>
          <a:p>
            <a:pPr>
              <a:buNone/>
            </a:pPr>
            <a:endParaRPr lang="en-US" altLang="zh-CN" sz="2000" dirty="0"/>
          </a:p>
          <a:p>
            <a:pPr>
              <a:buNone/>
            </a:pPr>
            <a:endParaRPr lang="en-US" altLang="zh-CN" sz="2000" dirty="0"/>
          </a:p>
          <a:p>
            <a:pPr>
              <a:buNone/>
            </a:pPr>
            <a:endParaRPr lang="en-US" altLang="zh-CN" sz="2000" dirty="0"/>
          </a:p>
          <a:p>
            <a:pPr>
              <a:buNone/>
            </a:pPr>
            <a:r>
              <a:rPr lang="en-US" altLang="zh-CN" sz="2000" dirty="0"/>
              <a:t>     </a:t>
            </a:r>
            <a:r>
              <a:rPr lang="zh-CN" altLang="en-US" sz="2000" dirty="0"/>
              <a:t>注意在最后两步中类的成员是一致的。由于均值不再变化，所以迭代结束。</a:t>
            </a:r>
          </a:p>
          <a:p>
            <a:pPr>
              <a:buNone/>
            </a:pPr>
            <a:r>
              <a:rPr lang="en-US" altLang="zh-CN" sz="2000" dirty="0"/>
              <a:t>      </a:t>
            </a:r>
            <a:r>
              <a:rPr lang="zh-CN" altLang="en-US" sz="2000" dirty="0"/>
              <a:t>因此该问题的答案为</a:t>
            </a:r>
            <a:r>
              <a:rPr lang="en-US" altLang="zh-CN" sz="2000" dirty="0"/>
              <a:t>K</a:t>
            </a:r>
            <a:r>
              <a:rPr lang="en-US" altLang="zh-CN" sz="2000" baseline="-25000" dirty="0"/>
              <a:t>1</a:t>
            </a:r>
            <a:r>
              <a:rPr lang="en-US" altLang="zh-CN" sz="2000" dirty="0"/>
              <a:t>={2,3,4,10,11,12}</a:t>
            </a:r>
            <a:r>
              <a:rPr lang="zh-CN" altLang="en-US" sz="2000" dirty="0"/>
              <a:t>和</a:t>
            </a:r>
            <a:r>
              <a:rPr lang="en-US" altLang="zh-CN" sz="2000" dirty="0"/>
              <a:t>K</a:t>
            </a:r>
            <a:r>
              <a:rPr lang="en-US" altLang="zh-CN" sz="2000" baseline="-25000" dirty="0"/>
              <a:t>2</a:t>
            </a:r>
            <a:r>
              <a:rPr lang="en-US" altLang="zh-CN" sz="2000" dirty="0"/>
              <a:t>={20,30,25}</a:t>
            </a:r>
            <a:endParaRPr lang="zh-CN" altLang="en-US" sz="2000" dirty="0"/>
          </a:p>
          <a:p>
            <a:pPr>
              <a:buNone/>
            </a:pPr>
            <a:endParaRPr lang="zh-CN" altLang="en-US" sz="2000" dirty="0"/>
          </a:p>
        </p:txBody>
      </p:sp>
      <p:sp>
        <p:nvSpPr>
          <p:cNvPr id="96259" name="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None/>
              <a:defRPr sz="2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None/>
              <a:defRPr sz="2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None/>
              <a:defRPr sz="2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None/>
              <a:defRPr sz="2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None/>
              <a:defRPr sz="2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spcBef>
                <a:spcPct val="0"/>
              </a:spcBef>
              <a:buClrTx/>
              <a:buFontTx/>
            </a:pPr>
            <a:fld id="{9A0DB2DC-4C9A-4742-B13C-FB6460FD3503}" type="slidenum">
              <a:rPr lang="en-US" altLang="zh-CN" sz="1400" dirty="0"/>
              <a:t>36</a:t>
            </a:fld>
            <a:endParaRPr lang="en-US" altLang="zh-CN" sz="1400" dirty="0"/>
          </a:p>
        </p:txBody>
      </p:sp>
      <p:pic>
        <p:nvPicPr>
          <p:cNvPr id="96260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813" y="3218180"/>
            <a:ext cx="8267700" cy="17859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3490" name="Rectangle 2"/>
          <p:cNvSpPr>
            <a:spLocks noGrp="1" noChangeArrowheads="1"/>
          </p:cNvSpPr>
          <p:nvPr/>
        </p:nvSpPr>
        <p:spPr>
          <a:xfrm>
            <a:off x="413385" y="-89535"/>
            <a:ext cx="7886700" cy="1325563"/>
          </a:xfrm>
          <a:prstGeom prst="rect">
            <a:avLst/>
          </a:prstGeom>
        </p:spPr>
        <p:txBody>
          <a:bodyPr vert="horz" wrap="square" lIns="91440" tIns="45720" rIns="91440" bIns="45720" numCol="1" rtlCol="0" anchor="ctr" anchorCtr="0" compatLnSpc="1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dirty="0">
                <a:effectLst>
                  <a:outerShdw blurRad="38100" dist="38100" dir="2700000">
                    <a:srgbClr val="000000"/>
                  </a:outerShdw>
                </a:effectLst>
                <a:latin typeface="楷体_GB2312" pitchFamily="49" charset="-122"/>
              </a:rPr>
              <a:t>K-</a:t>
            </a:r>
            <a:r>
              <a:rPr lang="zh-CN" altLang="en-US" dirty="0">
                <a:effectLst>
                  <a:outerShdw blurRad="38100" dist="38100" dir="2700000">
                    <a:srgbClr val="000000"/>
                  </a:outerShdw>
                </a:effectLst>
                <a:latin typeface="楷体_GB2312" pitchFamily="49" charset="-122"/>
              </a:rPr>
              <a:t>均值算法</a:t>
            </a:r>
            <a:r>
              <a:rPr lang="ko-KR" altLang="en-US" sz="3600" dirty="0">
                <a:effectLst>
                  <a:outerShdw blurRad="38100" dist="38100" dir="2700000">
                    <a:srgbClr val="000000"/>
                  </a:outerShdw>
                </a:effectLst>
                <a:latin typeface="楷体_GB2312" pitchFamily="49" charset="-122"/>
              </a:rPr>
              <a:t> </a:t>
            </a:r>
            <a:endParaRPr lang="ko-KR" altLang="en-US" sz="4000" dirty="0">
              <a:effectLst>
                <a:outerShdw blurRad="38100" dist="38100" dir="2700000">
                  <a:srgbClr val="000000"/>
                </a:outerShdw>
              </a:effectLst>
              <a:latin typeface="楷体_GB2312" pitchFamily="49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89305" y="884555"/>
            <a:ext cx="7726045" cy="15068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buNone/>
            </a:pPr>
            <a:r>
              <a:rPr lang="zh-CN" altLang="en-US" sz="2000" dirty="0">
                <a:sym typeface="+mn-ea"/>
              </a:rPr>
              <a:t>例</a:t>
            </a:r>
            <a:r>
              <a:rPr lang="en-US" altLang="zh-CN" sz="2000" dirty="0">
                <a:sym typeface="+mn-ea"/>
              </a:rPr>
              <a:t>:</a:t>
            </a:r>
            <a:r>
              <a:rPr lang="zh-CN" altLang="en-US" sz="2000" dirty="0">
                <a:sym typeface="+mn-ea"/>
              </a:rPr>
              <a:t>假设给定如下要进行聚类的元组</a:t>
            </a:r>
            <a:r>
              <a:rPr lang="en-US" altLang="zh-CN" sz="2000" dirty="0">
                <a:sym typeface="+mn-ea"/>
              </a:rPr>
              <a:t>: </a:t>
            </a:r>
          </a:p>
          <a:p>
            <a:pPr>
              <a:buNone/>
            </a:pPr>
            <a:r>
              <a:rPr lang="en-US" altLang="zh-CN" sz="2000" dirty="0">
                <a:sym typeface="+mn-ea"/>
              </a:rPr>
              <a:t>{2</a:t>
            </a:r>
            <a:r>
              <a:rPr lang="zh-CN" altLang="en-US" sz="2000" dirty="0">
                <a:sym typeface="+mn-ea"/>
              </a:rPr>
              <a:t>，</a:t>
            </a:r>
            <a:r>
              <a:rPr lang="en-US" altLang="zh-CN" sz="2000" dirty="0">
                <a:sym typeface="+mn-ea"/>
              </a:rPr>
              <a:t>4</a:t>
            </a:r>
            <a:r>
              <a:rPr lang="zh-CN" altLang="en-US" sz="2000" dirty="0">
                <a:sym typeface="+mn-ea"/>
              </a:rPr>
              <a:t>，</a:t>
            </a:r>
            <a:r>
              <a:rPr lang="en-US" altLang="zh-CN" sz="2000" dirty="0">
                <a:sym typeface="+mn-ea"/>
              </a:rPr>
              <a:t>9</a:t>
            </a:r>
            <a:r>
              <a:rPr lang="zh-CN" altLang="en-US" sz="2000" dirty="0">
                <a:sym typeface="+mn-ea"/>
              </a:rPr>
              <a:t>，</a:t>
            </a:r>
            <a:r>
              <a:rPr lang="en-US" altLang="zh-CN" sz="2000" dirty="0">
                <a:sym typeface="+mn-ea"/>
              </a:rPr>
              <a:t>8</a:t>
            </a:r>
            <a:r>
              <a:rPr lang="zh-CN" altLang="en-US" sz="2000" dirty="0">
                <a:sym typeface="+mn-ea"/>
              </a:rPr>
              <a:t>，</a:t>
            </a:r>
            <a:r>
              <a:rPr lang="en-US" altLang="zh-CN" sz="2000" dirty="0">
                <a:sym typeface="+mn-ea"/>
              </a:rPr>
              <a:t>5</a:t>
            </a:r>
            <a:r>
              <a:rPr lang="zh-CN" altLang="en-US" sz="2000" dirty="0">
                <a:sym typeface="+mn-ea"/>
              </a:rPr>
              <a:t>，</a:t>
            </a:r>
            <a:r>
              <a:rPr lang="en-US" altLang="zh-CN" sz="2000" dirty="0">
                <a:sym typeface="+mn-ea"/>
              </a:rPr>
              <a:t>3</a:t>
            </a:r>
            <a:r>
              <a:rPr lang="zh-CN" altLang="en-US" sz="2000" dirty="0">
                <a:sym typeface="+mn-ea"/>
              </a:rPr>
              <a:t>，</a:t>
            </a:r>
            <a:r>
              <a:rPr lang="en-US" altLang="zh-CN" sz="2000" dirty="0">
                <a:sym typeface="+mn-ea"/>
              </a:rPr>
              <a:t>12</a:t>
            </a:r>
            <a:r>
              <a:rPr lang="zh-CN" altLang="en-US" sz="2000" dirty="0">
                <a:sym typeface="+mn-ea"/>
              </a:rPr>
              <a:t>，</a:t>
            </a:r>
            <a:r>
              <a:rPr lang="en-US" altLang="zh-CN" sz="2000" dirty="0">
                <a:sym typeface="+mn-ea"/>
              </a:rPr>
              <a:t>13</a:t>
            </a:r>
            <a:r>
              <a:rPr lang="zh-CN" altLang="en-US" sz="2000" dirty="0">
                <a:sym typeface="+mn-ea"/>
              </a:rPr>
              <a:t>，</a:t>
            </a:r>
            <a:r>
              <a:rPr lang="en-US" altLang="zh-CN" sz="2000" dirty="0">
                <a:sym typeface="+mn-ea"/>
              </a:rPr>
              <a:t>16</a:t>
            </a:r>
            <a:r>
              <a:rPr lang="zh-CN" altLang="en-US" sz="2000" dirty="0">
                <a:sym typeface="+mn-ea"/>
              </a:rPr>
              <a:t>，</a:t>
            </a:r>
            <a:r>
              <a:rPr lang="en-US" altLang="zh-CN" sz="2000" dirty="0">
                <a:sym typeface="+mn-ea"/>
              </a:rPr>
              <a:t>15}</a:t>
            </a:r>
            <a:endParaRPr lang="zh-CN" altLang="en-US" sz="2000" dirty="0"/>
          </a:p>
          <a:p>
            <a:pPr>
              <a:buNone/>
            </a:pPr>
            <a:endParaRPr lang="en-US" altLang="zh-CN" sz="2000" dirty="0">
              <a:sym typeface="+mn-ea"/>
            </a:endParaRPr>
          </a:p>
          <a:p>
            <a:pPr>
              <a:buNone/>
            </a:pPr>
            <a:r>
              <a:rPr lang="en-US" altLang="zh-CN" sz="2000" dirty="0">
                <a:sym typeface="+mn-ea"/>
              </a:rPr>
              <a:t>1.  </a:t>
            </a:r>
            <a:r>
              <a:rPr lang="zh-CN" altLang="en-US" sz="2000" dirty="0">
                <a:sym typeface="+mn-ea"/>
              </a:rPr>
              <a:t>已知</a:t>
            </a:r>
            <a:r>
              <a:rPr lang="en-US" altLang="zh-CN" sz="2000" dirty="0">
                <a:sym typeface="+mn-ea"/>
              </a:rPr>
              <a:t>K=3 </a:t>
            </a:r>
            <a:r>
              <a:rPr lang="zh-CN" altLang="en-US" sz="2000" dirty="0">
                <a:sym typeface="+mn-ea"/>
              </a:rPr>
              <a:t>，根据</a:t>
            </a:r>
            <a:r>
              <a:rPr lang="en-US" altLang="zh-CN" sz="2000" dirty="0">
                <a:sym typeface="+mn-ea"/>
              </a:rPr>
              <a:t>Kmeans</a:t>
            </a:r>
            <a:r>
              <a:rPr lang="zh-CN" altLang="en-US" sz="2000" dirty="0">
                <a:sym typeface="+mn-ea"/>
              </a:rPr>
              <a:t>聚类算法给出计算过程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advClick="0"/>
    </mc:Choice>
    <mc:Fallback xmlns="">
      <p:transition advClick="0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66bba5d2-9ac1-42dc-9390-efc1b6338d3d"/>
  <p:tag name="COMMONDATA" val="eyJoZGlkIjoiYzU2MjAwOGQzNTQxOWIzMDdmZWE3Y2I1NmNlNTIxZDMifQ=="/>
</p:tagLst>
</file>

<file path=ppt/theme/theme1.xml><?xml version="1.0" encoding="utf-8"?>
<a:theme xmlns:a="http://schemas.openxmlformats.org/drawingml/2006/main" name="2_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Franklin Gothic Medium"/>
        <a:ea typeface=""/>
        <a:cs typeface=""/>
        <a:font script="Jpan" typeface="HG創英角ｺﾞｼｯｸUB"/>
        <a:font script="Hang" typeface="HY견고딕"/>
        <a:font script="Hans" typeface="微软雅黑"/>
        <a:font script="Hant" typeface="微軟正黑體"/>
        <a:font script="Arab" typeface="Arial Bold"/>
        <a:font script="Hebr" typeface="Arial Bold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 Bold"/>
        <a:font script="Uigh" typeface="Microsoft Uighur"/>
        <a:font script="Geor" typeface="Sylfaen"/>
      </a:majorFont>
      <a:minorFont>
        <a:latin typeface="Franklin Gothic Medium"/>
        <a:ea typeface=""/>
        <a:cs typeface=""/>
        <a:font script="Jpan" typeface="HG創英角ｺﾞｼｯｸUB"/>
        <a:font script="Hang" typeface="HY견고딕"/>
        <a:font script="Hans" typeface="微软雅黑"/>
        <a:font script="Hant" typeface="微軟正黑體"/>
        <a:font script="Arab" typeface="Arial Bold"/>
        <a:font script="Hebr" typeface="Arial Bold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 Bold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信息内容安全技术</Template>
  <TotalTime>5</TotalTime>
  <Words>3102</Words>
  <Application>Microsoft Office PowerPoint</Application>
  <PresentationFormat>全屏显示(4:3)</PresentationFormat>
  <Paragraphs>349</Paragraphs>
  <Slides>36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36</vt:i4>
      </vt:variant>
    </vt:vector>
  </HeadingPairs>
  <TitlesOfParts>
    <vt:vector size="48" baseType="lpstr">
      <vt:lpstr>Arial Unicode MS</vt:lpstr>
      <vt:lpstr>楷体_GB2312</vt:lpstr>
      <vt:lpstr>宋体</vt:lpstr>
      <vt:lpstr>Arial</vt:lpstr>
      <vt:lpstr>Franklin Gothic Medium</vt:lpstr>
      <vt:lpstr>Symbol</vt:lpstr>
      <vt:lpstr>Tahoma</vt:lpstr>
      <vt:lpstr>Wingdings</vt:lpstr>
      <vt:lpstr>2_Office 主题</vt:lpstr>
      <vt:lpstr>Equation.3</vt:lpstr>
      <vt:lpstr>Equation.DSMT4</vt:lpstr>
      <vt:lpstr>Microsoft Excel 97-2003 Worksheet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Support Vector Machines </vt:lpstr>
      <vt:lpstr>概述</vt:lpstr>
      <vt:lpstr>PowerPoint 演示文稿</vt:lpstr>
      <vt:lpstr> 线性分类器</vt:lpstr>
      <vt:lpstr> 线性分类器</vt:lpstr>
      <vt:lpstr>线性分类器</vt:lpstr>
      <vt:lpstr>线性分类器</vt:lpstr>
      <vt:lpstr>线性分类器</vt:lpstr>
      <vt:lpstr>线性分类器</vt:lpstr>
      <vt:lpstr>最大间隔</vt:lpstr>
      <vt:lpstr>最大间隔</vt:lpstr>
      <vt:lpstr>最大间隔</vt:lpstr>
      <vt:lpstr>损失函数</vt:lpstr>
      <vt:lpstr>具体化分类超平面及其间隔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K-均值算法 </vt:lpstr>
      <vt:lpstr>K-均值算法 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张冬艳</dc:creator>
  <cp:lastModifiedBy>晓宇 宋</cp:lastModifiedBy>
  <cp:revision>239</cp:revision>
  <dcterms:created xsi:type="dcterms:W3CDTF">2004-08-18T02:07:00Z</dcterms:created>
  <dcterms:modified xsi:type="dcterms:W3CDTF">2024-07-12T11:56:38Z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2052-11.1.0.14036</vt:lpwstr>
  </property>
  <property fmtid="{D5CDD505-2E9C-101B-9397-08002B2CF9AE}" pid="3" name="ICV">
    <vt:lpwstr>4FDB0DDE442344BB8C8189E0B35016DA</vt:lpwstr>
  </property>
</Properties>
</file>