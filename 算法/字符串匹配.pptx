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5.xml" ContentType="application/vnd.openxmlformats-officedocument.presentationml.notesSlide+xml"/>
  <Override PartName="/ppt/tags/tag9.xml" ContentType="application/vnd.openxmlformats-officedocument.presentationml.tags+xml"/>
  <Override PartName="/ppt/notesSlides/notesSlide26.xml" ContentType="application/vnd.openxmlformats-officedocument.presentationml.notesSlide+xml"/>
  <Override PartName="/ppt/tags/tag10.xml" ContentType="application/vnd.openxmlformats-officedocument.presentationml.tags+xml"/>
  <Override PartName="/ppt/notesSlides/notesSlide27.xml" ContentType="application/vnd.openxmlformats-officedocument.presentationml.notesSlide+xml"/>
  <Override PartName="/ppt/tags/tag11.xml" ContentType="application/vnd.openxmlformats-officedocument.presentationml.tags+xml"/>
  <Override PartName="/ppt/notesSlides/notesSlide2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9.xml" ContentType="application/vnd.openxmlformats-officedocument.presentationml.notesSlide+xml"/>
  <Override PartName="/ppt/tags/tag14.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44.xml" ContentType="application/vnd.openxmlformats-officedocument.presentationml.notesSlide+xml"/>
  <Override PartName="/ppt/tags/tag21.xml" ContentType="application/vnd.openxmlformats-officedocument.presentationml.tags+xml"/>
  <Override PartName="/ppt/notesSlides/notesSlide45.xml" ContentType="application/vnd.openxmlformats-officedocument.presentationml.notesSlide+xml"/>
  <Override PartName="/ppt/tags/tag22.xml" ContentType="application/vnd.openxmlformats-officedocument.presentationml.tags+xml"/>
  <Override PartName="/ppt/notesSlides/notesSlide46.xml" ContentType="application/vnd.openxmlformats-officedocument.presentationml.notesSlide+xml"/>
  <Override PartName="/ppt/tags/tag23.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4.xml" ContentType="application/vnd.openxmlformats-officedocument.presentationml.tags+xml"/>
  <Override PartName="/ppt/notesSlides/notesSlide53.xml" ContentType="application/vnd.openxmlformats-officedocument.presentationml.notesSlide+xml"/>
  <Override PartName="/ppt/tags/tag25.xml" ContentType="application/vnd.openxmlformats-officedocument.presentationml.tags+xml"/>
  <Override PartName="/ppt/notesSlides/notesSlide54.xml" ContentType="application/vnd.openxmlformats-officedocument.presentationml.notesSlide+xml"/>
  <Override PartName="/ppt/tags/tag26.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27.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5"/>
  </p:notesMasterIdLst>
  <p:handoutMasterIdLst>
    <p:handoutMasterId r:id="rId126"/>
  </p:handoutMasterIdLst>
  <p:sldIdLst>
    <p:sldId id="327" r:id="rId2"/>
    <p:sldId id="328" r:id="rId3"/>
    <p:sldId id="329" r:id="rId4"/>
    <p:sldId id="325" r:id="rId5"/>
    <p:sldId id="326" r:id="rId6"/>
    <p:sldId id="261" r:id="rId7"/>
    <p:sldId id="358" r:id="rId8"/>
    <p:sldId id="357" r:id="rId9"/>
    <p:sldId id="330" r:id="rId10"/>
    <p:sldId id="331" r:id="rId11"/>
    <p:sldId id="264" r:id="rId12"/>
    <p:sldId id="458" r:id="rId13"/>
    <p:sldId id="360" r:id="rId14"/>
    <p:sldId id="361" r:id="rId15"/>
    <p:sldId id="362" r:id="rId16"/>
    <p:sldId id="363" r:id="rId17"/>
    <p:sldId id="364" r:id="rId18"/>
    <p:sldId id="365" r:id="rId19"/>
    <p:sldId id="359" r:id="rId20"/>
    <p:sldId id="366" r:id="rId21"/>
    <p:sldId id="367" r:id="rId22"/>
    <p:sldId id="738" r:id="rId23"/>
    <p:sldId id="429" r:id="rId24"/>
    <p:sldId id="1261" r:id="rId25"/>
    <p:sldId id="1262" r:id="rId26"/>
    <p:sldId id="1265" r:id="rId27"/>
    <p:sldId id="1264" r:id="rId28"/>
    <p:sldId id="368" r:id="rId29"/>
    <p:sldId id="369" r:id="rId30"/>
    <p:sldId id="370" r:id="rId31"/>
    <p:sldId id="961" r:id="rId32"/>
    <p:sldId id="371" r:id="rId33"/>
    <p:sldId id="372" r:id="rId34"/>
    <p:sldId id="373" r:id="rId35"/>
    <p:sldId id="431" r:id="rId36"/>
    <p:sldId id="437" r:id="rId37"/>
    <p:sldId id="434" r:id="rId38"/>
    <p:sldId id="962" r:id="rId39"/>
    <p:sldId id="374" r:id="rId40"/>
    <p:sldId id="375" r:id="rId41"/>
    <p:sldId id="390" r:id="rId42"/>
    <p:sldId id="739" r:id="rId43"/>
    <p:sldId id="399" r:id="rId44"/>
    <p:sldId id="400" r:id="rId45"/>
    <p:sldId id="392" r:id="rId46"/>
    <p:sldId id="393" r:id="rId47"/>
    <p:sldId id="394" r:id="rId48"/>
    <p:sldId id="391" r:id="rId49"/>
    <p:sldId id="468" r:id="rId50"/>
    <p:sldId id="860" r:id="rId51"/>
    <p:sldId id="402" r:id="rId52"/>
    <p:sldId id="378" r:id="rId53"/>
    <p:sldId id="379" r:id="rId54"/>
    <p:sldId id="1081" r:id="rId55"/>
    <p:sldId id="1080" r:id="rId56"/>
    <p:sldId id="1082" r:id="rId57"/>
    <p:sldId id="469" r:id="rId58"/>
    <p:sldId id="397" r:id="rId59"/>
    <p:sldId id="380" r:id="rId60"/>
    <p:sldId id="381" r:id="rId61"/>
    <p:sldId id="383" r:id="rId62"/>
    <p:sldId id="384" r:id="rId63"/>
    <p:sldId id="386" r:id="rId64"/>
    <p:sldId id="387" r:id="rId65"/>
    <p:sldId id="388" r:id="rId66"/>
    <p:sldId id="439" r:id="rId67"/>
    <p:sldId id="395" r:id="rId68"/>
    <p:sldId id="284" r:id="rId69"/>
    <p:sldId id="334" r:id="rId70"/>
    <p:sldId id="866" r:id="rId71"/>
    <p:sldId id="335" r:id="rId72"/>
    <p:sldId id="341" r:id="rId73"/>
    <p:sldId id="342" r:id="rId74"/>
    <p:sldId id="343" r:id="rId75"/>
    <p:sldId id="346" r:id="rId76"/>
    <p:sldId id="344" r:id="rId77"/>
    <p:sldId id="345" r:id="rId78"/>
    <p:sldId id="347" r:id="rId79"/>
    <p:sldId id="353" r:id="rId80"/>
    <p:sldId id="349" r:id="rId81"/>
    <p:sldId id="348" r:id="rId82"/>
    <p:sldId id="350" r:id="rId83"/>
    <p:sldId id="336" r:id="rId84"/>
    <p:sldId id="338" r:id="rId85"/>
    <p:sldId id="339" r:id="rId86"/>
    <p:sldId id="340" r:id="rId87"/>
    <p:sldId id="337" r:id="rId88"/>
    <p:sldId id="351" r:id="rId89"/>
    <p:sldId id="430" r:id="rId90"/>
    <p:sldId id="1180" r:id="rId91"/>
    <p:sldId id="865" r:id="rId92"/>
    <p:sldId id="566" r:id="rId93"/>
    <p:sldId id="403" r:id="rId94"/>
    <p:sldId id="406" r:id="rId95"/>
    <p:sldId id="407" r:id="rId96"/>
    <p:sldId id="405" r:id="rId97"/>
    <p:sldId id="436" r:id="rId98"/>
    <p:sldId id="459" r:id="rId99"/>
    <p:sldId id="867" r:id="rId100"/>
    <p:sldId id="408" r:id="rId101"/>
    <p:sldId id="404" r:id="rId102"/>
    <p:sldId id="409" r:id="rId103"/>
    <p:sldId id="410" r:id="rId104"/>
    <p:sldId id="411" r:id="rId105"/>
    <p:sldId id="412" r:id="rId106"/>
    <p:sldId id="413" r:id="rId107"/>
    <p:sldId id="414" r:id="rId108"/>
    <p:sldId id="415" r:id="rId109"/>
    <p:sldId id="416" r:id="rId110"/>
    <p:sldId id="417" r:id="rId111"/>
    <p:sldId id="418" r:id="rId112"/>
    <p:sldId id="419" r:id="rId113"/>
    <p:sldId id="420" r:id="rId114"/>
    <p:sldId id="421" r:id="rId115"/>
    <p:sldId id="422" r:id="rId116"/>
    <p:sldId id="423" r:id="rId117"/>
    <p:sldId id="864" r:id="rId118"/>
    <p:sldId id="424" r:id="rId119"/>
    <p:sldId id="425" r:id="rId120"/>
    <p:sldId id="426" r:id="rId121"/>
    <p:sldId id="427" r:id="rId122"/>
    <p:sldId id="428" r:id="rId123"/>
    <p:sldId id="646" r:id="rId124"/>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0033CC"/>
    <a:srgbClr val="FF3300"/>
    <a:srgbClr val="0303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4" autoAdjust="0"/>
    <p:restoredTop sz="71831" autoAdjust="0"/>
  </p:normalViewPr>
  <p:slideViewPr>
    <p:cSldViewPr showGuides="1">
      <p:cViewPr>
        <p:scale>
          <a:sx n="50" d="100"/>
          <a:sy n="50" d="100"/>
        </p:scale>
        <p:origin x="75" y="401"/>
      </p:cViewPr>
      <p:guideLst>
        <p:guide orient="horz" pos="2126"/>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50" d="100"/>
        <a:sy n="150" d="100"/>
      </p:scale>
      <p:origin x="0" y="-82603"/>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2025/8/28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325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325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a:spcBef>
                <a:spcPct val="0"/>
              </a:spcBef>
              <a:buClrTx/>
            </a:pPr>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a:t>
            </a:fld>
            <a:endParaRPr lang="en-US" altLang="zh-CN" sz="1200" dirty="0"/>
          </a:p>
        </p:txBody>
      </p:sp>
      <p:sp>
        <p:nvSpPr>
          <p:cNvPr id="25602" name="Rectangle 2"/>
          <p:cNvSpPr>
            <a:spLocks noGrp="1" noRot="1" noChangeAspect="1" noTextEdit="1"/>
          </p:cNvSpPr>
          <p:nvPr>
            <p:ph type="sldImg"/>
          </p:nvPr>
        </p:nvSpPr>
        <p:spPr/>
      </p:sp>
      <p:sp>
        <p:nvSpPr>
          <p:cNvPr id="2560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a:t>
            </a:fld>
            <a:endParaRPr lang="en-US" altLang="zh-CN" sz="1200" dirty="0"/>
          </a:p>
        </p:txBody>
      </p:sp>
      <p:sp>
        <p:nvSpPr>
          <p:cNvPr id="27650" name="Rectangle 2"/>
          <p:cNvSpPr>
            <a:spLocks noGrp="1" noRot="1" noChangeAspect="1" noTextEdit="1"/>
          </p:cNvSpPr>
          <p:nvPr>
            <p:ph type="sldImg"/>
          </p:nvPr>
        </p:nvSpPr>
        <p:spPr/>
      </p:sp>
      <p:sp>
        <p:nvSpPr>
          <p:cNvPr id="2765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a:t>
            </a:fld>
            <a:endParaRPr lang="en-US" altLang="zh-CN" sz="1200" dirty="0"/>
          </a:p>
        </p:txBody>
      </p:sp>
      <p:sp>
        <p:nvSpPr>
          <p:cNvPr id="29698" name="Rectangle 2"/>
          <p:cNvSpPr>
            <a:spLocks noGrp="1" noRot="1" noChangeAspect="1" noTextEdit="1"/>
          </p:cNvSpPr>
          <p:nvPr>
            <p:ph type="sldImg"/>
          </p:nvPr>
        </p:nvSpPr>
        <p:spPr/>
      </p:sp>
      <p:sp>
        <p:nvSpPr>
          <p:cNvPr id="2969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a:t>
            </a:fld>
            <a:endParaRPr lang="en-US" altLang="zh-CN" sz="1200" dirty="0"/>
          </a:p>
        </p:txBody>
      </p:sp>
      <p:sp>
        <p:nvSpPr>
          <p:cNvPr id="31746" name="Rectangle 2"/>
          <p:cNvSpPr>
            <a:spLocks noGrp="1" noRot="1" noChangeAspect="1" noTextEdit="1"/>
          </p:cNvSpPr>
          <p:nvPr>
            <p:ph type="sldImg"/>
          </p:nvPr>
        </p:nvSpPr>
        <p:spPr/>
      </p:sp>
      <p:sp>
        <p:nvSpPr>
          <p:cNvPr id="3174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a:t>
            </a:fld>
            <a:endParaRPr lang="en-US" altLang="zh-CN" sz="1200" dirty="0"/>
          </a:p>
        </p:txBody>
      </p:sp>
      <p:sp>
        <p:nvSpPr>
          <p:cNvPr id="33794" name="Rectangle 2"/>
          <p:cNvSpPr>
            <a:spLocks noGrp="1" noRot="1" noChangeAspect="1" noTextEdit="1"/>
          </p:cNvSpPr>
          <p:nvPr>
            <p:ph type="sldImg"/>
          </p:nvPr>
        </p:nvSpPr>
        <p:spPr/>
      </p:sp>
      <p:sp>
        <p:nvSpPr>
          <p:cNvPr id="3379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a:t>
            </a:fld>
            <a:endParaRPr lang="en-US" altLang="zh-CN" sz="1200" dirty="0"/>
          </a:p>
        </p:txBody>
      </p:sp>
      <p:sp>
        <p:nvSpPr>
          <p:cNvPr id="35842" name="Rectangle 2"/>
          <p:cNvSpPr>
            <a:spLocks noGrp="1" noRot="1" noChangeAspect="1" noTextEdit="1"/>
          </p:cNvSpPr>
          <p:nvPr>
            <p:ph type="sldImg"/>
          </p:nvPr>
        </p:nvSpPr>
        <p:spPr/>
      </p:sp>
      <p:sp>
        <p:nvSpPr>
          <p:cNvPr id="35843" name="Rectangle 3"/>
          <p:cNvSpPr>
            <a:spLocks noGrp="1"/>
          </p:cNvSpPr>
          <p:nvPr>
            <p:ph type="body" idx="1"/>
          </p:nvPr>
        </p:nvSpPr>
        <p:spPr/>
        <p:txBody>
          <a:bodyPr wrap="square" lIns="91440" tIns="45720" rIns="91440" bIns="45720" anchor="t"/>
          <a:lstStyle/>
          <a:p>
            <a:pPr lvl="0" eaLnBrk="1" hangingPunct="1"/>
            <a:r>
              <a:rPr lang="zh-CN" altLang="en-US" dirty="0"/>
              <a:t>串的模式匹配是一种很常见的问题。模式匹配又可分为单模式匹配和多模式匹配，模式有时候也称为关键字。单模式匹配可定义为：在一个文本</a:t>
            </a:r>
            <a:r>
              <a:rPr lang="en-US" altLang="zh-CN" dirty="0"/>
              <a:t>text(</a:t>
            </a:r>
            <a:r>
              <a:rPr lang="zh-CN" altLang="en-US" dirty="0"/>
              <a:t>设长度为</a:t>
            </a:r>
            <a:r>
              <a:rPr lang="en-US" altLang="zh-CN" dirty="0"/>
              <a:t>n)</a:t>
            </a:r>
            <a:r>
              <a:rPr lang="zh-CN" altLang="en-US" dirty="0"/>
              <a:t>中查找某个特定的子串</a:t>
            </a:r>
            <a:r>
              <a:rPr lang="en-US" altLang="zh-CN" dirty="0"/>
              <a:t>pattern(</a:t>
            </a:r>
            <a:r>
              <a:rPr lang="zh-CN" altLang="en-US" dirty="0"/>
              <a:t>设长度为</a:t>
            </a:r>
            <a:r>
              <a:rPr lang="en-US" altLang="zh-CN" dirty="0"/>
              <a:t>m)</a:t>
            </a:r>
            <a:r>
              <a:rPr lang="zh-CN" altLang="en-US" dirty="0"/>
              <a:t>。如果在</a:t>
            </a:r>
            <a:r>
              <a:rPr lang="en-US" altLang="zh-CN" dirty="0"/>
              <a:t>text</a:t>
            </a:r>
            <a:r>
              <a:rPr lang="zh-CN" altLang="en-US" dirty="0"/>
              <a:t>中找到等于</a:t>
            </a:r>
            <a:r>
              <a:rPr lang="en-US" altLang="zh-CN" dirty="0"/>
              <a:t>pattern</a:t>
            </a:r>
            <a:r>
              <a:rPr lang="zh-CN" altLang="en-US" dirty="0"/>
              <a:t>的子串，则称匹配成功，函数返回</a:t>
            </a:r>
            <a:r>
              <a:rPr lang="en-US" altLang="zh-CN" dirty="0"/>
              <a:t>pattern</a:t>
            </a:r>
            <a:r>
              <a:rPr lang="zh-CN" altLang="en-US" dirty="0"/>
              <a:t>在</a:t>
            </a:r>
            <a:r>
              <a:rPr lang="en-US" altLang="zh-CN" dirty="0"/>
              <a:t>text</a:t>
            </a:r>
            <a:r>
              <a:rPr lang="zh-CN" altLang="en-US" dirty="0"/>
              <a:t>中出现的位置</a:t>
            </a:r>
            <a:r>
              <a:rPr lang="en-US" altLang="zh-CN" dirty="0"/>
              <a:t>(</a:t>
            </a:r>
            <a:r>
              <a:rPr lang="zh-CN" altLang="en-US" dirty="0"/>
              <a:t>或序号</a:t>
            </a:r>
            <a:r>
              <a:rPr lang="en-US" altLang="zh-CN" dirty="0"/>
              <a:t>)</a:t>
            </a:r>
            <a:r>
              <a:rPr lang="zh-CN" altLang="en-US" dirty="0"/>
              <a:t>，否则匹配失败。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a:t>
            </a:fld>
            <a:endParaRPr lang="en-US" altLang="zh-CN" sz="1200" dirty="0"/>
          </a:p>
        </p:txBody>
      </p:sp>
      <p:sp>
        <p:nvSpPr>
          <p:cNvPr id="37890" name="Rectangle 2"/>
          <p:cNvSpPr>
            <a:spLocks noGrp="1" noRot="1" noChangeAspect="1" noTextEdit="1"/>
          </p:cNvSpPr>
          <p:nvPr>
            <p:ph type="sldImg"/>
          </p:nvPr>
        </p:nvSpPr>
        <p:spPr/>
      </p:sp>
      <p:sp>
        <p:nvSpPr>
          <p:cNvPr id="3789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a:t>
            </a:fld>
            <a:endParaRPr lang="en-US" altLang="zh-CN" sz="1200" dirty="0"/>
          </a:p>
        </p:txBody>
      </p:sp>
      <p:sp>
        <p:nvSpPr>
          <p:cNvPr id="39938" name="Rectangle 2"/>
          <p:cNvSpPr>
            <a:spLocks noGrp="1" noRot="1" noChangeAspect="1" noTextEdit="1"/>
          </p:cNvSpPr>
          <p:nvPr>
            <p:ph type="sldImg"/>
          </p:nvPr>
        </p:nvSpPr>
        <p:spPr/>
      </p:sp>
      <p:sp>
        <p:nvSpPr>
          <p:cNvPr id="3993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a:t>
            </a:fld>
            <a:endParaRPr lang="en-US" altLang="zh-CN" sz="1200" dirty="0"/>
          </a:p>
        </p:txBody>
      </p:sp>
      <p:sp>
        <p:nvSpPr>
          <p:cNvPr id="41986" name="Rectangle 2"/>
          <p:cNvSpPr>
            <a:spLocks noGrp="1" noRot="1" noChangeAspect="1" noTextEdit="1"/>
          </p:cNvSpPr>
          <p:nvPr>
            <p:ph type="sldImg"/>
          </p:nvPr>
        </p:nvSpPr>
        <p:spPr/>
      </p:sp>
      <p:sp>
        <p:nvSpPr>
          <p:cNvPr id="4198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a:t>
            </a:fld>
            <a:endParaRPr lang="en-US" altLang="zh-CN" sz="1200" dirty="0"/>
          </a:p>
        </p:txBody>
      </p:sp>
      <p:sp>
        <p:nvSpPr>
          <p:cNvPr id="44034" name="Rectangle 2"/>
          <p:cNvSpPr>
            <a:spLocks noGrp="1" noRot="1" noChangeAspect="1" noTextEdit="1"/>
          </p:cNvSpPr>
          <p:nvPr>
            <p:ph type="sldImg"/>
          </p:nvPr>
        </p:nvSpPr>
        <p:spPr/>
      </p:sp>
      <p:sp>
        <p:nvSpPr>
          <p:cNvPr id="4403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a:t>
            </a:fld>
            <a:endParaRPr lang="en-US" altLang="zh-CN" sz="1200" dirty="0"/>
          </a:p>
        </p:txBody>
      </p:sp>
      <p:sp>
        <p:nvSpPr>
          <p:cNvPr id="46082" name="Rectangle 2"/>
          <p:cNvSpPr>
            <a:spLocks noGrp="1" noRot="1" noChangeAspect="1" noTextEdit="1"/>
          </p:cNvSpPr>
          <p:nvPr>
            <p:ph type="sldImg"/>
          </p:nvPr>
        </p:nvSpPr>
        <p:spPr/>
      </p:sp>
      <p:sp>
        <p:nvSpPr>
          <p:cNvPr id="460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12</a:t>
            </a:fld>
            <a:endParaRPr lang="en-US" altLang="zh-CN" sz="1200" dirty="0"/>
          </a:p>
        </p:txBody>
      </p:sp>
      <p:sp>
        <p:nvSpPr>
          <p:cNvPr id="48130" name="Rectangle 2"/>
          <p:cNvSpPr>
            <a:spLocks noGrp="1" noRot="1" noChangeAspect="1" noTextEdit="1"/>
          </p:cNvSpPr>
          <p:nvPr>
            <p:ph type="sldImg"/>
          </p:nvPr>
        </p:nvSpPr>
        <p:spPr/>
      </p:sp>
      <p:sp>
        <p:nvSpPr>
          <p:cNvPr id="481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13</a:t>
            </a:fld>
            <a:endParaRPr lang="en-US" altLang="zh-CN" sz="1200" dirty="0"/>
          </a:p>
        </p:txBody>
      </p:sp>
      <p:sp>
        <p:nvSpPr>
          <p:cNvPr id="50178" name="Rectangle 2"/>
          <p:cNvSpPr>
            <a:spLocks noGrp="1" noRot="1" noChangeAspect="1" noTextEdit="1"/>
          </p:cNvSpPr>
          <p:nvPr>
            <p:ph type="sldImg"/>
          </p:nvPr>
        </p:nvSpPr>
        <p:spPr/>
      </p:sp>
      <p:sp>
        <p:nvSpPr>
          <p:cNvPr id="5017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14</a:t>
            </a:fld>
            <a:endParaRPr lang="en-US" altLang="zh-CN" sz="1200" dirty="0"/>
          </a:p>
        </p:txBody>
      </p:sp>
      <p:sp>
        <p:nvSpPr>
          <p:cNvPr id="52226" name="Rectangle 2"/>
          <p:cNvSpPr>
            <a:spLocks noGrp="1" noRot="1" noChangeAspect="1" noTextEdit="1"/>
          </p:cNvSpPr>
          <p:nvPr>
            <p:ph type="sldImg"/>
          </p:nvPr>
        </p:nvSpPr>
        <p:spPr/>
      </p:sp>
      <p:sp>
        <p:nvSpPr>
          <p:cNvPr id="5222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15</a:t>
            </a:fld>
            <a:endParaRPr lang="en-US" altLang="zh-CN" sz="1200" dirty="0"/>
          </a:p>
        </p:txBody>
      </p:sp>
      <p:sp>
        <p:nvSpPr>
          <p:cNvPr id="54274" name="Rectangle 2"/>
          <p:cNvSpPr>
            <a:spLocks noGrp="1" noRot="1" noChangeAspect="1" noTextEdit="1"/>
          </p:cNvSpPr>
          <p:nvPr>
            <p:ph type="sldImg"/>
          </p:nvPr>
        </p:nvSpPr>
        <p:spPr/>
      </p:sp>
      <p:sp>
        <p:nvSpPr>
          <p:cNvPr id="5427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16</a:t>
            </a:fld>
            <a:endParaRPr lang="en-US" altLang="zh-CN" sz="1200" dirty="0"/>
          </a:p>
        </p:txBody>
      </p:sp>
      <p:sp>
        <p:nvSpPr>
          <p:cNvPr id="56322" name="Rectangle 2"/>
          <p:cNvSpPr>
            <a:spLocks noGrp="1" noRot="1" noChangeAspect="1" noTextEdit="1"/>
          </p:cNvSpPr>
          <p:nvPr>
            <p:ph type="sldImg"/>
          </p:nvPr>
        </p:nvSpPr>
        <p:spPr/>
      </p:sp>
      <p:sp>
        <p:nvSpPr>
          <p:cNvPr id="5632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17</a:t>
            </a:fld>
            <a:endParaRPr lang="en-US" altLang="zh-CN" sz="1200" dirty="0"/>
          </a:p>
        </p:txBody>
      </p:sp>
      <p:sp>
        <p:nvSpPr>
          <p:cNvPr id="58370" name="Rectangle 2"/>
          <p:cNvSpPr>
            <a:spLocks noGrp="1" noRot="1" noChangeAspect="1" noTextEdit="1"/>
          </p:cNvSpPr>
          <p:nvPr>
            <p:ph type="sldImg"/>
          </p:nvPr>
        </p:nvSpPr>
        <p:spPr/>
      </p:sp>
      <p:sp>
        <p:nvSpPr>
          <p:cNvPr id="5837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18</a:t>
            </a:fld>
            <a:endParaRPr lang="en-US" altLang="zh-CN" sz="1200" dirty="0"/>
          </a:p>
        </p:txBody>
      </p:sp>
      <p:sp>
        <p:nvSpPr>
          <p:cNvPr id="60418" name="Rectangle 2"/>
          <p:cNvSpPr>
            <a:spLocks noGrp="1" noRot="1" noChangeAspect="1" noTextEdit="1"/>
          </p:cNvSpPr>
          <p:nvPr>
            <p:ph type="sldImg"/>
          </p:nvPr>
        </p:nvSpPr>
        <p:spPr/>
      </p:sp>
      <p:sp>
        <p:nvSpPr>
          <p:cNvPr id="6041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19</a:t>
            </a:fld>
            <a:endParaRPr lang="en-US" altLang="zh-CN" sz="1200" dirty="0"/>
          </a:p>
        </p:txBody>
      </p:sp>
      <p:sp>
        <p:nvSpPr>
          <p:cNvPr id="62466" name="Rectangle 2"/>
          <p:cNvSpPr>
            <a:spLocks noGrp="1" noRot="1" noChangeAspect="1" noTextEdit="1"/>
          </p:cNvSpPr>
          <p:nvPr>
            <p:ph type="sldImg"/>
          </p:nvPr>
        </p:nvSpPr>
        <p:spPr/>
      </p:sp>
      <p:sp>
        <p:nvSpPr>
          <p:cNvPr id="62467" name="Rectangle 3"/>
          <p:cNvSpPr>
            <a:spLocks noGrp="1"/>
          </p:cNvSpPr>
          <p:nvPr>
            <p:ph type="body" idx="1"/>
          </p:nvPr>
        </p:nvSpPr>
        <p:spPr/>
        <p:txBody>
          <a:bodyPr wrap="square" lIns="91440" tIns="45720" rIns="91440" bIns="45720" anchor="t"/>
          <a:lstStyle/>
          <a:p>
            <a:pPr lvl="0" eaLnBrk="1" hangingPunct="1"/>
            <a:r>
              <a:rPr lang="zh-CN" altLang="en-US" dirty="0"/>
              <a:t>正文 </a:t>
            </a:r>
            <a:r>
              <a:rPr lang="en-US" altLang="zh-CN" dirty="0"/>
              <a:t>Y[n]     j</a:t>
            </a:r>
            <a:r>
              <a:rPr lang="zh-CN" altLang="en-US" dirty="0"/>
              <a:t>指针</a:t>
            </a:r>
          </a:p>
          <a:p>
            <a:pPr lvl="0" eaLnBrk="1" hangingPunct="1"/>
            <a:r>
              <a:rPr lang="zh-CN" altLang="en-US" dirty="0"/>
              <a:t>模式</a:t>
            </a:r>
            <a:r>
              <a:rPr lang="en-US" altLang="zh-CN" dirty="0"/>
              <a:t>X【m】   I </a:t>
            </a:r>
            <a:r>
              <a:rPr lang="zh-CN" altLang="en-US" dirty="0"/>
              <a:t>指针</a:t>
            </a:r>
          </a:p>
          <a:p>
            <a:pPr lvl="0" eaLnBrk="1" hangingPunct="1"/>
            <a:endParaRPr lang="en-US" altLang="zh-CN" dirty="0"/>
          </a:p>
          <a:p>
            <a:pPr lvl="0" eaLnBrk="1" hangingPunct="1"/>
            <a:endParaRPr lang="zh-CN" altLang="en-US" dirty="0"/>
          </a:p>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20</a:t>
            </a:fld>
            <a:endParaRPr lang="en-US" altLang="zh-CN" sz="1200" dirty="0"/>
          </a:p>
        </p:txBody>
      </p:sp>
      <p:sp>
        <p:nvSpPr>
          <p:cNvPr id="64514" name="Rectangle 2"/>
          <p:cNvSpPr>
            <a:spLocks noGrp="1" noRot="1" noChangeAspect="1" noTextEdit="1"/>
          </p:cNvSpPr>
          <p:nvPr>
            <p:ph type="sldImg"/>
          </p:nvPr>
        </p:nvSpPr>
        <p:spPr/>
      </p:sp>
      <p:sp>
        <p:nvSpPr>
          <p:cNvPr id="6451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21</a:t>
            </a:fld>
            <a:endParaRPr lang="en-US" altLang="zh-CN" sz="1200" dirty="0"/>
          </a:p>
        </p:txBody>
      </p:sp>
      <p:sp>
        <p:nvSpPr>
          <p:cNvPr id="66562" name="Rectangle 2"/>
          <p:cNvSpPr>
            <a:spLocks noGrp="1" noRot="1" noChangeAspect="1" noTextEdit="1"/>
          </p:cNvSpPr>
          <p:nvPr>
            <p:ph type="sldImg"/>
          </p:nvPr>
        </p:nvSpPr>
        <p:spPr/>
      </p:sp>
      <p:sp>
        <p:nvSpPr>
          <p:cNvPr id="6656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22</a:t>
            </a:fld>
            <a:endParaRPr lang="en-US" altLang="zh-CN" sz="1200" dirty="0"/>
          </a:p>
        </p:txBody>
      </p:sp>
      <p:sp>
        <p:nvSpPr>
          <p:cNvPr id="73730" name="Rectangle 2"/>
          <p:cNvSpPr>
            <a:spLocks noGrp="1" noRot="1" noChangeAspect="1" noTextEdit="1"/>
          </p:cNvSpPr>
          <p:nvPr>
            <p:ph type="sldImg"/>
          </p:nvPr>
        </p:nvSpPr>
        <p:spPr/>
      </p:sp>
      <p:sp>
        <p:nvSpPr>
          <p:cNvPr id="737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24</a:t>
            </a:fld>
            <a:endParaRPr lang="en-US" altLang="zh-CN" sz="1200" dirty="0"/>
          </a:p>
        </p:txBody>
      </p:sp>
      <p:sp>
        <p:nvSpPr>
          <p:cNvPr id="68610" name="Rectangle 2"/>
          <p:cNvSpPr>
            <a:spLocks noGrp="1" noRot="1" noChangeAspect="1" noTextEdit="1"/>
          </p:cNvSpPr>
          <p:nvPr>
            <p:ph type="sldImg"/>
          </p:nvPr>
        </p:nvSpPr>
        <p:spPr/>
      </p:sp>
      <p:sp>
        <p:nvSpPr>
          <p:cNvPr id="68611" name="Rectangle 3"/>
          <p:cNvSpPr>
            <a:spLocks noGrp="1"/>
          </p:cNvSpPr>
          <p:nvPr>
            <p:ph type="body" idx="1"/>
          </p:nvPr>
        </p:nvSpPr>
        <p:spPr/>
        <p:txBody>
          <a:bodyPr wrap="square" lIns="91440" tIns="45720" rIns="91440" bIns="45720" anchor="t"/>
          <a:lstStyle/>
          <a:p>
            <a:pPr lvl="0" eaLnBrk="1" hangingPunct="1"/>
            <a:endParaRPr lang="en-US" altLang="zh-CN" dirty="0">
              <a:cs typeface="Times New Roman" panose="02020603050405020304" charset="0"/>
            </a:endParaRPr>
          </a:p>
          <a:p>
            <a:pPr lvl="0" eaLnBrk="1" hangingPunct="1"/>
            <a:r>
              <a:rPr lang="zh-CN" altLang="en-US" dirty="0">
                <a:cs typeface="Times New Roman" panose="02020603050405020304" charset="0"/>
              </a:rPr>
              <a:t>用法：</a:t>
            </a:r>
            <a:endParaRPr lang="en-US" altLang="zh-CN" dirty="0">
              <a:cs typeface="Times New Roman" panose="02020603050405020304" charset="0"/>
            </a:endParaRPr>
          </a:p>
          <a:p>
            <a:pPr lvl="0" eaLnBrk="1" hangingPunct="1"/>
            <a:r>
              <a:rPr lang="en-US" altLang="zh-CN" dirty="0">
                <a:cs typeface="Times New Roman" panose="02020603050405020304" charset="0"/>
              </a:rPr>
              <a:t>kmpNext[i]:</a:t>
            </a:r>
            <a:r>
              <a:rPr lang="zh-CN" altLang="en-US" dirty="0">
                <a:cs typeface="Times New Roman" panose="02020603050405020304" charset="0"/>
              </a:rPr>
              <a:t>当前位置</a:t>
            </a:r>
            <a:r>
              <a:rPr lang="en-US" altLang="zh-CN" dirty="0">
                <a:cs typeface="Times New Roman" panose="02020603050405020304" charset="0"/>
              </a:rPr>
              <a:t>i</a:t>
            </a:r>
            <a:r>
              <a:rPr lang="zh-CN" altLang="en-US" dirty="0">
                <a:cs typeface="Times New Roman" panose="02020603050405020304" charset="0"/>
              </a:rPr>
              <a:t>匹配不成功，则转到</a:t>
            </a:r>
            <a:r>
              <a:rPr lang="en-US" altLang="zh-CN" dirty="0">
                <a:cs typeface="Times New Roman" panose="02020603050405020304" charset="0"/>
              </a:rPr>
              <a:t>kmpNext[i]</a:t>
            </a:r>
            <a:r>
              <a:rPr lang="zh-CN" altLang="en-US" dirty="0">
                <a:cs typeface="Times New Roman" panose="02020603050405020304" charset="0"/>
              </a:rPr>
              <a:t>执行。</a:t>
            </a:r>
            <a:endParaRPr lang="en-US" altLang="zh-CN" dirty="0">
              <a:cs typeface="Times New Roman" panose="02020603050405020304" charset="0"/>
            </a:endParaRPr>
          </a:p>
          <a:p>
            <a:pPr lvl="0" eaLnBrk="1" hangingPunct="1"/>
            <a:r>
              <a:rPr lang="zh-CN" altLang="en-US" dirty="0">
                <a:cs typeface="Times New Roman" panose="02020603050405020304" charset="0"/>
              </a:rPr>
              <a:t>首字符为</a:t>
            </a:r>
            <a:r>
              <a:rPr lang="en-US" altLang="zh-CN" dirty="0">
                <a:cs typeface="Times New Roman" panose="02020603050405020304" charset="0"/>
              </a:rPr>
              <a:t>-1</a:t>
            </a:r>
            <a:r>
              <a:rPr lang="zh-CN" altLang="en-US" dirty="0">
                <a:cs typeface="Times New Roman" panose="02020603050405020304" charset="0"/>
              </a:rPr>
              <a:t>，表示</a:t>
            </a:r>
            <a:r>
              <a:rPr lang="en-US" altLang="zh-CN" dirty="0">
                <a:cs typeface="Times New Roman" panose="02020603050405020304" charset="0"/>
              </a:rPr>
              <a:t>i</a:t>
            </a:r>
            <a:r>
              <a:rPr lang="zh-CN" altLang="en-US" dirty="0">
                <a:cs typeface="Times New Roman" panose="02020603050405020304" charset="0"/>
              </a:rPr>
              <a:t>、</a:t>
            </a:r>
            <a:r>
              <a:rPr lang="en-US" altLang="zh-CN" dirty="0">
                <a:cs typeface="Times New Roman" panose="02020603050405020304" charset="0"/>
              </a:rPr>
              <a:t>j</a:t>
            </a:r>
            <a:r>
              <a:rPr lang="zh-CN" altLang="en-US" dirty="0">
                <a:cs typeface="Times New Roman" panose="02020603050405020304" charset="0"/>
              </a:rPr>
              <a:t>指针同时右移一位。</a:t>
            </a:r>
            <a:endParaRPr lang="en-US" altLang="zh-CN" dirty="0">
              <a:cs typeface="Times New Roman" panose="02020603050405020304" charset="0"/>
            </a:endParaRPr>
          </a:p>
          <a:p>
            <a:pPr lvl="0" eaLnBrk="1" hangingPunct="1"/>
            <a:endParaRPr lang="en-US" altLang="zh-CN" dirty="0">
              <a:cs typeface="Times New Roman" panose="02020603050405020304" charset="0"/>
            </a:endParaRPr>
          </a:p>
          <a:p>
            <a:pPr lvl="0" eaLnBrk="1" hangingPunct="1"/>
            <a:r>
              <a:rPr lang="zh-CN" altLang="en-US" dirty="0">
                <a:cs typeface="Times New Roman" panose="02020603050405020304" charset="0"/>
              </a:rPr>
              <a:t>求法：</a:t>
            </a:r>
            <a:endParaRPr lang="en-US" altLang="zh-CN" dirty="0">
              <a:cs typeface="Times New Roman" panose="02020603050405020304" charset="0"/>
            </a:endParaRPr>
          </a:p>
          <a:p>
            <a:pPr lvl="0" eaLnBrk="1" hangingPunct="1"/>
            <a:r>
              <a:rPr lang="en-US" altLang="zh-CN" dirty="0"/>
              <a:t>i</a:t>
            </a:r>
            <a:r>
              <a:rPr lang="zh-CN" altLang="en-US" dirty="0"/>
              <a:t>之前</a:t>
            </a:r>
            <a:r>
              <a:rPr lang="en-US" altLang="zh-CN" dirty="0"/>
              <a:t>,k+1,k+2…i-1  </a:t>
            </a:r>
            <a:r>
              <a:rPr lang="zh-CN" altLang="en-US" dirty="0"/>
              <a:t>是否为</a:t>
            </a:r>
            <a:r>
              <a:rPr lang="en-US" altLang="zh-CN" dirty="0"/>
              <a:t>x</a:t>
            </a:r>
            <a:r>
              <a:rPr lang="zh-CN" altLang="en-US" dirty="0"/>
              <a:t>的前缀。是，则</a:t>
            </a:r>
            <a:r>
              <a:rPr lang="en-US" altLang="zh-CN" dirty="0">
                <a:cs typeface="Times New Roman" panose="02020603050405020304" charset="0"/>
              </a:rPr>
              <a:t>kmpNext[i]</a:t>
            </a:r>
            <a:r>
              <a:rPr lang="zh-CN" altLang="en-US" dirty="0">
                <a:cs typeface="Times New Roman" panose="02020603050405020304" charset="0"/>
              </a:rPr>
              <a:t>←</a:t>
            </a:r>
            <a:r>
              <a:rPr lang="en-US" altLang="zh-CN" dirty="0">
                <a:cs typeface="Times New Roman" panose="02020603050405020304" charset="0"/>
              </a:rPr>
              <a:t>i-k</a:t>
            </a:r>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25</a:t>
            </a:fld>
            <a:endParaRPr lang="en-US" altLang="zh-CN" sz="1200" dirty="0"/>
          </a:p>
        </p:txBody>
      </p:sp>
      <p:sp>
        <p:nvSpPr>
          <p:cNvPr id="71682" name="Rectangle 2"/>
          <p:cNvSpPr>
            <a:spLocks noGrp="1" noRot="1" noChangeAspect="1" noTextEdit="1"/>
          </p:cNvSpPr>
          <p:nvPr>
            <p:ph type="sldImg"/>
          </p:nvPr>
        </p:nvSpPr>
        <p:spPr/>
      </p:sp>
      <p:sp>
        <p:nvSpPr>
          <p:cNvPr id="716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27</a:t>
            </a:fld>
            <a:endParaRPr lang="en-US" altLang="zh-CN" sz="1200" dirty="0"/>
          </a:p>
        </p:txBody>
      </p:sp>
      <p:sp>
        <p:nvSpPr>
          <p:cNvPr id="73730" name="Rectangle 2"/>
          <p:cNvSpPr>
            <a:spLocks noGrp="1" noRot="1" noChangeAspect="1" noTextEdit="1"/>
          </p:cNvSpPr>
          <p:nvPr>
            <p:ph type="sldImg"/>
          </p:nvPr>
        </p:nvSpPr>
        <p:spPr/>
      </p:sp>
      <p:sp>
        <p:nvSpPr>
          <p:cNvPr id="737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28</a:t>
            </a:fld>
            <a:endParaRPr lang="en-US" altLang="zh-CN" sz="1200" dirty="0"/>
          </a:p>
        </p:txBody>
      </p:sp>
      <p:sp>
        <p:nvSpPr>
          <p:cNvPr id="68610" name="Rectangle 2"/>
          <p:cNvSpPr>
            <a:spLocks noGrp="1" noRot="1" noChangeAspect="1" noTextEdit="1"/>
          </p:cNvSpPr>
          <p:nvPr>
            <p:ph type="sldImg"/>
          </p:nvPr>
        </p:nvSpPr>
        <p:spPr/>
      </p:sp>
      <p:sp>
        <p:nvSpPr>
          <p:cNvPr id="68611" name="Rectangle 3"/>
          <p:cNvSpPr>
            <a:spLocks noGrp="1"/>
          </p:cNvSpPr>
          <p:nvPr>
            <p:ph type="body" idx="1"/>
          </p:nvPr>
        </p:nvSpPr>
        <p:spPr/>
        <p:txBody>
          <a:bodyPr wrap="square" lIns="91440" tIns="45720" rIns="91440" bIns="45720" anchor="t"/>
          <a:lstStyle/>
          <a:p>
            <a:pPr lvl="0" eaLnBrk="1" hangingPunct="1"/>
            <a:endParaRPr lang="en-US" altLang="zh-CN" dirty="0">
              <a:cs typeface="Times New Roman" panose="02020603050405020304" charset="0"/>
            </a:endParaRPr>
          </a:p>
          <a:p>
            <a:pPr lvl="0" eaLnBrk="1" hangingPunct="1"/>
            <a:r>
              <a:rPr lang="zh-CN" altLang="en-US" dirty="0">
                <a:cs typeface="Times New Roman" panose="02020603050405020304" charset="0"/>
              </a:rPr>
              <a:t>用法：</a:t>
            </a:r>
            <a:endParaRPr lang="en-US" altLang="zh-CN" dirty="0">
              <a:cs typeface="Times New Roman" panose="02020603050405020304" charset="0"/>
            </a:endParaRPr>
          </a:p>
          <a:p>
            <a:pPr lvl="0" eaLnBrk="1" hangingPunct="1"/>
            <a:r>
              <a:rPr lang="en-US" altLang="zh-CN" dirty="0">
                <a:cs typeface="Times New Roman" panose="02020603050405020304" charset="0"/>
              </a:rPr>
              <a:t>kmpNext[i]:</a:t>
            </a:r>
            <a:r>
              <a:rPr lang="zh-CN" altLang="en-US" dirty="0">
                <a:cs typeface="Times New Roman" panose="02020603050405020304" charset="0"/>
              </a:rPr>
              <a:t>当前位置</a:t>
            </a:r>
            <a:r>
              <a:rPr lang="en-US" altLang="zh-CN" dirty="0">
                <a:cs typeface="Times New Roman" panose="02020603050405020304" charset="0"/>
              </a:rPr>
              <a:t>i</a:t>
            </a:r>
            <a:r>
              <a:rPr lang="zh-CN" altLang="en-US" dirty="0">
                <a:cs typeface="Times New Roman" panose="02020603050405020304" charset="0"/>
              </a:rPr>
              <a:t>匹配不成功，则转到</a:t>
            </a:r>
            <a:r>
              <a:rPr lang="en-US" altLang="zh-CN" dirty="0">
                <a:cs typeface="Times New Roman" panose="02020603050405020304" charset="0"/>
              </a:rPr>
              <a:t>kmpNext[i]</a:t>
            </a:r>
            <a:r>
              <a:rPr lang="zh-CN" altLang="en-US" dirty="0">
                <a:cs typeface="Times New Roman" panose="02020603050405020304" charset="0"/>
              </a:rPr>
              <a:t>执行。</a:t>
            </a:r>
            <a:endParaRPr lang="en-US" altLang="zh-CN" dirty="0">
              <a:cs typeface="Times New Roman" panose="02020603050405020304" charset="0"/>
            </a:endParaRPr>
          </a:p>
          <a:p>
            <a:pPr lvl="0" eaLnBrk="1" hangingPunct="1"/>
            <a:r>
              <a:rPr lang="zh-CN" altLang="en-US" dirty="0">
                <a:cs typeface="Times New Roman" panose="02020603050405020304" charset="0"/>
              </a:rPr>
              <a:t>首字符为</a:t>
            </a:r>
            <a:r>
              <a:rPr lang="en-US" altLang="zh-CN" dirty="0">
                <a:cs typeface="Times New Roman" panose="02020603050405020304" charset="0"/>
              </a:rPr>
              <a:t>-1</a:t>
            </a:r>
            <a:r>
              <a:rPr lang="zh-CN" altLang="en-US" dirty="0">
                <a:cs typeface="Times New Roman" panose="02020603050405020304" charset="0"/>
              </a:rPr>
              <a:t>，表示</a:t>
            </a:r>
            <a:r>
              <a:rPr lang="en-US" altLang="zh-CN" dirty="0">
                <a:cs typeface="Times New Roman" panose="02020603050405020304" charset="0"/>
              </a:rPr>
              <a:t>i</a:t>
            </a:r>
            <a:r>
              <a:rPr lang="zh-CN" altLang="en-US" dirty="0">
                <a:cs typeface="Times New Roman" panose="02020603050405020304" charset="0"/>
              </a:rPr>
              <a:t>、</a:t>
            </a:r>
            <a:r>
              <a:rPr lang="en-US" altLang="zh-CN" dirty="0">
                <a:cs typeface="Times New Roman" panose="02020603050405020304" charset="0"/>
              </a:rPr>
              <a:t>j</a:t>
            </a:r>
            <a:r>
              <a:rPr lang="zh-CN" altLang="en-US" dirty="0">
                <a:cs typeface="Times New Roman" panose="02020603050405020304" charset="0"/>
              </a:rPr>
              <a:t>指针同时右移一位。</a:t>
            </a:r>
            <a:endParaRPr lang="en-US" altLang="zh-CN" dirty="0">
              <a:cs typeface="Times New Roman" panose="02020603050405020304" charset="0"/>
            </a:endParaRPr>
          </a:p>
          <a:p>
            <a:pPr lvl="0" eaLnBrk="1" hangingPunct="1"/>
            <a:endParaRPr lang="en-US" altLang="zh-CN" dirty="0">
              <a:cs typeface="Times New Roman" panose="02020603050405020304" charset="0"/>
            </a:endParaRPr>
          </a:p>
          <a:p>
            <a:pPr lvl="0" eaLnBrk="1" hangingPunct="1"/>
            <a:r>
              <a:rPr lang="zh-CN" altLang="en-US" dirty="0">
                <a:cs typeface="Times New Roman" panose="02020603050405020304" charset="0"/>
              </a:rPr>
              <a:t>求法：</a:t>
            </a:r>
            <a:endParaRPr lang="en-US" altLang="zh-CN" dirty="0">
              <a:cs typeface="Times New Roman" panose="02020603050405020304" charset="0"/>
            </a:endParaRPr>
          </a:p>
          <a:p>
            <a:pPr lvl="0" eaLnBrk="1" hangingPunct="1"/>
            <a:r>
              <a:rPr lang="en-US" altLang="zh-CN" dirty="0"/>
              <a:t>i</a:t>
            </a:r>
            <a:r>
              <a:rPr lang="zh-CN" altLang="en-US" dirty="0"/>
              <a:t>之前</a:t>
            </a:r>
            <a:r>
              <a:rPr lang="en-US" altLang="zh-CN" dirty="0"/>
              <a:t>,k+1,k+2…i-1  </a:t>
            </a:r>
            <a:r>
              <a:rPr lang="zh-CN" altLang="en-US" dirty="0"/>
              <a:t>是否为</a:t>
            </a:r>
            <a:r>
              <a:rPr lang="en-US" altLang="zh-CN" dirty="0"/>
              <a:t>x</a:t>
            </a:r>
            <a:r>
              <a:rPr lang="zh-CN" altLang="en-US" dirty="0"/>
              <a:t>的前缀。是，则</a:t>
            </a:r>
            <a:r>
              <a:rPr lang="en-US" altLang="zh-CN" dirty="0">
                <a:cs typeface="Times New Roman" panose="02020603050405020304" charset="0"/>
              </a:rPr>
              <a:t>kmpNext[i]</a:t>
            </a:r>
            <a:r>
              <a:rPr lang="zh-CN" altLang="en-US" dirty="0">
                <a:cs typeface="Times New Roman" panose="02020603050405020304" charset="0"/>
              </a:rPr>
              <a:t>←</a:t>
            </a:r>
            <a:r>
              <a:rPr lang="en-US" altLang="zh-CN" dirty="0">
                <a:cs typeface="Times New Roman" panose="02020603050405020304" charset="0"/>
              </a:rPr>
              <a:t>i-k</a:t>
            </a:r>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29</a:t>
            </a:fld>
            <a:endParaRPr lang="en-US" altLang="zh-CN" sz="1200" dirty="0"/>
          </a:p>
        </p:txBody>
      </p:sp>
      <p:sp>
        <p:nvSpPr>
          <p:cNvPr id="71682" name="Rectangle 2"/>
          <p:cNvSpPr>
            <a:spLocks noGrp="1" noRot="1" noChangeAspect="1" noTextEdit="1"/>
          </p:cNvSpPr>
          <p:nvPr>
            <p:ph type="sldImg"/>
          </p:nvPr>
        </p:nvSpPr>
        <p:spPr/>
      </p:sp>
      <p:sp>
        <p:nvSpPr>
          <p:cNvPr id="716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30</a:t>
            </a:fld>
            <a:endParaRPr lang="en-US" altLang="zh-CN" sz="1200" dirty="0"/>
          </a:p>
        </p:txBody>
      </p:sp>
      <p:sp>
        <p:nvSpPr>
          <p:cNvPr id="73730" name="Rectangle 2"/>
          <p:cNvSpPr>
            <a:spLocks noGrp="1" noRot="1" noChangeAspect="1" noTextEdit="1"/>
          </p:cNvSpPr>
          <p:nvPr>
            <p:ph type="sldImg"/>
          </p:nvPr>
        </p:nvSpPr>
        <p:spPr/>
      </p:sp>
      <p:sp>
        <p:nvSpPr>
          <p:cNvPr id="737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31</a:t>
            </a:fld>
            <a:endParaRPr lang="en-US" altLang="zh-CN" sz="1200" dirty="0"/>
          </a:p>
        </p:txBody>
      </p:sp>
      <p:sp>
        <p:nvSpPr>
          <p:cNvPr id="73730" name="Rectangle 2"/>
          <p:cNvSpPr>
            <a:spLocks noGrp="1" noRot="1" noChangeAspect="1" noTextEdit="1"/>
          </p:cNvSpPr>
          <p:nvPr>
            <p:ph type="sldImg"/>
          </p:nvPr>
        </p:nvSpPr>
        <p:spPr/>
      </p:sp>
      <p:sp>
        <p:nvSpPr>
          <p:cNvPr id="737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32</a:t>
            </a:fld>
            <a:endParaRPr lang="en-US" altLang="zh-CN" sz="1200" dirty="0"/>
          </a:p>
        </p:txBody>
      </p:sp>
      <p:sp>
        <p:nvSpPr>
          <p:cNvPr id="75778" name="Rectangle 2"/>
          <p:cNvSpPr>
            <a:spLocks noGrp="1" noRot="1" noChangeAspect="1" noTextEdit="1"/>
          </p:cNvSpPr>
          <p:nvPr>
            <p:ph type="sldImg"/>
          </p:nvPr>
        </p:nvSpPr>
        <p:spPr/>
      </p:sp>
      <p:sp>
        <p:nvSpPr>
          <p:cNvPr id="7577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33</a:t>
            </a:fld>
            <a:endParaRPr lang="en-US" altLang="zh-CN" sz="1200" dirty="0"/>
          </a:p>
        </p:txBody>
      </p:sp>
      <p:sp>
        <p:nvSpPr>
          <p:cNvPr id="77826" name="Rectangle 2"/>
          <p:cNvSpPr>
            <a:spLocks noGrp="1" noRot="1" noChangeAspect="1" noTextEdit="1"/>
          </p:cNvSpPr>
          <p:nvPr>
            <p:ph type="sldImg"/>
          </p:nvPr>
        </p:nvSpPr>
        <p:spPr/>
      </p:sp>
      <p:sp>
        <p:nvSpPr>
          <p:cNvPr id="7782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34</a:t>
            </a:fld>
            <a:endParaRPr lang="en-US" altLang="zh-CN" sz="1200" dirty="0"/>
          </a:p>
        </p:txBody>
      </p:sp>
      <p:sp>
        <p:nvSpPr>
          <p:cNvPr id="79874" name="Rectangle 2"/>
          <p:cNvSpPr>
            <a:spLocks noGrp="1" noRot="1" noChangeAspect="1" noTextEdit="1"/>
          </p:cNvSpPr>
          <p:nvPr>
            <p:ph type="sldImg"/>
          </p:nvPr>
        </p:nvSpPr>
        <p:spPr/>
      </p:sp>
      <p:sp>
        <p:nvSpPr>
          <p:cNvPr id="7987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TextEdit="1"/>
          </p:cNvSpPr>
          <p:nvPr>
            <p:ph type="sldImg"/>
          </p:nvPr>
        </p:nvSpPr>
        <p:spPr/>
      </p:sp>
      <p:sp>
        <p:nvSpPr>
          <p:cNvPr id="81922" name="Rectangle 3"/>
          <p:cNvSpPr>
            <a:spLocks noGrp="1"/>
          </p:cNvSpPr>
          <p:nvPr>
            <p:ph type="body" idx="1"/>
          </p:nvPr>
        </p:nvSpPr>
        <p:spPr/>
        <p:txBody>
          <a:bodyPr wrap="square" lIns="91440" tIns="45720" rIns="91440" bIns="45720" anchor="t"/>
          <a:lstStyle/>
          <a:p>
            <a:pPr lvl="0"/>
            <a:r>
              <a:rPr lang="zh-CN" altLang="en-US" dirty="0"/>
              <a:t>没用的</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39</a:t>
            </a:fld>
            <a:endParaRPr lang="en-US" altLang="zh-CN" sz="1200" dirty="0"/>
          </a:p>
        </p:txBody>
      </p:sp>
      <p:sp>
        <p:nvSpPr>
          <p:cNvPr id="86018" name="Rectangle 2"/>
          <p:cNvSpPr>
            <a:spLocks noGrp="1" noRot="1" noChangeAspect="1" noTextEdit="1"/>
          </p:cNvSpPr>
          <p:nvPr>
            <p:ph type="sldImg"/>
          </p:nvPr>
        </p:nvSpPr>
        <p:spPr/>
      </p:sp>
      <p:sp>
        <p:nvSpPr>
          <p:cNvPr id="86019" name="Rectangle 3"/>
          <p:cNvSpPr>
            <a:spLocks noGrp="1"/>
          </p:cNvSpPr>
          <p:nvPr>
            <p:ph type="body" idx="1"/>
          </p:nvPr>
        </p:nvSpPr>
        <p:spPr/>
        <p:txBody>
          <a:bodyPr wrap="square" lIns="91440" tIns="45720" rIns="91440" bIns="45720" anchor="t"/>
          <a:lstStyle/>
          <a:p>
            <a:pPr lvl="0" eaLnBrk="1" hangingPunct="1"/>
            <a:r>
              <a:rPr lang="zh-CN" altLang="zh-CN" dirty="0"/>
              <a:t>求最大前缀：</a:t>
            </a:r>
            <a:r>
              <a:rPr lang="en-US" altLang="zh-CN" dirty="0"/>
              <a:t>i</a:t>
            </a:r>
            <a:r>
              <a:rPr lang="zh-CN" altLang="en-US" dirty="0"/>
              <a:t>：控制外层循环从到</a:t>
            </a:r>
            <a:r>
              <a:rPr lang="en-US" altLang="zh-CN" dirty="0"/>
              <a:t>m</a:t>
            </a:r>
            <a:r>
              <a:rPr lang="zh-CN" altLang="en-US" dirty="0"/>
              <a:t>；</a:t>
            </a:r>
            <a:r>
              <a:rPr lang="en-US" altLang="zh-CN" dirty="0"/>
              <a:t>j</a:t>
            </a:r>
            <a:r>
              <a:rPr lang="zh-CN" altLang="en-US" dirty="0"/>
              <a:t>寻找最长前缀的长度。</a:t>
            </a:r>
          </a:p>
          <a:p>
            <a:pPr lvl="0" eaLnBrk="1" hangingPunct="1"/>
            <a:r>
              <a:rPr lang="en-US" altLang="zh-CN" dirty="0"/>
              <a:t>GCAGCAT</a:t>
            </a:r>
            <a:endParaRPr lang="zh-CN" altLang="en-US" dirty="0"/>
          </a:p>
          <a:p>
            <a:pPr lvl="0" eaLnBrk="1" hangingPunct="1"/>
            <a:r>
              <a:rPr lang="en-US" altLang="zh-CN" dirty="0"/>
              <a:t>i: 1     2  3   4   5  6</a:t>
            </a:r>
          </a:p>
          <a:p>
            <a:pPr lvl="0" eaLnBrk="1" hangingPunct="1"/>
            <a:r>
              <a:rPr lang="en-US" altLang="zh-CN" dirty="0"/>
              <a:t>j: 0   -1  0   1    2  0</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40</a:t>
            </a:fld>
            <a:endParaRPr lang="en-US" altLang="zh-CN" sz="1200" dirty="0"/>
          </a:p>
        </p:txBody>
      </p:sp>
      <p:sp>
        <p:nvSpPr>
          <p:cNvPr id="89090" name="Rectangle 2"/>
          <p:cNvSpPr>
            <a:spLocks noGrp="1" noRot="1" noChangeAspect="1" noTextEdit="1"/>
          </p:cNvSpPr>
          <p:nvPr>
            <p:ph type="sldImg"/>
          </p:nvPr>
        </p:nvSpPr>
        <p:spPr/>
      </p:sp>
      <p:sp>
        <p:nvSpPr>
          <p:cNvPr id="89091" name="Rectangle 3"/>
          <p:cNvSpPr>
            <a:spLocks noGrp="1"/>
          </p:cNvSpPr>
          <p:nvPr>
            <p:ph type="body" idx="1"/>
          </p:nvPr>
        </p:nvSpPr>
        <p:spPr/>
        <p:txBody>
          <a:bodyPr wrap="square" lIns="91440" tIns="45720" rIns="91440" bIns="45720" anchor="t"/>
          <a:lstStyle/>
          <a:p>
            <a:pPr lvl="0" eaLnBrk="1" hangingPunct="1"/>
            <a:r>
              <a:rPr lang="en-US" altLang="zh-CN" dirty="0"/>
              <a:t>j:</a:t>
            </a:r>
            <a:r>
              <a:rPr lang="zh-CN" altLang="en-US" dirty="0"/>
              <a:t>正文指针</a:t>
            </a:r>
          </a:p>
          <a:p>
            <a:pPr lvl="0" eaLnBrk="1" hangingPunct="1"/>
            <a:r>
              <a:rPr lang="en-US" altLang="zh-CN" dirty="0"/>
              <a:t>i</a:t>
            </a:r>
            <a:r>
              <a:rPr lang="zh-CN" altLang="en-US" dirty="0"/>
              <a:t>：串指针</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41</a:t>
            </a:fld>
            <a:endParaRPr lang="en-US" altLang="zh-CN" sz="1200" dirty="0"/>
          </a:p>
        </p:txBody>
      </p:sp>
      <p:sp>
        <p:nvSpPr>
          <p:cNvPr id="91138" name="Rectangle 2"/>
          <p:cNvSpPr>
            <a:spLocks noGrp="1" noRot="1" noChangeAspect="1" noTextEdit="1"/>
          </p:cNvSpPr>
          <p:nvPr>
            <p:ph type="sldImg"/>
          </p:nvPr>
        </p:nvSpPr>
        <p:spPr/>
      </p:sp>
      <p:sp>
        <p:nvSpPr>
          <p:cNvPr id="9113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43</a:t>
            </a:fld>
            <a:endParaRPr lang="en-US" altLang="zh-CN" sz="1200" dirty="0"/>
          </a:p>
        </p:txBody>
      </p:sp>
      <p:sp>
        <p:nvSpPr>
          <p:cNvPr id="95234" name="Rectangle 2"/>
          <p:cNvSpPr>
            <a:spLocks noGrp="1" noRot="1" noChangeAspect="1" noTextEdit="1"/>
          </p:cNvSpPr>
          <p:nvPr>
            <p:ph type="sldImg"/>
          </p:nvPr>
        </p:nvSpPr>
        <p:spPr/>
      </p:sp>
      <p:sp>
        <p:nvSpPr>
          <p:cNvPr id="9523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44</a:t>
            </a:fld>
            <a:endParaRPr lang="en-US" altLang="zh-CN" sz="1200" dirty="0"/>
          </a:p>
        </p:txBody>
      </p:sp>
      <p:sp>
        <p:nvSpPr>
          <p:cNvPr id="97282" name="Rectangle 2"/>
          <p:cNvSpPr>
            <a:spLocks noGrp="1" noRot="1" noChangeAspect="1" noTextEdit="1"/>
          </p:cNvSpPr>
          <p:nvPr>
            <p:ph type="sldImg"/>
          </p:nvPr>
        </p:nvSpPr>
        <p:spPr/>
      </p:sp>
      <p:sp>
        <p:nvSpPr>
          <p:cNvPr id="972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45</a:t>
            </a:fld>
            <a:endParaRPr lang="en-US" altLang="zh-CN" sz="1200" dirty="0"/>
          </a:p>
        </p:txBody>
      </p:sp>
      <p:sp>
        <p:nvSpPr>
          <p:cNvPr id="99330" name="Rectangle 2"/>
          <p:cNvSpPr>
            <a:spLocks noGrp="1" noRot="1" noChangeAspect="1" noTextEdit="1"/>
          </p:cNvSpPr>
          <p:nvPr>
            <p:ph type="sldImg"/>
          </p:nvPr>
        </p:nvSpPr>
        <p:spPr/>
      </p:sp>
      <p:sp>
        <p:nvSpPr>
          <p:cNvPr id="993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46</a:t>
            </a:fld>
            <a:endParaRPr lang="en-US" altLang="zh-CN" sz="1200" dirty="0"/>
          </a:p>
        </p:txBody>
      </p:sp>
      <p:sp>
        <p:nvSpPr>
          <p:cNvPr id="101378" name="Rectangle 2"/>
          <p:cNvSpPr>
            <a:spLocks noGrp="1" noRot="1" noChangeAspect="1" noTextEdit="1"/>
          </p:cNvSpPr>
          <p:nvPr>
            <p:ph type="sldImg"/>
          </p:nvPr>
        </p:nvSpPr>
        <p:spPr/>
      </p:sp>
      <p:sp>
        <p:nvSpPr>
          <p:cNvPr id="10137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47</a:t>
            </a:fld>
            <a:endParaRPr lang="en-US" altLang="zh-CN" sz="1200" dirty="0"/>
          </a:p>
        </p:txBody>
      </p:sp>
      <p:sp>
        <p:nvSpPr>
          <p:cNvPr id="103426" name="Rectangle 2"/>
          <p:cNvSpPr>
            <a:spLocks noGrp="1" noRot="1" noChangeAspect="1" noTextEdit="1"/>
          </p:cNvSpPr>
          <p:nvPr>
            <p:ph type="sldImg"/>
          </p:nvPr>
        </p:nvSpPr>
        <p:spPr/>
      </p:sp>
      <p:sp>
        <p:nvSpPr>
          <p:cNvPr id="10342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48</a:t>
            </a:fld>
            <a:endParaRPr lang="en-US" altLang="zh-CN" sz="1200" dirty="0"/>
          </a:p>
        </p:txBody>
      </p:sp>
      <p:sp>
        <p:nvSpPr>
          <p:cNvPr id="105474" name="Rectangle 2"/>
          <p:cNvSpPr>
            <a:spLocks noGrp="1" noRot="1" noChangeAspect="1" noTextEdit="1"/>
          </p:cNvSpPr>
          <p:nvPr>
            <p:ph type="sldImg"/>
          </p:nvPr>
        </p:nvSpPr>
        <p:spPr/>
      </p:sp>
      <p:sp>
        <p:nvSpPr>
          <p:cNvPr id="10547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49</a:t>
            </a:fld>
            <a:endParaRPr lang="en-US" altLang="zh-CN" sz="1200" dirty="0"/>
          </a:p>
        </p:txBody>
      </p:sp>
      <p:sp>
        <p:nvSpPr>
          <p:cNvPr id="107522" name="Rectangle 2"/>
          <p:cNvSpPr>
            <a:spLocks noGrp="1" noRot="1" noChangeAspect="1" noTextEdit="1"/>
          </p:cNvSpPr>
          <p:nvPr>
            <p:ph type="sldImg"/>
          </p:nvPr>
        </p:nvSpPr>
        <p:spPr/>
      </p:sp>
      <p:sp>
        <p:nvSpPr>
          <p:cNvPr id="10752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50</a:t>
            </a:fld>
            <a:endParaRPr lang="en-US" altLang="zh-CN" sz="1200" dirty="0"/>
          </a:p>
        </p:txBody>
      </p:sp>
      <p:sp>
        <p:nvSpPr>
          <p:cNvPr id="109570" name="Rectangle 2"/>
          <p:cNvSpPr>
            <a:spLocks noGrp="1" noRot="1" noChangeAspect="1" noTextEdit="1"/>
          </p:cNvSpPr>
          <p:nvPr>
            <p:ph type="sldImg"/>
          </p:nvPr>
        </p:nvSpPr>
        <p:spPr/>
      </p:sp>
      <p:sp>
        <p:nvSpPr>
          <p:cNvPr id="10957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51</a:t>
            </a:fld>
            <a:endParaRPr lang="en-US" altLang="zh-CN" sz="1200" dirty="0"/>
          </a:p>
        </p:txBody>
      </p:sp>
      <p:sp>
        <p:nvSpPr>
          <p:cNvPr id="111618" name="Rectangle 2"/>
          <p:cNvSpPr>
            <a:spLocks noGrp="1" noRot="1" noChangeAspect="1" noTextEdit="1"/>
          </p:cNvSpPr>
          <p:nvPr>
            <p:ph type="sldImg"/>
          </p:nvPr>
        </p:nvSpPr>
        <p:spPr/>
      </p:sp>
      <p:sp>
        <p:nvSpPr>
          <p:cNvPr id="11161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52</a:t>
            </a:fld>
            <a:endParaRPr lang="en-US" altLang="zh-CN" sz="1200" dirty="0"/>
          </a:p>
        </p:txBody>
      </p:sp>
      <p:sp>
        <p:nvSpPr>
          <p:cNvPr id="113666" name="Rectangle 2"/>
          <p:cNvSpPr>
            <a:spLocks noGrp="1" noRot="1" noChangeAspect="1" noTextEdit="1"/>
          </p:cNvSpPr>
          <p:nvPr>
            <p:ph type="sldImg"/>
          </p:nvPr>
        </p:nvSpPr>
        <p:spPr/>
      </p:sp>
      <p:sp>
        <p:nvSpPr>
          <p:cNvPr id="11366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53</a:t>
            </a:fld>
            <a:endParaRPr lang="en-US" altLang="zh-CN" sz="1200" dirty="0"/>
          </a:p>
        </p:txBody>
      </p:sp>
      <p:sp>
        <p:nvSpPr>
          <p:cNvPr id="115714" name="Rectangle 2"/>
          <p:cNvSpPr>
            <a:spLocks noGrp="1" noRot="1" noChangeAspect="1" noTextEdit="1"/>
          </p:cNvSpPr>
          <p:nvPr>
            <p:ph type="sldImg"/>
          </p:nvPr>
        </p:nvSpPr>
        <p:spPr/>
      </p:sp>
      <p:sp>
        <p:nvSpPr>
          <p:cNvPr id="11571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58</a:t>
            </a:fld>
            <a:endParaRPr lang="en-US" altLang="zh-CN" sz="1200" dirty="0"/>
          </a:p>
        </p:txBody>
      </p:sp>
      <p:sp>
        <p:nvSpPr>
          <p:cNvPr id="118786" name="Rectangle 2"/>
          <p:cNvSpPr>
            <a:spLocks noGrp="1" noRot="1" noChangeAspect="1" noTextEdit="1"/>
          </p:cNvSpPr>
          <p:nvPr>
            <p:ph type="sldImg"/>
          </p:nvPr>
        </p:nvSpPr>
        <p:spPr/>
      </p:sp>
      <p:sp>
        <p:nvSpPr>
          <p:cNvPr id="11878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59</a:t>
            </a:fld>
            <a:endParaRPr lang="en-US" altLang="zh-CN" sz="1200" dirty="0"/>
          </a:p>
        </p:txBody>
      </p:sp>
      <p:sp>
        <p:nvSpPr>
          <p:cNvPr id="120834" name="Rectangle 2"/>
          <p:cNvSpPr>
            <a:spLocks noGrp="1" noRot="1" noChangeAspect="1" noTextEdit="1"/>
          </p:cNvSpPr>
          <p:nvPr>
            <p:ph type="sldImg"/>
          </p:nvPr>
        </p:nvSpPr>
        <p:spPr/>
      </p:sp>
      <p:sp>
        <p:nvSpPr>
          <p:cNvPr id="12083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60</a:t>
            </a:fld>
            <a:endParaRPr lang="en-US" altLang="zh-CN" sz="1200" dirty="0"/>
          </a:p>
        </p:txBody>
      </p:sp>
      <p:sp>
        <p:nvSpPr>
          <p:cNvPr id="123906" name="Rectangle 2"/>
          <p:cNvSpPr>
            <a:spLocks noGrp="1" noRot="1" noChangeAspect="1" noTextEdit="1"/>
          </p:cNvSpPr>
          <p:nvPr>
            <p:ph type="sldImg"/>
          </p:nvPr>
        </p:nvSpPr>
        <p:spPr/>
      </p:sp>
      <p:sp>
        <p:nvSpPr>
          <p:cNvPr id="123907" name="Rectangle 3"/>
          <p:cNvSpPr>
            <a:spLocks noGrp="1"/>
          </p:cNvSpPr>
          <p:nvPr>
            <p:ph type="body" idx="1"/>
          </p:nvPr>
        </p:nvSpPr>
        <p:spPr/>
        <p:txBody>
          <a:bodyPr wrap="square" lIns="91440" tIns="45720" rIns="91440" bIns="45720" anchor="t"/>
          <a:lstStyle/>
          <a:p>
            <a:pPr lvl="0" eaLnBrk="1" hangingPunct="1"/>
            <a:r>
              <a:rPr lang="zh-CN" altLang="en-US" dirty="0"/>
              <a:t>自行开展实验</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61</a:t>
            </a:fld>
            <a:endParaRPr lang="en-US" altLang="zh-CN" sz="1200" dirty="0"/>
          </a:p>
        </p:txBody>
      </p:sp>
      <p:sp>
        <p:nvSpPr>
          <p:cNvPr id="125954" name="Rectangle 2"/>
          <p:cNvSpPr>
            <a:spLocks noGrp="1" noRot="1" noChangeAspect="1" noTextEdit="1"/>
          </p:cNvSpPr>
          <p:nvPr>
            <p:ph type="sldImg"/>
          </p:nvPr>
        </p:nvSpPr>
        <p:spPr/>
      </p:sp>
      <p:sp>
        <p:nvSpPr>
          <p:cNvPr id="12595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62</a:t>
            </a:fld>
            <a:endParaRPr lang="en-US" altLang="zh-CN" sz="1200" dirty="0"/>
          </a:p>
        </p:txBody>
      </p:sp>
      <p:sp>
        <p:nvSpPr>
          <p:cNvPr id="130050" name="Rectangle 2"/>
          <p:cNvSpPr>
            <a:spLocks noGrp="1" noRot="1" noChangeAspect="1" noTextEdit="1"/>
          </p:cNvSpPr>
          <p:nvPr>
            <p:ph type="sldImg"/>
          </p:nvPr>
        </p:nvSpPr>
        <p:spPr/>
      </p:sp>
      <p:sp>
        <p:nvSpPr>
          <p:cNvPr id="13005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63</a:t>
            </a:fld>
            <a:endParaRPr lang="en-US" altLang="zh-CN" sz="1200" dirty="0"/>
          </a:p>
        </p:txBody>
      </p:sp>
      <p:sp>
        <p:nvSpPr>
          <p:cNvPr id="132098" name="Rectangle 2"/>
          <p:cNvSpPr>
            <a:spLocks noGrp="1" noRot="1" noChangeAspect="1" noTextEdit="1"/>
          </p:cNvSpPr>
          <p:nvPr>
            <p:ph type="sldImg"/>
          </p:nvPr>
        </p:nvSpPr>
        <p:spPr/>
      </p:sp>
      <p:sp>
        <p:nvSpPr>
          <p:cNvPr id="13209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64</a:t>
            </a:fld>
            <a:endParaRPr lang="en-US" altLang="zh-CN" sz="1200" dirty="0"/>
          </a:p>
        </p:txBody>
      </p:sp>
      <p:sp>
        <p:nvSpPr>
          <p:cNvPr id="134146" name="Rectangle 2"/>
          <p:cNvSpPr>
            <a:spLocks noGrp="1" noRot="1" noChangeAspect="1" noTextEdit="1"/>
          </p:cNvSpPr>
          <p:nvPr>
            <p:ph type="sldImg"/>
          </p:nvPr>
        </p:nvSpPr>
        <p:spPr/>
      </p:sp>
      <p:sp>
        <p:nvSpPr>
          <p:cNvPr id="13414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65</a:t>
            </a:fld>
            <a:endParaRPr lang="en-US" altLang="zh-CN" sz="1200" dirty="0"/>
          </a:p>
        </p:txBody>
      </p:sp>
      <p:sp>
        <p:nvSpPr>
          <p:cNvPr id="136194" name="Rectangle 2"/>
          <p:cNvSpPr>
            <a:spLocks noGrp="1" noRot="1" noChangeAspect="1" noTextEdit="1"/>
          </p:cNvSpPr>
          <p:nvPr>
            <p:ph type="sldImg"/>
          </p:nvPr>
        </p:nvSpPr>
        <p:spPr/>
      </p:sp>
      <p:sp>
        <p:nvSpPr>
          <p:cNvPr id="13619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67</a:t>
            </a:fld>
            <a:endParaRPr lang="en-US" altLang="zh-CN" sz="1200" dirty="0"/>
          </a:p>
        </p:txBody>
      </p:sp>
      <p:sp>
        <p:nvSpPr>
          <p:cNvPr id="139266" name="Rectangle 2"/>
          <p:cNvSpPr>
            <a:spLocks noGrp="1" noRot="1" noChangeAspect="1" noTextEdit="1"/>
          </p:cNvSpPr>
          <p:nvPr>
            <p:ph type="sldImg"/>
          </p:nvPr>
        </p:nvSpPr>
        <p:spPr/>
      </p:sp>
      <p:sp>
        <p:nvSpPr>
          <p:cNvPr id="13926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68</a:t>
            </a:fld>
            <a:endParaRPr lang="en-US" altLang="zh-CN" sz="1200" dirty="0"/>
          </a:p>
        </p:txBody>
      </p:sp>
      <p:sp>
        <p:nvSpPr>
          <p:cNvPr id="141314" name="Rectangle 2"/>
          <p:cNvSpPr>
            <a:spLocks noGrp="1" noRot="1" noChangeAspect="1" noTextEdit="1"/>
          </p:cNvSpPr>
          <p:nvPr>
            <p:ph type="sldImg"/>
          </p:nvPr>
        </p:nvSpPr>
        <p:spPr/>
      </p:sp>
      <p:sp>
        <p:nvSpPr>
          <p:cNvPr id="14131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69</a:t>
            </a:fld>
            <a:endParaRPr lang="en-US" altLang="zh-CN" sz="1200" dirty="0"/>
          </a:p>
        </p:txBody>
      </p:sp>
      <p:sp>
        <p:nvSpPr>
          <p:cNvPr id="143362" name="Rectangle 2"/>
          <p:cNvSpPr>
            <a:spLocks noGrp="1" noRot="1" noChangeAspect="1" noTextEdit="1"/>
          </p:cNvSpPr>
          <p:nvPr>
            <p:ph type="sldImg"/>
          </p:nvPr>
        </p:nvSpPr>
        <p:spPr/>
      </p:sp>
      <p:sp>
        <p:nvSpPr>
          <p:cNvPr id="14336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71</a:t>
            </a:fld>
            <a:endParaRPr lang="en-US" altLang="zh-CN" sz="1200" dirty="0"/>
          </a:p>
        </p:txBody>
      </p:sp>
      <p:sp>
        <p:nvSpPr>
          <p:cNvPr id="145410" name="Rectangle 2"/>
          <p:cNvSpPr>
            <a:spLocks noGrp="1" noRot="1" noChangeAspect="1" noTextEdit="1"/>
          </p:cNvSpPr>
          <p:nvPr>
            <p:ph type="sldImg"/>
          </p:nvPr>
        </p:nvSpPr>
        <p:spPr/>
      </p:sp>
      <p:sp>
        <p:nvSpPr>
          <p:cNvPr id="14541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72</a:t>
            </a:fld>
            <a:endParaRPr lang="en-US" altLang="zh-CN" sz="1200" dirty="0"/>
          </a:p>
        </p:txBody>
      </p:sp>
      <p:sp>
        <p:nvSpPr>
          <p:cNvPr id="147458" name="Rectangle 2"/>
          <p:cNvSpPr>
            <a:spLocks noGrp="1" noRot="1" noChangeAspect="1" noTextEdit="1"/>
          </p:cNvSpPr>
          <p:nvPr>
            <p:ph type="sldImg"/>
          </p:nvPr>
        </p:nvSpPr>
        <p:spPr/>
      </p:sp>
      <p:sp>
        <p:nvSpPr>
          <p:cNvPr id="14745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73</a:t>
            </a:fld>
            <a:endParaRPr lang="en-US" altLang="zh-CN" sz="1200" dirty="0"/>
          </a:p>
        </p:txBody>
      </p:sp>
      <p:sp>
        <p:nvSpPr>
          <p:cNvPr id="149506" name="Rectangle 2"/>
          <p:cNvSpPr>
            <a:spLocks noGrp="1" noRot="1" noChangeAspect="1" noTextEdit="1"/>
          </p:cNvSpPr>
          <p:nvPr>
            <p:ph type="sldImg"/>
          </p:nvPr>
        </p:nvSpPr>
        <p:spPr/>
      </p:sp>
      <p:sp>
        <p:nvSpPr>
          <p:cNvPr id="14950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74</a:t>
            </a:fld>
            <a:endParaRPr lang="en-US" altLang="zh-CN" sz="1200" dirty="0"/>
          </a:p>
        </p:txBody>
      </p:sp>
      <p:sp>
        <p:nvSpPr>
          <p:cNvPr id="151554" name="Rectangle 2"/>
          <p:cNvSpPr>
            <a:spLocks noGrp="1" noRot="1" noChangeAspect="1" noTextEdit="1"/>
          </p:cNvSpPr>
          <p:nvPr>
            <p:ph type="sldImg"/>
          </p:nvPr>
        </p:nvSpPr>
        <p:spPr/>
      </p:sp>
      <p:sp>
        <p:nvSpPr>
          <p:cNvPr id="15155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75</a:t>
            </a:fld>
            <a:endParaRPr lang="en-US" altLang="zh-CN" sz="1200" dirty="0"/>
          </a:p>
        </p:txBody>
      </p:sp>
      <p:sp>
        <p:nvSpPr>
          <p:cNvPr id="153602" name="Rectangle 2"/>
          <p:cNvSpPr>
            <a:spLocks noGrp="1" noRot="1" noChangeAspect="1" noTextEdit="1"/>
          </p:cNvSpPr>
          <p:nvPr>
            <p:ph type="sldImg"/>
          </p:nvPr>
        </p:nvSpPr>
        <p:spPr/>
      </p:sp>
      <p:sp>
        <p:nvSpPr>
          <p:cNvPr id="15360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76</a:t>
            </a:fld>
            <a:endParaRPr lang="en-US" altLang="zh-CN" sz="1200" dirty="0"/>
          </a:p>
        </p:txBody>
      </p:sp>
      <p:sp>
        <p:nvSpPr>
          <p:cNvPr id="155650" name="Rectangle 2"/>
          <p:cNvSpPr>
            <a:spLocks noGrp="1" noRot="1" noChangeAspect="1" noTextEdit="1"/>
          </p:cNvSpPr>
          <p:nvPr>
            <p:ph type="sldImg"/>
          </p:nvPr>
        </p:nvSpPr>
        <p:spPr/>
      </p:sp>
      <p:sp>
        <p:nvSpPr>
          <p:cNvPr id="15565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77</a:t>
            </a:fld>
            <a:endParaRPr lang="en-US" altLang="zh-CN" sz="1200" dirty="0"/>
          </a:p>
        </p:txBody>
      </p:sp>
      <p:sp>
        <p:nvSpPr>
          <p:cNvPr id="157698" name="Rectangle 2"/>
          <p:cNvSpPr>
            <a:spLocks noGrp="1" noRot="1" noChangeAspect="1" noTextEdit="1"/>
          </p:cNvSpPr>
          <p:nvPr>
            <p:ph type="sldImg"/>
          </p:nvPr>
        </p:nvSpPr>
        <p:spPr/>
      </p:sp>
      <p:sp>
        <p:nvSpPr>
          <p:cNvPr id="15769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78</a:t>
            </a:fld>
            <a:endParaRPr lang="en-US" altLang="zh-CN" sz="1200" dirty="0"/>
          </a:p>
        </p:txBody>
      </p:sp>
      <p:sp>
        <p:nvSpPr>
          <p:cNvPr id="159746" name="Rectangle 2"/>
          <p:cNvSpPr>
            <a:spLocks noGrp="1" noRot="1" noChangeAspect="1" noTextEdit="1"/>
          </p:cNvSpPr>
          <p:nvPr>
            <p:ph type="sldImg"/>
          </p:nvPr>
        </p:nvSpPr>
        <p:spPr/>
      </p:sp>
      <p:sp>
        <p:nvSpPr>
          <p:cNvPr id="15974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79</a:t>
            </a:fld>
            <a:endParaRPr lang="en-US" altLang="zh-CN" sz="1200" dirty="0"/>
          </a:p>
        </p:txBody>
      </p:sp>
      <p:sp>
        <p:nvSpPr>
          <p:cNvPr id="161794" name="Rectangle 2"/>
          <p:cNvSpPr>
            <a:spLocks noGrp="1" noRot="1" noChangeAspect="1" noTextEdit="1"/>
          </p:cNvSpPr>
          <p:nvPr>
            <p:ph type="sldImg"/>
          </p:nvPr>
        </p:nvSpPr>
        <p:spPr/>
      </p:sp>
      <p:sp>
        <p:nvSpPr>
          <p:cNvPr id="16179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80</a:t>
            </a:fld>
            <a:endParaRPr lang="en-US" altLang="zh-CN" sz="1200" dirty="0"/>
          </a:p>
        </p:txBody>
      </p:sp>
      <p:sp>
        <p:nvSpPr>
          <p:cNvPr id="163842" name="Rectangle 2"/>
          <p:cNvSpPr>
            <a:spLocks noGrp="1" noRot="1" noChangeAspect="1" noTextEdit="1"/>
          </p:cNvSpPr>
          <p:nvPr>
            <p:ph type="sldImg"/>
          </p:nvPr>
        </p:nvSpPr>
        <p:spPr/>
      </p:sp>
      <p:sp>
        <p:nvSpPr>
          <p:cNvPr id="16384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81</a:t>
            </a:fld>
            <a:endParaRPr lang="en-US" altLang="zh-CN" sz="1200" dirty="0"/>
          </a:p>
        </p:txBody>
      </p:sp>
      <p:sp>
        <p:nvSpPr>
          <p:cNvPr id="165890" name="Rectangle 2"/>
          <p:cNvSpPr>
            <a:spLocks noGrp="1" noRot="1" noChangeAspect="1" noTextEdit="1"/>
          </p:cNvSpPr>
          <p:nvPr>
            <p:ph type="sldImg"/>
          </p:nvPr>
        </p:nvSpPr>
        <p:spPr/>
      </p:sp>
      <p:sp>
        <p:nvSpPr>
          <p:cNvPr id="16589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82</a:t>
            </a:fld>
            <a:endParaRPr lang="en-US" altLang="zh-CN" sz="1200" dirty="0"/>
          </a:p>
        </p:txBody>
      </p:sp>
      <p:sp>
        <p:nvSpPr>
          <p:cNvPr id="167938" name="Rectangle 2"/>
          <p:cNvSpPr>
            <a:spLocks noGrp="1" noRot="1" noChangeAspect="1" noTextEdit="1"/>
          </p:cNvSpPr>
          <p:nvPr>
            <p:ph type="sldImg"/>
          </p:nvPr>
        </p:nvSpPr>
        <p:spPr/>
      </p:sp>
      <p:sp>
        <p:nvSpPr>
          <p:cNvPr id="16793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83</a:t>
            </a:fld>
            <a:endParaRPr lang="en-US" altLang="zh-CN" sz="1200" dirty="0"/>
          </a:p>
        </p:txBody>
      </p:sp>
      <p:sp>
        <p:nvSpPr>
          <p:cNvPr id="169986" name="Rectangle 2"/>
          <p:cNvSpPr>
            <a:spLocks noGrp="1" noRot="1" noChangeAspect="1" noTextEdit="1"/>
          </p:cNvSpPr>
          <p:nvPr>
            <p:ph type="sldImg"/>
          </p:nvPr>
        </p:nvSpPr>
        <p:spPr/>
      </p:sp>
      <p:sp>
        <p:nvSpPr>
          <p:cNvPr id="16998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84</a:t>
            </a:fld>
            <a:endParaRPr lang="en-US" altLang="zh-CN" sz="1200" dirty="0"/>
          </a:p>
        </p:txBody>
      </p:sp>
      <p:sp>
        <p:nvSpPr>
          <p:cNvPr id="172034" name="Rectangle 2"/>
          <p:cNvSpPr>
            <a:spLocks noGrp="1" noRot="1" noChangeAspect="1" noTextEdit="1"/>
          </p:cNvSpPr>
          <p:nvPr>
            <p:ph type="sldImg"/>
          </p:nvPr>
        </p:nvSpPr>
        <p:spPr/>
      </p:sp>
      <p:sp>
        <p:nvSpPr>
          <p:cNvPr id="17203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85</a:t>
            </a:fld>
            <a:endParaRPr lang="en-US" altLang="zh-CN" sz="1200" dirty="0"/>
          </a:p>
        </p:txBody>
      </p:sp>
      <p:sp>
        <p:nvSpPr>
          <p:cNvPr id="174082" name="Rectangle 2"/>
          <p:cNvSpPr>
            <a:spLocks noGrp="1" noRot="1" noChangeAspect="1" noTextEdit="1"/>
          </p:cNvSpPr>
          <p:nvPr>
            <p:ph type="sldImg"/>
          </p:nvPr>
        </p:nvSpPr>
        <p:spPr/>
      </p:sp>
      <p:sp>
        <p:nvSpPr>
          <p:cNvPr id="1740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86</a:t>
            </a:fld>
            <a:endParaRPr lang="en-US" altLang="zh-CN" sz="1200" dirty="0"/>
          </a:p>
        </p:txBody>
      </p:sp>
      <p:sp>
        <p:nvSpPr>
          <p:cNvPr id="176130" name="Rectangle 2"/>
          <p:cNvSpPr>
            <a:spLocks noGrp="1" noRot="1" noChangeAspect="1" noTextEdit="1"/>
          </p:cNvSpPr>
          <p:nvPr>
            <p:ph type="sldImg"/>
          </p:nvPr>
        </p:nvSpPr>
        <p:spPr/>
      </p:sp>
      <p:sp>
        <p:nvSpPr>
          <p:cNvPr id="1761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87</a:t>
            </a:fld>
            <a:endParaRPr lang="en-US" altLang="zh-CN" sz="1200" dirty="0"/>
          </a:p>
        </p:txBody>
      </p:sp>
      <p:sp>
        <p:nvSpPr>
          <p:cNvPr id="178178" name="Rectangle 2"/>
          <p:cNvSpPr>
            <a:spLocks noGrp="1" noRot="1" noChangeAspect="1" noTextEdit="1"/>
          </p:cNvSpPr>
          <p:nvPr>
            <p:ph type="sldImg"/>
          </p:nvPr>
        </p:nvSpPr>
        <p:spPr/>
      </p:sp>
      <p:sp>
        <p:nvSpPr>
          <p:cNvPr id="17817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88</a:t>
            </a:fld>
            <a:endParaRPr lang="en-US" altLang="zh-CN" sz="1200" dirty="0"/>
          </a:p>
        </p:txBody>
      </p:sp>
      <p:sp>
        <p:nvSpPr>
          <p:cNvPr id="180226" name="Rectangle 2"/>
          <p:cNvSpPr>
            <a:spLocks noGrp="1" noRot="1" noChangeAspect="1" noTextEdit="1"/>
          </p:cNvSpPr>
          <p:nvPr>
            <p:ph type="sldImg"/>
          </p:nvPr>
        </p:nvSpPr>
        <p:spPr/>
      </p:sp>
      <p:sp>
        <p:nvSpPr>
          <p:cNvPr id="18022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智者：提前准备；</a:t>
            </a:r>
          </a:p>
          <a:p>
            <a:r>
              <a:rPr lang="zh-CN" altLang="en-US" dirty="0"/>
              <a:t>智者聚集：内卷；</a:t>
            </a:r>
            <a:r>
              <a:rPr lang="en-US" altLang="zh-CN" dirty="0"/>
              <a:t>no----</a:t>
            </a:r>
            <a:r>
              <a:rPr lang="zh-CN" altLang="en-US" dirty="0"/>
              <a:t>自己的目标，超越自己，超越他人期望；</a:t>
            </a:r>
          </a:p>
          <a:p>
            <a:r>
              <a:rPr lang="en-US" altLang="zh-CN" dirty="0"/>
              <a:t>                 </a:t>
            </a:r>
            <a:r>
              <a:rPr lang="zh-CN" altLang="en-US" dirty="0"/>
              <a:t>竞争</a:t>
            </a:r>
            <a:r>
              <a:rPr lang="en-US" altLang="zh-CN" dirty="0"/>
              <a:t>--</a:t>
            </a:r>
            <a:r>
              <a:rPr lang="zh-CN" altLang="en-US" dirty="0"/>
              <a:t>机会少？自信，道路宽广，胜任；事实上也是这样，跃龙门。考研，</a:t>
            </a:r>
            <a:r>
              <a:rPr lang="en-US" altLang="zh-CN" dirty="0"/>
              <a:t>PK</a:t>
            </a:r>
            <a:r>
              <a:rPr lang="zh-CN" altLang="en-US" dirty="0"/>
              <a:t>外校；胜出</a:t>
            </a:r>
            <a:r>
              <a:rPr lang="en-US" altLang="zh-CN" dirty="0"/>
              <a:t>100/200</a:t>
            </a:r>
            <a:r>
              <a:rPr lang="zh-CN" altLang="en-US" dirty="0"/>
              <a:t>；</a:t>
            </a:r>
          </a:p>
          <a:p>
            <a:endParaRPr lang="zh-CN" altLang="en-US" dirty="0"/>
          </a:p>
          <a:p>
            <a:r>
              <a:rPr lang="zh-CN" altLang="en-US" dirty="0"/>
              <a:t>计算机算法：</a:t>
            </a:r>
            <a:r>
              <a:rPr lang="en-US" altLang="zh-CN" dirty="0"/>
              <a:t>OS</a:t>
            </a:r>
            <a:r>
              <a:rPr lang="zh-CN" altLang="en-US" dirty="0"/>
              <a:t>，万变不离其宗；资源管理，流水线。比如：考研</a:t>
            </a:r>
            <a:r>
              <a:rPr lang="en-US" altLang="zh-CN" dirty="0"/>
              <a:t>----5</a:t>
            </a:r>
            <a:r>
              <a:rPr lang="zh-CN" altLang="en-US" dirty="0"/>
              <a:t>考官，</a:t>
            </a:r>
            <a:r>
              <a:rPr lang="en-US" altLang="zh-CN" dirty="0"/>
              <a:t>100</a:t>
            </a:r>
            <a:r>
              <a:rPr lang="zh-CN" altLang="en-US" dirty="0"/>
              <a:t>学生，每学生回答</a:t>
            </a:r>
            <a:r>
              <a:rPr lang="en-US" altLang="zh-CN" dirty="0"/>
              <a:t>5</a:t>
            </a:r>
            <a:r>
              <a:rPr lang="zh-CN" altLang="en-US" dirty="0"/>
              <a:t>个问题，</a:t>
            </a:r>
            <a:r>
              <a:rPr lang="en-US" altLang="zh-CN" dirty="0"/>
              <a:t>5</a:t>
            </a:r>
            <a:r>
              <a:rPr lang="zh-CN" altLang="en-US" dirty="0"/>
              <a:t>分钟</a:t>
            </a:r>
            <a:r>
              <a:rPr lang="en-US" altLang="zh-CN" dirty="0"/>
              <a:t>/</a:t>
            </a:r>
            <a:r>
              <a:rPr lang="zh-CN" altLang="en-US" dirty="0"/>
              <a:t>问题</a:t>
            </a:r>
            <a:r>
              <a:rPr lang="en-US" altLang="zh-CN" dirty="0"/>
              <a:t> </a:t>
            </a:r>
            <a:r>
              <a:rPr lang="zh-CN" altLang="en-US" dirty="0"/>
              <a:t>。最短需要多长时间？串行：</a:t>
            </a:r>
            <a:r>
              <a:rPr lang="en-US" altLang="zh-CN" dirty="0"/>
              <a:t>25*100</a:t>
            </a:r>
            <a:r>
              <a:rPr lang="zh-CN" altLang="en-US" dirty="0"/>
              <a:t>，并行：</a:t>
            </a:r>
            <a:r>
              <a:rPr lang="en-US" altLang="zh-CN" dirty="0"/>
              <a:t>25*20.(</a:t>
            </a:r>
            <a:r>
              <a:rPr lang="zh-CN" altLang="en-US" dirty="0"/>
              <a:t>各生不同序</a:t>
            </a:r>
            <a:r>
              <a:rPr lang="en-US" altLang="zh-CN" dirty="0"/>
              <a:t>)  4*5+2*20</a:t>
            </a:r>
            <a:r>
              <a:rPr lang="zh-CN" altLang="en-US" dirty="0"/>
              <a:t>（各生同序）</a:t>
            </a:r>
          </a:p>
          <a:p>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93</a:t>
            </a:fld>
            <a:endParaRPr lang="en-US" altLang="zh-CN" sz="1200" dirty="0"/>
          </a:p>
        </p:txBody>
      </p:sp>
      <p:sp>
        <p:nvSpPr>
          <p:cNvPr id="185346" name="Rectangle 2"/>
          <p:cNvSpPr>
            <a:spLocks noGrp="1" noRot="1" noChangeAspect="1" noTextEdit="1"/>
          </p:cNvSpPr>
          <p:nvPr>
            <p:ph type="sldImg"/>
          </p:nvPr>
        </p:nvSpPr>
        <p:spPr/>
      </p:sp>
      <p:sp>
        <p:nvSpPr>
          <p:cNvPr id="18534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94</a:t>
            </a:fld>
            <a:endParaRPr lang="en-US" altLang="zh-CN" sz="1200" dirty="0"/>
          </a:p>
        </p:txBody>
      </p:sp>
      <p:sp>
        <p:nvSpPr>
          <p:cNvPr id="187394" name="Rectangle 2"/>
          <p:cNvSpPr>
            <a:spLocks noGrp="1" noRot="1" noChangeAspect="1" noTextEdit="1"/>
          </p:cNvSpPr>
          <p:nvPr>
            <p:ph type="sldImg"/>
          </p:nvPr>
        </p:nvSpPr>
        <p:spPr/>
      </p:sp>
      <p:sp>
        <p:nvSpPr>
          <p:cNvPr id="18739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95</a:t>
            </a:fld>
            <a:endParaRPr lang="en-US" altLang="zh-CN" sz="1200" dirty="0"/>
          </a:p>
        </p:txBody>
      </p:sp>
      <p:sp>
        <p:nvSpPr>
          <p:cNvPr id="189442" name="Rectangle 2"/>
          <p:cNvSpPr>
            <a:spLocks noGrp="1" noRot="1" noChangeAspect="1" noTextEdit="1"/>
          </p:cNvSpPr>
          <p:nvPr>
            <p:ph type="sldImg"/>
          </p:nvPr>
        </p:nvSpPr>
        <p:spPr/>
      </p:sp>
      <p:sp>
        <p:nvSpPr>
          <p:cNvPr id="18944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96</a:t>
            </a:fld>
            <a:endParaRPr lang="en-US" altLang="zh-CN" sz="1200" dirty="0"/>
          </a:p>
        </p:txBody>
      </p:sp>
      <p:sp>
        <p:nvSpPr>
          <p:cNvPr id="191490" name="Rectangle 2"/>
          <p:cNvSpPr>
            <a:spLocks noGrp="1" noRot="1" noChangeAspect="1" noTextEdit="1"/>
          </p:cNvSpPr>
          <p:nvPr>
            <p:ph type="sldImg"/>
          </p:nvPr>
        </p:nvSpPr>
        <p:spPr/>
      </p:sp>
      <p:sp>
        <p:nvSpPr>
          <p:cNvPr id="19149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99</a:t>
            </a:fld>
            <a:endParaRPr lang="en-US" altLang="zh-CN" sz="1200" dirty="0"/>
          </a:p>
        </p:txBody>
      </p:sp>
      <p:sp>
        <p:nvSpPr>
          <p:cNvPr id="216066" name="Rectangle 2"/>
          <p:cNvSpPr>
            <a:spLocks noGrp="1" noRot="1" noChangeAspect="1" noTextEdit="1"/>
          </p:cNvSpPr>
          <p:nvPr>
            <p:ph type="sldImg"/>
          </p:nvPr>
        </p:nvSpPr>
        <p:spPr/>
      </p:sp>
      <p:sp>
        <p:nvSpPr>
          <p:cNvPr id="21606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100</a:t>
            </a:fld>
            <a:endParaRPr lang="en-US" altLang="zh-CN" sz="1200" dirty="0"/>
          </a:p>
        </p:txBody>
      </p:sp>
      <p:sp>
        <p:nvSpPr>
          <p:cNvPr id="195586" name="Rectangle 2"/>
          <p:cNvSpPr>
            <a:spLocks noGrp="1" noRot="1" noChangeAspect="1" noTextEdit="1"/>
          </p:cNvSpPr>
          <p:nvPr>
            <p:ph type="sldImg"/>
          </p:nvPr>
        </p:nvSpPr>
        <p:spPr/>
      </p:sp>
      <p:sp>
        <p:nvSpPr>
          <p:cNvPr id="19558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101</a:t>
            </a:fld>
            <a:endParaRPr lang="en-US" altLang="zh-CN" sz="1200" dirty="0"/>
          </a:p>
        </p:txBody>
      </p:sp>
      <p:sp>
        <p:nvSpPr>
          <p:cNvPr id="197634" name="Rectangle 2"/>
          <p:cNvSpPr>
            <a:spLocks noGrp="1" noRot="1" noChangeAspect="1" noTextEdit="1"/>
          </p:cNvSpPr>
          <p:nvPr>
            <p:ph type="sldImg"/>
          </p:nvPr>
        </p:nvSpPr>
        <p:spPr/>
      </p:sp>
      <p:sp>
        <p:nvSpPr>
          <p:cNvPr id="19763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102</a:t>
            </a:fld>
            <a:endParaRPr lang="en-US" altLang="zh-CN" sz="1200" dirty="0"/>
          </a:p>
        </p:txBody>
      </p:sp>
      <p:sp>
        <p:nvSpPr>
          <p:cNvPr id="199682" name="Rectangle 2"/>
          <p:cNvSpPr>
            <a:spLocks noGrp="1" noRot="1" noChangeAspect="1" noTextEdit="1"/>
          </p:cNvSpPr>
          <p:nvPr>
            <p:ph type="sldImg"/>
          </p:nvPr>
        </p:nvSpPr>
        <p:spPr/>
      </p:sp>
      <p:sp>
        <p:nvSpPr>
          <p:cNvPr id="19968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103</a:t>
            </a:fld>
            <a:endParaRPr lang="en-US" altLang="zh-CN" sz="1200" dirty="0"/>
          </a:p>
        </p:txBody>
      </p:sp>
      <p:sp>
        <p:nvSpPr>
          <p:cNvPr id="201730" name="Rectangle 2"/>
          <p:cNvSpPr>
            <a:spLocks noGrp="1" noRot="1" noChangeAspect="1" noTextEdit="1"/>
          </p:cNvSpPr>
          <p:nvPr>
            <p:ph type="sldImg"/>
          </p:nvPr>
        </p:nvSpPr>
        <p:spPr/>
      </p:sp>
      <p:sp>
        <p:nvSpPr>
          <p:cNvPr id="20173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104</a:t>
            </a:fld>
            <a:endParaRPr lang="en-US" altLang="zh-CN" sz="1200" dirty="0"/>
          </a:p>
        </p:txBody>
      </p:sp>
      <p:sp>
        <p:nvSpPr>
          <p:cNvPr id="203778" name="Rectangle 2"/>
          <p:cNvSpPr>
            <a:spLocks noGrp="1" noRot="1" noChangeAspect="1" noTextEdit="1"/>
          </p:cNvSpPr>
          <p:nvPr>
            <p:ph type="sldImg"/>
          </p:nvPr>
        </p:nvSpPr>
        <p:spPr/>
      </p:sp>
      <p:sp>
        <p:nvSpPr>
          <p:cNvPr id="20377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105</a:t>
            </a:fld>
            <a:endParaRPr lang="en-US" altLang="zh-CN" sz="1200" dirty="0"/>
          </a:p>
        </p:txBody>
      </p:sp>
      <p:sp>
        <p:nvSpPr>
          <p:cNvPr id="205826" name="Rectangle 2"/>
          <p:cNvSpPr>
            <a:spLocks noGrp="1" noRot="1" noChangeAspect="1" noTextEdit="1"/>
          </p:cNvSpPr>
          <p:nvPr>
            <p:ph type="sldImg"/>
          </p:nvPr>
        </p:nvSpPr>
        <p:spPr/>
      </p:sp>
      <p:sp>
        <p:nvSpPr>
          <p:cNvPr id="20582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106</a:t>
            </a:fld>
            <a:endParaRPr lang="en-US" altLang="zh-CN" sz="1200" dirty="0"/>
          </a:p>
        </p:txBody>
      </p:sp>
      <p:sp>
        <p:nvSpPr>
          <p:cNvPr id="207874" name="Rectangle 2"/>
          <p:cNvSpPr>
            <a:spLocks noGrp="1" noRot="1" noChangeAspect="1" noTextEdit="1"/>
          </p:cNvSpPr>
          <p:nvPr>
            <p:ph type="sldImg"/>
          </p:nvPr>
        </p:nvSpPr>
        <p:spPr/>
      </p:sp>
      <p:sp>
        <p:nvSpPr>
          <p:cNvPr id="20787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107</a:t>
            </a:fld>
            <a:endParaRPr lang="en-US" altLang="zh-CN" sz="1200" dirty="0"/>
          </a:p>
        </p:txBody>
      </p:sp>
      <p:sp>
        <p:nvSpPr>
          <p:cNvPr id="209922" name="Rectangle 2"/>
          <p:cNvSpPr>
            <a:spLocks noGrp="1" noRot="1" noChangeAspect="1" noTextEdit="1"/>
          </p:cNvSpPr>
          <p:nvPr>
            <p:ph type="sldImg"/>
          </p:nvPr>
        </p:nvSpPr>
        <p:spPr/>
      </p:sp>
      <p:sp>
        <p:nvSpPr>
          <p:cNvPr id="20992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108</a:t>
            </a:fld>
            <a:endParaRPr lang="en-US" altLang="zh-CN" sz="1200" dirty="0"/>
          </a:p>
        </p:txBody>
      </p:sp>
      <p:sp>
        <p:nvSpPr>
          <p:cNvPr id="211970" name="Rectangle 2"/>
          <p:cNvSpPr>
            <a:spLocks noGrp="1" noRot="1" noChangeAspect="1" noTextEdit="1"/>
          </p:cNvSpPr>
          <p:nvPr>
            <p:ph type="sldImg"/>
          </p:nvPr>
        </p:nvSpPr>
        <p:spPr/>
      </p:sp>
      <p:sp>
        <p:nvSpPr>
          <p:cNvPr id="21197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109</a:t>
            </a:fld>
            <a:endParaRPr lang="en-US" altLang="zh-CN" sz="1200" dirty="0"/>
          </a:p>
        </p:txBody>
      </p:sp>
      <p:sp>
        <p:nvSpPr>
          <p:cNvPr id="214018" name="Rectangle 2"/>
          <p:cNvSpPr>
            <a:spLocks noGrp="1" noRot="1" noChangeAspect="1" noTextEdit="1"/>
          </p:cNvSpPr>
          <p:nvPr>
            <p:ph type="sldImg"/>
          </p:nvPr>
        </p:nvSpPr>
        <p:spPr/>
      </p:sp>
      <p:sp>
        <p:nvSpPr>
          <p:cNvPr id="21401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110</a:t>
            </a:fld>
            <a:endParaRPr lang="en-US" altLang="zh-CN" sz="1200" dirty="0"/>
          </a:p>
        </p:txBody>
      </p:sp>
      <p:sp>
        <p:nvSpPr>
          <p:cNvPr id="216066" name="Rectangle 2"/>
          <p:cNvSpPr>
            <a:spLocks noGrp="1" noRot="1" noChangeAspect="1" noTextEdit="1"/>
          </p:cNvSpPr>
          <p:nvPr>
            <p:ph type="sldImg"/>
          </p:nvPr>
        </p:nvSpPr>
        <p:spPr/>
      </p:sp>
      <p:sp>
        <p:nvSpPr>
          <p:cNvPr id="21606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111</a:t>
            </a:fld>
            <a:endParaRPr lang="en-US" altLang="zh-CN" sz="1200" dirty="0"/>
          </a:p>
        </p:txBody>
      </p:sp>
      <p:sp>
        <p:nvSpPr>
          <p:cNvPr id="218114" name="Rectangle 2"/>
          <p:cNvSpPr>
            <a:spLocks noGrp="1" noRot="1" noChangeAspect="1" noTextEdit="1"/>
          </p:cNvSpPr>
          <p:nvPr>
            <p:ph type="sldImg"/>
          </p:nvPr>
        </p:nvSpPr>
        <p:spPr/>
      </p:sp>
      <p:sp>
        <p:nvSpPr>
          <p:cNvPr id="21811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112</a:t>
            </a:fld>
            <a:endParaRPr lang="en-US" altLang="zh-CN" sz="1200" dirty="0"/>
          </a:p>
        </p:txBody>
      </p:sp>
      <p:sp>
        <p:nvSpPr>
          <p:cNvPr id="220162" name="Rectangle 2"/>
          <p:cNvSpPr>
            <a:spLocks noGrp="1" noRot="1" noChangeAspect="1" noTextEdit="1"/>
          </p:cNvSpPr>
          <p:nvPr>
            <p:ph type="sldImg"/>
          </p:nvPr>
        </p:nvSpPr>
        <p:spPr/>
      </p:sp>
      <p:sp>
        <p:nvSpPr>
          <p:cNvPr id="22016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113</a:t>
            </a:fld>
            <a:endParaRPr lang="en-US" altLang="zh-CN" sz="1200" dirty="0"/>
          </a:p>
        </p:txBody>
      </p:sp>
      <p:sp>
        <p:nvSpPr>
          <p:cNvPr id="222210" name="Rectangle 2"/>
          <p:cNvSpPr>
            <a:spLocks noGrp="1" noRot="1" noChangeAspect="1" noTextEdit="1"/>
          </p:cNvSpPr>
          <p:nvPr>
            <p:ph type="sldImg"/>
          </p:nvPr>
        </p:nvSpPr>
        <p:spPr/>
      </p:sp>
      <p:sp>
        <p:nvSpPr>
          <p:cNvPr id="22221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114</a:t>
            </a:fld>
            <a:endParaRPr lang="en-US" altLang="zh-CN" sz="1200" dirty="0"/>
          </a:p>
        </p:txBody>
      </p:sp>
      <p:sp>
        <p:nvSpPr>
          <p:cNvPr id="224258" name="Rectangle 2"/>
          <p:cNvSpPr>
            <a:spLocks noGrp="1" noRot="1" noChangeAspect="1" noTextEdit="1"/>
          </p:cNvSpPr>
          <p:nvPr>
            <p:ph type="sldImg"/>
          </p:nvPr>
        </p:nvSpPr>
        <p:spPr/>
      </p:sp>
      <p:sp>
        <p:nvSpPr>
          <p:cNvPr id="22425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115</a:t>
            </a:fld>
            <a:endParaRPr lang="en-US" altLang="zh-CN" sz="1200" dirty="0"/>
          </a:p>
        </p:txBody>
      </p:sp>
      <p:sp>
        <p:nvSpPr>
          <p:cNvPr id="226306" name="Rectangle 2"/>
          <p:cNvSpPr>
            <a:spLocks noGrp="1" noRot="1" noChangeAspect="1" noTextEdit="1"/>
          </p:cNvSpPr>
          <p:nvPr>
            <p:ph type="sldImg"/>
          </p:nvPr>
        </p:nvSpPr>
        <p:spPr/>
      </p:sp>
      <p:sp>
        <p:nvSpPr>
          <p:cNvPr id="22630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116</a:t>
            </a:fld>
            <a:endParaRPr lang="en-US" altLang="zh-CN" sz="1200" dirty="0"/>
          </a:p>
        </p:txBody>
      </p:sp>
      <p:sp>
        <p:nvSpPr>
          <p:cNvPr id="228354" name="Rectangle 2"/>
          <p:cNvSpPr>
            <a:spLocks noGrp="1" noRot="1" noChangeAspect="1" noTextEdit="1"/>
          </p:cNvSpPr>
          <p:nvPr>
            <p:ph type="sldImg"/>
          </p:nvPr>
        </p:nvSpPr>
        <p:spPr/>
      </p:sp>
      <p:sp>
        <p:nvSpPr>
          <p:cNvPr id="22835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118</a:t>
            </a:fld>
            <a:endParaRPr lang="en-US" altLang="zh-CN" sz="1200" dirty="0"/>
          </a:p>
        </p:txBody>
      </p:sp>
      <p:sp>
        <p:nvSpPr>
          <p:cNvPr id="230402" name="Rectangle 2"/>
          <p:cNvSpPr>
            <a:spLocks noGrp="1" noRot="1" noChangeAspect="1" noTextEdit="1"/>
          </p:cNvSpPr>
          <p:nvPr>
            <p:ph type="sldImg"/>
          </p:nvPr>
        </p:nvSpPr>
        <p:spPr/>
      </p:sp>
      <p:sp>
        <p:nvSpPr>
          <p:cNvPr id="230403"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119</a:t>
            </a:fld>
            <a:endParaRPr lang="en-US" altLang="zh-CN" sz="1200" dirty="0"/>
          </a:p>
        </p:txBody>
      </p:sp>
      <p:sp>
        <p:nvSpPr>
          <p:cNvPr id="232450" name="Rectangle 2"/>
          <p:cNvSpPr>
            <a:spLocks noGrp="1" noRot="1" noChangeAspect="1" noTextEdit="1"/>
          </p:cNvSpPr>
          <p:nvPr>
            <p:ph type="sldImg"/>
          </p:nvPr>
        </p:nvSpPr>
        <p:spPr/>
      </p:sp>
      <p:sp>
        <p:nvSpPr>
          <p:cNvPr id="232451"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120</a:t>
            </a:fld>
            <a:endParaRPr lang="en-US" altLang="zh-CN" sz="1200" dirty="0"/>
          </a:p>
        </p:txBody>
      </p:sp>
      <p:sp>
        <p:nvSpPr>
          <p:cNvPr id="234498" name="Rectangle 2"/>
          <p:cNvSpPr>
            <a:spLocks noGrp="1" noRot="1" noChangeAspect="1" noTextEdit="1"/>
          </p:cNvSpPr>
          <p:nvPr>
            <p:ph type="sldImg"/>
          </p:nvPr>
        </p:nvSpPr>
        <p:spPr/>
      </p:sp>
      <p:sp>
        <p:nvSpPr>
          <p:cNvPr id="234499"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121</a:t>
            </a:fld>
            <a:endParaRPr lang="en-US" altLang="zh-CN" sz="1200" dirty="0"/>
          </a:p>
        </p:txBody>
      </p:sp>
      <p:sp>
        <p:nvSpPr>
          <p:cNvPr id="236546" name="Rectangle 2"/>
          <p:cNvSpPr>
            <a:spLocks noGrp="1" noRot="1" noChangeAspect="1" noTextEdit="1"/>
          </p:cNvSpPr>
          <p:nvPr>
            <p:ph type="sldImg"/>
          </p:nvPr>
        </p:nvSpPr>
        <p:spPr/>
      </p:sp>
      <p:sp>
        <p:nvSpPr>
          <p:cNvPr id="236547"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a:spcBef>
                <a:spcPct val="0"/>
              </a:spcBef>
              <a:buClrTx/>
            </a:pPr>
            <a:fld id="{9A0DB2DC-4C9A-4742-B13C-FB6460FD3503}" type="slidenum">
              <a:rPr lang="en-US" altLang="zh-CN" sz="1200" dirty="0"/>
              <a:t>122</a:t>
            </a:fld>
            <a:endParaRPr lang="en-US" altLang="zh-CN" sz="1200" dirty="0"/>
          </a:p>
        </p:txBody>
      </p:sp>
      <p:sp>
        <p:nvSpPr>
          <p:cNvPr id="238594" name="Rectangle 2"/>
          <p:cNvSpPr>
            <a:spLocks noGrp="1" noRot="1" noChangeAspect="1" noTextEdit="1"/>
          </p:cNvSpPr>
          <p:nvPr>
            <p:ph type="sldImg"/>
          </p:nvPr>
        </p:nvSpPr>
        <p:spPr/>
      </p:sp>
      <p:sp>
        <p:nvSpPr>
          <p:cNvPr id="238595" name="Rectangle 3"/>
          <p:cNvSpPr>
            <a:spLocks noGrp="1"/>
          </p:cNvSpPr>
          <p:nvPr>
            <p:ph type="body" idx="1"/>
          </p:nvPr>
        </p:nvSpPr>
        <p:spPr/>
        <p:txBody>
          <a:bodyPr wrap="square" lIns="91440" tIns="45720" rIns="91440" bIns="45720" anchor="t"/>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28650" y="1122680"/>
            <a:ext cx="78867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hasCustomPrompt="1"/>
          </p:nvPr>
        </p:nvSpPr>
        <p:spPr>
          <a:xfrm>
            <a:off x="628650" y="3602356"/>
            <a:ext cx="7886700" cy="1655445"/>
          </a:xfrm>
        </p:spPr>
        <p:txBody>
          <a:bodyPr/>
          <a:lstStyle>
            <a:lvl1pPr marL="0" indent="0" algn="ctr">
              <a:buNone/>
              <a:defRPr sz="1800">
                <a:solidFill>
                  <a:schemeClr val="tx1">
                    <a:lumMod val="50000"/>
                    <a:lumOff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33AE04DF-5DAF-8942-8809-7549A96DA271}"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lgn="r">
              <a:spcBef>
                <a:spcPct val="0"/>
              </a:spcBef>
              <a:buClrTx/>
            </a:pPr>
            <a:fld id="{9A0DB2DC-4C9A-4742-B13C-FB6460FD3503}" type="slidenum">
              <a:rPr lang="en-US" altLang="zh-CN" dirty="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97485"/>
            <a:ext cx="7886700" cy="1325563"/>
          </a:xfrm>
        </p:spPr>
        <p:txBody>
          <a:bodyPr anchor="b" anchorCtr="0"/>
          <a:lstStyle/>
          <a:p>
            <a:r>
              <a:rPr lang="zh-CN" altLang="en-US"/>
              <a:t>单击此处编辑母版标题样式</a:t>
            </a:r>
          </a:p>
        </p:txBody>
      </p:sp>
      <p:sp>
        <p:nvSpPr>
          <p:cNvPr id="3" name="内容占位符 2"/>
          <p:cNvSpPr>
            <a:spLocks noGrp="1"/>
          </p:cNvSpPr>
          <p:nvPr>
            <p:ph idx="1" hasCustomPrompt="1"/>
          </p:nvPr>
        </p:nvSpPr>
        <p:spPr>
          <a:xfrm>
            <a:off x="628650" y="1702436"/>
            <a:ext cx="7886700" cy="4474845"/>
          </a:xfrm>
        </p:spPr>
        <p:txBody>
          <a:bodyPr/>
          <a:lstStyle>
            <a:lvl2pPr>
              <a:defRPr/>
            </a:lvl2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1404AE7-26EC-0148-A357-DD3C7FD71093}"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959100"/>
            <a:ext cx="7886700" cy="2781300"/>
          </a:xfrm>
        </p:spPr>
        <p:txBody>
          <a:bodyPr anchor="t" anchorCtr="0"/>
          <a:lstStyle>
            <a:lvl1pPr>
              <a:defRPr sz="3600"/>
            </a:lvl1pPr>
          </a:lstStyle>
          <a:p>
            <a:r>
              <a:rPr lang="zh-CN" altLang="en-US"/>
              <a:t>单击此处编辑母版标题样式</a:t>
            </a:r>
          </a:p>
        </p:txBody>
      </p:sp>
      <p:sp>
        <p:nvSpPr>
          <p:cNvPr id="3" name="文本占位符 2"/>
          <p:cNvSpPr>
            <a:spLocks noGrp="1"/>
          </p:cNvSpPr>
          <p:nvPr>
            <p:ph type="body" idx="1" hasCustomPrompt="1"/>
          </p:nvPr>
        </p:nvSpPr>
        <p:spPr>
          <a:xfrm>
            <a:off x="628650" y="1722121"/>
            <a:ext cx="7886700" cy="1102995"/>
          </a:xfrm>
        </p:spPr>
        <p:txBody>
          <a:bodyPr lIns="144145" anchor="b" anchorCtr="0"/>
          <a:lstStyle>
            <a:lvl1pPr marL="0" indent="0">
              <a:buNone/>
              <a:defRPr sz="1800">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C4D1EEEB-2E2A-DF4A-9E58-105270FF4219}"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335DA5F-FC16-9841-AD03-8B8DB561F239}" type="datetimeFigureOut">
              <a:rPr lang="zh-CN" altLang="en-US" smtClean="0"/>
              <a:t>2025/8/28</a:t>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079" y="365125"/>
            <a:ext cx="7886700" cy="800100"/>
          </a:xfrm>
        </p:spPr>
        <p:txBody>
          <a:bodyPr anchor="ctr" anchorCtr="0"/>
          <a:lstStyle>
            <a:lvl1pPr algn="ctr">
              <a:defRPr/>
            </a:lvl1pPr>
          </a:lstStyle>
          <a:p>
            <a:r>
              <a:rPr lang="zh-CN" altLang="en-US"/>
              <a:t>单击此处编辑母版标题样式</a:t>
            </a:r>
          </a:p>
        </p:txBody>
      </p:sp>
      <p:sp>
        <p:nvSpPr>
          <p:cNvPr id="3" name="文本占位符 2"/>
          <p:cNvSpPr>
            <a:spLocks noGrp="1"/>
          </p:cNvSpPr>
          <p:nvPr>
            <p:ph type="body" idx="1" hasCustomPrompt="1"/>
          </p:nvPr>
        </p:nvSpPr>
        <p:spPr>
          <a:xfrm>
            <a:off x="629602" y="1482091"/>
            <a:ext cx="3915728" cy="823595"/>
          </a:xfrm>
        </p:spPr>
        <p:txBody>
          <a:bodyPr anchor="ctr" anchorCtr="0"/>
          <a:lstStyle>
            <a:lvl1pPr marL="0" indent="0">
              <a:buNone/>
              <a:defRPr sz="2400">
                <a:solidFill>
                  <a:srgbClr val="0070C0"/>
                </a:solidFill>
              </a:defRPr>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编辑母版文本样式</a:t>
            </a:r>
          </a:p>
        </p:txBody>
      </p:sp>
      <p:sp>
        <p:nvSpPr>
          <p:cNvPr id="4" name="内容占位符 3"/>
          <p:cNvSpPr>
            <a:spLocks noGrp="1"/>
          </p:cNvSpPr>
          <p:nvPr>
            <p:ph sz="half" idx="2" hasCustomPrompt="1"/>
          </p:nvPr>
        </p:nvSpPr>
        <p:spPr>
          <a:xfrm>
            <a:off x="628650" y="2368551"/>
            <a:ext cx="3916680" cy="3820795"/>
          </a:xfrm>
        </p:spPr>
        <p:txBody>
          <a:bodyPr/>
          <a:lstStyle>
            <a:lvl1pPr>
              <a:defRPr sz="2100"/>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92492" y="1482091"/>
            <a:ext cx="3822859" cy="823595"/>
          </a:xfrm>
        </p:spPr>
        <p:txBody>
          <a:bodyPr anchor="ctr" anchorCtr="0"/>
          <a:lstStyle>
            <a:lvl1pPr marL="0" indent="0">
              <a:buNone/>
              <a:defRPr sz="2400">
                <a:solidFill>
                  <a:srgbClr val="0070C0"/>
                </a:solidFill>
              </a:defRPr>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编辑母版文本样式</a:t>
            </a:r>
          </a:p>
        </p:txBody>
      </p:sp>
      <p:sp>
        <p:nvSpPr>
          <p:cNvPr id="6" name="内容占位符 5"/>
          <p:cNvSpPr>
            <a:spLocks noGrp="1"/>
          </p:cNvSpPr>
          <p:nvPr>
            <p:ph sz="quarter" idx="4" hasCustomPrompt="1"/>
          </p:nvPr>
        </p:nvSpPr>
        <p:spPr>
          <a:xfrm>
            <a:off x="4692492" y="2368551"/>
            <a:ext cx="3822859" cy="3820795"/>
          </a:xfrm>
        </p:spPr>
        <p:txBody>
          <a:bodyPr/>
          <a:lstStyle>
            <a:lvl1pPr>
              <a:defRPr sz="2100"/>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5E08765-4B7D-2143-8328-FBBE326002BF}" type="datetimeFigureOut">
              <a:rPr lang="zh-CN" altLang="en-US" smtClean="0"/>
              <a:t>2025/8/28</a:t>
            </a:fld>
            <a:endParaRPr lang="zh-CN" altLang="en-US"/>
          </a:p>
        </p:txBody>
      </p:sp>
      <p:sp>
        <p:nvSpPr>
          <p:cNvPr id="8" name="页脚占位符 7"/>
          <p:cNvSpPr>
            <a:spLocks noGrp="1"/>
          </p:cNvSpPr>
          <p:nvPr>
            <p:ph type="ftr" sz="quarter" idx="11"/>
          </p:nvPr>
        </p:nvSpPr>
        <p:spPr/>
        <p:txBody>
          <a:bodyPr/>
          <a:lstStyle/>
          <a:p>
            <a:pPr>
              <a:defRPr/>
            </a:pPr>
            <a:endParaRPr lang="zh-CN" altLang="en-US"/>
          </a:p>
        </p:txBody>
      </p:sp>
      <p:sp>
        <p:nvSpPr>
          <p:cNvPr id="9" name="灯片编号占位符 8"/>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97485"/>
            <a:ext cx="7886700" cy="1325563"/>
          </a:xfrm>
        </p:spPr>
        <p:txBody>
          <a:bodyPr anchor="b" anchorCtr="0"/>
          <a:lstStyle/>
          <a:p>
            <a:r>
              <a:rPr lang="zh-CN" altLang="en-US"/>
              <a:t>单击此处编辑母版标题样式</a:t>
            </a:r>
          </a:p>
        </p:txBody>
      </p:sp>
      <p:sp>
        <p:nvSpPr>
          <p:cNvPr id="4" name="日期占位符 3"/>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fld id="{84C5E037-E3E3-064B-AF78-C17DBF3D044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 + 文本">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9525" y="-1905"/>
            <a:ext cx="5263039" cy="6861810"/>
          </a:xfrm>
          <a:noFill/>
        </p:spPr>
        <p:txBody>
          <a:bodyPr lIns="252095" tIns="144145"/>
          <a:lstStyle>
            <a:lvl1pPr marL="0" indent="0" algn="ctr">
              <a:buNone/>
              <a:defRPr sz="135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2" name="标题 1"/>
          <p:cNvSpPr>
            <a:spLocks noGrp="1"/>
          </p:cNvSpPr>
          <p:nvPr>
            <p:ph type="title"/>
          </p:nvPr>
        </p:nvSpPr>
        <p:spPr>
          <a:xfrm>
            <a:off x="5512594" y="457200"/>
            <a:ext cx="3294221" cy="1055370"/>
          </a:xfrm>
        </p:spPr>
        <p:txBody>
          <a:bodyPr anchor="b" anchorCtr="0"/>
          <a:lstStyle>
            <a:lvl1pPr>
              <a:defRPr sz="2400"/>
            </a:lvl1pPr>
          </a:lstStyle>
          <a:p>
            <a:r>
              <a:rPr lang="zh-CN" altLang="en-US"/>
              <a:t>单击此处编辑母版标题样式</a:t>
            </a:r>
          </a:p>
        </p:txBody>
      </p:sp>
      <p:sp>
        <p:nvSpPr>
          <p:cNvPr id="4" name="文本占位符 3"/>
          <p:cNvSpPr>
            <a:spLocks noGrp="1"/>
          </p:cNvSpPr>
          <p:nvPr>
            <p:ph type="body" sz="half" idx="2" hasCustomPrompt="1"/>
          </p:nvPr>
        </p:nvSpPr>
        <p:spPr>
          <a:xfrm>
            <a:off x="5512118" y="1694180"/>
            <a:ext cx="3295174" cy="4480560"/>
          </a:xfrm>
        </p:spPr>
        <p:txBody>
          <a:bodyPr/>
          <a:lstStyle>
            <a:lvl1pPr marL="0" indent="0">
              <a:buNone/>
              <a:defRPr sz="21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编辑母版文本样式</a:t>
            </a:r>
          </a:p>
        </p:txBody>
      </p:sp>
      <p:sp>
        <p:nvSpPr>
          <p:cNvPr id="5" name="日期占位符 4"/>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文本 + 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3887629" y="-7620"/>
            <a:ext cx="5263039" cy="6861810"/>
          </a:xfrm>
          <a:noFill/>
        </p:spPr>
        <p:txBody>
          <a:bodyPr lIns="252095" tIns="144145"/>
          <a:lstStyle>
            <a:lvl1pPr marL="0" indent="0" algn="ctr">
              <a:buNone/>
              <a:defRPr sz="135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2" name="标题 1"/>
          <p:cNvSpPr>
            <a:spLocks noGrp="1"/>
          </p:cNvSpPr>
          <p:nvPr>
            <p:ph type="title"/>
          </p:nvPr>
        </p:nvSpPr>
        <p:spPr>
          <a:xfrm>
            <a:off x="307181" y="457200"/>
            <a:ext cx="3209925" cy="1055370"/>
          </a:xfrm>
        </p:spPr>
        <p:txBody>
          <a:bodyPr anchor="t" anchorCtr="0"/>
          <a:lstStyle>
            <a:lvl1pPr>
              <a:defRPr sz="2400"/>
            </a:lvl1pPr>
          </a:lstStyle>
          <a:p>
            <a:r>
              <a:rPr lang="zh-CN" altLang="en-US"/>
              <a:t>单击此处编辑母版标题样式</a:t>
            </a:r>
          </a:p>
        </p:txBody>
      </p:sp>
      <p:sp>
        <p:nvSpPr>
          <p:cNvPr id="4" name="文本占位符 3"/>
          <p:cNvSpPr>
            <a:spLocks noGrp="1"/>
          </p:cNvSpPr>
          <p:nvPr>
            <p:ph type="body" sz="half" idx="2" hasCustomPrompt="1"/>
          </p:nvPr>
        </p:nvSpPr>
        <p:spPr>
          <a:xfrm>
            <a:off x="307182" y="1694180"/>
            <a:ext cx="3210401" cy="4480560"/>
          </a:xfrm>
        </p:spPr>
        <p:txBody>
          <a:bodyPr/>
          <a:lstStyle>
            <a:lvl1pPr marL="0" indent="0">
              <a:buNone/>
              <a:defRPr sz="21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编辑母版文本样式</a:t>
            </a:r>
          </a:p>
        </p:txBody>
      </p:sp>
      <p:sp>
        <p:nvSpPr>
          <p:cNvPr id="5" name="日期占位符 4"/>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fld id="{84C5E037-E3E3-064B-AF78-C17DBF3D044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fld id="{84C5E037-E3E3-064B-AF78-C17DBF3D0442}" type="slidenum">
              <a:rPr lang="zh-CN" altLang="en-US" smtClean="0"/>
              <a:t>‹#›</a:t>
            </a:fld>
            <a:endParaRPr lang="zh-CN" altLang="en-US"/>
          </a:p>
        </p:txBody>
      </p:sp>
      <p:sp>
        <p:nvSpPr>
          <p:cNvPr id="3"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7" name="竖排文字占位符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628650" y="327026"/>
            <a:ext cx="7886700" cy="5850255"/>
          </a:xfrm>
        </p:spPr>
        <p:txBody>
          <a:bodyPr/>
          <a:lstStyle>
            <a:lvl2pPr>
              <a:defRPr/>
            </a:lvl2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fld id="{84C5E037-E3E3-064B-AF78-C17DBF3D0442}" type="slidenum">
              <a:rPr lang="zh-CN" altLang="en-US" smtClean="0"/>
              <a:t>‹#›</a:t>
            </a:fld>
            <a:endParaRPr lang="zh-CN" altLang="en-US"/>
          </a:p>
        </p:txBody>
      </p:sp>
      <p:cxnSp>
        <p:nvCxnSpPr>
          <p:cNvPr id="7" name="直接连接符 25"/>
          <p:cNvCxnSpPr/>
          <p:nvPr/>
        </p:nvCxnSpPr>
        <p:spPr>
          <a:xfrm>
            <a:off x="206036" y="6466563"/>
            <a:ext cx="72053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2"/>
          <a:stretch>
            <a:fillRect/>
          </a:stretch>
        </p:blipFill>
        <p:spPr>
          <a:xfrm>
            <a:off x="7343405" y="6237278"/>
            <a:ext cx="1688365" cy="426849"/>
          </a:xfrm>
          <a:prstGeom prst="rect">
            <a:avLst/>
          </a:prstGeom>
        </p:spPr>
      </p:pic>
      <p:grpSp>
        <p:nvGrpSpPr>
          <p:cNvPr id="9" name="组合 8"/>
          <p:cNvGrpSpPr/>
          <p:nvPr/>
        </p:nvGrpSpPr>
        <p:grpSpPr>
          <a:xfrm>
            <a:off x="332185" y="866028"/>
            <a:ext cx="8452247" cy="1"/>
            <a:chOff x="442913" y="4600577"/>
            <a:chExt cx="11269662" cy="1"/>
          </a:xfrm>
        </p:grpSpPr>
        <p:cxnSp>
          <p:nvCxnSpPr>
            <p:cNvPr id="10" name="直接连接符 31"/>
            <p:cNvCxnSpPr/>
            <p:nvPr/>
          </p:nvCxnSpPr>
          <p:spPr>
            <a:xfrm>
              <a:off x="3714750" y="4600578"/>
              <a:ext cx="7997825" cy="0"/>
            </a:xfrm>
            <a:prstGeom prst="line">
              <a:avLst/>
            </a:prstGeom>
            <a:noFill/>
            <a:ln w="38100" cap="flat" cmpd="sng" algn="ctr">
              <a:gradFill>
                <a:gsLst>
                  <a:gs pos="0">
                    <a:srgbClr val="004299"/>
                  </a:gs>
                  <a:gs pos="100000">
                    <a:srgbClr val="004299">
                      <a:alpha val="0"/>
                    </a:srgbClr>
                  </a:gs>
                </a:gsLst>
                <a:lin ang="0" scaled="0"/>
              </a:gradFill>
              <a:prstDash val="solid"/>
              <a:miter lim="800000"/>
            </a:ln>
            <a:effectLst/>
          </p:spPr>
        </p:cxnSp>
        <p:cxnSp>
          <p:nvCxnSpPr>
            <p:cNvPr id="11" name="直接连接符 32"/>
            <p:cNvCxnSpPr/>
            <p:nvPr/>
          </p:nvCxnSpPr>
          <p:spPr>
            <a:xfrm>
              <a:off x="442913" y="4600577"/>
              <a:ext cx="3184207" cy="0"/>
            </a:xfrm>
            <a:prstGeom prst="line">
              <a:avLst/>
            </a:prstGeom>
            <a:noFill/>
            <a:ln w="38100" cap="flat" cmpd="sng" algn="ctr">
              <a:solidFill>
                <a:srgbClr val="C00000"/>
              </a:solidFill>
              <a:prstDash val="solid"/>
              <a:miter lim="800000"/>
            </a:ln>
            <a:effectLst/>
          </p:spPr>
        </p:cxn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fld id="{84C5E037-E3E3-064B-AF78-C17DBF3D0442}" type="slidenum">
              <a:rPr lang="zh-CN" altLang="en-US" smtClean="0"/>
              <a:t>‹#›</a:t>
            </a:fld>
            <a:endParaRPr lang="zh-CN" altLang="en-US"/>
          </a:p>
        </p:txBody>
      </p:sp>
      <p:cxnSp>
        <p:nvCxnSpPr>
          <p:cNvPr id="7" name="直接连接符 25"/>
          <p:cNvCxnSpPr/>
          <p:nvPr/>
        </p:nvCxnSpPr>
        <p:spPr>
          <a:xfrm>
            <a:off x="206036" y="6466563"/>
            <a:ext cx="72053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2"/>
          <a:stretch>
            <a:fillRect/>
          </a:stretch>
        </p:blipFill>
        <p:spPr>
          <a:xfrm>
            <a:off x="7343405" y="6237278"/>
            <a:ext cx="1688365" cy="426849"/>
          </a:xfrm>
          <a:prstGeom prst="rect">
            <a:avLst/>
          </a:prstGeom>
        </p:spPr>
      </p:pic>
      <p:grpSp>
        <p:nvGrpSpPr>
          <p:cNvPr id="9" name="组合 8"/>
          <p:cNvGrpSpPr/>
          <p:nvPr/>
        </p:nvGrpSpPr>
        <p:grpSpPr>
          <a:xfrm>
            <a:off x="332185" y="866028"/>
            <a:ext cx="8452247" cy="1"/>
            <a:chOff x="442913" y="4600577"/>
            <a:chExt cx="11269662" cy="1"/>
          </a:xfrm>
        </p:grpSpPr>
        <p:cxnSp>
          <p:nvCxnSpPr>
            <p:cNvPr id="10" name="直接连接符 31"/>
            <p:cNvCxnSpPr/>
            <p:nvPr/>
          </p:nvCxnSpPr>
          <p:spPr>
            <a:xfrm>
              <a:off x="3714750" y="4600578"/>
              <a:ext cx="7997825" cy="0"/>
            </a:xfrm>
            <a:prstGeom prst="line">
              <a:avLst/>
            </a:prstGeom>
            <a:noFill/>
            <a:ln w="38100" cap="flat" cmpd="sng" algn="ctr">
              <a:gradFill>
                <a:gsLst>
                  <a:gs pos="0">
                    <a:srgbClr val="004299"/>
                  </a:gs>
                  <a:gs pos="100000">
                    <a:srgbClr val="004299">
                      <a:alpha val="0"/>
                    </a:srgbClr>
                  </a:gs>
                </a:gsLst>
                <a:lin ang="0" scaled="0"/>
              </a:gradFill>
              <a:prstDash val="solid"/>
              <a:miter lim="800000"/>
            </a:ln>
            <a:effectLst/>
          </p:spPr>
        </p:cxnSp>
        <p:cxnSp>
          <p:nvCxnSpPr>
            <p:cNvPr id="11" name="直接连接符 32"/>
            <p:cNvCxnSpPr/>
            <p:nvPr/>
          </p:nvCxnSpPr>
          <p:spPr>
            <a:xfrm>
              <a:off x="442913" y="4600577"/>
              <a:ext cx="3184207" cy="0"/>
            </a:xfrm>
            <a:prstGeom prst="line">
              <a:avLst/>
            </a:prstGeom>
            <a:noFill/>
            <a:ln w="38100" cap="flat" cmpd="sng" algn="ctr">
              <a:solidFill>
                <a:srgbClr val="C00000"/>
              </a:solidFill>
              <a:prstDash val="solid"/>
              <a:miter lim="800000"/>
            </a:ln>
            <a:effectLst/>
          </p:spPr>
        </p:cxn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spTree>
  </p:cSld>
  <p:clrMapOvr>
    <a:masterClrMapping/>
  </p:clrMapOvr>
  <p:transition spd="slow"/>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4" name="日期占位符 3"/>
          <p:cNvSpPr>
            <a:spLocks noGrp="1" noChangeArrowheads="1"/>
          </p:cNvSpPr>
          <p:nvPr>
            <p:ph type="dt" sz="half" idx="10"/>
          </p:nvPr>
        </p:nvSpPr>
        <p:spPr/>
        <p:txBody>
          <a:bodyPr/>
          <a:lstStyle>
            <a:lvl1pPr>
              <a:defRPr/>
            </a:lvl1pPr>
          </a:lstStyle>
          <a:p>
            <a:fld id="{F2B3A974-94E0-784F-B3DA-96F1FF8FB45F}" type="datetimeFigureOut">
              <a:rPr lang="zh-CN" altLang="en-US"/>
              <a:t>2025/8/28</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幻灯片编号占位符 5"/>
          <p:cNvSpPr>
            <a:spLocks noGrp="1" noChangeArrowheads="1"/>
          </p:cNvSpPr>
          <p:nvPr>
            <p:ph type="sldNum" sz="quarter" idx="12"/>
          </p:nvPr>
        </p:nvSpPr>
        <p:spPr/>
        <p:txBody>
          <a:bodyPr/>
          <a:lstStyle>
            <a:lvl1pPr>
              <a:defRPr/>
            </a:lvl1pPr>
          </a:lstStyle>
          <a:p>
            <a:fld id="{4E80919B-B4AB-9741-8558-9504775A5039}" type="slidenum">
              <a:rPr lang="zh-CN" altLang="en-US"/>
              <a:t>‹#›</a:t>
            </a:fld>
            <a:endParaRPr lang="zh-CN" altLang="en-US"/>
          </a:p>
        </p:txBody>
      </p:sp>
    </p:spTree>
  </p:cSld>
  <p:clrMapOvr>
    <a:masterClrMapping/>
  </p:clrMapOvr>
  <p:transition spd="slow"/>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fld id="{E923FF57-9DF0-4B44-A3E0-A5834B15D24F}" type="datetimeFigureOut">
              <a:rPr lang="zh-CN" altLang="en-US"/>
              <a:t>2025/8/28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4C6DB4B6-99EF-E34F-A458-571EFDA1439C}" type="datetimeFigureOut">
              <a:rPr lang="zh-CN" altLang="en-US"/>
              <a:t>2025/8/28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灯片编号占位符 5"/>
          <p:cNvSpPr txBox="1"/>
          <p:nvPr/>
        </p:nvSpPr>
        <p:spPr>
          <a:xfrm>
            <a:off x="6875463" y="6519863"/>
            <a:ext cx="2133600" cy="365125"/>
          </a:xfrm>
          <a:prstGeom prst="rect">
            <a:avLst/>
          </a:prstGeom>
        </p:spPr>
        <p:txBody>
          <a:bodyPr anchor="ctr"/>
          <a:lstStyle>
            <a:lvl1pPr eaLnBrk="0" hangingPunct="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49D632F2-D304-9B40-98EA-D3D58DA80E65}" type="slidenum">
              <a:rPr lang="zh-CN" altLang="en-US" sz="1600">
                <a:latin typeface="Arial Unicode MS" panose="020B0604020202020204" charset="-122"/>
                <a:cs typeface="Arial Unicode MS" panose="020B0604020202020204" charset="-122"/>
              </a:rPr>
              <a:t>‹#›</a:t>
            </a:fld>
            <a:r>
              <a:rPr lang="en-US" altLang="zh-CN" sz="1600">
                <a:latin typeface="Arial Unicode MS" panose="020B0604020202020204" charset="-122"/>
                <a:cs typeface="Arial Unicode MS" panose="020B0604020202020204" charset="-122"/>
              </a:rPr>
              <a:t>/43</a:t>
            </a:r>
          </a:p>
        </p:txBody>
      </p:sp>
    </p:spTree>
  </p:cSld>
  <p:clrMapOvr>
    <a:overrideClrMapping bg1="lt1" tx1="dk1" bg2="lt2" tx2="dk2" accent1="accent1" accent2="accent2" accent3="accent3" accent4="accent4" accent5="accent5" accent6="accent6" hlink="hlink" folHlink="folHlink"/>
  </p:clrMapOvr>
  <p:transition spd="slow"/>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5" name="TextBox 6"/>
          <p:cNvSpPr>
            <a:spLocks noChangeArrowheads="1"/>
          </p:cNvSpPr>
          <p:nvPr/>
        </p:nvSpPr>
        <p:spPr bwMode="auto">
          <a:xfrm>
            <a:off x="8786813" y="6596063"/>
            <a:ext cx="357187" cy="396875"/>
          </a:xfrm>
          <a:prstGeom prst="rect">
            <a:avLst/>
          </a:prstGeom>
          <a:noFill/>
          <a:ln>
            <a:noFill/>
          </a:ln>
        </p:spPr>
        <p:txBody>
          <a:bodyPr>
            <a:spAutoFit/>
          </a:bodyPr>
          <a:lstStyle/>
          <a:p>
            <a:pPr eaLnBrk="0" hangingPunct="0">
              <a:defRPr/>
            </a:pPr>
            <a:fld id="{4FFFBBFF-3D68-4277-A251-593CA0C24BE1}" type="slidenum">
              <a:rPr lang="zh-CN" altLang="en-US" sz="1000">
                <a:solidFill>
                  <a:srgbClr val="000000"/>
                </a:solidFill>
                <a:latin typeface="Arial" panose="020B0604020202020204" pitchFamily="34" charset="0"/>
                <a:ea typeface="华文楷体" panose="02010600040101010101" pitchFamily="2" charset="-122"/>
                <a:sym typeface="Arial" panose="020B0604020202020204" pitchFamily="34" charset="0"/>
              </a:rPr>
              <a:t>‹#›</a:t>
            </a:fld>
            <a:endParaRPr lang="zh-CN" altLang="en-US">
              <a:solidFill>
                <a:srgbClr val="000000"/>
              </a:solidFill>
              <a:latin typeface="Arial" panose="020B0604020202020204" pitchFamily="34" charset="0"/>
              <a:ea typeface="+mn-ea"/>
            </a:endParaRP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p:txBody>
          <a:bodyPr/>
          <a:lstStyle>
            <a:lvl1pPr eaLnBrk="1" fontAlgn="auto" hangingPunct="1">
              <a:spcBef>
                <a:spcPts val="0"/>
              </a:spcBef>
              <a:spcAft>
                <a:spcPts val="0"/>
              </a:spcAft>
              <a:defRPr>
                <a:latin typeface="+mn-lt"/>
              </a:defRPr>
            </a:lvl1pPr>
          </a:lstStyle>
          <a:p>
            <a:fld id="{530820CF-B880-4189-942D-D702A7CBA730}" type="datetimeFigureOut">
              <a:rPr lang="zh-CN" altLang="en-US" smtClean="0"/>
              <a:t>2025/8/28</a:t>
            </a:fld>
            <a:endParaRPr lang="zh-CN" altLang="en-US"/>
          </a:p>
        </p:txBody>
      </p:sp>
      <p:sp>
        <p:nvSpPr>
          <p:cNvPr id="9" name="页脚占位符 4"/>
          <p:cNvSpPr>
            <a:spLocks noGrp="1"/>
          </p:cNvSpPr>
          <p:nvPr>
            <p:ph type="ftr" sz="quarter" idx="11"/>
          </p:nvPr>
        </p:nvSpPr>
        <p:spPr/>
        <p:txBody>
          <a:bodyPr/>
          <a:lstStyle>
            <a:lvl1pPr eaLnBrk="1" fontAlgn="auto" hangingPunct="1">
              <a:spcBef>
                <a:spcPts val="0"/>
              </a:spcBef>
              <a:spcAft>
                <a:spcPts val="0"/>
              </a:spcAft>
              <a:defRPr>
                <a:latin typeface="+mn-lt"/>
              </a:defRPr>
            </a:lvl1pPr>
          </a:lstStyle>
          <a:p>
            <a:endParaRPr lang="zh-CN" altLang="en-US"/>
          </a:p>
        </p:txBody>
      </p:sp>
      <p:sp>
        <p:nvSpPr>
          <p:cNvPr id="10" name="灯片编号占位符 5"/>
          <p:cNvSpPr>
            <a:spLocks noGrp="1"/>
          </p:cNvSpPr>
          <p:nvPr>
            <p:ph type="sldNum" sz="quarter" idx="12"/>
          </p:nvPr>
        </p:nvSpPr>
        <p:spPr/>
        <p:txBody>
          <a:bodyPr/>
          <a:lstStyle>
            <a:lvl1pPr eaLnBrk="1" fontAlgn="auto" hangingPunct="1">
              <a:spcBef>
                <a:spcPts val="0"/>
              </a:spcBef>
              <a:spcAft>
                <a:spcPts val="0"/>
              </a:spcAft>
              <a:defRPr>
                <a:latin typeface="+mn-lt"/>
              </a:defRPr>
            </a:lvl1pPr>
          </a:lstStyle>
          <a:p>
            <a:fld id="{0C913308-F349-4B6D-A68A-DD1791B4A57B}" type="slidenum">
              <a:rPr lang="zh-CN" altLang="en-US" smtClean="0"/>
              <a:t>‹#›</a:t>
            </a:fld>
            <a:endParaRPr lang="zh-CN" altLang="en-US"/>
          </a:p>
        </p:txBody>
      </p:sp>
      <p:pic>
        <p:nvPicPr>
          <p:cNvPr id="12" name="Picture 12" descr="图片1副本"/>
          <p:cNvPicPr>
            <a:picLocks noChangeAspect="1" noChangeArrowheads="1"/>
          </p:cNvPicPr>
          <p:nvPr/>
        </p:nvPicPr>
        <p:blipFill>
          <a:blip r:embed="rId2" cstate="print">
            <a:duotone>
              <a:prstClr val="black"/>
              <a:srgbClr val="FF0000">
                <a:tint val="45000"/>
                <a:satMod val="400000"/>
              </a:srgbClr>
            </a:duotone>
            <a:extLst>
              <a:ext uri="{28A0092B-C50C-407E-A947-70E740481C1C}">
                <a14:useLocalDpi xmlns:a14="http://schemas.microsoft.com/office/drawing/2010/main" val="0"/>
              </a:ext>
            </a:extLst>
          </a:blip>
          <a:srcRect b="48979"/>
          <a:stretch>
            <a:fillRect/>
          </a:stretch>
        </p:blipFill>
        <p:spPr bwMode="auto">
          <a:xfrm>
            <a:off x="-1836712" y="908720"/>
            <a:ext cx="10657184" cy="132744"/>
          </a:xfrm>
          <a:prstGeom prst="rect">
            <a:avLst/>
          </a:prstGeom>
          <a:noFill/>
          <a:ln>
            <a:noFill/>
          </a:ln>
        </p:spPr>
      </p:pic>
    </p:spTree>
  </p:cSld>
  <p:clrMapOvr>
    <a:masterClrMapping/>
  </p:clrMapOvr>
  <p:transition spd="slow"/>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1FF4F64-6D8C-8A48-B4BA-523317561A37}" type="datetimeFigureOut">
              <a:rPr lang="zh-CN" altLang="en-US" smtClean="0"/>
              <a:t>2025/8/28</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1FF4F64-6D8C-8A48-B4BA-523317561A37}" type="datetimeFigureOut">
              <a:rPr lang="zh-CN" altLang="en-US" smtClean="0"/>
              <a:t>2025/8/28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lvl="0">
              <a:spcBef>
                <a:spcPct val="0"/>
              </a:spcBef>
              <a:buClrTx/>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cxnSp>
        <p:nvCxnSpPr>
          <p:cNvPr id="12" name="直接连接符 25"/>
          <p:cNvCxnSpPr/>
          <p:nvPr/>
        </p:nvCxnSpPr>
        <p:spPr>
          <a:xfrm>
            <a:off x="206036" y="6466563"/>
            <a:ext cx="72053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52"/>
          <a:stretch>
            <a:fillRect/>
          </a:stretch>
        </p:blipFill>
        <p:spPr>
          <a:xfrm>
            <a:off x="7343405" y="6237278"/>
            <a:ext cx="1688365" cy="426849"/>
          </a:xfrm>
          <a:prstGeom prst="rect">
            <a:avLst/>
          </a:prstGeom>
        </p:spPr>
      </p:pic>
      <p:grpSp>
        <p:nvGrpSpPr>
          <p:cNvPr id="14" name="组合 13"/>
          <p:cNvGrpSpPr/>
          <p:nvPr/>
        </p:nvGrpSpPr>
        <p:grpSpPr>
          <a:xfrm>
            <a:off x="332185" y="866028"/>
            <a:ext cx="8452247" cy="1"/>
            <a:chOff x="442913" y="4600577"/>
            <a:chExt cx="11269662" cy="1"/>
          </a:xfrm>
        </p:grpSpPr>
        <p:cxnSp>
          <p:nvCxnSpPr>
            <p:cNvPr id="15" name="直接连接符 31"/>
            <p:cNvCxnSpPr/>
            <p:nvPr/>
          </p:nvCxnSpPr>
          <p:spPr>
            <a:xfrm>
              <a:off x="3714750" y="4600578"/>
              <a:ext cx="7997825" cy="0"/>
            </a:xfrm>
            <a:prstGeom prst="line">
              <a:avLst/>
            </a:prstGeom>
            <a:noFill/>
            <a:ln w="38100" cap="flat" cmpd="sng" algn="ctr">
              <a:gradFill>
                <a:gsLst>
                  <a:gs pos="0">
                    <a:srgbClr val="004299"/>
                  </a:gs>
                  <a:gs pos="100000">
                    <a:srgbClr val="004299">
                      <a:alpha val="0"/>
                    </a:srgbClr>
                  </a:gs>
                </a:gsLst>
                <a:lin ang="0" scaled="0"/>
              </a:gradFill>
              <a:prstDash val="solid"/>
              <a:miter lim="800000"/>
            </a:ln>
            <a:effectLst/>
          </p:spPr>
        </p:cxnSp>
        <p:cxnSp>
          <p:nvCxnSpPr>
            <p:cNvPr id="16" name="直接连接符 32"/>
            <p:cNvCxnSpPr/>
            <p:nvPr/>
          </p:nvCxnSpPr>
          <p:spPr>
            <a:xfrm>
              <a:off x="442913" y="4600577"/>
              <a:ext cx="3184207" cy="0"/>
            </a:xfrm>
            <a:prstGeom prst="line">
              <a:avLst/>
            </a:prstGeom>
            <a:noFill/>
            <a:ln w="38100" cap="flat" cmpd="sng" algn="ctr">
              <a:solidFill>
                <a:srgbClr val="C00000"/>
              </a:solidFill>
              <a:prstDash val="solid"/>
              <a:miter lim="800000"/>
            </a:ln>
            <a:effectLst/>
          </p:spPr>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transition spd="slow"/>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NULL"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3.xml"/><Relationship Id="rId1" Type="http://schemas.openxmlformats.org/officeDocument/2006/relationships/tags" Target="../tags/tag10.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6.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tags" Target="../tags/tag18.xml"/><Relationship Id="rId1" Type="http://schemas.openxmlformats.org/officeDocument/2006/relationships/tags" Target="../tags/tag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5.xml"/><Relationship Id="rId1" Type="http://schemas.openxmlformats.org/officeDocument/2006/relationships/tags" Target="../tags/tag2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7.xml"/><Relationship Id="rId1" Type="http://schemas.openxmlformats.org/officeDocument/2006/relationships/tags" Target="../tags/tag2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8.xml"/><Relationship Id="rId1" Type="http://schemas.openxmlformats.org/officeDocument/2006/relationships/tags" Target="../tags/tag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2.xml"/><Relationship Id="rId1" Type="http://schemas.openxmlformats.org/officeDocument/2006/relationships/tags" Target="../tags/tag2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3.xml"/><Relationship Id="rId1" Type="http://schemas.openxmlformats.org/officeDocument/2006/relationships/tags" Target="../tags/tag2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4.xml"/><Relationship Id="rId1" Type="http://schemas.openxmlformats.org/officeDocument/2006/relationships/tags" Target="../tags/tag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5.xml"/><Relationship Id="rId1" Type="http://schemas.openxmlformats.org/officeDocument/2006/relationships/tags" Target="../tags/tag27.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5.xml"/><Relationship Id="rId1" Type="http://schemas.openxmlformats.org/officeDocument/2006/relationships/tags" Target="../tags/tag28.xml"/></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5.xml"/><Relationship Id="rId1" Type="http://schemas.openxmlformats.org/officeDocument/2006/relationships/tags" Target="../tags/tag29.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30.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32.xml"/><Relationship Id="rId1" Type="http://schemas.openxmlformats.org/officeDocument/2006/relationships/tags" Target="../tags/tag31.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a:t>
            </a:fld>
            <a:endParaRPr lang="en-US" altLang="zh-CN" sz="1400" dirty="0"/>
          </a:p>
        </p:txBody>
      </p:sp>
      <p:sp>
        <p:nvSpPr>
          <p:cNvPr id="24578" name="Text Box 4"/>
          <p:cNvSpPr txBox="1"/>
          <p:nvPr/>
        </p:nvSpPr>
        <p:spPr>
          <a:xfrm>
            <a:off x="468313" y="1052513"/>
            <a:ext cx="8135937" cy="4619625"/>
          </a:xfrm>
          <a:prstGeom prst="rect">
            <a:avLst/>
          </a:prstGeom>
          <a:noFill/>
          <a:ln w="9525">
            <a:noFill/>
          </a:ln>
        </p:spPr>
        <p:txBody>
          <a:bodyPr>
            <a:spAutoFit/>
          </a:bodyPr>
          <a:lstStyle/>
          <a:p>
            <a:pPr>
              <a:lnSpc>
                <a:spcPct val="120000"/>
              </a:lnSpc>
              <a:spcBef>
                <a:spcPct val="20000"/>
              </a:spcBef>
              <a:buClrTx/>
            </a:pP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串匹配（</a:t>
            </a:r>
            <a:r>
              <a:rPr lang="en-US" altLang="zh-CN" b="1" dirty="0">
                <a:solidFill>
                  <a:srgbClr val="000000"/>
                </a:solidFill>
                <a:latin typeface="Arial" panose="020B0604020202020204" pitchFamily="34" charset="0"/>
              </a:rPr>
              <a:t>string matching</a:t>
            </a:r>
            <a:r>
              <a:rPr lang="zh-CN" altLang="en-US" b="1" dirty="0">
                <a:solidFill>
                  <a:srgbClr val="000000"/>
                </a:solidFill>
                <a:latin typeface="宋体" panose="02010600030101010101" pitchFamily="2" charset="-122"/>
              </a:rPr>
              <a:t>），也叫模式匹配（</a:t>
            </a:r>
            <a:r>
              <a:rPr lang="en-US" altLang="zh-CN" b="1" dirty="0">
                <a:solidFill>
                  <a:srgbClr val="000000"/>
                </a:solidFill>
                <a:latin typeface="Arial" panose="020B0604020202020204" pitchFamily="34" charset="0"/>
              </a:rPr>
              <a:t>pattern matching</a:t>
            </a:r>
            <a:r>
              <a:rPr lang="zh-CN" altLang="en-US" b="1" dirty="0">
                <a:solidFill>
                  <a:srgbClr val="000000"/>
                </a:solidFill>
                <a:latin typeface="宋体" panose="02010600030101010101" pitchFamily="2" charset="-122"/>
              </a:rPr>
              <a:t>），可以简单地定义为在给定的字符流中查找出满足某些指定属性的字符串。</a:t>
            </a:r>
          </a:p>
          <a:p>
            <a:pPr>
              <a:lnSpc>
                <a:spcPct val="120000"/>
              </a:lnSpc>
              <a:spcBef>
                <a:spcPct val="20000"/>
              </a:spcBef>
              <a:buClrTx/>
            </a:pPr>
            <a:r>
              <a:rPr lang="zh-CN" altLang="en-US" b="1" dirty="0">
                <a:solidFill>
                  <a:srgbClr val="000000"/>
                </a:solidFill>
                <a:latin typeface="宋体" panose="02010600030101010101" pitchFamily="2" charset="-122"/>
              </a:rPr>
              <a:t>    这是计算机科学中最古老也最普遍的问题之一，计算机科学中串匹配的应用可以说随处可见。近年来，随着计算机技术（各种应用）的蓬勃发展，尤其是信息检索和生物计算领域中的许多共同需求，极大激发了人们对串匹配算法的研究兴趣。 </a:t>
            </a:r>
          </a:p>
          <a:p>
            <a:pPr>
              <a:lnSpc>
                <a:spcPct val="120000"/>
              </a:lnSpc>
              <a:spcBef>
                <a:spcPct val="20000"/>
              </a:spcBef>
              <a:buClrTx/>
            </a:pPr>
            <a:r>
              <a:rPr lang="zh-CN" altLang="en-US" b="1" dirty="0">
                <a:solidFill>
                  <a:srgbClr val="000000"/>
                </a:solidFill>
                <a:latin typeface="Arial" panose="020B0604020202020204" pitchFamily="34" charset="0"/>
              </a:rPr>
              <a:t>        大概我们最熟悉的应用是文本编辑中所使用的查找替换，这是一种最简单的串匹配问题。</a:t>
            </a:r>
            <a:r>
              <a:rPr lang="zh-CN" altLang="en-US" sz="1800" dirty="0">
                <a:latin typeface="Arial" panose="020B0604020202020204" pitchFamily="34" charset="0"/>
              </a:rPr>
              <a:t> </a:t>
            </a:r>
          </a:p>
        </p:txBody>
      </p:sp>
      <p:sp>
        <p:nvSpPr>
          <p:cNvPr id="159746"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引    言</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a:t>
            </a:fld>
            <a:endParaRPr lang="en-US" altLang="zh-CN" sz="1400" dirty="0"/>
          </a:p>
        </p:txBody>
      </p:sp>
      <p:sp>
        <p:nvSpPr>
          <p:cNvPr id="26626" name="Text Box 4"/>
          <p:cNvSpPr txBox="1"/>
          <p:nvPr/>
        </p:nvSpPr>
        <p:spPr>
          <a:xfrm>
            <a:off x="395288" y="836613"/>
            <a:ext cx="8280400" cy="5861050"/>
          </a:xfrm>
          <a:prstGeom prst="rect">
            <a:avLst/>
          </a:prstGeom>
          <a:noFill/>
          <a:ln w="9525">
            <a:noFill/>
          </a:ln>
        </p:spPr>
        <p:txBody>
          <a:bodyPr>
            <a:spAutoFit/>
          </a:bodyPr>
          <a:lstStyle/>
          <a:p>
            <a:pPr>
              <a:lnSpc>
                <a:spcPct val="120000"/>
              </a:lnSpc>
              <a:spcBef>
                <a:spcPct val="20000"/>
              </a:spcBef>
              <a:buClrTx/>
            </a:pPr>
            <a:r>
              <a:rPr lang="zh-CN" altLang="en-US" b="1" dirty="0">
                <a:solidFill>
                  <a:srgbClr val="000000"/>
                </a:solidFill>
                <a:latin typeface="Arial" panose="020B0604020202020204" pitchFamily="34" charset="0"/>
              </a:rPr>
              <a:t>以下简要介绍串匹配问题的部分应用：</a:t>
            </a:r>
          </a:p>
          <a:p>
            <a:pPr>
              <a:lnSpc>
                <a:spcPct val="120000"/>
              </a:lnSpc>
              <a:spcBef>
                <a:spcPct val="20000"/>
              </a:spcBef>
              <a:buClrTx/>
              <a:buFont typeface="Wingdings" panose="05000000000000000000" pitchFamily="2" charset="2"/>
              <a:buChar char="Ø"/>
            </a:pPr>
            <a:r>
              <a:rPr lang="zh-CN" altLang="en-US" b="1" dirty="0">
                <a:solidFill>
                  <a:srgbClr val="000000"/>
                </a:solidFill>
                <a:latin typeface="Arial" panose="020B0604020202020204" pitchFamily="34" charset="0"/>
              </a:rPr>
              <a:t>  在生物计算领域，</a:t>
            </a:r>
            <a:r>
              <a:rPr lang="en-US" altLang="zh-CN" b="1" dirty="0">
                <a:solidFill>
                  <a:srgbClr val="000000"/>
                </a:solidFill>
                <a:latin typeface="Arial" panose="020B0604020202020204" pitchFamily="34" charset="0"/>
              </a:rPr>
              <a:t>DNA</a:t>
            </a:r>
            <a:r>
              <a:rPr lang="zh-CN" altLang="en-US" b="1" dirty="0">
                <a:solidFill>
                  <a:srgbClr val="000000"/>
                </a:solidFill>
                <a:latin typeface="Arial" panose="020B0604020202020204" pitchFamily="34" charset="0"/>
              </a:rPr>
              <a:t>和蛋白质序列可以看成是在特殊字符集上的长文本（典型的</a:t>
            </a:r>
            <a:r>
              <a:rPr lang="en-US" altLang="zh-CN" b="1" dirty="0">
                <a:solidFill>
                  <a:srgbClr val="000000"/>
                </a:solidFill>
                <a:latin typeface="Arial" panose="020B0604020202020204" pitchFamily="34" charset="0"/>
              </a:rPr>
              <a:t>DNA</a:t>
            </a:r>
            <a:r>
              <a:rPr lang="zh-CN" altLang="en-US" b="1" dirty="0">
                <a:solidFill>
                  <a:srgbClr val="000000"/>
                </a:solidFill>
                <a:latin typeface="Arial" panose="020B0604020202020204" pitchFamily="34" charset="0"/>
              </a:rPr>
              <a:t>就是在</a:t>
            </a:r>
            <a:r>
              <a:rPr lang="en-US" altLang="zh-CN" b="1" dirty="0">
                <a:solidFill>
                  <a:srgbClr val="000000"/>
                </a:solidFill>
                <a:latin typeface="Arial" panose="020B0604020202020204" pitchFamily="34" charset="0"/>
              </a:rPr>
              <a:t>{A</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C</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G</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T}</a:t>
            </a:r>
            <a:r>
              <a:rPr lang="zh-CN" altLang="en-US" b="1" dirty="0">
                <a:solidFill>
                  <a:srgbClr val="000000"/>
                </a:solidFill>
                <a:latin typeface="Arial" panose="020B0604020202020204" pitchFamily="34" charset="0"/>
              </a:rPr>
              <a:t>字符集上），这种序列代表了人类生命的基因编码。生物基因实验中的许多问题，比如在一个</a:t>
            </a:r>
            <a:r>
              <a:rPr lang="en-US" altLang="zh-CN" b="1" dirty="0">
                <a:solidFill>
                  <a:srgbClr val="000000"/>
                </a:solidFill>
                <a:latin typeface="Arial" panose="020B0604020202020204" pitchFamily="34" charset="0"/>
              </a:rPr>
              <a:t>DNA</a:t>
            </a:r>
            <a:r>
              <a:rPr lang="zh-CN" altLang="en-US" b="1" dirty="0">
                <a:solidFill>
                  <a:srgbClr val="000000"/>
                </a:solidFill>
                <a:latin typeface="Arial" panose="020B0604020202020204" pitchFamily="34" charset="0"/>
              </a:rPr>
              <a:t>链上查找某些特定特征，或者比较两个</a:t>
            </a:r>
            <a:r>
              <a:rPr lang="zh-CN" altLang="en-US" b="1" dirty="0">
                <a:solidFill>
                  <a:srgbClr val="FF3300"/>
                </a:solidFill>
                <a:latin typeface="Arial" panose="020B0604020202020204" pitchFamily="34" charset="0"/>
              </a:rPr>
              <a:t>基因序列</a:t>
            </a:r>
            <a:r>
              <a:rPr lang="zh-CN" altLang="en-US" b="1" dirty="0">
                <a:solidFill>
                  <a:srgbClr val="000000"/>
                </a:solidFill>
                <a:latin typeface="Arial" panose="020B0604020202020204" pitchFamily="34" charset="0"/>
              </a:rPr>
              <a:t>有多大差异，都可以简单地归结为在“文本”中查找特定的“模式”的串匹配问题。</a:t>
            </a:r>
          </a:p>
          <a:p>
            <a:pPr>
              <a:lnSpc>
                <a:spcPct val="120000"/>
              </a:lnSpc>
              <a:spcBef>
                <a:spcPct val="20000"/>
              </a:spcBef>
              <a:buClrTx/>
              <a:buFont typeface="Wingdings" panose="05000000000000000000" pitchFamily="2" charset="2"/>
              <a:buChar char="Ø"/>
            </a:pPr>
            <a:r>
              <a:rPr lang="zh-CN" altLang="en-US" b="1" dirty="0">
                <a:solidFill>
                  <a:srgbClr val="000000"/>
                </a:solidFill>
                <a:latin typeface="Arial" panose="020B0604020202020204" pitchFamily="34" charset="0"/>
              </a:rPr>
              <a:t>   在信号处理领域，语音识别的一般情形可以大致描述为确定一个语音信号是否符合某些特征。只要事先</a:t>
            </a:r>
            <a:r>
              <a:rPr lang="zh-CN" altLang="en-US" b="1" dirty="0">
                <a:solidFill>
                  <a:srgbClr val="FF3300"/>
                </a:solidFill>
                <a:latin typeface="Arial" panose="020B0604020202020204" pitchFamily="34" charset="0"/>
              </a:rPr>
              <a:t>把语音信号转化为特定形式的文本信息，我们就可以很好地应用串匹配算法来解决这个问题</a:t>
            </a:r>
            <a:r>
              <a:rPr lang="zh-CN" altLang="en-US" b="1" dirty="0">
                <a:solidFill>
                  <a:srgbClr val="000000"/>
                </a:solidFill>
                <a:latin typeface="Arial" panose="020B0604020202020204" pitchFamily="34" charset="0"/>
              </a:rPr>
              <a:t>。而语音识别的发展与目前非常热门的人机交互的实现有着密切的关系。</a:t>
            </a:r>
          </a:p>
          <a:p>
            <a:pPr>
              <a:spcBef>
                <a:spcPct val="0"/>
              </a:spcBef>
              <a:buClrTx/>
            </a:pPr>
            <a:r>
              <a:rPr lang="zh-CN" altLang="en-US" dirty="0">
                <a:solidFill>
                  <a:srgbClr val="000000"/>
                </a:solidFill>
                <a:latin typeface="Arial" panose="020B0604020202020204" pitchFamily="34" charset="0"/>
              </a:rPr>
              <a:t>        </a:t>
            </a:r>
            <a:endParaRPr lang="zh-CN" altLang="en-US" sz="1800" dirty="0">
              <a:latin typeface="Arial" panose="020B0604020202020204" pitchFamily="34" charset="0"/>
            </a:endParaRPr>
          </a:p>
        </p:txBody>
      </p:sp>
      <p:sp>
        <p:nvSpPr>
          <p:cNvPr id="159746"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引    言</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a:t>
            </a:fld>
            <a:endParaRPr lang="en-US" altLang="zh-CN" sz="1400" dirty="0"/>
          </a:p>
        </p:txBody>
      </p:sp>
      <p:sp>
        <p:nvSpPr>
          <p:cNvPr id="28674" name="Text Box 4"/>
          <p:cNvSpPr txBox="1"/>
          <p:nvPr/>
        </p:nvSpPr>
        <p:spPr>
          <a:xfrm>
            <a:off x="323850" y="935038"/>
            <a:ext cx="8280400" cy="4619625"/>
          </a:xfrm>
          <a:prstGeom prst="rect">
            <a:avLst/>
          </a:prstGeom>
          <a:noFill/>
          <a:ln w="9525">
            <a:noFill/>
          </a:ln>
        </p:spPr>
        <p:txBody>
          <a:bodyPr>
            <a:spAutoFit/>
          </a:bodyPr>
          <a:lstStyle/>
          <a:p>
            <a:pPr>
              <a:lnSpc>
                <a:spcPct val="120000"/>
              </a:lnSpc>
              <a:spcBef>
                <a:spcPct val="20000"/>
              </a:spcBef>
              <a:buClrTx/>
              <a:buFont typeface="Wingdings" panose="05000000000000000000" pitchFamily="2" charset="2"/>
              <a:buChar char="Ø"/>
            </a:pPr>
            <a:r>
              <a:rPr lang="en-US" altLang="zh-CN" b="1" dirty="0">
                <a:solidFill>
                  <a:srgbClr val="000000"/>
                </a:solidFill>
                <a:latin typeface="Arial" panose="020B0604020202020204" pitchFamily="34" charset="0"/>
              </a:rPr>
              <a:t>  </a:t>
            </a:r>
            <a:r>
              <a:rPr lang="zh-CN" altLang="en-US" b="1" dirty="0">
                <a:solidFill>
                  <a:srgbClr val="000000"/>
                </a:solidFill>
                <a:latin typeface="Arial" panose="020B0604020202020204" pitchFamily="34" charset="0"/>
              </a:rPr>
              <a:t>在自然语言处理方面，信息检索是最关键的技术之一。例如，信息检索</a:t>
            </a:r>
            <a:r>
              <a:rPr lang="en-US" altLang="zh-CN" b="1" dirty="0">
                <a:solidFill>
                  <a:srgbClr val="000000"/>
                </a:solidFill>
                <a:latin typeface="Arial" panose="020B0604020202020204" pitchFamily="34" charset="0"/>
              </a:rPr>
              <a:t>IR(Information Retrieval)</a:t>
            </a:r>
            <a:r>
              <a:rPr lang="zh-CN" altLang="en-US" b="1" dirty="0">
                <a:solidFill>
                  <a:srgbClr val="000000"/>
                </a:solidFill>
                <a:latin typeface="Arial" panose="020B0604020202020204" pitchFamily="34" charset="0"/>
              </a:rPr>
              <a:t>要求在一个大量的文本集合中找出相关信息，串匹配就是它的基本技术之一。  </a:t>
            </a:r>
          </a:p>
          <a:p>
            <a:pPr>
              <a:lnSpc>
                <a:spcPct val="120000"/>
              </a:lnSpc>
              <a:spcBef>
                <a:spcPct val="20000"/>
              </a:spcBef>
              <a:buClrTx/>
              <a:buFont typeface="Wingdings" panose="05000000000000000000" pitchFamily="2" charset="2"/>
              <a:buChar char="Ø"/>
            </a:pPr>
            <a:r>
              <a:rPr lang="zh-CN" altLang="en-US" b="1" dirty="0">
                <a:solidFill>
                  <a:srgbClr val="000000"/>
                </a:solidFill>
                <a:latin typeface="Arial" panose="020B0604020202020204" pitchFamily="34" charset="0"/>
              </a:rPr>
              <a:t>  在网络安全方面，有一个很重要的问题，就是快速发现具有某些特征码的有害信息，及早地防范于未然。病毒和入侵检测</a:t>
            </a:r>
            <a:r>
              <a:rPr lang="en-US" altLang="zh-CN" b="1" dirty="0">
                <a:solidFill>
                  <a:srgbClr val="000000"/>
                </a:solidFill>
                <a:latin typeface="Arial" panose="020B0604020202020204" pitchFamily="34" charset="0"/>
              </a:rPr>
              <a:t>NID</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Network Intrusion Detection</a:t>
            </a:r>
            <a:r>
              <a:rPr lang="zh-CN" altLang="en-US" b="1" dirty="0">
                <a:solidFill>
                  <a:srgbClr val="000000"/>
                </a:solidFill>
                <a:latin typeface="Arial" panose="020B0604020202020204" pitchFamily="34" charset="0"/>
              </a:rPr>
              <a:t>）都可以淋漓尽致地发挥串匹配算法的优势。</a:t>
            </a:r>
          </a:p>
          <a:p>
            <a:pPr>
              <a:lnSpc>
                <a:spcPct val="120000"/>
              </a:lnSpc>
              <a:spcBef>
                <a:spcPct val="20000"/>
              </a:spcBef>
              <a:buClrTx/>
              <a:buFont typeface="Wingdings" panose="05000000000000000000" pitchFamily="2" charset="2"/>
              <a:buNone/>
            </a:pPr>
            <a:r>
              <a:rPr lang="zh-CN" altLang="en-US" b="1" dirty="0">
                <a:solidFill>
                  <a:srgbClr val="000000"/>
                </a:solidFill>
                <a:latin typeface="Arial" panose="020B0604020202020204" pitchFamily="34" charset="0"/>
              </a:rPr>
              <a:t>    串匹配问题不仅在各种实际应用中有着广泛的需要，而且在计算机理论研究中也占有着十分重要的地位，因为它可以不断地提出非常具有挑战性的理论问题。</a:t>
            </a:r>
          </a:p>
        </p:txBody>
      </p:sp>
      <p:sp>
        <p:nvSpPr>
          <p:cNvPr id="159746"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引    言</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a:t>
            </a:fld>
            <a:endParaRPr lang="en-US" altLang="zh-CN" sz="1400" dirty="0"/>
          </a:p>
        </p:txBody>
      </p:sp>
      <p:sp>
        <p:nvSpPr>
          <p:cNvPr id="30722" name="Text Box 4"/>
          <p:cNvSpPr txBox="1"/>
          <p:nvPr/>
        </p:nvSpPr>
        <p:spPr>
          <a:xfrm>
            <a:off x="468313" y="1268413"/>
            <a:ext cx="8424862" cy="5140325"/>
          </a:xfrm>
          <a:prstGeom prst="rect">
            <a:avLst/>
          </a:prstGeom>
          <a:noFill/>
          <a:ln w="9525">
            <a:noFill/>
          </a:ln>
        </p:spPr>
        <p:txBody>
          <a:bodyPr>
            <a:spAutoFit/>
          </a:bodyPr>
          <a:lstStyle/>
          <a:p>
            <a:pPr marL="342900" indent="-342900">
              <a:lnSpc>
                <a:spcPct val="115000"/>
              </a:lnSpc>
              <a:spcBef>
                <a:spcPct val="0"/>
              </a:spcBef>
              <a:buClrTx/>
              <a:buAutoNum type="arabicPeriod"/>
            </a:pPr>
            <a:r>
              <a:rPr lang="zh-CN" altLang="en-US" b="1" dirty="0">
                <a:solidFill>
                  <a:srgbClr val="0033CC"/>
                </a:solidFill>
                <a:latin typeface="宋体" panose="02010600030101010101" pitchFamily="2" charset="-122"/>
              </a:rPr>
              <a:t>文本</a:t>
            </a:r>
            <a:r>
              <a:rPr lang="zh-CN" altLang="en-US" b="1" dirty="0">
                <a:solidFill>
                  <a:srgbClr val="000000"/>
                </a:solidFill>
                <a:latin typeface="宋体" panose="02010600030101010101" pitchFamily="2" charset="-122"/>
              </a:rPr>
              <a:t>：由若干个字符组成的有限序列，设为</a:t>
            </a:r>
            <a:r>
              <a:rPr lang="en-US" altLang="zh-CN" b="1" i="1" dirty="0">
                <a:solidFill>
                  <a:srgbClr val="000000"/>
                </a:solidFill>
                <a:latin typeface="Arial" panose="020B0604020202020204" pitchFamily="34" charset="0"/>
              </a:rPr>
              <a:t>y</a:t>
            </a:r>
            <a:r>
              <a:rPr lang="en-US" altLang="zh-CN" b="1" dirty="0">
                <a:solidFill>
                  <a:srgbClr val="000000"/>
                </a:solidFill>
                <a:latin typeface="Arial" panose="020B0604020202020204" pitchFamily="34" charset="0"/>
              </a:rPr>
              <a:t>={</a:t>
            </a:r>
            <a:r>
              <a:rPr lang="en-US" altLang="zh-CN" b="1" i="1" dirty="0">
                <a:solidFill>
                  <a:srgbClr val="000000"/>
                </a:solidFill>
                <a:latin typeface="Arial" panose="020B0604020202020204" pitchFamily="34" charset="0"/>
              </a:rPr>
              <a:t>y</a:t>
            </a:r>
            <a:r>
              <a:rPr lang="en-US" altLang="zh-CN" b="1" i="1" baseline="-25000" dirty="0">
                <a:solidFill>
                  <a:srgbClr val="000000"/>
                </a:solidFill>
                <a:latin typeface="Arial" panose="020B0604020202020204" pitchFamily="34" charset="0"/>
              </a:rPr>
              <a:t>1</a:t>
            </a:r>
            <a:r>
              <a:rPr lang="en-US" altLang="zh-CN" b="1" i="1" dirty="0">
                <a:solidFill>
                  <a:srgbClr val="000000"/>
                </a:solidFill>
                <a:latin typeface="Arial" panose="020B0604020202020204" pitchFamily="34" charset="0"/>
              </a:rPr>
              <a:t>y</a:t>
            </a:r>
            <a:r>
              <a:rPr lang="en-US" altLang="zh-CN" b="1" i="1" baseline="-25000" dirty="0">
                <a:solidFill>
                  <a:srgbClr val="000000"/>
                </a:solidFill>
                <a:latin typeface="Arial" panose="020B0604020202020204" pitchFamily="34" charset="0"/>
              </a:rPr>
              <a:t>2</a:t>
            </a:r>
            <a:r>
              <a:rPr lang="en-US" altLang="zh-CN" b="1" i="1" dirty="0">
                <a:solidFill>
                  <a:srgbClr val="000000"/>
                </a:solidFill>
                <a:latin typeface="Arial" panose="020B0604020202020204" pitchFamily="34" charset="0"/>
              </a:rPr>
              <a:t>y</a:t>
            </a:r>
            <a:r>
              <a:rPr lang="en-US" altLang="zh-CN" b="1" i="1" baseline="-25000" dirty="0">
                <a:solidFill>
                  <a:srgbClr val="000000"/>
                </a:solidFill>
                <a:latin typeface="Arial" panose="020B0604020202020204" pitchFamily="34" charset="0"/>
              </a:rPr>
              <a:t>3</a:t>
            </a:r>
            <a:r>
              <a:rPr lang="en-US" altLang="zh-CN" b="1" i="1" dirty="0">
                <a:solidFill>
                  <a:srgbClr val="000000"/>
                </a:solidFill>
                <a:latin typeface="Arial" panose="020B0604020202020204" pitchFamily="34" charset="0"/>
              </a:rPr>
              <a:t>…y</a:t>
            </a:r>
            <a:r>
              <a:rPr lang="en-US" altLang="zh-CN" b="1" i="1" baseline="-25000" dirty="0">
                <a:solidFill>
                  <a:srgbClr val="000000"/>
                </a:solidFill>
                <a:latin typeface="Arial" panose="020B0604020202020204" pitchFamily="34" charset="0"/>
              </a:rPr>
              <a:t>n</a:t>
            </a:r>
            <a:r>
              <a:rPr lang="en-US" altLang="zh-CN" b="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其中</a:t>
            </a:r>
            <a:r>
              <a:rPr lang="en-US" altLang="zh-CN" b="1" i="1" dirty="0">
                <a:solidFill>
                  <a:srgbClr val="000000"/>
                </a:solidFill>
                <a:latin typeface="Arial" panose="020B0604020202020204" pitchFamily="34" charset="0"/>
              </a:rPr>
              <a:t>n</a:t>
            </a:r>
            <a:r>
              <a:rPr lang="zh-CN" altLang="en-US" b="1" dirty="0">
                <a:solidFill>
                  <a:srgbClr val="000000"/>
                </a:solidFill>
                <a:latin typeface="宋体" panose="02010600030101010101" pitchFamily="2" charset="-122"/>
              </a:rPr>
              <a:t>为文本长度，即文本中总的字符个数。</a:t>
            </a:r>
          </a:p>
          <a:p>
            <a:pPr marL="342900" indent="-342900">
              <a:lnSpc>
                <a:spcPct val="115000"/>
              </a:lnSpc>
              <a:spcBef>
                <a:spcPct val="0"/>
              </a:spcBef>
              <a:buClrTx/>
              <a:buAutoNum type="arabicPeriod"/>
            </a:pPr>
            <a:r>
              <a:rPr lang="zh-CN" altLang="en-US" b="1" dirty="0">
                <a:solidFill>
                  <a:srgbClr val="0033CC"/>
                </a:solidFill>
                <a:latin typeface="宋体" panose="02010600030101010101" pitchFamily="2" charset="-122"/>
              </a:rPr>
              <a:t>模式</a:t>
            </a:r>
            <a:r>
              <a:rPr lang="zh-CN" altLang="en-US" b="1" dirty="0">
                <a:solidFill>
                  <a:srgbClr val="000000"/>
                </a:solidFill>
                <a:latin typeface="宋体" panose="02010600030101010101" pitchFamily="2" charset="-122"/>
              </a:rPr>
              <a:t>：也称为关键字，由若干个字符组成的有限序列</a:t>
            </a:r>
            <a:r>
              <a:rPr lang="en-US" altLang="zh-CN" b="1" i="1" dirty="0">
                <a:solidFill>
                  <a:srgbClr val="000000"/>
                </a:solidFill>
                <a:latin typeface="Arial" panose="020B0604020202020204" pitchFamily="34" charset="0"/>
              </a:rPr>
              <a:t>k={k</a:t>
            </a:r>
            <a:r>
              <a:rPr lang="en-US" altLang="zh-CN" b="1" i="1" baseline="-25000" dirty="0">
                <a:solidFill>
                  <a:srgbClr val="000000"/>
                </a:solidFill>
                <a:latin typeface="Arial" panose="020B0604020202020204" pitchFamily="34" charset="0"/>
              </a:rPr>
              <a:t>1</a:t>
            </a:r>
            <a:r>
              <a:rPr lang="en-US" altLang="zh-CN" b="1" i="1" dirty="0">
                <a:solidFill>
                  <a:srgbClr val="000000"/>
                </a:solidFill>
                <a:latin typeface="Arial" panose="020B0604020202020204" pitchFamily="34" charset="0"/>
              </a:rPr>
              <a:t>k</a:t>
            </a:r>
            <a:r>
              <a:rPr lang="en-US" altLang="zh-CN" b="1" i="1" baseline="-25000" dirty="0">
                <a:solidFill>
                  <a:srgbClr val="000000"/>
                </a:solidFill>
                <a:latin typeface="Arial" panose="020B0604020202020204" pitchFamily="34" charset="0"/>
              </a:rPr>
              <a:t>2</a:t>
            </a:r>
            <a:r>
              <a:rPr lang="en-US" altLang="zh-CN" b="1" i="1" dirty="0">
                <a:solidFill>
                  <a:srgbClr val="000000"/>
                </a:solidFill>
                <a:latin typeface="Arial" panose="020B0604020202020204" pitchFamily="34" charset="0"/>
              </a:rPr>
              <a:t>k</a:t>
            </a:r>
            <a:r>
              <a:rPr lang="en-US" altLang="zh-CN" b="1" i="1" baseline="-25000" dirty="0">
                <a:solidFill>
                  <a:srgbClr val="000000"/>
                </a:solidFill>
                <a:latin typeface="Arial" panose="020B0604020202020204" pitchFamily="34" charset="0"/>
              </a:rPr>
              <a:t>3</a:t>
            </a:r>
            <a:r>
              <a:rPr lang="en-US" altLang="zh-CN" b="1" i="1" dirty="0">
                <a:solidFill>
                  <a:srgbClr val="000000"/>
                </a:solidFill>
                <a:latin typeface="Arial" panose="020B0604020202020204" pitchFamily="34" charset="0"/>
              </a:rPr>
              <a:t>…k</a:t>
            </a:r>
            <a:r>
              <a:rPr lang="en-US" altLang="zh-CN" b="1" i="1" baseline="-25000" dirty="0">
                <a:solidFill>
                  <a:srgbClr val="000000"/>
                </a:solidFill>
                <a:latin typeface="Arial" panose="020B0604020202020204" pitchFamily="34" charset="0"/>
              </a:rPr>
              <a:t>m</a:t>
            </a:r>
            <a:r>
              <a:rPr lang="en-US" altLang="zh-CN" b="1" i="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，其中</a:t>
            </a:r>
            <a:r>
              <a:rPr lang="en-US" altLang="zh-CN" b="1" i="1" dirty="0">
                <a:solidFill>
                  <a:srgbClr val="000000"/>
                </a:solidFill>
                <a:latin typeface="Arial" panose="020B0604020202020204" pitchFamily="34" charset="0"/>
              </a:rPr>
              <a:t>m</a:t>
            </a:r>
            <a:r>
              <a:rPr lang="zh-CN" altLang="en-US" b="1" dirty="0">
                <a:solidFill>
                  <a:srgbClr val="000000"/>
                </a:solidFill>
                <a:latin typeface="宋体" panose="02010600030101010101" pitchFamily="2" charset="-122"/>
              </a:rPr>
              <a:t>为模式长度，即模式中字符总数。</a:t>
            </a:r>
          </a:p>
          <a:p>
            <a:pPr marL="342900" indent="-342900">
              <a:lnSpc>
                <a:spcPct val="115000"/>
              </a:lnSpc>
              <a:spcBef>
                <a:spcPct val="0"/>
              </a:spcBef>
              <a:buClrTx/>
              <a:buAutoNum type="arabicPeriod"/>
            </a:pPr>
            <a:r>
              <a:rPr lang="zh-CN" altLang="en-US" b="1" dirty="0">
                <a:solidFill>
                  <a:srgbClr val="0033CC"/>
                </a:solidFill>
                <a:latin typeface="宋体" panose="02010600030101010101" pitchFamily="2" charset="-122"/>
              </a:rPr>
              <a:t>模式集</a:t>
            </a:r>
            <a:r>
              <a:rPr lang="zh-CN" altLang="en-US" b="1" dirty="0">
                <a:solidFill>
                  <a:srgbClr val="000000"/>
                </a:solidFill>
                <a:latin typeface="宋体" panose="02010600030101010101" pitchFamily="2" charset="-122"/>
              </a:rPr>
              <a:t>：指所有需要匹配的模式形成的集合，记为</a:t>
            </a:r>
            <a:r>
              <a:rPr lang="en-US" altLang="zh-CN" b="1" i="1" dirty="0">
                <a:solidFill>
                  <a:srgbClr val="000000"/>
                </a:solidFill>
                <a:latin typeface="Arial" panose="020B0604020202020204" pitchFamily="34" charset="0"/>
              </a:rPr>
              <a:t>P={p</a:t>
            </a:r>
            <a:r>
              <a:rPr lang="en-US" altLang="zh-CN" b="1" i="1" baseline="-25000" dirty="0">
                <a:solidFill>
                  <a:srgbClr val="000000"/>
                </a:solidFill>
                <a:latin typeface="Arial" panose="020B0604020202020204" pitchFamily="34" charset="0"/>
              </a:rPr>
              <a:t>1</a:t>
            </a:r>
            <a:r>
              <a:rPr lang="en-US" altLang="zh-CN" b="1" i="1" dirty="0">
                <a:solidFill>
                  <a:srgbClr val="000000"/>
                </a:solidFill>
                <a:latin typeface="Arial" panose="020B0604020202020204" pitchFamily="34" charset="0"/>
              </a:rPr>
              <a:t>,p</a:t>
            </a:r>
            <a:r>
              <a:rPr lang="en-US" altLang="zh-CN" b="1" i="1" baseline="-25000" dirty="0">
                <a:solidFill>
                  <a:srgbClr val="000000"/>
                </a:solidFill>
                <a:latin typeface="Arial" panose="020B0604020202020204" pitchFamily="34" charset="0"/>
              </a:rPr>
              <a:t>2</a:t>
            </a:r>
            <a:r>
              <a:rPr lang="en-US" altLang="zh-CN" b="1" i="1" dirty="0">
                <a:solidFill>
                  <a:srgbClr val="000000"/>
                </a:solidFill>
                <a:latin typeface="Arial" panose="020B0604020202020204" pitchFamily="34" charset="0"/>
              </a:rPr>
              <a:t>,p</a:t>
            </a:r>
            <a:r>
              <a:rPr lang="en-US" altLang="zh-CN" b="1" i="1" baseline="-25000" dirty="0">
                <a:solidFill>
                  <a:srgbClr val="000000"/>
                </a:solidFill>
                <a:latin typeface="Arial" panose="020B0604020202020204" pitchFamily="34" charset="0"/>
              </a:rPr>
              <a:t>3</a:t>
            </a:r>
            <a:r>
              <a:rPr lang="en-US" altLang="zh-CN" b="1" i="1" dirty="0">
                <a:solidFill>
                  <a:srgbClr val="000000"/>
                </a:solidFill>
                <a:latin typeface="Arial" panose="020B0604020202020204" pitchFamily="34" charset="0"/>
              </a:rPr>
              <a:t>,…,p</a:t>
            </a:r>
            <a:r>
              <a:rPr lang="en-US" altLang="zh-CN" b="1" i="1" baseline="-25000" dirty="0">
                <a:solidFill>
                  <a:srgbClr val="000000"/>
                </a:solidFill>
                <a:latin typeface="Arial" panose="020B0604020202020204" pitchFamily="34" charset="0"/>
              </a:rPr>
              <a:t>r</a:t>
            </a:r>
            <a:r>
              <a:rPr lang="en-US" altLang="zh-CN" b="1" i="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，其中</a:t>
            </a:r>
            <a:r>
              <a:rPr lang="en-US" altLang="zh-CN" b="1" i="1" dirty="0">
                <a:solidFill>
                  <a:srgbClr val="000000"/>
                </a:solidFill>
                <a:latin typeface="Arial" panose="020B0604020202020204" pitchFamily="34" charset="0"/>
              </a:rPr>
              <a:t>p</a:t>
            </a:r>
            <a:r>
              <a:rPr lang="en-US" altLang="zh-CN" b="1" i="1" baseline="-25000" dirty="0">
                <a:solidFill>
                  <a:srgbClr val="000000"/>
                </a:solidFill>
                <a:latin typeface="Arial" panose="020B0604020202020204" pitchFamily="34" charset="0"/>
              </a:rPr>
              <a:t>i</a:t>
            </a:r>
            <a:r>
              <a:rPr lang="zh-CN" altLang="en-US" b="1" dirty="0">
                <a:solidFill>
                  <a:srgbClr val="000000"/>
                </a:solidFill>
                <a:latin typeface="宋体" panose="02010600030101010101" pitchFamily="2" charset="-122"/>
              </a:rPr>
              <a:t>是模式集中第</a:t>
            </a:r>
            <a:r>
              <a:rPr lang="en-US" altLang="zh-CN" b="1" i="1" dirty="0">
                <a:solidFill>
                  <a:srgbClr val="000000"/>
                </a:solidFill>
                <a:latin typeface="宋体" panose="02010600030101010101" pitchFamily="2" charset="-122"/>
              </a:rPr>
              <a:t>i</a:t>
            </a:r>
            <a:r>
              <a:rPr lang="zh-CN" altLang="en-US" b="1" dirty="0">
                <a:solidFill>
                  <a:srgbClr val="000000"/>
                </a:solidFill>
                <a:latin typeface="宋体" panose="02010600030101010101" pitchFamily="2" charset="-122"/>
              </a:rPr>
              <a:t>个模式。记模式集中所有模式长度的总和为</a:t>
            </a:r>
            <a:r>
              <a:rPr lang="en-US" altLang="zh-CN" b="1" dirty="0">
                <a:solidFill>
                  <a:srgbClr val="000000"/>
                </a:solidFill>
                <a:latin typeface="宋体" panose="02010600030101010101" pitchFamily="2" charset="-122"/>
              </a:rPr>
              <a:t>|</a:t>
            </a:r>
            <a:r>
              <a:rPr lang="en-US" altLang="zh-CN" b="1" i="1" dirty="0">
                <a:solidFill>
                  <a:srgbClr val="000000"/>
                </a:solidFill>
                <a:latin typeface="Arial" panose="020B0604020202020204" pitchFamily="34" charset="0"/>
              </a:rPr>
              <a:t>P</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a:t>
            </a:r>
          </a:p>
          <a:p>
            <a:pPr marL="342900" indent="-342900">
              <a:lnSpc>
                <a:spcPct val="115000"/>
              </a:lnSpc>
              <a:spcBef>
                <a:spcPct val="0"/>
              </a:spcBef>
              <a:buClrTx/>
              <a:buAutoNum type="arabicPeriod"/>
            </a:pPr>
            <a:r>
              <a:rPr lang="zh-CN" altLang="en-US" b="1" dirty="0">
                <a:solidFill>
                  <a:srgbClr val="0033CC"/>
                </a:solidFill>
                <a:latin typeface="宋体" panose="02010600030101010101" pitchFamily="2" charset="-122"/>
              </a:rPr>
              <a:t>最小模式长度</a:t>
            </a:r>
            <a:r>
              <a:rPr lang="zh-CN" altLang="en-US" b="1" dirty="0">
                <a:solidFill>
                  <a:srgbClr val="000000"/>
                </a:solidFill>
                <a:latin typeface="宋体" panose="02010600030101010101" pitchFamily="2" charset="-122"/>
              </a:rPr>
              <a:t>：假设模式集中各个模式长度分别为</a:t>
            </a:r>
            <a:r>
              <a:rPr lang="en-US" altLang="zh-CN" b="1" i="1" dirty="0">
                <a:solidFill>
                  <a:srgbClr val="000000"/>
                </a:solidFill>
                <a:latin typeface="Arial" panose="020B0604020202020204" pitchFamily="34" charset="0"/>
              </a:rPr>
              <a:t>l</a:t>
            </a:r>
            <a:r>
              <a:rPr lang="en-US" altLang="zh-CN" b="1" i="1" baseline="-25000" dirty="0">
                <a:solidFill>
                  <a:srgbClr val="000000"/>
                </a:solidFill>
                <a:latin typeface="Arial" panose="020B0604020202020204" pitchFamily="34" charset="0"/>
              </a:rPr>
              <a:t>1</a:t>
            </a:r>
            <a:r>
              <a:rPr lang="en-US" altLang="zh-CN" b="1" i="1" dirty="0">
                <a:solidFill>
                  <a:srgbClr val="000000"/>
                </a:solidFill>
                <a:latin typeface="Arial" panose="020B0604020202020204" pitchFamily="34" charset="0"/>
              </a:rPr>
              <a:t>,l</a:t>
            </a:r>
            <a:r>
              <a:rPr lang="en-US" altLang="zh-CN" b="1" i="1" baseline="-25000" dirty="0">
                <a:solidFill>
                  <a:srgbClr val="000000"/>
                </a:solidFill>
                <a:latin typeface="Arial" panose="020B0604020202020204" pitchFamily="34" charset="0"/>
              </a:rPr>
              <a:t>2</a:t>
            </a:r>
            <a:r>
              <a:rPr lang="en-US" altLang="zh-CN" b="1" i="1" dirty="0">
                <a:solidFill>
                  <a:srgbClr val="000000"/>
                </a:solidFill>
                <a:latin typeface="Arial" panose="020B0604020202020204" pitchFamily="34" charset="0"/>
              </a:rPr>
              <a:t>,…l</a:t>
            </a:r>
            <a:r>
              <a:rPr lang="en-US" altLang="zh-CN" b="1" i="1" baseline="-25000" dirty="0">
                <a:solidFill>
                  <a:srgbClr val="000000"/>
                </a:solidFill>
                <a:latin typeface="Arial" panose="020B0604020202020204" pitchFamily="34" charset="0"/>
              </a:rPr>
              <a:t>r</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那么最小模式长度是指所有模式长度的最小值，即</a:t>
            </a:r>
            <a:r>
              <a:rPr lang="en-US" altLang="zh-CN" b="1" i="1" dirty="0">
                <a:solidFill>
                  <a:srgbClr val="000000"/>
                </a:solidFill>
                <a:latin typeface="Arial" panose="020B0604020202020204" pitchFamily="34" charset="0"/>
              </a:rPr>
              <a:t>minlen = min{l</a:t>
            </a:r>
            <a:r>
              <a:rPr lang="en-US" altLang="zh-CN" b="1" i="1" baseline="-25000" dirty="0">
                <a:solidFill>
                  <a:srgbClr val="000000"/>
                </a:solidFill>
                <a:latin typeface="Arial" panose="020B0604020202020204" pitchFamily="34" charset="0"/>
              </a:rPr>
              <a:t>1</a:t>
            </a:r>
            <a:r>
              <a:rPr lang="en-US" altLang="zh-CN" b="1" i="1" dirty="0">
                <a:solidFill>
                  <a:srgbClr val="000000"/>
                </a:solidFill>
                <a:latin typeface="Arial" panose="020B0604020202020204" pitchFamily="34" charset="0"/>
              </a:rPr>
              <a:t>,l</a:t>
            </a:r>
            <a:r>
              <a:rPr lang="en-US" altLang="zh-CN" b="1" i="1" baseline="-25000" dirty="0">
                <a:solidFill>
                  <a:srgbClr val="000000"/>
                </a:solidFill>
                <a:latin typeface="Arial" panose="020B0604020202020204" pitchFamily="34" charset="0"/>
              </a:rPr>
              <a:t>2</a:t>
            </a:r>
            <a:r>
              <a:rPr lang="en-US" altLang="zh-CN" b="1" i="1" dirty="0">
                <a:solidFill>
                  <a:srgbClr val="000000"/>
                </a:solidFill>
                <a:latin typeface="Arial" panose="020B0604020202020204" pitchFamily="34" charset="0"/>
              </a:rPr>
              <a:t>,…l</a:t>
            </a:r>
            <a:r>
              <a:rPr lang="en-US" altLang="zh-CN" b="1" i="1" baseline="-25000" dirty="0">
                <a:solidFill>
                  <a:srgbClr val="000000"/>
                </a:solidFill>
                <a:latin typeface="Arial" panose="020B0604020202020204" pitchFamily="34" charset="0"/>
              </a:rPr>
              <a:t>r</a:t>
            </a:r>
            <a:r>
              <a:rPr lang="en-US" altLang="zh-CN" b="1" i="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a:t>
            </a:r>
          </a:p>
          <a:p>
            <a:pPr marL="342900" indent="-342900">
              <a:lnSpc>
                <a:spcPct val="115000"/>
              </a:lnSpc>
              <a:spcBef>
                <a:spcPct val="0"/>
              </a:spcBef>
              <a:buClrTx/>
              <a:buAutoNum type="arabicPeriod"/>
            </a:pPr>
            <a:r>
              <a:rPr lang="zh-CN" altLang="en-US" b="1" dirty="0">
                <a:solidFill>
                  <a:srgbClr val="0033CC"/>
                </a:solidFill>
                <a:latin typeface="宋体" panose="02010600030101010101" pitchFamily="2" charset="-122"/>
              </a:rPr>
              <a:t>前缀</a:t>
            </a:r>
            <a:r>
              <a:rPr lang="zh-CN" altLang="en-US" b="1" dirty="0">
                <a:solidFill>
                  <a:srgbClr val="000000"/>
                </a:solidFill>
                <a:latin typeface="宋体" panose="02010600030101010101" pitchFamily="2" charset="-122"/>
              </a:rPr>
              <a:t>：两个字符串</a:t>
            </a:r>
            <a:r>
              <a:rPr lang="zh-CN" altLang="en-US" b="1" i="1" dirty="0">
                <a:solidFill>
                  <a:srgbClr val="000000"/>
                </a:solidFill>
                <a:latin typeface="宋体" panose="02010600030101010101" pitchFamily="2" charset="-122"/>
              </a:rPr>
              <a:t> </a:t>
            </a:r>
            <a:r>
              <a:rPr lang="en-US" altLang="zh-CN" b="1" i="1" dirty="0">
                <a:solidFill>
                  <a:srgbClr val="000000"/>
                </a:solidFill>
                <a:latin typeface="Arial" panose="020B0604020202020204" pitchFamily="34" charset="0"/>
              </a:rPr>
              <a:t>p</a:t>
            </a:r>
            <a:r>
              <a:rPr lang="zh-CN" altLang="en-US" b="1" dirty="0">
                <a:solidFill>
                  <a:srgbClr val="000000"/>
                </a:solidFill>
                <a:latin typeface="宋体" panose="02010600030101010101" pitchFamily="2" charset="-122"/>
              </a:rPr>
              <a:t>和</a:t>
            </a:r>
            <a:r>
              <a:rPr lang="en-US" altLang="zh-CN" b="1" i="1" dirty="0">
                <a:solidFill>
                  <a:srgbClr val="000000"/>
                </a:solidFill>
                <a:latin typeface="Arial" panose="020B0604020202020204" pitchFamily="34" charset="0"/>
              </a:rPr>
              <a:t>x</a:t>
            </a:r>
            <a:r>
              <a:rPr lang="zh-CN" altLang="en-US" b="1" dirty="0">
                <a:solidFill>
                  <a:srgbClr val="000000"/>
                </a:solidFill>
                <a:latin typeface="宋体" panose="02010600030101010101" pitchFamily="2" charset="-122"/>
              </a:rPr>
              <a:t>，若存在字符串</a:t>
            </a:r>
            <a:r>
              <a:rPr lang="en-US" altLang="zh-CN" b="1" i="1" dirty="0">
                <a:solidFill>
                  <a:srgbClr val="000000"/>
                </a:solidFill>
                <a:latin typeface="Arial" panose="020B0604020202020204" pitchFamily="34" charset="0"/>
              </a:rPr>
              <a:t>v</a:t>
            </a:r>
            <a:r>
              <a:rPr lang="zh-CN" altLang="en-US" b="1" dirty="0">
                <a:solidFill>
                  <a:srgbClr val="000000"/>
                </a:solidFill>
                <a:latin typeface="宋体" panose="02010600030101010101" pitchFamily="2" charset="-122"/>
              </a:rPr>
              <a:t>（</a:t>
            </a:r>
            <a:r>
              <a:rPr lang="en-US" altLang="zh-CN" b="1" i="1" dirty="0">
                <a:solidFill>
                  <a:srgbClr val="000000"/>
                </a:solidFill>
                <a:latin typeface="Arial" panose="020B0604020202020204" pitchFamily="34" charset="0"/>
              </a:rPr>
              <a:t>v</a:t>
            </a:r>
            <a:r>
              <a:rPr lang="zh-CN" altLang="en-US" b="1" dirty="0">
                <a:solidFill>
                  <a:srgbClr val="000000"/>
                </a:solidFill>
                <a:latin typeface="宋体" panose="02010600030101010101" pitchFamily="2" charset="-122"/>
              </a:rPr>
              <a:t>可为空串），使得</a:t>
            </a:r>
            <a:r>
              <a:rPr lang="en-US" altLang="zh-CN" b="1" i="1" dirty="0">
                <a:solidFill>
                  <a:srgbClr val="000000"/>
                </a:solidFill>
                <a:latin typeface="Arial" panose="020B0604020202020204" pitchFamily="34" charset="0"/>
              </a:rPr>
              <a:t>p=xv</a:t>
            </a:r>
            <a:r>
              <a:rPr lang="zh-CN" altLang="en-US" b="1" dirty="0">
                <a:solidFill>
                  <a:srgbClr val="000000"/>
                </a:solidFill>
                <a:latin typeface="宋体" panose="02010600030101010101" pitchFamily="2" charset="-122"/>
              </a:rPr>
              <a:t>成立，称</a:t>
            </a:r>
            <a:r>
              <a:rPr lang="en-US" altLang="zh-CN" b="1" i="1" dirty="0">
                <a:solidFill>
                  <a:srgbClr val="000000"/>
                </a:solidFill>
                <a:latin typeface="Arial" panose="020B0604020202020204" pitchFamily="34" charset="0"/>
              </a:rPr>
              <a:t>x</a:t>
            </a:r>
            <a:r>
              <a:rPr lang="zh-CN" altLang="en-US" b="1" dirty="0">
                <a:solidFill>
                  <a:srgbClr val="000000"/>
                </a:solidFill>
                <a:latin typeface="宋体" panose="02010600030101010101" pitchFamily="2" charset="-122"/>
              </a:rPr>
              <a:t>为</a:t>
            </a:r>
            <a:r>
              <a:rPr lang="en-US" altLang="zh-CN" b="1" i="1" dirty="0">
                <a:solidFill>
                  <a:srgbClr val="000000"/>
                </a:solidFill>
                <a:latin typeface="Arial" panose="020B0604020202020204" pitchFamily="34" charset="0"/>
              </a:rPr>
              <a:t>p</a:t>
            </a:r>
            <a:r>
              <a:rPr lang="zh-CN" altLang="en-US" b="1" dirty="0">
                <a:solidFill>
                  <a:srgbClr val="000000"/>
                </a:solidFill>
                <a:latin typeface="宋体" panose="02010600030101010101" pitchFamily="2" charset="-122"/>
              </a:rPr>
              <a:t>的前缀。</a:t>
            </a:r>
            <a:endParaRPr lang="zh-CN" altLang="en-US" dirty="0">
              <a:solidFill>
                <a:srgbClr val="000000"/>
              </a:solidFill>
              <a:latin typeface="宋体" panose="02010600030101010101" pitchFamily="2" charset="-122"/>
            </a:endParaRPr>
          </a:p>
        </p:txBody>
      </p:sp>
      <p:sp>
        <p:nvSpPr>
          <p:cNvPr id="161797" name="Rectangle 5"/>
          <p:cNvSpPr>
            <a:spLocks noRot="1" noChangeArrowheads="1"/>
          </p:cNvSpPr>
          <p:nvPr/>
        </p:nvSpPr>
        <p:spPr bwMode="auto">
          <a:xfrm>
            <a:off x="971550" y="261620"/>
            <a:ext cx="7369175" cy="606425"/>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概    念</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a:t>
            </a:fld>
            <a:endParaRPr lang="en-US" altLang="zh-CN" sz="1400" dirty="0"/>
          </a:p>
        </p:txBody>
      </p:sp>
      <p:sp>
        <p:nvSpPr>
          <p:cNvPr id="32770" name="Text Box 4"/>
          <p:cNvSpPr txBox="1"/>
          <p:nvPr/>
        </p:nvSpPr>
        <p:spPr>
          <a:xfrm>
            <a:off x="395288" y="836613"/>
            <a:ext cx="8353425" cy="4473575"/>
          </a:xfrm>
          <a:prstGeom prst="rect">
            <a:avLst/>
          </a:prstGeom>
          <a:noFill/>
          <a:ln w="9525">
            <a:noFill/>
          </a:ln>
        </p:spPr>
        <p:txBody>
          <a:bodyPr>
            <a:spAutoFit/>
          </a:bodyPr>
          <a:lstStyle/>
          <a:p>
            <a:pPr marL="342900" indent="-342900">
              <a:lnSpc>
                <a:spcPct val="120000"/>
              </a:lnSpc>
              <a:spcBef>
                <a:spcPct val="0"/>
              </a:spcBef>
              <a:buClrTx/>
            </a:pPr>
            <a:r>
              <a:rPr lang="en-US" altLang="zh-CN" b="1" dirty="0">
                <a:solidFill>
                  <a:srgbClr val="0033CC"/>
                </a:solidFill>
                <a:latin typeface="宋体" panose="02010600030101010101" pitchFamily="2" charset="-122"/>
              </a:rPr>
              <a:t>6.</a:t>
            </a:r>
            <a:r>
              <a:rPr lang="zh-CN" altLang="en-US" b="1" dirty="0">
                <a:solidFill>
                  <a:srgbClr val="0033CC"/>
                </a:solidFill>
                <a:latin typeface="宋体" panose="02010600030101010101" pitchFamily="2" charset="-122"/>
              </a:rPr>
              <a:t>后缀</a:t>
            </a:r>
            <a:r>
              <a:rPr lang="zh-CN" altLang="en-US" b="1" dirty="0">
                <a:solidFill>
                  <a:srgbClr val="030301"/>
                </a:solidFill>
                <a:latin typeface="宋体" panose="02010600030101010101" pitchFamily="2" charset="-122"/>
              </a:rPr>
              <a:t>：两个字符串</a:t>
            </a:r>
            <a:r>
              <a:rPr lang="en-US" altLang="zh-CN" b="1" i="1" dirty="0">
                <a:solidFill>
                  <a:srgbClr val="000000"/>
                </a:solidFill>
                <a:latin typeface="Arial" panose="020B0604020202020204" pitchFamily="34" charset="0"/>
              </a:rPr>
              <a:t>p</a:t>
            </a:r>
            <a:r>
              <a:rPr lang="zh-CN" altLang="en-US" b="1" dirty="0">
                <a:solidFill>
                  <a:srgbClr val="030301"/>
                </a:solidFill>
                <a:latin typeface="宋体" panose="02010600030101010101" pitchFamily="2" charset="-122"/>
              </a:rPr>
              <a:t>和</a:t>
            </a:r>
            <a:r>
              <a:rPr lang="en-US" altLang="zh-CN" b="1" i="1" dirty="0">
                <a:solidFill>
                  <a:srgbClr val="000000"/>
                </a:solidFill>
                <a:latin typeface="Arial" panose="020B0604020202020204" pitchFamily="34" charset="0"/>
              </a:rPr>
              <a:t>x</a:t>
            </a:r>
            <a:r>
              <a:rPr lang="en-US" altLang="zh-CN" b="1" dirty="0">
                <a:solidFill>
                  <a:srgbClr val="030301"/>
                </a:solidFill>
                <a:latin typeface="宋体" panose="02010600030101010101" pitchFamily="2" charset="-122"/>
              </a:rPr>
              <a:t>,</a:t>
            </a:r>
            <a:r>
              <a:rPr lang="zh-CN" altLang="en-US" b="1" dirty="0">
                <a:solidFill>
                  <a:srgbClr val="030301"/>
                </a:solidFill>
                <a:latin typeface="宋体" panose="02010600030101010101" pitchFamily="2" charset="-122"/>
              </a:rPr>
              <a:t>若存在字符串</a:t>
            </a:r>
            <a:r>
              <a:rPr lang="en-US" altLang="zh-CN" b="1" i="1" dirty="0">
                <a:solidFill>
                  <a:srgbClr val="000000"/>
                </a:solidFill>
                <a:latin typeface="Arial" panose="020B0604020202020204" pitchFamily="34" charset="0"/>
              </a:rPr>
              <a:t>u</a:t>
            </a:r>
            <a:r>
              <a:rPr lang="zh-CN" altLang="en-US"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u</a:t>
            </a:r>
            <a:r>
              <a:rPr lang="zh-CN" altLang="en-US" b="1" dirty="0">
                <a:solidFill>
                  <a:srgbClr val="030301"/>
                </a:solidFill>
                <a:latin typeface="宋体" panose="02010600030101010101" pitchFamily="2" charset="-122"/>
              </a:rPr>
              <a:t>可为空串）</a:t>
            </a:r>
            <a:r>
              <a:rPr lang="en-US" altLang="zh-CN" b="1" dirty="0">
                <a:solidFill>
                  <a:srgbClr val="030301"/>
                </a:solidFill>
                <a:latin typeface="宋体" panose="02010600030101010101" pitchFamily="2" charset="-122"/>
              </a:rPr>
              <a:t>,</a:t>
            </a:r>
            <a:r>
              <a:rPr lang="zh-CN" altLang="en-US" b="1" dirty="0">
                <a:solidFill>
                  <a:srgbClr val="030301"/>
                </a:solidFill>
                <a:latin typeface="宋体" panose="02010600030101010101" pitchFamily="2" charset="-122"/>
              </a:rPr>
              <a:t>使得</a:t>
            </a:r>
            <a:r>
              <a:rPr lang="en-US" altLang="zh-CN" b="1" i="1" dirty="0">
                <a:solidFill>
                  <a:srgbClr val="000000"/>
                </a:solidFill>
                <a:latin typeface="Arial" panose="020B0604020202020204" pitchFamily="34" charset="0"/>
              </a:rPr>
              <a:t>p=ux</a:t>
            </a:r>
            <a:r>
              <a:rPr lang="zh-CN" altLang="en-US" b="1" dirty="0">
                <a:solidFill>
                  <a:srgbClr val="030301"/>
                </a:solidFill>
                <a:latin typeface="宋体" panose="02010600030101010101" pitchFamily="2" charset="-122"/>
              </a:rPr>
              <a:t>成立</a:t>
            </a:r>
            <a:r>
              <a:rPr lang="en-US" altLang="zh-CN" b="1" i="1" dirty="0">
                <a:solidFill>
                  <a:srgbClr val="000000"/>
                </a:solidFill>
                <a:latin typeface="Arial" panose="020B0604020202020204" pitchFamily="34" charset="0"/>
              </a:rPr>
              <a:t>x</a:t>
            </a:r>
            <a:r>
              <a:rPr lang="zh-CN" altLang="en-US" b="1" dirty="0">
                <a:solidFill>
                  <a:srgbClr val="030301"/>
                </a:solidFill>
                <a:latin typeface="宋体" panose="02010600030101010101" pitchFamily="2" charset="-122"/>
              </a:rPr>
              <a:t>，称为</a:t>
            </a:r>
            <a:r>
              <a:rPr lang="en-US" altLang="zh-CN" b="1" i="1" dirty="0">
                <a:solidFill>
                  <a:srgbClr val="000000"/>
                </a:solidFill>
                <a:latin typeface="Arial" panose="020B0604020202020204" pitchFamily="34" charset="0"/>
              </a:rPr>
              <a:t>p</a:t>
            </a:r>
            <a:r>
              <a:rPr lang="zh-CN" altLang="en-US" b="1" dirty="0">
                <a:solidFill>
                  <a:srgbClr val="030301"/>
                </a:solidFill>
                <a:latin typeface="宋体" panose="02010600030101010101" pitchFamily="2" charset="-122"/>
              </a:rPr>
              <a:t>的后缀。</a:t>
            </a:r>
          </a:p>
          <a:p>
            <a:pPr marL="342900" indent="-342900">
              <a:lnSpc>
                <a:spcPct val="120000"/>
              </a:lnSpc>
              <a:spcBef>
                <a:spcPct val="0"/>
              </a:spcBef>
              <a:buClrTx/>
            </a:pPr>
            <a:r>
              <a:rPr lang="en-US" altLang="zh-CN" b="1" dirty="0">
                <a:solidFill>
                  <a:srgbClr val="0033CC"/>
                </a:solidFill>
                <a:latin typeface="宋体" panose="02010600030101010101" pitchFamily="2" charset="-122"/>
              </a:rPr>
              <a:t>7.</a:t>
            </a:r>
            <a:r>
              <a:rPr lang="zh-CN" altLang="en-US" b="1" dirty="0">
                <a:solidFill>
                  <a:srgbClr val="0033CC"/>
                </a:solidFill>
                <a:latin typeface="宋体" panose="02010600030101010101" pitchFamily="2" charset="-122"/>
              </a:rPr>
              <a:t>子串</a:t>
            </a:r>
            <a:r>
              <a:rPr lang="zh-CN" altLang="en-US" b="1" dirty="0">
                <a:solidFill>
                  <a:srgbClr val="030301"/>
                </a:solidFill>
                <a:latin typeface="宋体" panose="02010600030101010101" pitchFamily="2" charset="-122"/>
              </a:rPr>
              <a:t>：两个字符串</a:t>
            </a:r>
            <a:r>
              <a:rPr lang="en-US" altLang="zh-CN" b="1" i="1" dirty="0">
                <a:solidFill>
                  <a:srgbClr val="000000"/>
                </a:solidFill>
                <a:latin typeface="Arial" panose="020B0604020202020204" pitchFamily="34" charset="0"/>
              </a:rPr>
              <a:t>p</a:t>
            </a:r>
            <a:r>
              <a:rPr lang="zh-CN" altLang="en-US" b="1" dirty="0">
                <a:solidFill>
                  <a:srgbClr val="030301"/>
                </a:solidFill>
                <a:latin typeface="宋体" panose="02010600030101010101" pitchFamily="2" charset="-122"/>
              </a:rPr>
              <a:t>和</a:t>
            </a:r>
            <a:r>
              <a:rPr lang="en-US" altLang="zh-CN" b="1" i="1" dirty="0">
                <a:solidFill>
                  <a:srgbClr val="000000"/>
                </a:solidFill>
                <a:latin typeface="Arial" panose="020B0604020202020204" pitchFamily="34" charset="0"/>
              </a:rPr>
              <a:t>x</a:t>
            </a:r>
            <a:r>
              <a:rPr lang="en-US" altLang="zh-CN" b="1" dirty="0">
                <a:solidFill>
                  <a:srgbClr val="030301"/>
                </a:solidFill>
                <a:latin typeface="宋体" panose="02010600030101010101" pitchFamily="2" charset="-122"/>
              </a:rPr>
              <a:t>,</a:t>
            </a:r>
            <a:r>
              <a:rPr lang="zh-CN" altLang="en-US" b="1" dirty="0">
                <a:solidFill>
                  <a:srgbClr val="030301"/>
                </a:solidFill>
                <a:latin typeface="宋体" panose="02010600030101010101" pitchFamily="2" charset="-122"/>
              </a:rPr>
              <a:t>若存在字符串</a:t>
            </a:r>
            <a:r>
              <a:rPr lang="en-US" altLang="zh-CN" b="1" i="1" dirty="0">
                <a:solidFill>
                  <a:srgbClr val="000000"/>
                </a:solidFill>
                <a:latin typeface="Arial" panose="020B0604020202020204" pitchFamily="34" charset="0"/>
              </a:rPr>
              <a:t>u</a:t>
            </a:r>
            <a:r>
              <a:rPr lang="en-US" altLang="zh-CN"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v</a:t>
            </a:r>
            <a:r>
              <a:rPr lang="zh-CN" altLang="en-US"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u</a:t>
            </a:r>
            <a:r>
              <a:rPr lang="en-US" altLang="zh-CN"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v</a:t>
            </a:r>
            <a:r>
              <a:rPr lang="zh-CN" altLang="en-US" b="1" dirty="0">
                <a:solidFill>
                  <a:srgbClr val="030301"/>
                </a:solidFill>
                <a:latin typeface="宋体" panose="02010600030101010101" pitchFamily="2" charset="-122"/>
              </a:rPr>
              <a:t>可以为空串），使得</a:t>
            </a:r>
            <a:r>
              <a:rPr lang="en-US" altLang="zh-CN" b="1" i="1" dirty="0">
                <a:solidFill>
                  <a:srgbClr val="000000"/>
                </a:solidFill>
                <a:latin typeface="Arial" panose="020B0604020202020204" pitchFamily="34" charset="0"/>
              </a:rPr>
              <a:t>p=uxv</a:t>
            </a:r>
            <a:r>
              <a:rPr lang="zh-CN" altLang="en-US" b="1" dirty="0">
                <a:solidFill>
                  <a:srgbClr val="030301"/>
                </a:solidFill>
                <a:latin typeface="宋体" panose="02010600030101010101" pitchFamily="2" charset="-122"/>
              </a:rPr>
              <a:t>成立，称</a:t>
            </a:r>
            <a:r>
              <a:rPr lang="en-US" altLang="zh-CN" b="1" i="1" dirty="0">
                <a:solidFill>
                  <a:srgbClr val="000000"/>
                </a:solidFill>
                <a:latin typeface="Arial" panose="020B0604020202020204" pitchFamily="34" charset="0"/>
              </a:rPr>
              <a:t>x</a:t>
            </a:r>
            <a:r>
              <a:rPr lang="zh-CN" altLang="en-US" b="1" dirty="0">
                <a:solidFill>
                  <a:srgbClr val="030301"/>
                </a:solidFill>
                <a:latin typeface="宋体" panose="02010600030101010101" pitchFamily="2" charset="-122"/>
              </a:rPr>
              <a:t>为</a:t>
            </a:r>
            <a:r>
              <a:rPr lang="en-US" altLang="zh-CN" b="1" i="1" dirty="0">
                <a:solidFill>
                  <a:srgbClr val="000000"/>
                </a:solidFill>
                <a:latin typeface="Arial" panose="020B0604020202020204" pitchFamily="34" charset="0"/>
              </a:rPr>
              <a:t>p</a:t>
            </a:r>
            <a:r>
              <a:rPr lang="zh-CN" altLang="en-US" b="1" dirty="0">
                <a:solidFill>
                  <a:srgbClr val="030301"/>
                </a:solidFill>
                <a:latin typeface="宋体" panose="02010600030101010101" pitchFamily="2" charset="-122"/>
              </a:rPr>
              <a:t>的子串。</a:t>
            </a:r>
          </a:p>
          <a:p>
            <a:pPr marL="342900" indent="-342900">
              <a:lnSpc>
                <a:spcPct val="120000"/>
              </a:lnSpc>
              <a:spcBef>
                <a:spcPct val="0"/>
              </a:spcBef>
              <a:buClrTx/>
            </a:pPr>
            <a:r>
              <a:rPr lang="en-US" altLang="zh-CN" b="1" dirty="0">
                <a:solidFill>
                  <a:srgbClr val="0033CC"/>
                </a:solidFill>
                <a:latin typeface="宋体" panose="02010600030101010101" pitchFamily="2" charset="-122"/>
              </a:rPr>
              <a:t>8.</a:t>
            </a:r>
            <a:r>
              <a:rPr lang="zh-CN" altLang="en-US" b="1" dirty="0">
                <a:solidFill>
                  <a:srgbClr val="0033CC"/>
                </a:solidFill>
                <a:latin typeface="宋体" panose="02010600030101010101" pitchFamily="2" charset="-122"/>
              </a:rPr>
              <a:t>字符集</a:t>
            </a:r>
            <a:r>
              <a:rPr lang="zh-CN" altLang="en-US" b="1" dirty="0">
                <a:solidFill>
                  <a:srgbClr val="030301"/>
                </a:solidFill>
                <a:latin typeface="宋体" panose="02010600030101010101" pitchFamily="2" charset="-122"/>
              </a:rPr>
              <a:t>：在模式或文本中所有可能出现的字符形成的集合</a:t>
            </a:r>
            <a:r>
              <a:rPr lang="en-US" altLang="zh-CN" b="1" i="1" dirty="0">
                <a:solidFill>
                  <a:srgbClr val="000000"/>
                </a:solidFill>
                <a:latin typeface="Arial" panose="020B0604020202020204" pitchFamily="34" charset="0"/>
              </a:rPr>
              <a:t>Σ</a:t>
            </a:r>
            <a:r>
              <a:rPr lang="zh-CN" altLang="en-US" b="1" dirty="0">
                <a:solidFill>
                  <a:srgbClr val="030301"/>
                </a:solidFill>
                <a:latin typeface="宋体" panose="02010600030101010101" pitchFamily="2" charset="-122"/>
              </a:rPr>
              <a:t>，记为，其大小记为</a:t>
            </a:r>
            <a:r>
              <a:rPr lang="en-US" altLang="zh-CN"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Σ</a:t>
            </a:r>
            <a:r>
              <a:rPr lang="en-US" altLang="zh-CN" b="1" dirty="0">
                <a:solidFill>
                  <a:srgbClr val="030301"/>
                </a:solidFill>
                <a:latin typeface="宋体" panose="02010600030101010101" pitchFamily="2" charset="-122"/>
              </a:rPr>
              <a:t>|</a:t>
            </a:r>
            <a:r>
              <a:rPr lang="zh-CN" altLang="en-US" b="1" dirty="0">
                <a:solidFill>
                  <a:srgbClr val="030301"/>
                </a:solidFill>
                <a:latin typeface="宋体" panose="02010600030101010101" pitchFamily="2" charset="-122"/>
              </a:rPr>
              <a:t>。</a:t>
            </a:r>
          </a:p>
          <a:p>
            <a:pPr marL="342900" indent="-342900">
              <a:lnSpc>
                <a:spcPct val="120000"/>
              </a:lnSpc>
              <a:spcBef>
                <a:spcPct val="0"/>
              </a:spcBef>
              <a:buClrTx/>
            </a:pPr>
            <a:r>
              <a:rPr lang="en-US" altLang="zh-CN" b="1" dirty="0">
                <a:solidFill>
                  <a:srgbClr val="0033CC"/>
                </a:solidFill>
                <a:latin typeface="宋体" panose="02010600030101010101" pitchFamily="2" charset="-122"/>
              </a:rPr>
              <a:t>9.</a:t>
            </a:r>
            <a:r>
              <a:rPr lang="zh-CN" altLang="en-US" b="1" dirty="0">
                <a:solidFill>
                  <a:srgbClr val="0033CC"/>
                </a:solidFill>
                <a:latin typeface="宋体" panose="02010600030101010101" pitchFamily="2" charset="-122"/>
              </a:rPr>
              <a:t>自动机</a:t>
            </a:r>
            <a:r>
              <a:rPr lang="zh-CN" altLang="en-US" b="1" dirty="0">
                <a:solidFill>
                  <a:srgbClr val="030301"/>
                </a:solidFill>
                <a:latin typeface="宋体" panose="02010600030101010101" pitchFamily="2" charset="-122"/>
              </a:rPr>
              <a:t>（</a:t>
            </a:r>
            <a:r>
              <a:rPr lang="en-US" altLang="zh-CN" b="1" i="1" dirty="0">
                <a:solidFill>
                  <a:srgbClr val="000000"/>
                </a:solidFill>
                <a:latin typeface="Arial" panose="020B0604020202020204" pitchFamily="34" charset="0"/>
              </a:rPr>
              <a:t>Automata</a:t>
            </a:r>
            <a:r>
              <a:rPr lang="zh-CN" altLang="en-US" b="1" dirty="0">
                <a:solidFill>
                  <a:srgbClr val="030301"/>
                </a:solidFill>
                <a:latin typeface="宋体" panose="02010600030101010101" pitchFamily="2" charset="-122"/>
              </a:rPr>
              <a:t>）：  一个包括状态集</a:t>
            </a:r>
            <a:r>
              <a:rPr lang="en-US" altLang="zh-CN" b="1" i="1" dirty="0">
                <a:solidFill>
                  <a:srgbClr val="000000"/>
                </a:solidFill>
                <a:latin typeface="Arial" panose="020B0604020202020204" pitchFamily="34" charset="0"/>
              </a:rPr>
              <a:t>S</a:t>
            </a:r>
            <a:r>
              <a:rPr lang="zh-CN" altLang="en-US" b="1" dirty="0">
                <a:solidFill>
                  <a:srgbClr val="030301"/>
                </a:solidFill>
                <a:latin typeface="宋体" panose="02010600030101010101" pitchFamily="2" charset="-122"/>
              </a:rPr>
              <a:t>，输入的字符集</a:t>
            </a:r>
            <a:r>
              <a:rPr lang="en-US" altLang="zh-CN" b="1" i="1" dirty="0">
                <a:solidFill>
                  <a:srgbClr val="000000"/>
                </a:solidFill>
                <a:latin typeface="Arial" panose="020B0604020202020204" pitchFamily="34" charset="0"/>
              </a:rPr>
              <a:t>Σ</a:t>
            </a:r>
            <a:r>
              <a:rPr lang="zh-CN" altLang="en-US" b="1" dirty="0">
                <a:solidFill>
                  <a:srgbClr val="030301"/>
                </a:solidFill>
                <a:latin typeface="宋体" panose="02010600030101010101" pitchFamily="2" charset="-122"/>
              </a:rPr>
              <a:t>，状态转换函数</a:t>
            </a:r>
            <a:r>
              <a:rPr lang="en-US" altLang="zh-CN" b="1" i="1" dirty="0">
                <a:solidFill>
                  <a:srgbClr val="000000"/>
                </a:solidFill>
                <a:latin typeface="Arial" panose="020B0604020202020204" pitchFamily="34" charset="0"/>
              </a:rPr>
              <a:t>δ</a:t>
            </a:r>
            <a:r>
              <a:rPr lang="zh-CN" altLang="en-US" b="1" dirty="0">
                <a:solidFill>
                  <a:srgbClr val="030301"/>
                </a:solidFill>
                <a:latin typeface="宋体" panose="02010600030101010101" pitchFamily="2" charset="-122"/>
              </a:rPr>
              <a:t>，起始状态</a:t>
            </a:r>
            <a:r>
              <a:rPr lang="en-US" altLang="zh-CN" b="1" i="1" dirty="0">
                <a:solidFill>
                  <a:srgbClr val="000000"/>
                </a:solidFill>
                <a:latin typeface="Arial" panose="020B0604020202020204" pitchFamily="34" charset="0"/>
              </a:rPr>
              <a:t>s</a:t>
            </a:r>
            <a:r>
              <a:rPr lang="en-US" altLang="zh-CN" b="1" i="1" baseline="-25000" dirty="0">
                <a:solidFill>
                  <a:srgbClr val="000000"/>
                </a:solidFill>
                <a:latin typeface="Arial" panose="020B0604020202020204" pitchFamily="34" charset="0"/>
              </a:rPr>
              <a:t>0</a:t>
            </a:r>
            <a:r>
              <a:rPr lang="zh-CN" altLang="en-US" b="1" dirty="0">
                <a:solidFill>
                  <a:srgbClr val="030301"/>
                </a:solidFill>
                <a:latin typeface="宋体" panose="02010600030101010101" pitchFamily="2" charset="-122"/>
              </a:rPr>
              <a:t>和终止状态集</a:t>
            </a:r>
            <a:r>
              <a:rPr lang="en-US" altLang="zh-CN" b="1" i="1" dirty="0">
                <a:solidFill>
                  <a:srgbClr val="000000"/>
                </a:solidFill>
                <a:latin typeface="Arial" panose="020B0604020202020204" pitchFamily="34" charset="0"/>
              </a:rPr>
              <a:t>S</a:t>
            </a:r>
            <a:r>
              <a:rPr lang="en-US" altLang="zh-CN" b="1" i="1" baseline="-25000" dirty="0">
                <a:solidFill>
                  <a:srgbClr val="000000"/>
                </a:solidFill>
                <a:latin typeface="Arial" panose="020B0604020202020204" pitchFamily="34" charset="0"/>
              </a:rPr>
              <a:t>1</a:t>
            </a:r>
            <a:r>
              <a:rPr lang="zh-CN" altLang="en-US" b="1" dirty="0">
                <a:solidFill>
                  <a:srgbClr val="030301"/>
                </a:solidFill>
                <a:latin typeface="宋体" panose="02010600030101010101" pitchFamily="2" charset="-122"/>
              </a:rPr>
              <a:t>的五元组</a:t>
            </a:r>
            <a:r>
              <a:rPr lang="en-US" altLang="zh-CN" b="1" i="1" dirty="0">
                <a:solidFill>
                  <a:srgbClr val="000000"/>
                </a:solidFill>
                <a:latin typeface="Arial" panose="020B0604020202020204" pitchFamily="34" charset="0"/>
              </a:rPr>
              <a:t>M = {S,Σ,δ,s0,S1}</a:t>
            </a:r>
            <a:r>
              <a:rPr lang="zh-CN" altLang="en-US" b="1" dirty="0">
                <a:solidFill>
                  <a:srgbClr val="030301"/>
                </a:solidFill>
                <a:latin typeface="宋体" panose="02010600030101010101" pitchFamily="2" charset="-122"/>
              </a:rPr>
              <a:t>，我们主要讨论的是确定型有限自动机</a:t>
            </a:r>
            <a:r>
              <a:rPr lang="en-US" altLang="zh-CN" b="1" i="1" dirty="0">
                <a:solidFill>
                  <a:srgbClr val="000000"/>
                </a:solidFill>
                <a:latin typeface="Arial" panose="020B0604020202020204" pitchFamily="34" charset="0"/>
              </a:rPr>
              <a:t>DFA(Deterministic finite automata)</a:t>
            </a:r>
            <a:r>
              <a:rPr lang="zh-CN" altLang="en-US" b="1" dirty="0">
                <a:solidFill>
                  <a:srgbClr val="030301"/>
                </a:solidFill>
                <a:latin typeface="宋体" panose="02010600030101010101" pitchFamily="2" charset="-122"/>
              </a:rPr>
              <a:t>。</a:t>
            </a:r>
            <a:r>
              <a:rPr lang="zh-CN" altLang="en-US" sz="1800" dirty="0">
                <a:latin typeface="Arial" panose="020B0604020202020204" pitchFamily="34" charset="0"/>
              </a:rPr>
              <a:t> </a:t>
            </a:r>
          </a:p>
        </p:txBody>
      </p:sp>
      <p:sp>
        <p:nvSpPr>
          <p:cNvPr id="161797" name="Rectangle 5"/>
          <p:cNvSpPr>
            <a:spLocks noRot="1" noChangeArrowheads="1"/>
          </p:cNvSpPr>
          <p:nvPr/>
        </p:nvSpPr>
        <p:spPr bwMode="auto">
          <a:xfrm>
            <a:off x="971550" y="261620"/>
            <a:ext cx="7369175" cy="606425"/>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概    念</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a:t>
            </a:fld>
            <a:endParaRPr lang="en-US" altLang="zh-CN" sz="1400" dirty="0"/>
          </a:p>
        </p:txBody>
      </p:sp>
      <p:sp>
        <p:nvSpPr>
          <p:cNvPr id="5837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zh-CN" altLang="en-US" dirty="0">
                <a:effectLst>
                  <a:outerShdw blurRad="38100" dist="38100" dir="2700000">
                    <a:srgbClr val="000000"/>
                  </a:outerShdw>
                </a:effectLst>
              </a:rPr>
              <a:t>模式匹配的分类 </a:t>
            </a:r>
          </a:p>
        </p:txBody>
      </p:sp>
      <p:grpSp>
        <p:nvGrpSpPr>
          <p:cNvPr id="34819" name="Group 22"/>
          <p:cNvGrpSpPr/>
          <p:nvPr/>
        </p:nvGrpSpPr>
        <p:grpSpPr>
          <a:xfrm>
            <a:off x="827088" y="1628775"/>
            <a:ext cx="5976937" cy="4659313"/>
            <a:chOff x="521" y="1026"/>
            <a:chExt cx="3765" cy="2935"/>
          </a:xfrm>
        </p:grpSpPr>
        <p:sp>
          <p:nvSpPr>
            <p:cNvPr id="34820" name="Text Box 6"/>
            <p:cNvSpPr txBox="1"/>
            <p:nvPr/>
          </p:nvSpPr>
          <p:spPr>
            <a:xfrm>
              <a:off x="521" y="2078"/>
              <a:ext cx="318" cy="77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模式</a:t>
              </a:r>
            </a:p>
            <a:p>
              <a:pPr>
                <a:buClrTx/>
              </a:pPr>
              <a:endParaRPr lang="en-US" altLang="zh-CN" sz="1800" dirty="0">
                <a:latin typeface="Arial" panose="020B0604020202020204" pitchFamily="34" charset="0"/>
              </a:endParaRPr>
            </a:p>
          </p:txBody>
        </p:sp>
        <p:sp>
          <p:nvSpPr>
            <p:cNvPr id="34821" name="AutoShape 7"/>
            <p:cNvSpPr/>
            <p:nvPr/>
          </p:nvSpPr>
          <p:spPr>
            <a:xfrm>
              <a:off x="930" y="1269"/>
              <a:ext cx="91" cy="2177"/>
            </a:xfrm>
            <a:prstGeom prst="leftBrace">
              <a:avLst>
                <a:gd name="adj1" fmla="val 199358"/>
                <a:gd name="adj2" fmla="val 50000"/>
              </a:avLst>
            </a:prstGeom>
            <a:noFill/>
            <a:ln w="25400" cap="flat" cmpd="sng">
              <a:solidFill>
                <a:srgbClr val="000000"/>
              </a:solidFill>
              <a:prstDash val="solid"/>
              <a:headEnd type="none" w="med" len="med"/>
              <a:tailEnd type="none" w="med" len="med"/>
            </a:ln>
          </p:spPr>
          <p:txBody>
            <a:bodyPr wrap="none" anchor="ctr"/>
            <a:lstStyle/>
            <a:p>
              <a:pPr>
                <a:spcBef>
                  <a:spcPct val="0"/>
                </a:spcBef>
                <a:buClrTx/>
              </a:pPr>
              <a:endParaRPr lang="zh-CN" altLang="en-US" sz="1800" dirty="0">
                <a:latin typeface="Arial" panose="020B0604020202020204" pitchFamily="34" charset="0"/>
              </a:endParaRPr>
            </a:p>
          </p:txBody>
        </p:sp>
        <p:sp>
          <p:nvSpPr>
            <p:cNvPr id="34822" name="Text Box 8"/>
            <p:cNvSpPr txBox="1"/>
            <p:nvPr/>
          </p:nvSpPr>
          <p:spPr>
            <a:xfrm>
              <a:off x="1066" y="1253"/>
              <a:ext cx="1496"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匹配的模式数目</a:t>
              </a:r>
            </a:p>
          </p:txBody>
        </p:sp>
        <p:sp>
          <p:nvSpPr>
            <p:cNvPr id="34823" name="AutoShape 9"/>
            <p:cNvSpPr/>
            <p:nvPr/>
          </p:nvSpPr>
          <p:spPr>
            <a:xfrm>
              <a:off x="2518" y="1087"/>
              <a:ext cx="90" cy="635"/>
            </a:xfrm>
            <a:prstGeom prst="leftBrace">
              <a:avLst>
                <a:gd name="adj1" fmla="val 58796"/>
                <a:gd name="adj2" fmla="val 50000"/>
              </a:avLst>
            </a:prstGeom>
            <a:noFill/>
            <a:ln w="22225" cap="flat" cmpd="sng">
              <a:solidFill>
                <a:srgbClr val="030301"/>
              </a:solidFill>
              <a:prstDash val="solid"/>
              <a:headEnd type="none" w="med" len="med"/>
              <a:tailEnd type="none" w="med" len="med"/>
            </a:ln>
          </p:spPr>
          <p:txBody>
            <a:bodyPr wrap="none" anchor="ctr"/>
            <a:lstStyle/>
            <a:p>
              <a:pPr>
                <a:spcBef>
                  <a:spcPct val="0"/>
                </a:spcBef>
                <a:buClrTx/>
              </a:pPr>
              <a:endParaRPr lang="zh-CN" altLang="en-US" sz="1800" dirty="0">
                <a:latin typeface="Arial" panose="020B0604020202020204" pitchFamily="34" charset="0"/>
              </a:endParaRPr>
            </a:p>
          </p:txBody>
        </p:sp>
        <p:sp>
          <p:nvSpPr>
            <p:cNvPr id="34824" name="Text Box 10"/>
            <p:cNvSpPr txBox="1"/>
            <p:nvPr/>
          </p:nvSpPr>
          <p:spPr>
            <a:xfrm>
              <a:off x="2653" y="1026"/>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单模式</a:t>
              </a:r>
            </a:p>
          </p:txBody>
        </p:sp>
        <p:sp>
          <p:nvSpPr>
            <p:cNvPr id="34825" name="Text Box 11"/>
            <p:cNvSpPr txBox="1"/>
            <p:nvPr/>
          </p:nvSpPr>
          <p:spPr>
            <a:xfrm>
              <a:off x="2653" y="1480"/>
              <a:ext cx="998"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多模式</a:t>
              </a:r>
            </a:p>
          </p:txBody>
        </p:sp>
        <p:sp>
          <p:nvSpPr>
            <p:cNvPr id="34826" name="Text Box 12"/>
            <p:cNvSpPr txBox="1"/>
            <p:nvPr/>
          </p:nvSpPr>
          <p:spPr>
            <a:xfrm>
              <a:off x="1112" y="2115"/>
              <a:ext cx="145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匹配方式</a:t>
              </a:r>
            </a:p>
          </p:txBody>
        </p:sp>
        <p:sp>
          <p:nvSpPr>
            <p:cNvPr id="34827" name="AutoShape 13"/>
            <p:cNvSpPr/>
            <p:nvPr/>
          </p:nvSpPr>
          <p:spPr>
            <a:xfrm>
              <a:off x="2064" y="1949"/>
              <a:ext cx="90" cy="726"/>
            </a:xfrm>
            <a:prstGeom prst="leftBrace">
              <a:avLst>
                <a:gd name="adj1" fmla="val 67222"/>
                <a:gd name="adj2" fmla="val 50000"/>
              </a:avLst>
            </a:prstGeom>
            <a:noFill/>
            <a:ln w="22225" cap="flat" cmpd="sng">
              <a:solidFill>
                <a:srgbClr val="030301"/>
              </a:solidFill>
              <a:prstDash val="solid"/>
              <a:headEnd type="none" w="med" len="med"/>
              <a:tailEnd type="none" w="med" len="med"/>
            </a:ln>
          </p:spPr>
          <p:txBody>
            <a:bodyPr wrap="none" anchor="ctr"/>
            <a:lstStyle/>
            <a:p>
              <a:pPr>
                <a:spcBef>
                  <a:spcPct val="0"/>
                </a:spcBef>
                <a:buClrTx/>
              </a:pPr>
              <a:endParaRPr lang="zh-CN" altLang="en-US" sz="1800" dirty="0">
                <a:latin typeface="Arial" panose="020B0604020202020204" pitchFamily="34" charset="0"/>
              </a:endParaRPr>
            </a:p>
          </p:txBody>
        </p:sp>
        <p:sp>
          <p:nvSpPr>
            <p:cNvPr id="34828" name="Text Box 14"/>
            <p:cNvSpPr txBox="1"/>
            <p:nvPr/>
          </p:nvSpPr>
          <p:spPr>
            <a:xfrm>
              <a:off x="2290" y="1888"/>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精确匹配</a:t>
              </a:r>
            </a:p>
          </p:txBody>
        </p:sp>
        <p:sp>
          <p:nvSpPr>
            <p:cNvPr id="34829" name="Text Box 15"/>
            <p:cNvSpPr txBox="1"/>
            <p:nvPr/>
          </p:nvSpPr>
          <p:spPr>
            <a:xfrm>
              <a:off x="2336" y="2387"/>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近似匹配</a:t>
              </a:r>
            </a:p>
          </p:txBody>
        </p:sp>
        <p:sp>
          <p:nvSpPr>
            <p:cNvPr id="34830" name="Text Box 16"/>
            <p:cNvSpPr txBox="1"/>
            <p:nvPr/>
          </p:nvSpPr>
          <p:spPr>
            <a:xfrm>
              <a:off x="1156" y="3174"/>
              <a:ext cx="1633"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匹配的具体内容</a:t>
              </a:r>
            </a:p>
          </p:txBody>
        </p:sp>
        <p:sp>
          <p:nvSpPr>
            <p:cNvPr id="34831" name="AutoShape 17"/>
            <p:cNvSpPr/>
            <p:nvPr/>
          </p:nvSpPr>
          <p:spPr>
            <a:xfrm>
              <a:off x="2653" y="2856"/>
              <a:ext cx="91" cy="953"/>
            </a:xfrm>
            <a:prstGeom prst="leftBrace">
              <a:avLst>
                <a:gd name="adj1" fmla="val 87271"/>
                <a:gd name="adj2" fmla="val 50000"/>
              </a:avLst>
            </a:prstGeom>
            <a:noFill/>
            <a:ln w="22225" cap="flat" cmpd="sng">
              <a:solidFill>
                <a:srgbClr val="030301"/>
              </a:solidFill>
              <a:prstDash val="solid"/>
              <a:headEnd type="none" w="med" len="med"/>
              <a:tailEnd type="none" w="med" len="med"/>
            </a:ln>
          </p:spPr>
          <p:txBody>
            <a:bodyPr wrap="none" anchor="ctr"/>
            <a:lstStyle/>
            <a:p>
              <a:pPr>
                <a:spcBef>
                  <a:spcPct val="0"/>
                </a:spcBef>
                <a:buClrTx/>
              </a:pPr>
              <a:endParaRPr lang="zh-CN" altLang="en-US" sz="1800" dirty="0">
                <a:latin typeface="Arial" panose="020B0604020202020204" pitchFamily="34" charset="0"/>
              </a:endParaRPr>
            </a:p>
          </p:txBody>
        </p:sp>
        <p:sp>
          <p:nvSpPr>
            <p:cNvPr id="34832" name="Text Box 19"/>
            <p:cNvSpPr txBox="1"/>
            <p:nvPr/>
          </p:nvSpPr>
          <p:spPr>
            <a:xfrm>
              <a:off x="2880" y="2811"/>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单词匹配</a:t>
              </a:r>
            </a:p>
          </p:txBody>
        </p:sp>
        <p:sp>
          <p:nvSpPr>
            <p:cNvPr id="34833" name="Text Box 20"/>
            <p:cNvSpPr txBox="1"/>
            <p:nvPr/>
          </p:nvSpPr>
          <p:spPr>
            <a:xfrm>
              <a:off x="2880" y="3174"/>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字符类匹配</a:t>
              </a:r>
            </a:p>
          </p:txBody>
        </p:sp>
        <p:sp>
          <p:nvSpPr>
            <p:cNvPr id="34834" name="Text Box 21"/>
            <p:cNvSpPr txBox="1"/>
            <p:nvPr/>
          </p:nvSpPr>
          <p:spPr>
            <a:xfrm>
              <a:off x="2925" y="3673"/>
              <a:ext cx="1361"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正则表达匹配</a:t>
              </a:r>
            </a:p>
          </p:txBody>
        </p:sp>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a:t>
            </a:fld>
            <a:endParaRPr lang="en-US" altLang="zh-CN" sz="1400" dirty="0"/>
          </a:p>
        </p:txBody>
      </p:sp>
      <p:grpSp>
        <p:nvGrpSpPr>
          <p:cNvPr id="36866" name="Group 9"/>
          <p:cNvGrpSpPr/>
          <p:nvPr/>
        </p:nvGrpSpPr>
        <p:grpSpPr>
          <a:xfrm>
            <a:off x="179388" y="1125538"/>
            <a:ext cx="7923213" cy="2660650"/>
            <a:chOff x="249" y="572"/>
            <a:chExt cx="4991" cy="1676"/>
          </a:xfrm>
        </p:grpSpPr>
        <p:sp>
          <p:nvSpPr>
            <p:cNvPr id="36867" name="Text Box 4"/>
            <p:cNvSpPr txBox="1"/>
            <p:nvPr/>
          </p:nvSpPr>
          <p:spPr>
            <a:xfrm>
              <a:off x="249" y="1325"/>
              <a:ext cx="1316" cy="288"/>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文本的角度</a:t>
              </a:r>
            </a:p>
          </p:txBody>
        </p:sp>
        <p:sp>
          <p:nvSpPr>
            <p:cNvPr id="36868" name="AutoShape 5"/>
            <p:cNvSpPr/>
            <p:nvPr/>
          </p:nvSpPr>
          <p:spPr>
            <a:xfrm>
              <a:off x="1383" y="615"/>
              <a:ext cx="91" cy="1633"/>
            </a:xfrm>
            <a:prstGeom prst="leftBrace">
              <a:avLst>
                <a:gd name="adj1" fmla="val 149542"/>
                <a:gd name="adj2" fmla="val 50000"/>
              </a:avLst>
            </a:prstGeom>
            <a:noFill/>
            <a:ln w="25400" cap="flat" cmpd="sng">
              <a:solidFill>
                <a:srgbClr val="000000"/>
              </a:solidFill>
              <a:prstDash val="solid"/>
              <a:headEnd type="none" w="med" len="med"/>
              <a:tailEnd type="none" w="med" len="med"/>
            </a:ln>
          </p:spPr>
          <p:txBody>
            <a:bodyPr wrap="none" anchor="ctr"/>
            <a:lstStyle/>
            <a:p>
              <a:pPr>
                <a:spcBef>
                  <a:spcPct val="0"/>
                </a:spcBef>
                <a:buClrTx/>
              </a:pPr>
              <a:endParaRPr lang="zh-CN" altLang="en-US" sz="1800" dirty="0">
                <a:latin typeface="Arial" panose="020B0604020202020204" pitchFamily="34" charset="0"/>
              </a:endParaRPr>
            </a:p>
          </p:txBody>
        </p:sp>
        <p:sp>
          <p:nvSpPr>
            <p:cNvPr id="36869" name="Text Box 6"/>
            <p:cNvSpPr txBox="1"/>
            <p:nvPr/>
          </p:nvSpPr>
          <p:spPr>
            <a:xfrm>
              <a:off x="1610" y="572"/>
              <a:ext cx="3583" cy="633"/>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实时</a:t>
              </a:r>
              <a:r>
                <a:rPr lang="en-US" altLang="zh-CN" b="1" dirty="0">
                  <a:solidFill>
                    <a:srgbClr val="030301"/>
                  </a:solidFill>
                  <a:latin typeface="Arial" panose="020B0604020202020204" pitchFamily="34" charset="0"/>
                </a:rPr>
                <a:t>(on-line)</a:t>
              </a:r>
              <a:r>
                <a:rPr lang="zh-CN" altLang="en-US" b="1" dirty="0">
                  <a:solidFill>
                    <a:srgbClr val="030301"/>
                  </a:solidFill>
                  <a:latin typeface="Arial" panose="020B0604020202020204" pitchFamily="34" charset="0"/>
                </a:rPr>
                <a:t>文本</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文本可以动态地更新</a:t>
              </a:r>
            </a:p>
            <a:p>
              <a:pPr>
                <a:buClrTx/>
              </a:pPr>
              <a:r>
                <a:rPr lang="zh-CN" altLang="en-US" b="1" dirty="0">
                  <a:solidFill>
                    <a:srgbClr val="030301"/>
                  </a:solidFill>
                  <a:latin typeface="Arial" panose="020B0604020202020204" pitchFamily="34" charset="0"/>
                </a:rPr>
                <a:t>                   例如</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网络入侵监测</a:t>
              </a:r>
            </a:p>
          </p:txBody>
        </p:sp>
        <p:sp>
          <p:nvSpPr>
            <p:cNvPr id="36870" name="Text Box 7"/>
            <p:cNvSpPr txBox="1"/>
            <p:nvPr/>
          </p:nvSpPr>
          <p:spPr>
            <a:xfrm>
              <a:off x="1566" y="1568"/>
              <a:ext cx="3674" cy="633"/>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非实时</a:t>
              </a:r>
              <a:r>
                <a:rPr lang="en-US" altLang="zh-CN" b="1" dirty="0">
                  <a:solidFill>
                    <a:srgbClr val="030301"/>
                  </a:solidFill>
                  <a:latin typeface="Arial" panose="020B0604020202020204" pitchFamily="34" charset="0"/>
                </a:rPr>
                <a:t>(off-line)</a:t>
              </a:r>
              <a:r>
                <a:rPr lang="zh-CN" altLang="en-US" b="1" dirty="0">
                  <a:solidFill>
                    <a:srgbClr val="030301"/>
                  </a:solidFill>
                  <a:latin typeface="Arial" panose="020B0604020202020204" pitchFamily="34" charset="0"/>
                </a:rPr>
                <a:t>文本</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被查找文本是静态的</a:t>
              </a:r>
            </a:p>
            <a:p>
              <a:pPr>
                <a:buClrTx/>
              </a:pPr>
              <a:r>
                <a:rPr lang="zh-CN" altLang="en-US" b="1" dirty="0">
                  <a:solidFill>
                    <a:srgbClr val="030301"/>
                  </a:solidFill>
                  <a:latin typeface="Arial" panose="020B0604020202020204" pitchFamily="34" charset="0"/>
                </a:rPr>
                <a:t>                   例如</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搜索引擎中查找的数据</a:t>
              </a:r>
            </a:p>
          </p:txBody>
        </p:sp>
      </p:grpSp>
      <p:sp>
        <p:nvSpPr>
          <p:cNvPr id="5837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dirty="0">
                <a:effectLst>
                  <a:outerShdw blurRad="38100" dist="38100" dir="2700000">
                    <a:srgbClr val="000000"/>
                  </a:outerShdw>
                </a:effectLst>
              </a:rPr>
              <a:t>模式匹配的分类 </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a:t>
            </a:fld>
            <a:endParaRPr lang="en-US" altLang="zh-CN" sz="1400" dirty="0"/>
          </a:p>
        </p:txBody>
      </p:sp>
      <p:sp>
        <p:nvSpPr>
          <p:cNvPr id="38914" name="Rectangle 4"/>
          <p:cNvSpPr>
            <a:spLocks noRot="1"/>
          </p:cNvSpPr>
          <p:nvPr/>
        </p:nvSpPr>
        <p:spPr>
          <a:xfrm>
            <a:off x="179388" y="1125538"/>
            <a:ext cx="8570912" cy="5040312"/>
          </a:xfrm>
          <a:prstGeom prst="rect">
            <a:avLst/>
          </a:prstGeom>
          <a:noFill/>
          <a:ln w="9525">
            <a:noFill/>
          </a:ln>
        </p:spPr>
        <p:txBody>
          <a:bodyPr/>
          <a:lstStyle/>
          <a:p>
            <a:pPr marL="342900" indent="-342900">
              <a:lnSpc>
                <a:spcPct val="120000"/>
              </a:lnSpc>
              <a:spcBef>
                <a:spcPct val="20000"/>
              </a:spcBef>
              <a:buClr>
                <a:srgbClr val="000000"/>
              </a:buClr>
              <a:buFont typeface="Wingdings" panose="05000000000000000000" pitchFamily="2" charset="2"/>
              <a:buChar char="Ø"/>
            </a:pPr>
            <a:r>
              <a:rPr lang="zh-CN" altLang="en-US" b="1" dirty="0">
                <a:solidFill>
                  <a:srgbClr val="030301"/>
                </a:solidFill>
                <a:latin typeface="Arial" panose="020B0604020202020204" pitchFamily="34" charset="0"/>
              </a:rPr>
              <a:t>单模式匹配</a:t>
            </a:r>
          </a:p>
          <a:p>
            <a:pPr marL="742950" lvl="1" indent="-285750">
              <a:lnSpc>
                <a:spcPct val="120000"/>
              </a:lnSpc>
              <a:spcBef>
                <a:spcPct val="20000"/>
              </a:spcBef>
              <a:buClr>
                <a:schemeClr val="tx2"/>
              </a:buClr>
              <a:buSzPct val="85000"/>
              <a:buFont typeface="Arial" panose="020B0604020202020204" pitchFamily="34" charset="0"/>
              <a:buChar char="−"/>
            </a:pPr>
            <a:r>
              <a:rPr lang="zh-CN" altLang="en-US" b="1" dirty="0">
                <a:solidFill>
                  <a:srgbClr val="030301"/>
                </a:solidFill>
                <a:latin typeface="Arial" panose="020B0604020202020204" pitchFamily="34" charset="0"/>
              </a:rPr>
              <a:t>单模式匹配可定义为：在一个文本</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设长度为</a:t>
            </a:r>
            <a:r>
              <a:rPr lang="en-US" altLang="zh-CN" b="1" dirty="0">
                <a:solidFill>
                  <a:srgbClr val="030301"/>
                </a:solidFill>
                <a:latin typeface="Arial" panose="020B0604020202020204" pitchFamily="34" charset="0"/>
              </a:rPr>
              <a:t>n)</a:t>
            </a:r>
            <a:r>
              <a:rPr lang="zh-CN" altLang="en-US" b="1" dirty="0">
                <a:solidFill>
                  <a:srgbClr val="030301"/>
                </a:solidFill>
                <a:latin typeface="Arial" panose="020B0604020202020204" pitchFamily="34" charset="0"/>
              </a:rPr>
              <a:t>中查找某个特定的子串</a:t>
            </a:r>
            <a:r>
              <a:rPr lang="en-US" altLang="zh-CN" b="1" dirty="0">
                <a:solidFill>
                  <a:srgbClr val="030301"/>
                </a:solidFill>
                <a:latin typeface="Arial" panose="020B0604020202020204" pitchFamily="34" charset="0"/>
              </a:rPr>
              <a:t>pattern(</a:t>
            </a:r>
            <a:r>
              <a:rPr lang="zh-CN" altLang="en-US" b="1" dirty="0">
                <a:solidFill>
                  <a:srgbClr val="030301"/>
                </a:solidFill>
                <a:latin typeface="Arial" panose="020B0604020202020204" pitchFamily="34" charset="0"/>
              </a:rPr>
              <a:t>设长度为</a:t>
            </a:r>
            <a:r>
              <a:rPr lang="en-US" altLang="zh-CN" b="1" dirty="0">
                <a:solidFill>
                  <a:srgbClr val="030301"/>
                </a:solidFill>
                <a:latin typeface="Arial" panose="020B0604020202020204" pitchFamily="34" charset="0"/>
              </a:rPr>
              <a:t>m)</a:t>
            </a:r>
            <a:r>
              <a:rPr lang="zh-CN" altLang="en-US" b="1" dirty="0">
                <a:solidFill>
                  <a:srgbClr val="030301"/>
                </a:solidFill>
                <a:latin typeface="Arial" panose="020B0604020202020204" pitchFamily="34" charset="0"/>
              </a:rPr>
              <a:t>。如果在</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中找到等于</a:t>
            </a:r>
            <a:r>
              <a:rPr lang="en-US" altLang="zh-CN" b="1" dirty="0">
                <a:solidFill>
                  <a:srgbClr val="030301"/>
                </a:solidFill>
                <a:latin typeface="Arial" panose="020B0604020202020204" pitchFamily="34" charset="0"/>
              </a:rPr>
              <a:t>pattern</a:t>
            </a:r>
            <a:r>
              <a:rPr lang="zh-CN" altLang="en-US" b="1" dirty="0">
                <a:solidFill>
                  <a:srgbClr val="030301"/>
                </a:solidFill>
                <a:latin typeface="Arial" panose="020B0604020202020204" pitchFamily="34" charset="0"/>
              </a:rPr>
              <a:t>的子串，则称匹配成功，函数返回</a:t>
            </a:r>
            <a:r>
              <a:rPr lang="en-US" altLang="zh-CN" b="1" dirty="0">
                <a:solidFill>
                  <a:srgbClr val="030301"/>
                </a:solidFill>
                <a:latin typeface="Arial" panose="020B0604020202020204" pitchFamily="34" charset="0"/>
              </a:rPr>
              <a:t>pattern</a:t>
            </a:r>
            <a:r>
              <a:rPr lang="zh-CN" altLang="en-US" b="1" dirty="0">
                <a:solidFill>
                  <a:srgbClr val="030301"/>
                </a:solidFill>
                <a:latin typeface="Arial" panose="020B0604020202020204" pitchFamily="34" charset="0"/>
              </a:rPr>
              <a:t>在</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中出现的位置</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或序号</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，否则匹配失败。</a:t>
            </a:r>
          </a:p>
          <a:p>
            <a:pPr marL="342900" indent="-342900">
              <a:lnSpc>
                <a:spcPct val="120000"/>
              </a:lnSpc>
              <a:spcBef>
                <a:spcPct val="20000"/>
              </a:spcBef>
              <a:buClr>
                <a:srgbClr val="000000"/>
              </a:buClr>
              <a:buFont typeface="Wingdings" panose="05000000000000000000" pitchFamily="2" charset="2"/>
              <a:buChar char="Ø"/>
            </a:pPr>
            <a:r>
              <a:rPr lang="zh-CN" altLang="en-US" b="1" dirty="0">
                <a:solidFill>
                  <a:srgbClr val="030301"/>
                </a:solidFill>
                <a:latin typeface="Arial" panose="020B0604020202020204" pitchFamily="34" charset="0"/>
              </a:rPr>
              <a:t>多模式匹配</a:t>
            </a:r>
          </a:p>
          <a:p>
            <a:pPr marL="742950" lvl="1" indent="-285750">
              <a:lnSpc>
                <a:spcPct val="120000"/>
              </a:lnSpc>
              <a:spcBef>
                <a:spcPct val="20000"/>
              </a:spcBef>
              <a:buClr>
                <a:schemeClr val="tx2"/>
              </a:buClr>
              <a:buSzPct val="85000"/>
              <a:buFont typeface="Arial" panose="020B0604020202020204" pitchFamily="34" charset="0"/>
              <a:buChar char="−"/>
            </a:pPr>
            <a:r>
              <a:rPr lang="zh-CN" altLang="en-US" b="1" dirty="0">
                <a:solidFill>
                  <a:srgbClr val="030301"/>
                </a:solidFill>
                <a:latin typeface="Arial" panose="020B0604020202020204" pitchFamily="34" charset="0"/>
              </a:rPr>
              <a:t>多模式匹配可定义为：在一个文本</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设长度为</a:t>
            </a:r>
            <a:r>
              <a:rPr lang="en-US" altLang="zh-CN" b="1" dirty="0">
                <a:solidFill>
                  <a:srgbClr val="030301"/>
                </a:solidFill>
                <a:latin typeface="Arial" panose="020B0604020202020204" pitchFamily="34" charset="0"/>
              </a:rPr>
              <a:t>n)</a:t>
            </a:r>
            <a:r>
              <a:rPr lang="zh-CN" altLang="en-US" b="1" dirty="0">
                <a:solidFill>
                  <a:srgbClr val="030301"/>
                </a:solidFill>
                <a:latin typeface="Arial" panose="020B0604020202020204" pitchFamily="34" charset="0"/>
              </a:rPr>
              <a:t>中查找某些特定的子串</a:t>
            </a:r>
            <a:r>
              <a:rPr lang="en-US" altLang="zh-CN" b="1" dirty="0">
                <a:solidFill>
                  <a:srgbClr val="030301"/>
                </a:solidFill>
                <a:latin typeface="Arial" panose="020B0604020202020204" pitchFamily="34" charset="0"/>
              </a:rPr>
              <a:t>patterns(</a:t>
            </a:r>
            <a:r>
              <a:rPr lang="zh-CN" altLang="en-US" b="1" dirty="0">
                <a:solidFill>
                  <a:srgbClr val="030301"/>
                </a:solidFill>
                <a:latin typeface="Arial" panose="020B0604020202020204" pitchFamily="34" charset="0"/>
              </a:rPr>
              <a:t>设长度为</a:t>
            </a:r>
            <a:r>
              <a:rPr lang="en-US" altLang="zh-CN" b="1" dirty="0">
                <a:solidFill>
                  <a:srgbClr val="030301"/>
                </a:solidFill>
                <a:latin typeface="Arial" panose="020B0604020202020204" pitchFamily="34" charset="0"/>
              </a:rPr>
              <a:t>m)</a:t>
            </a:r>
            <a:r>
              <a:rPr lang="zh-CN" altLang="en-US" b="1" dirty="0">
                <a:solidFill>
                  <a:srgbClr val="030301"/>
                </a:solidFill>
                <a:latin typeface="Arial" panose="020B0604020202020204" pitchFamily="34" charset="0"/>
              </a:rPr>
              <a:t>。如果在</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中找到等于</a:t>
            </a:r>
            <a:r>
              <a:rPr lang="en-US" altLang="zh-CN" b="1" dirty="0">
                <a:solidFill>
                  <a:srgbClr val="030301"/>
                </a:solidFill>
                <a:latin typeface="Arial" panose="020B0604020202020204" pitchFamily="34" charset="0"/>
              </a:rPr>
              <a:t>patterns</a:t>
            </a:r>
            <a:r>
              <a:rPr lang="zh-CN" altLang="en-US" b="1" dirty="0">
                <a:solidFill>
                  <a:srgbClr val="030301"/>
                </a:solidFill>
                <a:latin typeface="Arial" panose="020B0604020202020204" pitchFamily="34" charset="0"/>
              </a:rPr>
              <a:t>中的某些子串，则称匹配成功，函数返回</a:t>
            </a:r>
            <a:r>
              <a:rPr lang="en-US" altLang="zh-CN" b="1" dirty="0">
                <a:solidFill>
                  <a:srgbClr val="030301"/>
                </a:solidFill>
                <a:latin typeface="Arial" panose="020B0604020202020204" pitchFamily="34" charset="0"/>
              </a:rPr>
              <a:t>pattern</a:t>
            </a:r>
            <a:r>
              <a:rPr lang="zh-CN" altLang="en-US" b="1" dirty="0">
                <a:solidFill>
                  <a:srgbClr val="030301"/>
                </a:solidFill>
                <a:latin typeface="Arial" panose="020B0604020202020204" pitchFamily="34" charset="0"/>
              </a:rPr>
              <a:t>在</a:t>
            </a:r>
            <a:r>
              <a:rPr lang="en-US" altLang="zh-CN" b="1" dirty="0">
                <a:solidFill>
                  <a:srgbClr val="030301"/>
                </a:solidFill>
                <a:latin typeface="Arial" panose="020B0604020202020204" pitchFamily="34" charset="0"/>
              </a:rPr>
              <a:t>text</a:t>
            </a:r>
            <a:r>
              <a:rPr lang="zh-CN" altLang="en-US" b="1" dirty="0">
                <a:solidFill>
                  <a:srgbClr val="030301"/>
                </a:solidFill>
                <a:latin typeface="Arial" panose="020B0604020202020204" pitchFamily="34" charset="0"/>
              </a:rPr>
              <a:t>中出现的位置</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或序号</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，否则匹配失败。</a:t>
            </a:r>
          </a:p>
        </p:txBody>
      </p:sp>
      <p:sp>
        <p:nvSpPr>
          <p:cNvPr id="5837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dirty="0">
                <a:effectLst>
                  <a:outerShdw blurRad="38100" dist="38100" dir="2700000">
                    <a:srgbClr val="000000"/>
                  </a:outerShdw>
                </a:effectLst>
              </a:rPr>
              <a:t>模式匹配的分类 </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a:t>
            </a:fld>
            <a:endParaRPr lang="en-US" altLang="zh-CN" sz="1400" dirty="0"/>
          </a:p>
        </p:txBody>
      </p:sp>
      <p:sp>
        <p:nvSpPr>
          <p:cNvPr id="40962" name="Text Box 4"/>
          <p:cNvSpPr txBox="1"/>
          <p:nvPr/>
        </p:nvSpPr>
        <p:spPr>
          <a:xfrm>
            <a:off x="468313" y="1270318"/>
            <a:ext cx="8280400" cy="4984750"/>
          </a:xfrm>
          <a:prstGeom prst="rect">
            <a:avLst/>
          </a:prstGeom>
          <a:noFill/>
          <a:ln w="9525">
            <a:noFill/>
          </a:ln>
        </p:spPr>
        <p:txBody>
          <a:bodyPr>
            <a:spAutoFit/>
          </a:bodyPr>
          <a:lstStyle/>
          <a:p>
            <a:pPr>
              <a:lnSpc>
                <a:spcPct val="110000"/>
              </a:lnSpc>
              <a:spcBef>
                <a:spcPct val="20000"/>
              </a:spcBef>
              <a:buClrTx/>
            </a:pPr>
            <a:r>
              <a:rPr lang="en-US" altLang="zh-CN" b="1" dirty="0">
                <a:solidFill>
                  <a:srgbClr val="000000"/>
                </a:solidFill>
                <a:latin typeface="宋体" panose="02010600030101010101" pitchFamily="2" charset="-122"/>
              </a:rPr>
              <a:t>    </a:t>
            </a:r>
            <a:r>
              <a:rPr lang="en-US" altLang="zh-CN" b="1" dirty="0">
                <a:solidFill>
                  <a:srgbClr val="0033CC"/>
                </a:solidFill>
                <a:latin typeface="宋体" panose="02010600030101010101" pitchFamily="2" charset="-122"/>
              </a:rPr>
              <a:t>BF</a:t>
            </a:r>
            <a:r>
              <a:rPr lang="zh-CN" altLang="en-US" b="1" dirty="0">
                <a:solidFill>
                  <a:srgbClr val="0033CC"/>
                </a:solidFill>
                <a:latin typeface="宋体" panose="02010600030101010101" pitchFamily="2" charset="-122"/>
              </a:rPr>
              <a:t>（</a:t>
            </a:r>
            <a:r>
              <a:rPr lang="en-US" altLang="zh-CN" b="1" dirty="0">
                <a:solidFill>
                  <a:srgbClr val="0033CC"/>
                </a:solidFill>
                <a:latin typeface="宋体" panose="02010600030101010101" pitchFamily="2" charset="-122"/>
              </a:rPr>
              <a:t>Brute-Force</a:t>
            </a:r>
            <a:r>
              <a:rPr lang="zh-CN" altLang="en-US" b="1" dirty="0">
                <a:solidFill>
                  <a:srgbClr val="0033CC"/>
                </a:solidFill>
                <a:latin typeface="宋体" panose="02010600030101010101" pitchFamily="2" charset="-122"/>
              </a:rPr>
              <a:t>）算法 </a:t>
            </a:r>
            <a:r>
              <a:rPr lang="en-US" altLang="zh-CN" b="1" dirty="0">
                <a:solidFill>
                  <a:srgbClr val="0033CC"/>
                </a:solidFill>
                <a:latin typeface="宋体" panose="02010600030101010101" pitchFamily="2" charset="-122"/>
              </a:rPr>
              <a:t>(</a:t>
            </a:r>
            <a:r>
              <a:rPr lang="zh-CN" altLang="en-US" b="1" dirty="0">
                <a:solidFill>
                  <a:srgbClr val="0033CC"/>
                </a:solidFill>
                <a:latin typeface="宋体" panose="02010600030101010101" pitchFamily="2" charset="-122"/>
              </a:rPr>
              <a:t>又称</a:t>
            </a:r>
            <a:r>
              <a:rPr lang="en-US" altLang="zh-CN" b="1" dirty="0">
                <a:solidFill>
                  <a:srgbClr val="0033CC"/>
                </a:solidFill>
                <a:latin typeface="宋体" panose="02010600030101010101" pitchFamily="2" charset="-122"/>
              </a:rPr>
              <a:t>Naive</a:t>
            </a:r>
            <a:r>
              <a:rPr lang="zh-CN" altLang="en-US" b="1" dirty="0">
                <a:solidFill>
                  <a:srgbClr val="0033CC"/>
                </a:solidFill>
                <a:latin typeface="宋体" panose="02010600030101010101" pitchFamily="2" charset="-122"/>
              </a:rPr>
              <a:t>算法</a:t>
            </a:r>
            <a:r>
              <a:rPr lang="en-US" altLang="zh-CN" b="1" dirty="0">
                <a:solidFill>
                  <a:srgbClr val="0033CC"/>
                </a:solidFill>
                <a:latin typeface="宋体" panose="02010600030101010101" pitchFamily="2" charset="-122"/>
              </a:rPr>
              <a:t>)</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是最早出现的单关键字匹配算法，思想简单，虽然理论上的时间复杂度很差，但是实际使用效果尚可，因此还被采用。</a:t>
            </a:r>
            <a:r>
              <a:rPr lang="en-US" altLang="zh-CN" b="1" dirty="0">
                <a:solidFill>
                  <a:srgbClr val="000000"/>
                </a:solidFill>
                <a:latin typeface="宋体" panose="02010600030101010101" pitchFamily="2" charset="-122"/>
              </a:rPr>
              <a:t>ANSI C</a:t>
            </a:r>
            <a:r>
              <a:rPr lang="zh-CN" altLang="en-US" b="1" dirty="0">
                <a:solidFill>
                  <a:srgbClr val="000000"/>
                </a:solidFill>
                <a:latin typeface="宋体" panose="02010600030101010101" pitchFamily="2" charset="-122"/>
              </a:rPr>
              <a:t>中提供的</a:t>
            </a:r>
            <a:r>
              <a:rPr lang="en-US" altLang="zh-CN" b="1" dirty="0">
                <a:solidFill>
                  <a:srgbClr val="000000"/>
                </a:solidFill>
                <a:latin typeface="宋体" panose="02010600030101010101" pitchFamily="2" charset="-122"/>
              </a:rPr>
              <a:t>strstr</a:t>
            </a:r>
            <a:r>
              <a:rPr lang="zh-CN" altLang="en-US" b="1" dirty="0">
                <a:solidFill>
                  <a:srgbClr val="000000"/>
                </a:solidFill>
                <a:latin typeface="宋体" panose="02010600030101010101" pitchFamily="2" charset="-122"/>
              </a:rPr>
              <a:t>函数就是使用这种算法的改进版本。由于</a:t>
            </a:r>
            <a:r>
              <a:rPr lang="en-US" altLang="zh-CN" b="1" dirty="0">
                <a:solidFill>
                  <a:srgbClr val="000000"/>
                </a:solidFill>
                <a:latin typeface="宋体" panose="02010600030101010101" pitchFamily="2" charset="-122"/>
              </a:rPr>
              <a:t>BF</a:t>
            </a:r>
            <a:r>
              <a:rPr lang="zh-CN" altLang="en-US" b="1" dirty="0">
                <a:solidFill>
                  <a:srgbClr val="000000"/>
                </a:solidFill>
                <a:latin typeface="宋体" panose="02010600030101010101" pitchFamily="2" charset="-122"/>
              </a:rPr>
              <a:t>算法扫描字符串时常常需要回溯，这样当文本难于随机访问时，就显得特别不方便。</a:t>
            </a:r>
          </a:p>
          <a:p>
            <a:pPr>
              <a:lnSpc>
                <a:spcPct val="110000"/>
              </a:lnSpc>
              <a:spcBef>
                <a:spcPct val="20000"/>
              </a:spcBef>
              <a:buClrTx/>
            </a:pPr>
            <a:r>
              <a:rPr lang="zh-CN" altLang="en-US" b="1" dirty="0">
                <a:latin typeface="宋体" panose="02010600030101010101" pitchFamily="2" charset="-122"/>
              </a:rPr>
              <a:t>    </a:t>
            </a:r>
            <a:r>
              <a:rPr lang="en-US" altLang="zh-CN" b="1" dirty="0">
                <a:solidFill>
                  <a:srgbClr val="000000"/>
                </a:solidFill>
                <a:latin typeface="宋体" panose="02010600030101010101" pitchFamily="2" charset="-122"/>
              </a:rPr>
              <a:t>1970</a:t>
            </a:r>
            <a:r>
              <a:rPr lang="zh-CN" altLang="en-US" b="1" dirty="0">
                <a:solidFill>
                  <a:srgbClr val="000000"/>
                </a:solidFill>
                <a:latin typeface="宋体" panose="02010600030101010101" pitchFamily="2" charset="-122"/>
              </a:rPr>
              <a:t>年，</a:t>
            </a:r>
            <a:r>
              <a:rPr lang="en-US" altLang="zh-CN" b="1" dirty="0">
                <a:solidFill>
                  <a:srgbClr val="000000"/>
                </a:solidFill>
                <a:latin typeface="宋体" panose="02010600030101010101" pitchFamily="2" charset="-122"/>
              </a:rPr>
              <a:t>S.A.Coovk</a:t>
            </a:r>
            <a:r>
              <a:rPr lang="zh-CN" altLang="en-US" b="1" dirty="0">
                <a:solidFill>
                  <a:srgbClr val="000000"/>
                </a:solidFill>
                <a:latin typeface="宋体" panose="02010600030101010101" pitchFamily="2" charset="-122"/>
              </a:rPr>
              <a:t>理论上证明了串匹配问题可以在</a:t>
            </a:r>
            <a:r>
              <a:rPr lang="en-US" altLang="zh-CN" b="1" i="1" dirty="0">
                <a:solidFill>
                  <a:srgbClr val="0033CC"/>
                </a:solidFill>
                <a:latin typeface="宋体" panose="02010600030101010101" pitchFamily="2" charset="-122"/>
              </a:rPr>
              <a:t>O</a:t>
            </a:r>
            <a:r>
              <a:rPr lang="en-US" altLang="zh-CN" b="1" dirty="0">
                <a:solidFill>
                  <a:srgbClr val="0033CC"/>
                </a:solidFill>
                <a:latin typeface="宋体" panose="02010600030101010101" pitchFamily="2" charset="-122"/>
              </a:rPr>
              <a:t>(</a:t>
            </a:r>
            <a:r>
              <a:rPr lang="en-US" altLang="zh-CN" b="1" i="1" dirty="0">
                <a:solidFill>
                  <a:srgbClr val="0033CC"/>
                </a:solidFill>
                <a:latin typeface="宋体" panose="02010600030101010101" pitchFamily="2" charset="-122"/>
              </a:rPr>
              <a:t>m</a:t>
            </a:r>
            <a:r>
              <a:rPr lang="en-US" altLang="zh-CN" b="1" dirty="0">
                <a:solidFill>
                  <a:srgbClr val="0033CC"/>
                </a:solidFill>
                <a:latin typeface="宋体" panose="02010600030101010101" pitchFamily="2" charset="-122"/>
              </a:rPr>
              <a:t>+</a:t>
            </a:r>
            <a:r>
              <a:rPr lang="en-US" altLang="zh-CN" b="1" i="1" dirty="0">
                <a:solidFill>
                  <a:srgbClr val="0033CC"/>
                </a:solidFill>
                <a:latin typeface="宋体" panose="02010600030101010101" pitchFamily="2" charset="-122"/>
              </a:rPr>
              <a:t>n</a:t>
            </a:r>
            <a:r>
              <a:rPr lang="en-US" altLang="zh-CN" b="1" dirty="0">
                <a:solidFill>
                  <a:srgbClr val="0033CC"/>
                </a:solidFill>
                <a:latin typeface="宋体" panose="02010600030101010101" pitchFamily="2" charset="-122"/>
              </a:rPr>
              <a:t>)</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线性时间内解决，随后</a:t>
            </a:r>
            <a:r>
              <a:rPr lang="en-US" altLang="zh-CN" b="1" dirty="0">
                <a:solidFill>
                  <a:srgbClr val="000000"/>
                </a:solidFill>
                <a:latin typeface="宋体" panose="02010600030101010101" pitchFamily="2" charset="-122"/>
              </a:rPr>
              <a:t>D.E.Knuth</a:t>
            </a:r>
            <a:r>
              <a:rPr lang="zh-CN" altLang="en-US" b="1" dirty="0">
                <a:solidFill>
                  <a:srgbClr val="000000"/>
                </a:solidFill>
                <a:latin typeface="宋体" panose="02010600030101010101" pitchFamily="2" charset="-122"/>
              </a:rPr>
              <a:t>和</a:t>
            </a:r>
            <a:r>
              <a:rPr lang="en-US" altLang="zh-CN" b="1" dirty="0">
                <a:solidFill>
                  <a:srgbClr val="000000"/>
                </a:solidFill>
                <a:latin typeface="宋体" panose="02010600030101010101" pitchFamily="2" charset="-122"/>
              </a:rPr>
              <a:t>V.R.Pratt</a:t>
            </a:r>
            <a:r>
              <a:rPr lang="zh-CN" altLang="en-US" b="1" dirty="0">
                <a:solidFill>
                  <a:srgbClr val="000000"/>
                </a:solidFill>
                <a:latin typeface="宋体" panose="02010600030101010101" pitchFamily="2" charset="-122"/>
              </a:rPr>
              <a:t>仿照</a:t>
            </a:r>
            <a:r>
              <a:rPr lang="en-US" altLang="zh-CN" b="1" dirty="0">
                <a:solidFill>
                  <a:srgbClr val="000000"/>
                </a:solidFill>
                <a:latin typeface="宋体" panose="02010600030101010101" pitchFamily="2" charset="-122"/>
              </a:rPr>
              <a:t>S.A.Cook</a:t>
            </a:r>
            <a:r>
              <a:rPr lang="zh-CN" altLang="en-US" b="1" dirty="0">
                <a:solidFill>
                  <a:srgbClr val="000000"/>
                </a:solidFill>
                <a:latin typeface="宋体" panose="02010600030101010101" pitchFamily="2" charset="-122"/>
              </a:rPr>
              <a:t>的证明构造了一个算法，与此同时，</a:t>
            </a:r>
            <a:r>
              <a:rPr lang="en-US" altLang="zh-CN" b="1" dirty="0">
                <a:solidFill>
                  <a:srgbClr val="000000"/>
                </a:solidFill>
                <a:latin typeface="宋体" panose="02010600030101010101" pitchFamily="2" charset="-122"/>
              </a:rPr>
              <a:t>J.H.Morris</a:t>
            </a:r>
            <a:r>
              <a:rPr lang="zh-CN" altLang="en-US" b="1" dirty="0">
                <a:solidFill>
                  <a:srgbClr val="000000"/>
                </a:solidFill>
                <a:latin typeface="宋体" panose="02010600030101010101" pitchFamily="2" charset="-122"/>
              </a:rPr>
              <a:t>也得到相类似的算法，这样就产生了第一种线性时间复杂度的模式匹配算法</a:t>
            </a:r>
            <a:r>
              <a:rPr lang="en-US" altLang="zh-CN" b="1" dirty="0">
                <a:solidFill>
                  <a:srgbClr val="0033CC"/>
                </a:solidFill>
                <a:latin typeface="宋体" panose="02010600030101010101" pitchFamily="2" charset="-122"/>
              </a:rPr>
              <a:t>Knuth-Morris-Pratt </a:t>
            </a:r>
            <a:r>
              <a:rPr lang="zh-CN" altLang="en-US" b="1" dirty="0">
                <a:solidFill>
                  <a:srgbClr val="0033CC"/>
                </a:solidFill>
                <a:latin typeface="宋体" panose="02010600030101010101" pitchFamily="2" charset="-122"/>
              </a:rPr>
              <a:t>算法（简称为</a:t>
            </a:r>
            <a:r>
              <a:rPr lang="en-US" altLang="zh-CN" b="1" dirty="0">
                <a:solidFill>
                  <a:srgbClr val="0033CC"/>
                </a:solidFill>
                <a:latin typeface="宋体" panose="02010600030101010101" pitchFamily="2" charset="-122"/>
              </a:rPr>
              <a:t>KMP</a:t>
            </a:r>
            <a:r>
              <a:rPr lang="zh-CN" altLang="en-US" b="1" dirty="0">
                <a:solidFill>
                  <a:srgbClr val="0033CC"/>
                </a:solidFill>
                <a:latin typeface="宋体" panose="02010600030101010101" pitchFamily="2" charset="-122"/>
              </a:rPr>
              <a:t>算法）。</a:t>
            </a:r>
            <a:r>
              <a:rPr lang="zh-CN" altLang="en-US" b="1" dirty="0">
                <a:solidFill>
                  <a:srgbClr val="000000"/>
                </a:solidFill>
                <a:latin typeface="宋体" panose="02010600030101010101" pitchFamily="2" charset="-122"/>
              </a:rPr>
              <a:t>此种算法不仅时间复杂度良好，而且有一个非常好的</a:t>
            </a:r>
          </a:p>
        </p:txBody>
      </p:sp>
      <p:sp>
        <p:nvSpPr>
          <p:cNvPr id="166917" name="Rectangle 5"/>
          <p:cNvSpPr>
            <a:spLocks noRot="1" noChangeArrowheads="1"/>
          </p:cNvSpPr>
          <p:nvPr/>
        </p:nvSpPr>
        <p:spPr bwMode="auto">
          <a:xfrm>
            <a:off x="900113" y="232093"/>
            <a:ext cx="7369175" cy="606425"/>
          </a:xfrm>
          <a:prstGeom prst="rect">
            <a:avLst/>
          </a:prstGeom>
          <a:noFill/>
          <a:ln w="9525">
            <a:noFill/>
            <a:miter lim="800000"/>
          </a:ln>
          <a:effectLst/>
        </p:spPr>
        <p:txBody>
          <a:bodyPr anchor="ctr"/>
          <a:lstStyle/>
          <a:p>
            <a:pPr algn="ctr">
              <a:spcBef>
                <a:spcPct val="0"/>
              </a:spcBef>
              <a:buClrTx/>
            </a:pPr>
            <a:r>
              <a:rPr lang="zh-CN" altLang="en-US" sz="3200" b="1" dirty="0">
                <a:effectLst>
                  <a:outerShdw blurRad="38100" dist="38100" dir="2700000">
                    <a:srgbClr val="000000"/>
                  </a:outerShdw>
                </a:effectLst>
                <a:latin typeface="Arial" panose="020B0604020202020204" pitchFamily="34" charset="0"/>
              </a:rPr>
              <a:t>单模式匹配 算法</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a:t>
            </a:fld>
            <a:endParaRPr lang="en-US" altLang="zh-CN" sz="1400" dirty="0"/>
          </a:p>
        </p:txBody>
      </p:sp>
      <p:sp>
        <p:nvSpPr>
          <p:cNvPr id="43010" name="Text Box 4"/>
          <p:cNvSpPr txBox="1"/>
          <p:nvPr/>
        </p:nvSpPr>
        <p:spPr>
          <a:xfrm>
            <a:off x="468313" y="836613"/>
            <a:ext cx="8135937" cy="5057775"/>
          </a:xfrm>
          <a:prstGeom prst="rect">
            <a:avLst/>
          </a:prstGeom>
          <a:noFill/>
          <a:ln w="9525">
            <a:noFill/>
          </a:ln>
        </p:spPr>
        <p:txBody>
          <a:bodyPr>
            <a:spAutoFit/>
          </a:bodyPr>
          <a:lstStyle/>
          <a:p>
            <a:pPr>
              <a:lnSpc>
                <a:spcPct val="120000"/>
              </a:lnSpc>
              <a:spcBef>
                <a:spcPct val="20000"/>
              </a:spcBef>
              <a:buClrTx/>
            </a:pPr>
            <a:r>
              <a:rPr lang="zh-CN" altLang="en-US" b="1" dirty="0">
                <a:solidFill>
                  <a:srgbClr val="000000"/>
                </a:solidFill>
                <a:latin typeface="宋体" panose="02010600030101010101" pitchFamily="2" charset="-122"/>
              </a:rPr>
              <a:t>特点，扫描文本时不需要回溯，这对于处理实时输入的文本有很大的好处。 </a:t>
            </a:r>
          </a:p>
          <a:p>
            <a:pPr>
              <a:lnSpc>
                <a:spcPct val="120000"/>
              </a:lnSpc>
              <a:spcBef>
                <a:spcPct val="20000"/>
              </a:spcBef>
              <a:buClrTx/>
            </a:pP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1977</a:t>
            </a:r>
            <a:r>
              <a:rPr lang="zh-CN" altLang="en-US" b="1" dirty="0">
                <a:solidFill>
                  <a:srgbClr val="000000"/>
                </a:solidFill>
                <a:latin typeface="宋体" panose="02010600030101010101" pitchFamily="2" charset="-122"/>
              </a:rPr>
              <a:t>年，</a:t>
            </a:r>
            <a:r>
              <a:rPr lang="en-US" altLang="zh-CN" b="1" dirty="0">
                <a:solidFill>
                  <a:srgbClr val="0033CC"/>
                </a:solidFill>
                <a:latin typeface="宋体" panose="02010600030101010101" pitchFamily="2" charset="-122"/>
              </a:rPr>
              <a:t>R.S.Boyer</a:t>
            </a:r>
            <a:r>
              <a:rPr lang="zh-CN" altLang="en-US" b="1" dirty="0">
                <a:solidFill>
                  <a:srgbClr val="0033CC"/>
                </a:solidFill>
                <a:latin typeface="宋体" panose="02010600030101010101" pitchFamily="2" charset="-122"/>
              </a:rPr>
              <a:t>和</a:t>
            </a:r>
            <a:r>
              <a:rPr lang="en-US" altLang="zh-CN" b="1" dirty="0">
                <a:solidFill>
                  <a:srgbClr val="0033CC"/>
                </a:solidFill>
                <a:latin typeface="宋体" panose="02010600030101010101" pitchFamily="2" charset="-122"/>
              </a:rPr>
              <a:t>J.S.Moore</a:t>
            </a:r>
            <a:r>
              <a:rPr lang="zh-CN" altLang="en-US" b="1" dirty="0">
                <a:solidFill>
                  <a:srgbClr val="0033CC"/>
                </a:solidFill>
                <a:latin typeface="宋体" panose="02010600030101010101" pitchFamily="2" charset="-122"/>
              </a:rPr>
              <a:t>两人设计了一种新的算法（简称</a:t>
            </a:r>
            <a:r>
              <a:rPr lang="en-US" altLang="zh-CN" b="1" dirty="0">
                <a:solidFill>
                  <a:srgbClr val="0033CC"/>
                </a:solidFill>
                <a:latin typeface="宋体" panose="02010600030101010101" pitchFamily="2" charset="-122"/>
              </a:rPr>
              <a:t>BM</a:t>
            </a:r>
            <a:r>
              <a:rPr lang="zh-CN" altLang="en-US" b="1" dirty="0">
                <a:solidFill>
                  <a:srgbClr val="0033CC"/>
                </a:solidFill>
                <a:latin typeface="宋体" panose="02010600030101010101" pitchFamily="2" charset="-122"/>
              </a:rPr>
              <a:t>算法），</a:t>
            </a:r>
            <a:r>
              <a:rPr lang="zh-CN" altLang="en-US" b="1" dirty="0">
                <a:solidFill>
                  <a:srgbClr val="000000"/>
                </a:solidFill>
                <a:latin typeface="宋体" panose="02010600030101010101" pitchFamily="2" charset="-122"/>
              </a:rPr>
              <a:t>该算法可以实现跳跃查寻，大多数情况下只需扫描文本中的一部分字符。尽管它的时间复杂度并不是最好，但是</a:t>
            </a:r>
            <a:r>
              <a:rPr lang="zh-CN" altLang="en-US" b="1" dirty="0">
                <a:solidFill>
                  <a:srgbClr val="0033CC"/>
                </a:solidFill>
                <a:latin typeface="宋体" panose="02010600030101010101" pitchFamily="2" charset="-122"/>
              </a:rPr>
              <a:t>实际效果却常常是最快的</a:t>
            </a:r>
            <a:r>
              <a:rPr lang="zh-CN" altLang="en-US" b="1" dirty="0">
                <a:solidFill>
                  <a:srgbClr val="000000"/>
                </a:solidFill>
                <a:latin typeface="宋体" panose="02010600030101010101" pitchFamily="2" charset="-122"/>
              </a:rPr>
              <a:t>。因此，</a:t>
            </a:r>
            <a:r>
              <a:rPr lang="en-US" altLang="zh-CN" b="1" dirty="0">
                <a:solidFill>
                  <a:srgbClr val="000000"/>
                </a:solidFill>
                <a:latin typeface="宋体" panose="02010600030101010101" pitchFamily="2" charset="-122"/>
              </a:rPr>
              <a:t>BM</a:t>
            </a:r>
            <a:r>
              <a:rPr lang="zh-CN" altLang="en-US" b="1" dirty="0">
                <a:solidFill>
                  <a:srgbClr val="000000"/>
                </a:solidFill>
                <a:latin typeface="宋体" panose="02010600030101010101" pitchFamily="2" charset="-122"/>
              </a:rPr>
              <a:t>算法得到了很好的研究，衍生出许多变种，如</a:t>
            </a:r>
            <a:r>
              <a:rPr lang="en-US" altLang="zh-CN" b="1" dirty="0">
                <a:solidFill>
                  <a:srgbClr val="000000"/>
                </a:solidFill>
                <a:latin typeface="宋体" panose="02010600030101010101" pitchFamily="2" charset="-122"/>
              </a:rPr>
              <a:t>Horspool-BM, Tuned-BM</a:t>
            </a:r>
            <a:r>
              <a:rPr lang="zh-CN" altLang="en-US" b="1" dirty="0">
                <a:solidFill>
                  <a:srgbClr val="000000"/>
                </a:solidFill>
                <a:latin typeface="宋体" panose="02010600030101010101" pitchFamily="2" charset="-122"/>
              </a:rPr>
              <a:t>和</a:t>
            </a:r>
            <a:r>
              <a:rPr lang="en-US" altLang="zh-CN" b="1" dirty="0">
                <a:solidFill>
                  <a:srgbClr val="000000"/>
                </a:solidFill>
                <a:latin typeface="宋体" panose="02010600030101010101" pitchFamily="2" charset="-122"/>
              </a:rPr>
              <a:t>QS</a:t>
            </a:r>
            <a:r>
              <a:rPr lang="zh-CN" altLang="en-US" b="1" dirty="0">
                <a:solidFill>
                  <a:srgbClr val="000000"/>
                </a:solidFill>
                <a:latin typeface="宋体" panose="02010600030101010101" pitchFamily="2" charset="-122"/>
              </a:rPr>
              <a:t>等，这些算法至今都是最活跃的算法。</a:t>
            </a:r>
          </a:p>
          <a:p>
            <a:pPr>
              <a:lnSpc>
                <a:spcPct val="120000"/>
              </a:lnSpc>
              <a:spcBef>
                <a:spcPct val="20000"/>
              </a:spcBef>
              <a:buClrTx/>
            </a:pPr>
            <a:r>
              <a:rPr lang="zh-CN" altLang="en-US" b="1" dirty="0">
                <a:solidFill>
                  <a:schemeClr val="hlink"/>
                </a:solidFill>
                <a:latin typeface="宋体" panose="02010600030101010101" pitchFamily="2" charset="-122"/>
              </a:rPr>
              <a:t>   </a:t>
            </a:r>
            <a:r>
              <a:rPr lang="en-US" altLang="zh-CN" b="1" dirty="0">
                <a:solidFill>
                  <a:schemeClr val="hlink"/>
                </a:solidFill>
                <a:latin typeface="宋体" panose="02010600030101010101" pitchFamily="2" charset="-122"/>
              </a:rPr>
              <a:t>KMP</a:t>
            </a:r>
            <a:r>
              <a:rPr lang="zh-CN" altLang="en-US" b="1" dirty="0">
                <a:solidFill>
                  <a:schemeClr val="hlink"/>
                </a:solidFill>
                <a:latin typeface="宋体" panose="02010600030101010101" pitchFamily="2" charset="-122"/>
              </a:rPr>
              <a:t>算法是充分利用已经比较过的字符信息来提高效率，而</a:t>
            </a:r>
            <a:r>
              <a:rPr lang="en-US" altLang="zh-CN" b="1" dirty="0">
                <a:solidFill>
                  <a:schemeClr val="hlink"/>
                </a:solidFill>
                <a:latin typeface="宋体" panose="02010600030101010101" pitchFamily="2" charset="-122"/>
              </a:rPr>
              <a:t>BM</a:t>
            </a:r>
            <a:r>
              <a:rPr lang="zh-CN" altLang="en-US" b="1" dirty="0">
                <a:solidFill>
                  <a:schemeClr val="hlink"/>
                </a:solidFill>
                <a:latin typeface="宋体" panose="02010600030101010101" pitchFamily="2" charset="-122"/>
              </a:rPr>
              <a:t>算法则是从利用匹配失败时获得的信息出发提高效率，这也是模式匹配算法提高效率的两条最主要途径。</a:t>
            </a:r>
            <a:r>
              <a:rPr lang="zh-CN" altLang="en-US" sz="1800" dirty="0">
                <a:latin typeface="Arial" panose="020B0604020202020204" pitchFamily="34" charset="0"/>
              </a:rPr>
              <a:t> </a:t>
            </a:r>
          </a:p>
        </p:txBody>
      </p:sp>
      <p:sp>
        <p:nvSpPr>
          <p:cNvPr id="166917" name="Rectangle 5"/>
          <p:cNvSpPr>
            <a:spLocks noRot="1" noChangeArrowheads="1"/>
          </p:cNvSpPr>
          <p:nvPr/>
        </p:nvSpPr>
        <p:spPr bwMode="auto">
          <a:xfrm>
            <a:off x="900113" y="232093"/>
            <a:ext cx="7369175" cy="606425"/>
          </a:xfrm>
          <a:prstGeom prst="rect">
            <a:avLst/>
          </a:prstGeom>
          <a:noFill/>
          <a:ln w="9525">
            <a:noFill/>
            <a:miter lim="800000"/>
          </a:ln>
          <a:effectLst/>
        </p:spPr>
        <p:txBody>
          <a:bodyPr anchor="ctr"/>
          <a:lstStyle/>
          <a:p>
            <a:pPr algn="ctr">
              <a:spcBef>
                <a:spcPct val="0"/>
              </a:spcBef>
              <a:buClrTx/>
            </a:pPr>
            <a:r>
              <a:rPr lang="zh-CN" altLang="en-US" sz="3200" b="1" dirty="0">
                <a:effectLst>
                  <a:outerShdw blurRad="38100" dist="38100" dir="2700000">
                    <a:srgbClr val="000000"/>
                  </a:outerShdw>
                </a:effectLst>
                <a:latin typeface="Arial" panose="020B0604020202020204" pitchFamily="34" charset="0"/>
              </a:rPr>
              <a:t>单模式匹配 算法</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a:t>
            </a:fld>
            <a:endParaRPr lang="en-US" altLang="zh-CN" sz="1400" dirty="0"/>
          </a:p>
        </p:txBody>
      </p:sp>
      <p:sp>
        <p:nvSpPr>
          <p:cNvPr id="62466"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BF </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sp>
        <p:nvSpPr>
          <p:cNvPr id="45059" name="Rectangle 3"/>
          <p:cNvSpPr>
            <a:spLocks noGrp="1" noRot="1"/>
          </p:cNvSpPr>
          <p:nvPr>
            <p:ph idx="1"/>
          </p:nvPr>
        </p:nvSpPr>
        <p:spPr/>
        <p:txBody>
          <a:bodyPr vert="horz" wrap="square" lIns="91440" tIns="45720" rIns="91440" bIns="45720" anchor="t"/>
          <a:lstStyle/>
          <a:p>
            <a:pPr eaLnBrk="1" hangingPunct="1"/>
            <a:r>
              <a:rPr lang="zh-CN" altLang="en-US" sz="2800" dirty="0"/>
              <a:t>主要思想：</a:t>
            </a:r>
          </a:p>
          <a:p>
            <a:pPr lvl="1" eaLnBrk="1" hangingPunct="1"/>
            <a:r>
              <a:rPr lang="en-US" altLang="zh-CN" sz="2400" dirty="0"/>
              <a:t>BF</a:t>
            </a:r>
            <a:r>
              <a:rPr lang="zh-CN" altLang="en-US" sz="2400" dirty="0"/>
              <a:t>算法是出现最早的一种算法，其思想非常简单：从左向右，依次比较，每次移动一个字符位置。比较方向可以任意选定。无预处理阶段。</a:t>
            </a:r>
          </a:p>
        </p:txBody>
      </p:sp>
      <p:sp>
        <p:nvSpPr>
          <p:cNvPr id="45060" name="Rectangle 4"/>
          <p:cNvSpPr>
            <a:spLocks noRot="1"/>
          </p:cNvSpPr>
          <p:nvPr/>
        </p:nvSpPr>
        <p:spPr>
          <a:xfrm>
            <a:off x="611188" y="3789363"/>
            <a:ext cx="8153400" cy="1973262"/>
          </a:xfrm>
          <a:prstGeom prst="rect">
            <a:avLst/>
          </a:prstGeom>
          <a:noFill/>
          <a:ln w="9525">
            <a:noFill/>
          </a:ln>
        </p:spPr>
        <p:txBody>
          <a:bodyPr/>
          <a:lstStyle/>
          <a:p>
            <a:pPr marL="342900" indent="-342900">
              <a:spcBef>
                <a:spcPct val="20000"/>
              </a:spcBef>
              <a:buClr>
                <a:schemeClr val="hlink"/>
              </a:buClr>
              <a:buFont typeface="Wingdings" panose="05000000000000000000" pitchFamily="2" charset="2"/>
              <a:buChar char="l"/>
            </a:pPr>
            <a:r>
              <a:rPr lang="zh-CN" altLang="en-US" sz="2800" b="1" dirty="0">
                <a:solidFill>
                  <a:srgbClr val="030301"/>
                </a:solidFill>
                <a:latin typeface="Arial" panose="020B0604020202020204" pitchFamily="34" charset="0"/>
              </a:rPr>
              <a:t>原理：</a:t>
            </a:r>
          </a:p>
          <a:p>
            <a:pPr marL="742950" lvl="1" indent="-285750">
              <a:spcBef>
                <a:spcPct val="20000"/>
              </a:spcBef>
              <a:buClr>
                <a:schemeClr val="tx2"/>
              </a:buClr>
              <a:buSzPct val="85000"/>
              <a:buFont typeface="Arial" panose="020B0604020202020204" pitchFamily="34" charset="0"/>
              <a:buChar char="−"/>
            </a:pPr>
            <a:r>
              <a:rPr lang="zh-CN" altLang="en-US" b="1" dirty="0">
                <a:solidFill>
                  <a:srgbClr val="030301"/>
                </a:solidFill>
                <a:latin typeface="Arial" panose="020B0604020202020204" pitchFamily="34" charset="0"/>
              </a:rPr>
              <a:t>在主串 </a:t>
            </a:r>
            <a:r>
              <a:rPr lang="en-US" altLang="zh-CN" b="1" dirty="0">
                <a:solidFill>
                  <a:srgbClr val="030301"/>
                </a:solidFill>
                <a:latin typeface="Arial" panose="020B0604020202020204" pitchFamily="34" charset="0"/>
              </a:rPr>
              <a:t>s </a:t>
            </a:r>
            <a:r>
              <a:rPr lang="zh-CN" altLang="en-US" b="1" dirty="0">
                <a:solidFill>
                  <a:srgbClr val="030301"/>
                </a:solidFill>
                <a:latin typeface="Arial" panose="020B0604020202020204" pitchFamily="34" charset="0"/>
              </a:rPr>
              <a:t>中从第 </a:t>
            </a:r>
            <a:r>
              <a:rPr lang="en-US" altLang="zh-CN" b="1" dirty="0">
                <a:solidFill>
                  <a:srgbClr val="030301"/>
                </a:solidFill>
                <a:latin typeface="Arial" panose="020B0604020202020204" pitchFamily="34" charset="0"/>
              </a:rPr>
              <a:t>i ( i  </a:t>
            </a:r>
            <a:r>
              <a:rPr lang="zh-CN" altLang="en-US" b="1" dirty="0">
                <a:solidFill>
                  <a:srgbClr val="030301"/>
                </a:solidFill>
                <a:latin typeface="Arial" panose="020B0604020202020204" pitchFamily="34" charset="0"/>
              </a:rPr>
              <a:t>的 初值为 </a:t>
            </a:r>
            <a:r>
              <a:rPr lang="en-US" altLang="zh-CN" b="1" dirty="0">
                <a:solidFill>
                  <a:srgbClr val="030301"/>
                </a:solidFill>
                <a:latin typeface="Arial" panose="020B0604020202020204" pitchFamily="34" charset="0"/>
              </a:rPr>
              <a:t>start)</a:t>
            </a:r>
            <a:r>
              <a:rPr lang="zh-CN" altLang="en-US" b="1" dirty="0">
                <a:solidFill>
                  <a:srgbClr val="030301"/>
                </a:solidFill>
                <a:latin typeface="Arial" panose="020B0604020202020204" pitchFamily="34" charset="0"/>
              </a:rPr>
              <a:t>个字符起，并且长度和 </a:t>
            </a:r>
            <a:r>
              <a:rPr lang="en-US" altLang="zh-CN" b="1" dirty="0">
                <a:solidFill>
                  <a:srgbClr val="030301"/>
                </a:solidFill>
                <a:latin typeface="Arial" panose="020B0604020202020204" pitchFamily="34" charset="0"/>
              </a:rPr>
              <a:t>t </a:t>
            </a:r>
            <a:r>
              <a:rPr lang="zh-CN" altLang="en-US" b="1" dirty="0">
                <a:solidFill>
                  <a:srgbClr val="030301"/>
                </a:solidFill>
                <a:latin typeface="Arial" panose="020B0604020202020204" pitchFamily="34" charset="0"/>
              </a:rPr>
              <a:t>串相等的子串和 </a:t>
            </a:r>
            <a:r>
              <a:rPr lang="en-US" altLang="zh-CN" b="1" dirty="0">
                <a:solidFill>
                  <a:srgbClr val="030301"/>
                </a:solidFill>
                <a:latin typeface="Arial" panose="020B0604020202020204" pitchFamily="34" charset="0"/>
              </a:rPr>
              <a:t>t  </a:t>
            </a:r>
            <a:r>
              <a:rPr lang="zh-CN" altLang="en-US" b="1" dirty="0">
                <a:solidFill>
                  <a:srgbClr val="030301"/>
                </a:solidFill>
                <a:latin typeface="Arial" panose="020B0604020202020204" pitchFamily="34" charset="0"/>
              </a:rPr>
              <a:t>比较，若相等，则求得函数值为 </a:t>
            </a:r>
            <a:r>
              <a:rPr lang="en-US" altLang="zh-CN" b="1" dirty="0">
                <a:solidFill>
                  <a:srgbClr val="030301"/>
                </a:solidFill>
                <a:latin typeface="Arial" panose="020B0604020202020204" pitchFamily="34" charset="0"/>
              </a:rPr>
              <a:t>i  , </a:t>
            </a:r>
            <a:r>
              <a:rPr lang="zh-CN" altLang="en-US" b="1" dirty="0">
                <a:solidFill>
                  <a:srgbClr val="030301"/>
                </a:solidFill>
                <a:latin typeface="Arial" panose="020B0604020202020204" pitchFamily="34" charset="0"/>
              </a:rPr>
              <a:t>否则 </a:t>
            </a:r>
            <a:r>
              <a:rPr lang="en-US" altLang="zh-CN" b="1" dirty="0">
                <a:solidFill>
                  <a:srgbClr val="030301"/>
                </a:solidFill>
                <a:latin typeface="Arial" panose="020B0604020202020204" pitchFamily="34" charset="0"/>
              </a:rPr>
              <a:t>i </a:t>
            </a:r>
            <a:r>
              <a:rPr lang="zh-CN" altLang="en-US" b="1" dirty="0">
                <a:solidFill>
                  <a:srgbClr val="030301"/>
                </a:solidFill>
                <a:latin typeface="Arial" panose="020B0604020202020204" pitchFamily="34" charset="0"/>
              </a:rPr>
              <a:t>增</a:t>
            </a:r>
            <a:r>
              <a:rPr lang="en-US" altLang="zh-CN" b="1" dirty="0">
                <a:solidFill>
                  <a:srgbClr val="030301"/>
                </a:solidFill>
                <a:latin typeface="Arial" panose="020B0604020202020204" pitchFamily="34" charset="0"/>
              </a:rPr>
              <a:t>1 </a:t>
            </a:r>
            <a:r>
              <a:rPr lang="zh-CN" altLang="en-US" b="1" dirty="0">
                <a:solidFill>
                  <a:srgbClr val="030301"/>
                </a:solidFill>
                <a:latin typeface="Arial" panose="020B0604020202020204" pitchFamily="34" charset="0"/>
              </a:rPr>
              <a:t>，直至串 </a:t>
            </a:r>
            <a:r>
              <a:rPr lang="en-US" altLang="zh-CN" b="1" dirty="0">
                <a:solidFill>
                  <a:srgbClr val="030301"/>
                </a:solidFill>
                <a:latin typeface="Arial" panose="020B0604020202020204" pitchFamily="34" charset="0"/>
              </a:rPr>
              <a:t>s </a:t>
            </a:r>
            <a:r>
              <a:rPr lang="zh-CN" altLang="en-US" b="1" dirty="0">
                <a:solidFill>
                  <a:srgbClr val="030301"/>
                </a:solidFill>
                <a:latin typeface="Arial" panose="020B0604020202020204" pitchFamily="34" charset="0"/>
              </a:rPr>
              <a:t>中不存在从  </a:t>
            </a:r>
            <a:r>
              <a:rPr lang="en-US" altLang="zh-CN" b="1" dirty="0">
                <a:solidFill>
                  <a:srgbClr val="030301"/>
                </a:solidFill>
                <a:latin typeface="Arial" panose="020B0604020202020204" pitchFamily="34" charset="0"/>
              </a:rPr>
              <a:t>i </a:t>
            </a:r>
            <a:r>
              <a:rPr lang="zh-CN" altLang="en-US" b="1" dirty="0">
                <a:solidFill>
                  <a:srgbClr val="030301"/>
                </a:solidFill>
                <a:latin typeface="Arial" panose="020B0604020202020204" pitchFamily="34" charset="0"/>
              </a:rPr>
              <a:t>开始和 </a:t>
            </a:r>
            <a:r>
              <a:rPr lang="en-US" altLang="zh-CN" b="1" dirty="0">
                <a:solidFill>
                  <a:srgbClr val="030301"/>
                </a:solidFill>
                <a:latin typeface="Arial" panose="020B0604020202020204" pitchFamily="34" charset="0"/>
              </a:rPr>
              <a:t>t </a:t>
            </a:r>
            <a:r>
              <a:rPr lang="zh-CN" altLang="en-US" b="1" dirty="0">
                <a:solidFill>
                  <a:srgbClr val="030301"/>
                </a:solidFill>
                <a:latin typeface="Arial" panose="020B0604020202020204" pitchFamily="34" charset="0"/>
              </a:rPr>
              <a:t>相等的子串为止。</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12</a:t>
            </a:fld>
            <a:endParaRPr lang="en-US" altLang="zh-CN" sz="1400" dirty="0"/>
          </a:p>
        </p:txBody>
      </p:sp>
      <p:sp>
        <p:nvSpPr>
          <p:cNvPr id="201730" name="Rectangle 2"/>
          <p:cNvSpPr>
            <a:spLocks noGrp="1" noRot="1" noChangeArrowheads="1"/>
          </p:cNvSpPr>
          <p:nvPr>
            <p:ph type="title"/>
          </p:nvPr>
        </p:nvSpPr>
        <p:spPr>
          <a:xfrm>
            <a:off x="628650" y="53975"/>
            <a:ext cx="7886700" cy="1325563"/>
          </a:xfrm>
        </p:spPr>
        <p:txBody>
          <a:bodyPr vert="horz" wrap="square" lIns="91440" tIns="45720" rIns="91440" bIns="45720" numCol="1" anchor="ctr" anchorCtr="0" compatLnSpc="1"/>
          <a:lstStyle/>
          <a:p>
            <a:pPr algn="l" eaLnBrk="1" hangingPunct="1"/>
            <a:r>
              <a:rPr lang="zh-CN" altLang="en-US" dirty="0">
                <a:effectLst>
                  <a:outerShdw blurRad="38100" dist="38100" dir="2700000">
                    <a:srgbClr val="000000"/>
                  </a:outerShdw>
                </a:effectLst>
              </a:rPr>
              <a:t>举例：</a:t>
            </a:r>
          </a:p>
        </p:txBody>
      </p:sp>
      <p:sp>
        <p:nvSpPr>
          <p:cNvPr id="47107" name="Rectangle 3"/>
          <p:cNvSpPr>
            <a:spLocks noGrp="1" noRot="1"/>
          </p:cNvSpPr>
          <p:nvPr>
            <p:ph idx="1"/>
          </p:nvPr>
        </p:nvSpPr>
        <p:spPr/>
        <p:txBody>
          <a:bodyPr vert="horz" wrap="square" lIns="91440" tIns="45720" rIns="91440" bIns="45720" anchor="t"/>
          <a:lstStyle/>
          <a:p>
            <a:pPr eaLnBrk="1" hangingPunct="1">
              <a:buNone/>
            </a:pPr>
            <a:r>
              <a:rPr lang="zh-CN" altLang="en-US" sz="2400" dirty="0"/>
              <a:t>文本：</a:t>
            </a:r>
            <a:r>
              <a:rPr lang="en-US" altLang="zh-CN" sz="2400" dirty="0"/>
              <a:t>GCATCGCAGAGAGTATACAGTACG</a:t>
            </a:r>
          </a:p>
          <a:p>
            <a:pPr eaLnBrk="1" hangingPunct="1">
              <a:buNone/>
            </a:pPr>
            <a:r>
              <a:rPr lang="zh-CN" altLang="en-US" sz="2400" dirty="0"/>
              <a:t>模式：</a:t>
            </a:r>
            <a:r>
              <a:rPr lang="en-US" altLang="zh-CN" sz="2400" dirty="0"/>
              <a:t>GCAGAGAG</a:t>
            </a:r>
            <a:endParaRPr lang="en-US" altLang="zh-CN"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13</a:t>
            </a:fld>
            <a:endParaRPr lang="en-US" altLang="zh-CN" sz="1400" dirty="0"/>
          </a:p>
        </p:txBody>
      </p:sp>
      <p:sp>
        <p:nvSpPr>
          <p:cNvPr id="201730" name="Rectangle 2"/>
          <p:cNvSpPr>
            <a:spLocks noGrp="1" noRot="1" noChangeArrowheads="1"/>
          </p:cNvSpPr>
          <p:nvPr>
            <p:ph type="title"/>
          </p:nvPr>
        </p:nvSpPr>
        <p:spPr>
          <a:xfrm>
            <a:off x="628650" y="53975"/>
            <a:ext cx="7886700" cy="1325563"/>
          </a:xfrm>
        </p:spPr>
        <p:txBody>
          <a:bodyPr vert="horz" wrap="square" lIns="91440" tIns="45720" rIns="91440" bIns="45720" numCol="1" anchor="ctr" anchorCtr="0" compatLnSpc="1"/>
          <a:lstStyle/>
          <a:p>
            <a:pPr algn="l" eaLnBrk="1" hangingPunct="1"/>
            <a:r>
              <a:rPr lang="zh-CN" altLang="en-US" dirty="0">
                <a:effectLst>
                  <a:outerShdw blurRad="38100" dist="38100" dir="2700000">
                    <a:srgbClr val="000000"/>
                  </a:outerShdw>
                </a:effectLst>
              </a:rPr>
              <a:t>举例：</a:t>
            </a:r>
          </a:p>
        </p:txBody>
      </p:sp>
      <p:sp>
        <p:nvSpPr>
          <p:cNvPr id="49155" name="Rectangle 3"/>
          <p:cNvSpPr>
            <a:spLocks noGrp="1" noRot="1"/>
          </p:cNvSpPr>
          <p:nvPr>
            <p:ph idx="1"/>
          </p:nvPr>
        </p:nvSpPr>
        <p:spPr/>
        <p:txBody>
          <a:bodyPr vert="horz" wrap="square" lIns="91440" tIns="45720" rIns="91440" bIns="45720" anchor="t"/>
          <a:lstStyle/>
          <a:p>
            <a:pPr eaLnBrk="1" hangingPunct="1">
              <a:buNone/>
            </a:pPr>
            <a:r>
              <a:rPr lang="zh-CN" altLang="en-US" sz="2400" dirty="0"/>
              <a:t>文本：</a:t>
            </a:r>
            <a:r>
              <a:rPr lang="en-US" altLang="zh-CN" sz="2400" dirty="0"/>
              <a:t>GCATCGCAGAGAGTATACAGTACG</a:t>
            </a:r>
          </a:p>
          <a:p>
            <a:pPr eaLnBrk="1" hangingPunct="1">
              <a:buNone/>
            </a:pPr>
            <a:r>
              <a:rPr lang="zh-CN" altLang="en-US" sz="2400" dirty="0"/>
              <a:t>模式：</a:t>
            </a:r>
            <a:r>
              <a:rPr lang="en-US" altLang="zh-CN" sz="2400" dirty="0"/>
              <a:t>GCAGAGAG</a:t>
            </a:r>
            <a:endParaRPr lang="en-US" altLang="zh-CN" dirty="0"/>
          </a:p>
        </p:txBody>
      </p:sp>
      <p:sp>
        <p:nvSpPr>
          <p:cNvPr id="49156" name="Rectangle 4"/>
          <p:cNvSpPr/>
          <p:nvPr/>
        </p:nvSpPr>
        <p:spPr>
          <a:xfrm>
            <a:off x="406400" y="2649538"/>
            <a:ext cx="209391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First attempt</a:t>
            </a:r>
            <a:r>
              <a:rPr lang="en-US" altLang="zh-CN" sz="1800" dirty="0">
                <a:latin typeface="Arial" panose="020B0604020202020204" pitchFamily="34" charset="0"/>
              </a:rPr>
              <a:t> </a:t>
            </a:r>
          </a:p>
        </p:txBody>
      </p:sp>
      <p:graphicFrame>
        <p:nvGraphicFramePr>
          <p:cNvPr id="49157" name="表格 49156"/>
          <p:cNvGraphicFramePr/>
          <p:nvPr/>
        </p:nvGraphicFramePr>
        <p:xfrm>
          <a:off x="406400" y="3192463"/>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619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4</a:t>
                      </a:r>
                    </a:p>
                  </a:txBody>
                  <a:tcPr anchor="ctr">
                    <a:lnL>
                      <a:noFill/>
                    </a:lnL>
                    <a:lnR>
                      <a:noFill/>
                    </a:lnR>
                    <a:lnT>
                      <a:noFill/>
                    </a:lnT>
                    <a:lnB>
                      <a:noFill/>
                    </a:lnB>
                    <a:lnTlToBr>
                      <a:noFill/>
                    </a:lnTlToBr>
                    <a:lnBlToTr>
                      <a:noFill/>
                    </a:lnBlToTr>
                    <a:solidFill>
                      <a:srgbClr val="FFFFFF"/>
                    </a:solidFill>
                  </a:tcPr>
                </a:tc>
                <a:tc gridSpan="2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49196" name="Rectangle 122"/>
          <p:cNvSpPr/>
          <p:nvPr/>
        </p:nvSpPr>
        <p:spPr>
          <a:xfrm>
            <a:off x="395288" y="4700588"/>
            <a:ext cx="25336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Second attempt</a:t>
            </a:r>
            <a:r>
              <a:rPr lang="en-US" altLang="zh-CN" sz="1800" dirty="0">
                <a:latin typeface="Arial" panose="020B0604020202020204" pitchFamily="34" charset="0"/>
              </a:rPr>
              <a:t> </a:t>
            </a:r>
          </a:p>
        </p:txBody>
      </p:sp>
      <p:graphicFrame>
        <p:nvGraphicFramePr>
          <p:cNvPr id="49197" name="表格 49196"/>
          <p:cNvGraphicFramePr/>
          <p:nvPr>
            <p:custDataLst>
              <p:tags r:id="rId1"/>
            </p:custDataLst>
          </p:nvPr>
        </p:nvGraphicFramePr>
        <p:xfrm>
          <a:off x="395288" y="5137150"/>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349250">
                  <a:extLst>
                    <a:ext uri="{9D8B030D-6E8A-4147-A177-3AD203B41FA5}">
                      <a16:colId xmlns:a16="http://schemas.microsoft.com/office/drawing/2014/main" val="20002"/>
                    </a:ext>
                  </a:extLst>
                </a:gridCol>
                <a:gridCol w="336550">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619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2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14</a:t>
            </a:fld>
            <a:endParaRPr lang="en-US" altLang="zh-CN" sz="1400" dirty="0"/>
          </a:p>
        </p:txBody>
      </p:sp>
      <p:sp>
        <p:nvSpPr>
          <p:cNvPr id="51202" name="Rectangle 4"/>
          <p:cNvSpPr/>
          <p:nvPr/>
        </p:nvSpPr>
        <p:spPr>
          <a:xfrm>
            <a:off x="387350" y="765175"/>
            <a:ext cx="21939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Third attempt</a:t>
            </a:r>
            <a:r>
              <a:rPr lang="en-US" altLang="zh-CN" sz="1800" dirty="0">
                <a:latin typeface="Arial" panose="020B0604020202020204" pitchFamily="34" charset="0"/>
              </a:rPr>
              <a:t> </a:t>
            </a:r>
          </a:p>
        </p:txBody>
      </p:sp>
      <p:graphicFrame>
        <p:nvGraphicFramePr>
          <p:cNvPr id="51203" name="表格 51202"/>
          <p:cNvGraphicFramePr/>
          <p:nvPr/>
        </p:nvGraphicFramePr>
        <p:xfrm>
          <a:off x="387350" y="1268413"/>
          <a:ext cx="83693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61950">
                  <a:extLst>
                    <a:ext uri="{9D8B030D-6E8A-4147-A177-3AD203B41FA5}">
                      <a16:colId xmlns:a16="http://schemas.microsoft.com/office/drawing/2014/main" val="20002"/>
                    </a:ext>
                  </a:extLst>
                </a:gridCol>
                <a:gridCol w="3492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619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619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2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1241" name="Rectangle 121"/>
          <p:cNvSpPr/>
          <p:nvPr/>
        </p:nvSpPr>
        <p:spPr>
          <a:xfrm>
            <a:off x="387350" y="2755900"/>
            <a:ext cx="23971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Fourth attempt</a:t>
            </a:r>
            <a:r>
              <a:rPr lang="en-US" altLang="zh-CN" sz="1800" dirty="0">
                <a:latin typeface="Arial" panose="020B0604020202020204" pitchFamily="34" charset="0"/>
              </a:rPr>
              <a:t> </a:t>
            </a:r>
          </a:p>
        </p:txBody>
      </p:sp>
      <p:graphicFrame>
        <p:nvGraphicFramePr>
          <p:cNvPr id="51242" name="表格 51241"/>
          <p:cNvGraphicFramePr/>
          <p:nvPr/>
        </p:nvGraphicFramePr>
        <p:xfrm>
          <a:off x="387350" y="3192463"/>
          <a:ext cx="83185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619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2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1280" name="Rectangle 238"/>
          <p:cNvSpPr/>
          <p:nvPr/>
        </p:nvSpPr>
        <p:spPr>
          <a:xfrm>
            <a:off x="387350" y="4724400"/>
            <a:ext cx="20923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Fifth attempt</a:t>
            </a:r>
            <a:r>
              <a:rPr lang="en-US" altLang="zh-CN" sz="1800" dirty="0">
                <a:latin typeface="Arial" panose="020B0604020202020204" pitchFamily="34" charset="0"/>
              </a:rPr>
              <a:t> </a:t>
            </a:r>
          </a:p>
        </p:txBody>
      </p:sp>
      <p:graphicFrame>
        <p:nvGraphicFramePr>
          <p:cNvPr id="51281" name="表格 51280"/>
          <p:cNvGraphicFramePr/>
          <p:nvPr/>
        </p:nvGraphicFramePr>
        <p:xfrm>
          <a:off x="387350" y="5157788"/>
          <a:ext cx="83566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619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619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619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619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5324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15</a:t>
            </a:fld>
            <a:endParaRPr lang="en-US" altLang="zh-CN" sz="1400" dirty="0"/>
          </a:p>
        </p:txBody>
      </p:sp>
      <p:sp>
        <p:nvSpPr>
          <p:cNvPr id="53250" name="Rectangle 4"/>
          <p:cNvSpPr/>
          <p:nvPr/>
        </p:nvSpPr>
        <p:spPr>
          <a:xfrm>
            <a:off x="381000" y="765175"/>
            <a:ext cx="21780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Sixth attempt</a:t>
            </a:r>
            <a:r>
              <a:rPr lang="en-US" altLang="zh-CN" sz="1800" dirty="0">
                <a:latin typeface="Arial" panose="020B0604020202020204" pitchFamily="34" charset="0"/>
              </a:rPr>
              <a:t> </a:t>
            </a:r>
          </a:p>
        </p:txBody>
      </p:sp>
      <p:graphicFrame>
        <p:nvGraphicFramePr>
          <p:cNvPr id="53251" name="表格 53250"/>
          <p:cNvGraphicFramePr/>
          <p:nvPr/>
        </p:nvGraphicFramePr>
        <p:xfrm>
          <a:off x="381000" y="1268413"/>
          <a:ext cx="82677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4</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5</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6</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7</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8</a:t>
                      </a:r>
                    </a:p>
                  </a:txBody>
                  <a:tcPr anchor="ctr">
                    <a:lnL>
                      <a:noFill/>
                    </a:lnL>
                    <a:lnR>
                      <a:noFill/>
                    </a:lnR>
                    <a:lnT>
                      <a:noFill/>
                    </a:lnT>
                    <a:lnB>
                      <a:noFill/>
                    </a:lnB>
                    <a:lnTlToBr>
                      <a:noFill/>
                    </a:lnTlToBr>
                    <a:lnBlToTr>
                      <a:noFill/>
                    </a:lnBlToTr>
                    <a:solidFill>
                      <a:srgbClr val="FFFFFF"/>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3296" name="Rectangle 128"/>
          <p:cNvSpPr/>
          <p:nvPr/>
        </p:nvSpPr>
        <p:spPr>
          <a:xfrm>
            <a:off x="381000" y="2755900"/>
            <a:ext cx="261937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Seventh attempt</a:t>
            </a:r>
            <a:r>
              <a:rPr lang="en-US" altLang="zh-CN" sz="1800" dirty="0">
                <a:latin typeface="Arial" panose="020B0604020202020204" pitchFamily="34" charset="0"/>
              </a:rPr>
              <a:t> </a:t>
            </a:r>
          </a:p>
        </p:txBody>
      </p:sp>
      <p:graphicFrame>
        <p:nvGraphicFramePr>
          <p:cNvPr id="53297" name="表格 53296"/>
          <p:cNvGraphicFramePr/>
          <p:nvPr/>
        </p:nvGraphicFramePr>
        <p:xfrm>
          <a:off x="381000" y="3214688"/>
          <a:ext cx="83820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61950">
                  <a:extLst>
                    <a:ext uri="{9D8B030D-6E8A-4147-A177-3AD203B41FA5}">
                      <a16:colId xmlns:a16="http://schemas.microsoft.com/office/drawing/2014/main" val="20006"/>
                    </a:ext>
                  </a:extLst>
                </a:gridCol>
                <a:gridCol w="3492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619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619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619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3335" name="Rectangle 245"/>
          <p:cNvSpPr/>
          <p:nvPr/>
        </p:nvSpPr>
        <p:spPr>
          <a:xfrm>
            <a:off x="381000" y="4627563"/>
            <a:ext cx="237966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Eighth attempt</a:t>
            </a:r>
            <a:r>
              <a:rPr lang="en-US" altLang="zh-CN" sz="1800" dirty="0">
                <a:latin typeface="Arial" panose="020B0604020202020204" pitchFamily="34" charset="0"/>
              </a:rPr>
              <a:t> </a:t>
            </a:r>
          </a:p>
        </p:txBody>
      </p:sp>
      <p:graphicFrame>
        <p:nvGraphicFramePr>
          <p:cNvPr id="53336" name="表格 53335"/>
          <p:cNvGraphicFramePr/>
          <p:nvPr>
            <p:custDataLst>
              <p:tags r:id="rId1"/>
            </p:custDataLst>
          </p:nvPr>
        </p:nvGraphicFramePr>
        <p:xfrm>
          <a:off x="381000" y="5014913"/>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619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36550">
                  <a:extLst>
                    <a:ext uri="{9D8B030D-6E8A-4147-A177-3AD203B41FA5}">
                      <a16:colId xmlns:a16="http://schemas.microsoft.com/office/drawing/2014/main" val="20013"/>
                    </a:ext>
                  </a:extLst>
                </a:gridCol>
                <a:gridCol w="3619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5529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16</a:t>
            </a:fld>
            <a:endParaRPr lang="en-US" altLang="zh-CN" sz="1400" dirty="0"/>
          </a:p>
        </p:txBody>
      </p:sp>
      <p:sp>
        <p:nvSpPr>
          <p:cNvPr id="55298" name="Rectangle 4"/>
          <p:cNvSpPr/>
          <p:nvPr/>
        </p:nvSpPr>
        <p:spPr>
          <a:xfrm>
            <a:off x="381000" y="811213"/>
            <a:ext cx="22113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Ninth attempt</a:t>
            </a:r>
            <a:r>
              <a:rPr lang="en-US" altLang="zh-CN" sz="1800" dirty="0">
                <a:latin typeface="Arial" panose="020B0604020202020204" pitchFamily="34" charset="0"/>
              </a:rPr>
              <a:t> </a:t>
            </a:r>
          </a:p>
        </p:txBody>
      </p:sp>
      <p:graphicFrame>
        <p:nvGraphicFramePr>
          <p:cNvPr id="55299" name="表格 55298"/>
          <p:cNvGraphicFramePr/>
          <p:nvPr/>
        </p:nvGraphicFramePr>
        <p:xfrm>
          <a:off x="381000" y="1341438"/>
          <a:ext cx="83820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492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619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619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619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8">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8">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8">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5338" name="Rectangle 122"/>
          <p:cNvSpPr/>
          <p:nvPr/>
        </p:nvSpPr>
        <p:spPr>
          <a:xfrm>
            <a:off x="381000" y="2827338"/>
            <a:ext cx="22621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Tenth attempt</a:t>
            </a:r>
            <a:r>
              <a:rPr lang="en-US" altLang="zh-CN" sz="1800" dirty="0">
                <a:latin typeface="Arial" panose="020B0604020202020204" pitchFamily="34" charset="0"/>
              </a:rPr>
              <a:t> </a:t>
            </a:r>
          </a:p>
        </p:txBody>
      </p:sp>
      <p:graphicFrame>
        <p:nvGraphicFramePr>
          <p:cNvPr id="55339" name="表格 55338"/>
          <p:cNvGraphicFramePr/>
          <p:nvPr/>
        </p:nvGraphicFramePr>
        <p:xfrm>
          <a:off x="381000" y="3286125"/>
          <a:ext cx="83693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619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36550">
                  <a:extLst>
                    <a:ext uri="{9D8B030D-6E8A-4147-A177-3AD203B41FA5}">
                      <a16:colId xmlns:a16="http://schemas.microsoft.com/office/drawing/2014/main" val="20013"/>
                    </a:ext>
                  </a:extLst>
                </a:gridCol>
                <a:gridCol w="361950">
                  <a:extLst>
                    <a:ext uri="{9D8B030D-6E8A-4147-A177-3AD203B41FA5}">
                      <a16:colId xmlns:a16="http://schemas.microsoft.com/office/drawing/2014/main" val="20014"/>
                    </a:ext>
                  </a:extLst>
                </a:gridCol>
                <a:gridCol w="336550">
                  <a:extLst>
                    <a:ext uri="{9D8B030D-6E8A-4147-A177-3AD203B41FA5}">
                      <a16:colId xmlns:a16="http://schemas.microsoft.com/office/drawing/2014/main" val="20015"/>
                    </a:ext>
                  </a:extLst>
                </a:gridCol>
                <a:gridCol w="3619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5377" name="Rectangle 239"/>
          <p:cNvSpPr/>
          <p:nvPr/>
        </p:nvSpPr>
        <p:spPr>
          <a:xfrm>
            <a:off x="381000" y="4797425"/>
            <a:ext cx="270351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Eleventh attempt</a:t>
            </a:r>
            <a:r>
              <a:rPr lang="en-US" altLang="zh-CN" sz="1800" dirty="0">
                <a:latin typeface="Arial" panose="020B0604020202020204" pitchFamily="34" charset="0"/>
              </a:rPr>
              <a:t> </a:t>
            </a:r>
          </a:p>
        </p:txBody>
      </p:sp>
      <p:graphicFrame>
        <p:nvGraphicFramePr>
          <p:cNvPr id="55378" name="表格 55377"/>
          <p:cNvGraphicFramePr/>
          <p:nvPr/>
        </p:nvGraphicFramePr>
        <p:xfrm>
          <a:off x="381000" y="5230813"/>
          <a:ext cx="83693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492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619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619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619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17</a:t>
            </a:fld>
            <a:endParaRPr lang="en-US" altLang="zh-CN" sz="1400" dirty="0"/>
          </a:p>
        </p:txBody>
      </p:sp>
      <p:sp>
        <p:nvSpPr>
          <p:cNvPr id="57346" name="Rectangle 357"/>
          <p:cNvSpPr/>
          <p:nvPr/>
        </p:nvSpPr>
        <p:spPr>
          <a:xfrm>
            <a:off x="361950" y="836613"/>
            <a:ext cx="24987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Twelfth attempt</a:t>
            </a:r>
            <a:r>
              <a:rPr lang="en-US" altLang="zh-CN" sz="1800" dirty="0">
                <a:latin typeface="Arial" panose="020B0604020202020204" pitchFamily="34" charset="0"/>
              </a:rPr>
              <a:t> </a:t>
            </a:r>
          </a:p>
        </p:txBody>
      </p:sp>
      <p:graphicFrame>
        <p:nvGraphicFramePr>
          <p:cNvPr id="57347" name="表格 57346"/>
          <p:cNvGraphicFramePr/>
          <p:nvPr/>
        </p:nvGraphicFramePr>
        <p:xfrm>
          <a:off x="361950" y="1268413"/>
          <a:ext cx="83947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619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36550">
                  <a:extLst>
                    <a:ext uri="{9D8B030D-6E8A-4147-A177-3AD203B41FA5}">
                      <a16:colId xmlns:a16="http://schemas.microsoft.com/office/drawing/2014/main" val="20013"/>
                    </a:ext>
                  </a:extLst>
                </a:gridCol>
                <a:gridCol w="361950">
                  <a:extLst>
                    <a:ext uri="{9D8B030D-6E8A-4147-A177-3AD203B41FA5}">
                      <a16:colId xmlns:a16="http://schemas.microsoft.com/office/drawing/2014/main" val="20014"/>
                    </a:ext>
                  </a:extLst>
                </a:gridCol>
                <a:gridCol w="336550">
                  <a:extLst>
                    <a:ext uri="{9D8B030D-6E8A-4147-A177-3AD203B41FA5}">
                      <a16:colId xmlns:a16="http://schemas.microsoft.com/office/drawing/2014/main" val="20015"/>
                    </a:ext>
                  </a:extLst>
                </a:gridCol>
                <a:gridCol w="3619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619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7385" name="Rectangle 474"/>
          <p:cNvSpPr/>
          <p:nvPr/>
        </p:nvSpPr>
        <p:spPr>
          <a:xfrm>
            <a:off x="361950" y="2755900"/>
            <a:ext cx="29225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Thirteenth attempt</a:t>
            </a:r>
            <a:r>
              <a:rPr lang="en-US" altLang="zh-CN" sz="1800" dirty="0">
                <a:latin typeface="Arial" panose="020B0604020202020204" pitchFamily="34" charset="0"/>
              </a:rPr>
              <a:t> </a:t>
            </a:r>
          </a:p>
        </p:txBody>
      </p:sp>
      <p:graphicFrame>
        <p:nvGraphicFramePr>
          <p:cNvPr id="57386" name="表格 57385"/>
          <p:cNvGraphicFramePr/>
          <p:nvPr/>
        </p:nvGraphicFramePr>
        <p:xfrm>
          <a:off x="361950" y="3214688"/>
          <a:ext cx="83439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492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619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619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7425" name="Rectangle 592"/>
          <p:cNvSpPr/>
          <p:nvPr/>
        </p:nvSpPr>
        <p:spPr>
          <a:xfrm>
            <a:off x="361950" y="4652963"/>
            <a:ext cx="30241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Fourteenth attempt</a:t>
            </a:r>
            <a:r>
              <a:rPr lang="en-US" altLang="zh-CN" sz="1800" dirty="0">
                <a:latin typeface="Arial" panose="020B0604020202020204" pitchFamily="34" charset="0"/>
              </a:rPr>
              <a:t> </a:t>
            </a:r>
          </a:p>
        </p:txBody>
      </p:sp>
      <p:graphicFrame>
        <p:nvGraphicFramePr>
          <p:cNvPr id="57426" name="表格 57425"/>
          <p:cNvGraphicFramePr/>
          <p:nvPr/>
        </p:nvGraphicFramePr>
        <p:xfrm>
          <a:off x="361950" y="5086350"/>
          <a:ext cx="84201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61950">
                  <a:extLst>
                    <a:ext uri="{9D8B030D-6E8A-4147-A177-3AD203B41FA5}">
                      <a16:colId xmlns:a16="http://schemas.microsoft.com/office/drawing/2014/main" val="20013"/>
                    </a:ext>
                  </a:extLst>
                </a:gridCol>
                <a:gridCol w="349250">
                  <a:extLst>
                    <a:ext uri="{9D8B030D-6E8A-4147-A177-3AD203B41FA5}">
                      <a16:colId xmlns:a16="http://schemas.microsoft.com/office/drawing/2014/main" val="20014"/>
                    </a:ext>
                  </a:extLst>
                </a:gridCol>
                <a:gridCol w="336550">
                  <a:extLst>
                    <a:ext uri="{9D8B030D-6E8A-4147-A177-3AD203B41FA5}">
                      <a16:colId xmlns:a16="http://schemas.microsoft.com/office/drawing/2014/main" val="20015"/>
                    </a:ext>
                  </a:extLst>
                </a:gridCol>
                <a:gridCol w="3619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619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619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5939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18</a:t>
            </a:fld>
            <a:endParaRPr lang="en-US" altLang="zh-CN" sz="1400" dirty="0"/>
          </a:p>
        </p:txBody>
      </p:sp>
      <p:sp>
        <p:nvSpPr>
          <p:cNvPr id="59394" name="Rectangle 4"/>
          <p:cNvSpPr/>
          <p:nvPr/>
        </p:nvSpPr>
        <p:spPr>
          <a:xfrm>
            <a:off x="374650" y="765175"/>
            <a:ext cx="27193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Fifteenth attempt</a:t>
            </a:r>
            <a:r>
              <a:rPr lang="en-US" altLang="zh-CN" sz="1800" dirty="0">
                <a:latin typeface="Arial" panose="020B0604020202020204" pitchFamily="34" charset="0"/>
              </a:rPr>
              <a:t> </a:t>
            </a:r>
          </a:p>
        </p:txBody>
      </p:sp>
      <p:graphicFrame>
        <p:nvGraphicFramePr>
          <p:cNvPr id="59395" name="表格 59394"/>
          <p:cNvGraphicFramePr/>
          <p:nvPr/>
        </p:nvGraphicFramePr>
        <p:xfrm>
          <a:off x="374650" y="1268413"/>
          <a:ext cx="83693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61950">
                  <a:extLst>
                    <a:ext uri="{9D8B030D-6E8A-4147-A177-3AD203B41FA5}">
                      <a16:colId xmlns:a16="http://schemas.microsoft.com/office/drawing/2014/main" val="20014"/>
                    </a:ext>
                  </a:extLst>
                </a:gridCol>
                <a:gridCol w="3492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619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36550">
                  <a:extLst>
                    <a:ext uri="{9D8B030D-6E8A-4147-A177-3AD203B41FA5}">
                      <a16:colId xmlns:a16="http://schemas.microsoft.com/office/drawing/2014/main" val="20020"/>
                    </a:ext>
                  </a:extLst>
                </a:gridCol>
                <a:gridCol w="3619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59433" name="Rectangle 121"/>
          <p:cNvSpPr/>
          <p:nvPr/>
        </p:nvSpPr>
        <p:spPr>
          <a:xfrm>
            <a:off x="374650" y="2684463"/>
            <a:ext cx="280511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Sixteenth attempt</a:t>
            </a:r>
            <a:r>
              <a:rPr lang="en-US" altLang="zh-CN" sz="1800" dirty="0">
                <a:latin typeface="Arial" panose="020B0604020202020204" pitchFamily="34" charset="0"/>
              </a:rPr>
              <a:t> </a:t>
            </a:r>
          </a:p>
        </p:txBody>
      </p:sp>
      <p:graphicFrame>
        <p:nvGraphicFramePr>
          <p:cNvPr id="59434" name="表格 59433"/>
          <p:cNvGraphicFramePr/>
          <p:nvPr/>
        </p:nvGraphicFramePr>
        <p:xfrm>
          <a:off x="374650" y="3141663"/>
          <a:ext cx="83947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49250">
                  <a:extLst>
                    <a:ext uri="{9D8B030D-6E8A-4147-A177-3AD203B41FA5}">
                      <a16:colId xmlns:a16="http://schemas.microsoft.com/office/drawing/2014/main" val="20008"/>
                    </a:ext>
                  </a:extLst>
                </a:gridCol>
                <a:gridCol w="3492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61950">
                  <a:extLst>
                    <a:ext uri="{9D8B030D-6E8A-4147-A177-3AD203B41FA5}">
                      <a16:colId xmlns:a16="http://schemas.microsoft.com/office/drawing/2014/main" val="20015"/>
                    </a:ext>
                  </a:extLst>
                </a:gridCol>
                <a:gridCol w="3492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619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619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619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8">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59472" name="Rectangle 238"/>
          <p:cNvSpPr/>
          <p:nvPr/>
        </p:nvSpPr>
        <p:spPr>
          <a:xfrm>
            <a:off x="374650" y="4627563"/>
            <a:ext cx="324643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Seventeenth attempt</a:t>
            </a:r>
            <a:r>
              <a:rPr lang="en-US" altLang="zh-CN" sz="1800" dirty="0">
                <a:latin typeface="Arial" panose="020B0604020202020204" pitchFamily="34" charset="0"/>
              </a:rPr>
              <a:t> </a:t>
            </a:r>
          </a:p>
        </p:txBody>
      </p:sp>
      <p:graphicFrame>
        <p:nvGraphicFramePr>
          <p:cNvPr id="59473" name="表格 59472"/>
          <p:cNvGraphicFramePr/>
          <p:nvPr/>
        </p:nvGraphicFramePr>
        <p:xfrm>
          <a:off x="374650" y="5086350"/>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619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36550">
                  <a:extLst>
                    <a:ext uri="{9D8B030D-6E8A-4147-A177-3AD203B41FA5}">
                      <a16:colId xmlns:a16="http://schemas.microsoft.com/office/drawing/2014/main" val="20020"/>
                    </a:ext>
                  </a:extLst>
                </a:gridCol>
                <a:gridCol w="3619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19</a:t>
            </a:fld>
            <a:endParaRPr lang="en-US" altLang="zh-CN" sz="1400" dirty="0"/>
          </a:p>
        </p:txBody>
      </p:sp>
      <p:sp>
        <p:nvSpPr>
          <p:cNvPr id="61442" name="Text Box 4"/>
          <p:cNvSpPr txBox="1"/>
          <p:nvPr/>
        </p:nvSpPr>
        <p:spPr>
          <a:xfrm>
            <a:off x="468313" y="1412875"/>
            <a:ext cx="7848600" cy="4838700"/>
          </a:xfrm>
          <a:prstGeom prst="rect">
            <a:avLst/>
          </a:prstGeom>
          <a:noFill/>
          <a:ln w="9525">
            <a:noFill/>
          </a:ln>
        </p:spPr>
        <p:txBody>
          <a:bodyPr>
            <a:spAutoFit/>
          </a:bodyPr>
          <a:lstStyle/>
          <a:p>
            <a:pPr>
              <a:buClrTx/>
            </a:pPr>
            <a:r>
              <a:rPr lang="en-US" altLang="zh-CN" b="1" dirty="0">
                <a:solidFill>
                  <a:srgbClr val="030301"/>
                </a:solidFill>
                <a:latin typeface="Arial" panose="020B0604020202020204" pitchFamily="34" charset="0"/>
              </a:rPr>
              <a:t>void BF(char *x, int m, char *y, int n) {</a:t>
            </a:r>
          </a:p>
          <a:p>
            <a:pPr>
              <a:buClrTx/>
            </a:pPr>
            <a:r>
              <a:rPr lang="en-US" altLang="zh-CN" b="1" dirty="0">
                <a:solidFill>
                  <a:srgbClr val="030301"/>
                </a:solidFill>
                <a:latin typeface="Arial" panose="020B0604020202020204" pitchFamily="34" charset="0"/>
              </a:rPr>
              <a:t>        int i, j;</a:t>
            </a:r>
          </a:p>
          <a:p>
            <a:pPr>
              <a:buClrTx/>
            </a:pPr>
            <a:r>
              <a:rPr lang="en-US" altLang="zh-CN" b="1" dirty="0">
                <a:solidFill>
                  <a:srgbClr val="030301"/>
                </a:solidFill>
                <a:latin typeface="Arial" panose="020B0604020202020204" pitchFamily="34" charset="0"/>
              </a:rPr>
              <a:t>       /* Searching */</a:t>
            </a:r>
          </a:p>
          <a:p>
            <a:pPr>
              <a:buClrTx/>
            </a:pPr>
            <a:r>
              <a:rPr lang="en-US" altLang="zh-CN" b="1" dirty="0">
                <a:solidFill>
                  <a:srgbClr val="030301"/>
                </a:solidFill>
                <a:latin typeface="Arial" panose="020B0604020202020204" pitchFamily="34" charset="0"/>
              </a:rPr>
              <a:t>       for (j = 0; j &lt;= n - m; ++j) {</a:t>
            </a:r>
          </a:p>
          <a:p>
            <a:pPr>
              <a:buClrTx/>
            </a:pPr>
            <a:r>
              <a:rPr lang="en-US" altLang="zh-CN" b="1" dirty="0">
                <a:solidFill>
                  <a:srgbClr val="030301"/>
                </a:solidFill>
                <a:latin typeface="Arial" panose="020B0604020202020204" pitchFamily="34" charset="0"/>
              </a:rPr>
              <a:t>            for (i = 0; i &lt; m &amp;&amp; x[i] == y[i + j]; ++i); </a:t>
            </a:r>
          </a:p>
          <a:p>
            <a:pPr>
              <a:buClrTx/>
            </a:pPr>
            <a:r>
              <a:rPr lang="en-US" altLang="zh-CN" b="1" dirty="0">
                <a:solidFill>
                  <a:srgbClr val="030301"/>
                </a:solidFill>
                <a:latin typeface="Arial" panose="020B0604020202020204" pitchFamily="34" charset="0"/>
              </a:rPr>
              <a:t>            if (i &gt;= m) </a:t>
            </a:r>
          </a:p>
          <a:p>
            <a:pPr>
              <a:buClrTx/>
            </a:pPr>
            <a:r>
              <a:rPr lang="en-US" altLang="zh-CN" b="1" dirty="0">
                <a:solidFill>
                  <a:srgbClr val="030301"/>
                </a:solidFill>
                <a:latin typeface="Arial" panose="020B0604020202020204" pitchFamily="34" charset="0"/>
              </a:rPr>
              <a:t>               OUTPUT(j); </a:t>
            </a:r>
          </a:p>
          <a:p>
            <a:pPr>
              <a:buClrTx/>
            </a:pPr>
            <a:r>
              <a:rPr lang="en-US" altLang="zh-CN" b="1" dirty="0">
                <a:solidFill>
                  <a:srgbClr val="030301"/>
                </a:solidFill>
                <a:latin typeface="Arial" panose="020B0604020202020204" pitchFamily="34" charset="0"/>
              </a:rPr>
              <a:t>         } </a:t>
            </a:r>
          </a:p>
          <a:p>
            <a:pPr>
              <a:buClrTx/>
            </a:pPr>
            <a:r>
              <a:rPr lang="en-US" altLang="zh-CN" b="1" dirty="0">
                <a:solidFill>
                  <a:srgbClr val="030301"/>
                </a:solidFill>
                <a:latin typeface="Arial" panose="020B0604020202020204" pitchFamily="34" charset="0"/>
              </a:rPr>
              <a:t>  }</a:t>
            </a:r>
            <a:r>
              <a:rPr lang="en-US" altLang="zh-CN" sz="1800" dirty="0">
                <a:latin typeface="Arial" panose="020B0604020202020204" pitchFamily="34" charset="0"/>
              </a:rPr>
              <a:t> </a:t>
            </a:r>
          </a:p>
        </p:txBody>
      </p:sp>
      <p:sp>
        <p:nvSpPr>
          <p:cNvPr id="200709" name="Rectangle 5"/>
          <p:cNvSpPr>
            <a:spLocks noRot="1" noChangeArrowheads="1"/>
          </p:cNvSpPr>
          <p:nvPr/>
        </p:nvSpPr>
        <p:spPr bwMode="auto">
          <a:xfrm>
            <a:off x="468313" y="765175"/>
            <a:ext cx="7369175" cy="606425"/>
          </a:xfrm>
          <a:prstGeom prst="rect">
            <a:avLst/>
          </a:prstGeom>
          <a:noFill/>
          <a:ln w="9525">
            <a:noFill/>
            <a:miter lim="800000"/>
          </a:ln>
          <a:effectLst/>
        </p:spPr>
        <p:txBody>
          <a:bodyPr anchor="ctr"/>
          <a:lstStyle/>
          <a:p>
            <a:pPr>
              <a:spcBef>
                <a:spcPct val="0"/>
              </a:spcBef>
              <a:buClrTx/>
            </a:pPr>
            <a:r>
              <a:rPr lang="zh-CN" altLang="en-US" sz="3200" b="1" dirty="0">
                <a:effectLst>
                  <a:outerShdw blurRad="38100" dist="38100" dir="2700000">
                    <a:srgbClr val="000000"/>
                  </a:outerShdw>
                </a:effectLst>
                <a:latin typeface="Arial" panose="020B0604020202020204" pitchFamily="34" charset="0"/>
              </a:rPr>
              <a:t>代码</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20</a:t>
            </a:fld>
            <a:endParaRPr lang="en-US" altLang="zh-CN" sz="1400" dirty="0"/>
          </a:p>
        </p:txBody>
      </p:sp>
      <p:sp>
        <p:nvSpPr>
          <p:cNvPr id="21197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sp>
        <p:nvSpPr>
          <p:cNvPr id="63491" name="Rectangle 3"/>
          <p:cNvSpPr>
            <a:spLocks noGrp="1" noRot="1"/>
          </p:cNvSpPr>
          <p:nvPr>
            <p:ph idx="1"/>
          </p:nvPr>
        </p:nvSpPr>
        <p:spPr>
          <a:xfrm>
            <a:off x="628650" y="1271906"/>
            <a:ext cx="7886700" cy="4474845"/>
          </a:xfrm>
        </p:spPr>
        <p:txBody>
          <a:bodyPr vert="horz" wrap="square" lIns="91440" tIns="45720" rIns="91440" bIns="45720" anchor="t">
            <a:noAutofit/>
          </a:bodyPr>
          <a:lstStyle/>
          <a:p>
            <a:pPr marL="0" indent="0" eaLnBrk="1" hangingPunct="1">
              <a:lnSpc>
                <a:spcPct val="150000"/>
              </a:lnSpc>
              <a:buNone/>
            </a:pPr>
            <a:r>
              <a:rPr lang="zh-CN" altLang="en-US" sz="2000" b="1" dirty="0"/>
              <a:t>主要思想：</a:t>
            </a:r>
          </a:p>
          <a:p>
            <a:pPr marL="342900" lvl="1" indent="0" eaLnBrk="1" hangingPunct="1">
              <a:lnSpc>
                <a:spcPct val="150000"/>
              </a:lnSpc>
              <a:buNone/>
            </a:pPr>
            <a:r>
              <a:rPr lang="en-US" altLang="zh-CN" dirty="0"/>
              <a:t>KMP</a:t>
            </a:r>
            <a:r>
              <a:rPr lang="zh-CN" altLang="en-US" dirty="0"/>
              <a:t>（</a:t>
            </a:r>
            <a:r>
              <a:rPr lang="en-US" altLang="zh-CN" dirty="0"/>
              <a:t>D.E. Knuth, J.H.Morris, and V.R.Pratt </a:t>
            </a:r>
            <a:r>
              <a:rPr lang="zh-CN" altLang="en-US" dirty="0"/>
              <a:t>）主要是基于对</a:t>
            </a:r>
            <a:r>
              <a:rPr lang="en-US" altLang="zh-CN" dirty="0"/>
              <a:t>BF</a:t>
            </a:r>
            <a:r>
              <a:rPr lang="zh-CN" altLang="en-US" dirty="0"/>
              <a:t>算法的改进：</a:t>
            </a:r>
            <a:r>
              <a:rPr lang="en-US" altLang="zh-CN" dirty="0"/>
              <a:t>BF</a:t>
            </a:r>
            <a:r>
              <a:rPr lang="zh-CN" altLang="en-US" dirty="0"/>
              <a:t>算法只是简单的每次移动一个字符位置，并没有考虑已匹配成功部分的信息。其实这些信息是可以利用的，此即所谓的“前缀模式”</a:t>
            </a:r>
            <a:r>
              <a:rPr lang="en-US" altLang="zh-CN" dirty="0"/>
              <a:t>----</a:t>
            </a:r>
            <a:r>
              <a:rPr lang="zh-CN" altLang="en-US" dirty="0"/>
              <a:t>模式中不同部分存在的相同子串。</a:t>
            </a:r>
          </a:p>
          <a:p>
            <a:pPr marL="0" lvl="0" indent="0" eaLnBrk="1" hangingPunct="1">
              <a:lnSpc>
                <a:spcPct val="150000"/>
              </a:lnSpc>
              <a:buNone/>
            </a:pPr>
            <a:r>
              <a:rPr lang="zh-CN" altLang="en-US" sz="2000" b="1" dirty="0"/>
              <a:t>两个优点：</a:t>
            </a:r>
          </a:p>
          <a:p>
            <a:pPr marL="800100" lvl="1" indent="-457200" eaLnBrk="1" hangingPunct="1">
              <a:lnSpc>
                <a:spcPct val="150000"/>
              </a:lnSpc>
              <a:buAutoNum type="arabicPeriod"/>
            </a:pPr>
            <a:r>
              <a:rPr lang="zh-CN" altLang="en-US" dirty="0"/>
              <a:t>根据前缀模式可以使模式向前推进若干字符位置（依前缀模式长度而定），而不只是一个字符，</a:t>
            </a:r>
            <a:r>
              <a:rPr lang="zh-CN" altLang="en-US" dirty="0">
                <a:solidFill>
                  <a:srgbClr val="FF0000"/>
                </a:solidFill>
              </a:rPr>
              <a:t>避免了重复比较，同时也实现了文本指针的无回朔。 </a:t>
            </a:r>
          </a:p>
          <a:p>
            <a:pPr marL="800100" lvl="1" indent="-457200" eaLnBrk="1" hangingPunct="1">
              <a:lnSpc>
                <a:spcPct val="150000"/>
              </a:lnSpc>
              <a:buAutoNum type="arabicPeriod"/>
            </a:pPr>
            <a:r>
              <a:rPr lang="zh-CN" altLang="en-US" dirty="0"/>
              <a:t>针对特殊的子串：其前缀在子串中重复出现</a:t>
            </a:r>
          </a:p>
          <a:p>
            <a:pPr marL="342900" lvl="1" indent="0" eaLnBrk="1" hangingPunct="1">
              <a:lnSpc>
                <a:spcPct val="150000"/>
              </a:lnSpc>
              <a:buNone/>
            </a:pPr>
            <a:r>
              <a:rPr lang="en-US" altLang="zh-CN" sz="2000" dirty="0">
                <a:solidFill>
                  <a:srgbClr val="FF0000"/>
                </a:solidFill>
              </a:rPr>
              <a:t>      ab</a:t>
            </a:r>
            <a:r>
              <a:rPr lang="en-US" altLang="zh-CN" sz="2000" dirty="0"/>
              <a:t>c</a:t>
            </a:r>
            <a:r>
              <a:rPr lang="en-US" altLang="zh-CN" sz="2000" dirty="0">
                <a:solidFill>
                  <a:srgbClr val="FF0000"/>
                </a:solidFill>
              </a:rPr>
              <a:t>ab</a:t>
            </a:r>
            <a:r>
              <a:rPr lang="en-US" altLang="zh-CN" sz="2000" dirty="0"/>
              <a:t>fgh</a:t>
            </a:r>
            <a:r>
              <a:rPr lang="zh-CN" altLang="en-US" sz="2000" dirty="0"/>
              <a:t>，</a:t>
            </a:r>
            <a:r>
              <a:rPr lang="en-US" altLang="zh-CN" sz="2000" dirty="0">
                <a:solidFill>
                  <a:srgbClr val="FF0000"/>
                </a:solidFill>
              </a:rPr>
              <a:t>abca</a:t>
            </a:r>
            <a:r>
              <a:rPr lang="en-US" altLang="zh-CN" sz="2000" dirty="0"/>
              <a:t>xy</a:t>
            </a:r>
            <a:r>
              <a:rPr lang="en-US" altLang="zh-CN" sz="2000" dirty="0">
                <a:solidFill>
                  <a:srgbClr val="FF0000"/>
                </a:solidFill>
              </a:rPr>
              <a:t>abcabc</a:t>
            </a:r>
            <a:r>
              <a:rPr lang="en-US" altLang="zh-CN" sz="2000" dirty="0"/>
              <a:t>ff</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21</a:t>
            </a:fld>
            <a:endParaRPr lang="en-US" altLang="zh-CN" sz="1400" dirty="0"/>
          </a:p>
        </p:txBody>
      </p:sp>
      <p:sp>
        <p:nvSpPr>
          <p:cNvPr id="65538" name="Text Box 4"/>
          <p:cNvSpPr txBox="1"/>
          <p:nvPr/>
        </p:nvSpPr>
        <p:spPr>
          <a:xfrm>
            <a:off x="395288" y="836613"/>
            <a:ext cx="8137525" cy="2861310"/>
          </a:xfrm>
          <a:prstGeom prst="rect">
            <a:avLst/>
          </a:prstGeom>
          <a:noFill/>
          <a:ln w="9525">
            <a:noFill/>
          </a:ln>
        </p:spPr>
        <p:txBody>
          <a:bodyPr>
            <a:spAutoFit/>
          </a:bodyPr>
          <a:lstStyle/>
          <a:p>
            <a:pPr>
              <a:buClrTx/>
            </a:pPr>
            <a:r>
              <a:rPr lang="en-US" altLang="zh-CN" b="1" dirty="0">
                <a:solidFill>
                  <a:srgbClr val="030301"/>
                </a:solidFill>
                <a:latin typeface="Arial" panose="020B0604020202020204" pitchFamily="34" charset="0"/>
              </a:rPr>
              <a:t>      </a:t>
            </a:r>
            <a:r>
              <a:rPr lang="zh-CN" altLang="en-US" b="1" dirty="0">
                <a:solidFill>
                  <a:srgbClr val="030301"/>
                </a:solidFill>
                <a:latin typeface="Arial" panose="020B0604020202020204" pitchFamily="34" charset="0"/>
              </a:rPr>
              <a:t>假定试探第</a:t>
            </a:r>
            <a:r>
              <a:rPr lang="en-US" altLang="zh-CN" b="1" dirty="0">
                <a:solidFill>
                  <a:srgbClr val="030301"/>
                </a:solidFill>
                <a:latin typeface="Arial" panose="020B0604020202020204" pitchFamily="34" charset="0"/>
              </a:rPr>
              <a:t>j</a:t>
            </a:r>
            <a:r>
              <a:rPr lang="zh-CN" altLang="en-US" b="1" dirty="0">
                <a:solidFill>
                  <a:srgbClr val="030301"/>
                </a:solidFill>
                <a:latin typeface="Arial" panose="020B0604020202020204" pitchFamily="34" charset="0"/>
              </a:rPr>
              <a:t>个位置时，匹配失败发生在模式字符</a:t>
            </a:r>
            <a:r>
              <a:rPr lang="en-US" altLang="zh-CN" b="1" dirty="0">
                <a:solidFill>
                  <a:srgbClr val="030301"/>
                </a:solidFill>
                <a:latin typeface="Arial" panose="020B0604020202020204" pitchFamily="34" charset="0"/>
              </a:rPr>
              <a:t>x[i]=a </a:t>
            </a:r>
            <a:r>
              <a:rPr lang="zh-CN" altLang="en-US" b="1" dirty="0">
                <a:solidFill>
                  <a:srgbClr val="030301"/>
                </a:solidFill>
                <a:latin typeface="Arial" panose="020B0604020202020204" pitchFamily="34" charset="0"/>
              </a:rPr>
              <a:t>和文本字符 </a:t>
            </a:r>
            <a:r>
              <a:rPr lang="en-US" altLang="zh-CN" b="1" dirty="0">
                <a:solidFill>
                  <a:srgbClr val="030301"/>
                </a:solidFill>
                <a:latin typeface="Arial" panose="020B0604020202020204" pitchFamily="34" charset="0"/>
              </a:rPr>
              <a:t>y[i+j]=b</a:t>
            </a:r>
            <a:r>
              <a:rPr lang="zh-CN" altLang="en-US" b="1" dirty="0">
                <a:solidFill>
                  <a:srgbClr val="030301"/>
                </a:solidFill>
                <a:latin typeface="Arial" panose="020B0604020202020204" pitchFamily="34" charset="0"/>
              </a:rPr>
              <a:t>，即</a:t>
            </a:r>
            <a:r>
              <a:rPr lang="en-US" altLang="zh-CN" b="1" dirty="0">
                <a:solidFill>
                  <a:srgbClr val="030301"/>
                </a:solidFill>
                <a:latin typeface="Arial" panose="020B0604020202020204" pitchFamily="34" charset="0"/>
              </a:rPr>
              <a:t>x[i+1...m-1]=y[i+j+1 .. j+m-1]=u</a:t>
            </a:r>
            <a:r>
              <a:rPr lang="zh-CN" altLang="en-US" b="1" dirty="0">
                <a:solidFill>
                  <a:srgbClr val="030301"/>
                </a:solidFill>
                <a:latin typeface="Arial" panose="020B0604020202020204" pitchFamily="34" charset="0"/>
              </a:rPr>
              <a:t>且</a:t>
            </a:r>
            <a:r>
              <a:rPr lang="en-US" altLang="zh-CN" b="1" dirty="0">
                <a:solidFill>
                  <a:srgbClr val="030301"/>
                </a:solidFill>
                <a:latin typeface="Arial" panose="020B0604020202020204" pitchFamily="34" charset="0"/>
              </a:rPr>
              <a:t>x[i] </a:t>
            </a:r>
            <a:r>
              <a:rPr lang="zh-CN" altLang="en-US" b="1" dirty="0">
                <a:solidFill>
                  <a:srgbClr val="030301"/>
                </a:solidFill>
                <a:latin typeface="Arial" panose="020B0604020202020204" pitchFamily="34" charset="0"/>
              </a:rPr>
              <a:t>！</a:t>
            </a:r>
            <a:r>
              <a:rPr lang="en-US" altLang="zh-CN" sz="1800"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 y[i+j]</a:t>
            </a:r>
            <a:r>
              <a:rPr lang="zh-CN" altLang="en-US" b="1" dirty="0">
                <a:solidFill>
                  <a:srgbClr val="030301"/>
                </a:solidFill>
                <a:latin typeface="Arial" panose="020B0604020202020204" pitchFamily="34" charset="0"/>
              </a:rPr>
              <a:t>。</a:t>
            </a:r>
          </a:p>
          <a:p>
            <a:pPr>
              <a:buClrTx/>
            </a:pPr>
            <a:r>
              <a:rPr lang="zh-CN" altLang="en-US" b="1" dirty="0">
                <a:solidFill>
                  <a:srgbClr val="030301"/>
                </a:solidFill>
                <a:latin typeface="Arial" panose="020B0604020202020204" pitchFamily="34" charset="0"/>
              </a:rPr>
              <a:t>     当转移的时候，模式集的</a:t>
            </a:r>
            <a:r>
              <a:rPr lang="en-US" altLang="zh-CN" b="1" dirty="0">
                <a:solidFill>
                  <a:srgbClr val="030301"/>
                </a:solidFill>
                <a:latin typeface="Arial" panose="020B0604020202020204" pitchFamily="34" charset="0"/>
              </a:rPr>
              <a:t>v</a:t>
            </a:r>
            <a:r>
              <a:rPr lang="zh-CN" altLang="en-US" b="1" dirty="0">
                <a:solidFill>
                  <a:srgbClr val="030301"/>
                </a:solidFill>
                <a:latin typeface="Arial" panose="020B0604020202020204" pitchFamily="34" charset="0"/>
              </a:rPr>
              <a:t>能够与文本中的</a:t>
            </a:r>
            <a:r>
              <a:rPr lang="en-US" altLang="zh-CN" b="1" dirty="0">
                <a:solidFill>
                  <a:srgbClr val="030301"/>
                </a:solidFill>
                <a:latin typeface="Arial" panose="020B0604020202020204" pitchFamily="34" charset="0"/>
              </a:rPr>
              <a:t>u</a:t>
            </a:r>
            <a:r>
              <a:rPr lang="zh-CN" altLang="en-US" b="1" dirty="0">
                <a:solidFill>
                  <a:srgbClr val="030301"/>
                </a:solidFill>
                <a:latin typeface="Arial" panose="020B0604020202020204" pitchFamily="34" charset="0"/>
              </a:rPr>
              <a:t>的一些后缀相匹配，最长的</a:t>
            </a:r>
            <a:r>
              <a:rPr lang="en-US" altLang="zh-CN" b="1" dirty="0">
                <a:solidFill>
                  <a:srgbClr val="030301"/>
                </a:solidFill>
                <a:latin typeface="Arial" panose="020B0604020202020204" pitchFamily="34" charset="0"/>
              </a:rPr>
              <a:t>v</a:t>
            </a:r>
            <a:r>
              <a:rPr lang="zh-CN" altLang="en-US" b="1" dirty="0">
                <a:solidFill>
                  <a:srgbClr val="030301"/>
                </a:solidFill>
                <a:latin typeface="Arial" panose="020B0604020202020204" pitchFamily="34" charset="0"/>
              </a:rPr>
              <a:t>我们定义为</a:t>
            </a:r>
            <a:r>
              <a:rPr lang="en-US" altLang="zh-CN" b="1" dirty="0">
                <a:solidFill>
                  <a:srgbClr val="030301"/>
                </a:solidFill>
                <a:latin typeface="Arial" panose="020B0604020202020204" pitchFamily="34" charset="0"/>
              </a:rPr>
              <a:t>u</a:t>
            </a:r>
            <a:r>
              <a:rPr lang="zh-CN" altLang="en-US" b="1" dirty="0">
                <a:solidFill>
                  <a:srgbClr val="030301"/>
                </a:solidFill>
                <a:latin typeface="Arial" panose="020B0604020202020204" pitchFamily="34" charset="0"/>
              </a:rPr>
              <a:t>的边界标记（</a:t>
            </a:r>
            <a:r>
              <a:rPr lang="en-US" altLang="zh-CN" b="1" dirty="0">
                <a:solidFill>
                  <a:srgbClr val="030301"/>
                </a:solidFill>
                <a:latin typeface="Arial" panose="020B0604020202020204" pitchFamily="34" charset="0"/>
              </a:rPr>
              <a:t>tagged border </a:t>
            </a:r>
            <a:r>
              <a:rPr lang="zh-CN" altLang="en-US"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kmpNext[i] </a:t>
            </a:r>
            <a:r>
              <a:rPr lang="zh-CN" altLang="en-US" b="1" dirty="0">
                <a:solidFill>
                  <a:srgbClr val="030301"/>
                </a:solidFill>
                <a:latin typeface="Arial" panose="020B0604020202020204" pitchFamily="34" charset="0"/>
              </a:rPr>
              <a:t>定义为</a:t>
            </a:r>
            <a:r>
              <a:rPr lang="en-US" altLang="zh-CN" b="1" dirty="0">
                <a:solidFill>
                  <a:srgbClr val="030301"/>
                </a:solidFill>
                <a:latin typeface="Arial" panose="020B0604020202020204" pitchFamily="34" charset="0"/>
              </a:rPr>
              <a:t>x[0 .. i-1] </a:t>
            </a:r>
            <a:r>
              <a:rPr lang="zh-CN" altLang="en-US" b="1" dirty="0">
                <a:solidFill>
                  <a:srgbClr val="030301"/>
                </a:solidFill>
                <a:latin typeface="Arial" panose="020B0604020202020204" pitchFamily="34" charset="0"/>
              </a:rPr>
              <a:t>的最长边界， </a:t>
            </a:r>
            <a:r>
              <a:rPr lang="en-US" altLang="zh-CN" b="1" dirty="0">
                <a:solidFill>
                  <a:srgbClr val="030301"/>
                </a:solidFill>
                <a:latin typeface="Arial" panose="020B0604020202020204" pitchFamily="34" charset="0"/>
              </a:rPr>
              <a:t>kmpNext[0] </a:t>
            </a:r>
            <a:r>
              <a:rPr lang="zh-CN" altLang="en-US" b="1" dirty="0">
                <a:solidFill>
                  <a:srgbClr val="030301"/>
                </a:solidFill>
                <a:latin typeface="Arial" panose="020B0604020202020204" pitchFamily="34" charset="0"/>
              </a:rPr>
              <a:t>定义为</a:t>
            </a:r>
            <a:r>
              <a:rPr lang="en-US" altLang="zh-CN" b="1" dirty="0">
                <a:solidFill>
                  <a:srgbClr val="030301"/>
                </a:solidFill>
                <a:latin typeface="Arial" panose="020B0604020202020204" pitchFamily="34" charset="0"/>
              </a:rPr>
              <a:t>-1 </a:t>
            </a:r>
            <a:r>
              <a:rPr lang="zh-CN" altLang="en-US" b="1" dirty="0">
                <a:solidFill>
                  <a:srgbClr val="030301"/>
                </a:solidFill>
                <a:latin typeface="Arial" panose="020B0604020202020204" pitchFamily="34" charset="0"/>
              </a:rPr>
              <a:t>。</a:t>
            </a:r>
          </a:p>
        </p:txBody>
      </p:sp>
      <p:sp>
        <p:nvSpPr>
          <p:cNvPr id="65539" name="Rectangle 6"/>
          <p:cNvSpPr/>
          <p:nvPr/>
        </p:nvSpPr>
        <p:spPr>
          <a:xfrm>
            <a:off x="0" y="0"/>
            <a:ext cx="227013" cy="274638"/>
          </a:xfrm>
          <a:prstGeom prst="rect">
            <a:avLst/>
          </a:prstGeom>
          <a:noFill/>
          <a:ln w="9525">
            <a:noFill/>
          </a:ln>
        </p:spPr>
        <p:txBody>
          <a:bodyPr wrap="none" anchor="ctr">
            <a:spAutoFit/>
          </a:bodyPr>
          <a:lstStyle/>
          <a:p>
            <a:pPr>
              <a:spcBef>
                <a:spcPct val="0"/>
              </a:spcBef>
              <a:buClrTx/>
            </a:pPr>
            <a:r>
              <a:rPr lang="en-US" altLang="zh-CN" sz="1200" dirty="0">
                <a:solidFill>
                  <a:srgbClr val="000000"/>
                </a:solidFill>
                <a:latin typeface="Arial" panose="020B0604020202020204" pitchFamily="34" charset="0"/>
                <a:cs typeface="Times New Roman" panose="02020603050405020304" charset="0"/>
              </a:rPr>
              <a:t> </a:t>
            </a:r>
            <a:endParaRPr lang="en-US" altLang="zh-CN" sz="1800" dirty="0">
              <a:latin typeface="Arial" panose="020B0604020202020204" pitchFamily="34" charset="0"/>
            </a:endParaRPr>
          </a:p>
        </p:txBody>
      </p:sp>
      <p:pic>
        <p:nvPicPr>
          <p:cNvPr id="65540" name="Picture 5" descr="neq"/>
          <p:cNvPicPr>
            <a:picLocks noChangeAspect="1"/>
          </p:cNvPicPr>
          <p:nvPr/>
        </p:nvPicPr>
        <p:blipFill>
          <a:blip r:embed="rId3" r:link="rId4"/>
          <a:stretch>
            <a:fillRect/>
          </a:stretch>
        </p:blipFill>
        <p:spPr>
          <a:xfrm>
            <a:off x="0" y="274638"/>
            <a:ext cx="95250" cy="95250"/>
          </a:xfrm>
          <a:prstGeom prst="rect">
            <a:avLst/>
          </a:prstGeom>
          <a:noFill/>
          <a:ln w="9525">
            <a:noFill/>
          </a:ln>
        </p:spPr>
      </p:pic>
      <p:sp>
        <p:nvSpPr>
          <p:cNvPr id="65541" name="Rectangle 7"/>
          <p:cNvSpPr/>
          <p:nvPr/>
        </p:nvSpPr>
        <p:spPr>
          <a:xfrm>
            <a:off x="0" y="369888"/>
            <a:ext cx="222250" cy="260350"/>
          </a:xfrm>
          <a:prstGeom prst="rect">
            <a:avLst/>
          </a:prstGeom>
          <a:noFill/>
          <a:ln w="9525">
            <a:noFill/>
          </a:ln>
        </p:spPr>
        <p:txBody>
          <a:bodyPr wrap="none" anchor="ctr">
            <a:spAutoFit/>
          </a:bodyPr>
          <a:lstStyle/>
          <a:p>
            <a:pPr>
              <a:spcBef>
                <a:spcPct val="0"/>
              </a:spcBef>
              <a:buClrTx/>
            </a:pPr>
            <a:r>
              <a:rPr lang="en-US" altLang="zh-CN" sz="1100" dirty="0">
                <a:latin typeface="Arial" panose="020B0604020202020204" pitchFamily="34" charset="0"/>
              </a:rPr>
              <a:t> </a:t>
            </a:r>
            <a:endParaRPr lang="en-US" altLang="zh-CN" sz="1800" dirty="0">
              <a:latin typeface="Arial" panose="020B0604020202020204" pitchFamily="34" charset="0"/>
            </a:endParaRPr>
          </a:p>
        </p:txBody>
      </p:sp>
      <p:pic>
        <p:nvPicPr>
          <p:cNvPr id="65542" name="Picture 8" descr="mp"/>
          <p:cNvPicPr>
            <a:picLocks noChangeAspect="1"/>
          </p:cNvPicPr>
          <p:nvPr/>
        </p:nvPicPr>
        <p:blipFill>
          <a:blip r:embed="rId5"/>
          <a:stretch>
            <a:fillRect/>
          </a:stretch>
        </p:blipFill>
        <p:spPr>
          <a:xfrm>
            <a:off x="827088" y="3860800"/>
            <a:ext cx="7129462" cy="2376488"/>
          </a:xfrm>
          <a:prstGeom prst="rect">
            <a:avLst/>
          </a:prstGeom>
          <a:noFill/>
          <a:ln w="9525">
            <a:noFill/>
          </a:ln>
        </p:spPr>
      </p:pic>
      <p:sp>
        <p:nvSpPr>
          <p:cNvPr id="21197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p:cNvSpPr txBox="1">
            <a:spLocks noGrp="1"/>
          </p:cNvSpPr>
          <p:nvPr>
            <p:ph type="sldNum" sz="quarter" idx="12"/>
          </p:nvPr>
        </p:nvSpPr>
        <p:spPr>
          <a:xfrm>
            <a:off x="6457950" y="4562476"/>
            <a:ext cx="2057400" cy="365125"/>
          </a:xfrm>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22</a:t>
            </a:fld>
            <a:endParaRPr lang="en-US" altLang="zh-CN" sz="1400" dirty="0"/>
          </a:p>
        </p:txBody>
      </p:sp>
      <p:graphicFrame>
        <p:nvGraphicFramePr>
          <p:cNvPr id="72747" name="表格 72746"/>
          <p:cNvGraphicFramePr/>
          <p:nvPr>
            <p:custDataLst>
              <p:tags r:id="rId1"/>
            </p:custDataLst>
          </p:nvPr>
        </p:nvGraphicFramePr>
        <p:xfrm>
          <a:off x="357188" y="2643188"/>
          <a:ext cx="8786813" cy="1371600"/>
        </p:xfrm>
        <a:graphic>
          <a:graphicData uri="http://schemas.openxmlformats.org/drawingml/2006/table">
            <a:tbl>
              <a:tblPr/>
              <a:tblGrid>
                <a:gridCol w="384175">
                  <a:extLst>
                    <a:ext uri="{9D8B030D-6E8A-4147-A177-3AD203B41FA5}">
                      <a16:colId xmlns:a16="http://schemas.microsoft.com/office/drawing/2014/main" val="20000"/>
                    </a:ext>
                  </a:extLst>
                </a:gridCol>
                <a:gridCol w="371475">
                  <a:extLst>
                    <a:ext uri="{9D8B030D-6E8A-4147-A177-3AD203B41FA5}">
                      <a16:colId xmlns:a16="http://schemas.microsoft.com/office/drawing/2014/main" val="20001"/>
                    </a:ext>
                  </a:extLst>
                </a:gridCol>
                <a:gridCol w="357188">
                  <a:extLst>
                    <a:ext uri="{9D8B030D-6E8A-4147-A177-3AD203B41FA5}">
                      <a16:colId xmlns:a16="http://schemas.microsoft.com/office/drawing/2014/main" val="20002"/>
                    </a:ext>
                  </a:extLst>
                </a:gridCol>
                <a:gridCol w="344487">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84175">
                  <a:extLst>
                    <a:ext uri="{9D8B030D-6E8A-4147-A177-3AD203B41FA5}">
                      <a16:colId xmlns:a16="http://schemas.microsoft.com/office/drawing/2014/main" val="20005"/>
                    </a:ext>
                  </a:extLst>
                </a:gridCol>
                <a:gridCol w="371475">
                  <a:extLst>
                    <a:ext uri="{9D8B030D-6E8A-4147-A177-3AD203B41FA5}">
                      <a16:colId xmlns:a16="http://schemas.microsoft.com/office/drawing/2014/main" val="20006"/>
                    </a:ext>
                  </a:extLst>
                </a:gridCol>
                <a:gridCol w="357188">
                  <a:extLst>
                    <a:ext uri="{9D8B030D-6E8A-4147-A177-3AD203B41FA5}">
                      <a16:colId xmlns:a16="http://schemas.microsoft.com/office/drawing/2014/main" val="20007"/>
                    </a:ext>
                  </a:extLst>
                </a:gridCol>
                <a:gridCol w="385762">
                  <a:extLst>
                    <a:ext uri="{9D8B030D-6E8A-4147-A177-3AD203B41FA5}">
                      <a16:colId xmlns:a16="http://schemas.microsoft.com/office/drawing/2014/main" val="20008"/>
                    </a:ext>
                  </a:extLst>
                </a:gridCol>
                <a:gridCol w="357188">
                  <a:extLst>
                    <a:ext uri="{9D8B030D-6E8A-4147-A177-3AD203B41FA5}">
                      <a16:colId xmlns:a16="http://schemas.microsoft.com/office/drawing/2014/main" val="20009"/>
                    </a:ext>
                  </a:extLst>
                </a:gridCol>
                <a:gridCol w="384175">
                  <a:extLst>
                    <a:ext uri="{9D8B030D-6E8A-4147-A177-3AD203B41FA5}">
                      <a16:colId xmlns:a16="http://schemas.microsoft.com/office/drawing/2014/main" val="20010"/>
                    </a:ext>
                  </a:extLst>
                </a:gridCol>
                <a:gridCol w="358775">
                  <a:extLst>
                    <a:ext uri="{9D8B030D-6E8A-4147-A177-3AD203B41FA5}">
                      <a16:colId xmlns:a16="http://schemas.microsoft.com/office/drawing/2014/main" val="20011"/>
                    </a:ext>
                  </a:extLst>
                </a:gridCol>
                <a:gridCol w="384175">
                  <a:extLst>
                    <a:ext uri="{9D8B030D-6E8A-4147-A177-3AD203B41FA5}">
                      <a16:colId xmlns:a16="http://schemas.microsoft.com/office/drawing/2014/main" val="20012"/>
                    </a:ext>
                  </a:extLst>
                </a:gridCol>
                <a:gridCol w="344487">
                  <a:extLst>
                    <a:ext uri="{9D8B030D-6E8A-4147-A177-3AD203B41FA5}">
                      <a16:colId xmlns:a16="http://schemas.microsoft.com/office/drawing/2014/main" val="20013"/>
                    </a:ext>
                  </a:extLst>
                </a:gridCol>
                <a:gridCol w="357188">
                  <a:extLst>
                    <a:ext uri="{9D8B030D-6E8A-4147-A177-3AD203B41FA5}">
                      <a16:colId xmlns:a16="http://schemas.microsoft.com/office/drawing/2014/main" val="20014"/>
                    </a:ext>
                  </a:extLst>
                </a:gridCol>
                <a:gridCol w="344487">
                  <a:extLst>
                    <a:ext uri="{9D8B030D-6E8A-4147-A177-3AD203B41FA5}">
                      <a16:colId xmlns:a16="http://schemas.microsoft.com/office/drawing/2014/main" val="20015"/>
                    </a:ext>
                  </a:extLst>
                </a:gridCol>
                <a:gridCol w="357188">
                  <a:extLst>
                    <a:ext uri="{9D8B030D-6E8A-4147-A177-3AD203B41FA5}">
                      <a16:colId xmlns:a16="http://schemas.microsoft.com/office/drawing/2014/main" val="20016"/>
                    </a:ext>
                  </a:extLst>
                </a:gridCol>
                <a:gridCol w="371475">
                  <a:extLst>
                    <a:ext uri="{9D8B030D-6E8A-4147-A177-3AD203B41FA5}">
                      <a16:colId xmlns:a16="http://schemas.microsoft.com/office/drawing/2014/main" val="20017"/>
                    </a:ext>
                  </a:extLst>
                </a:gridCol>
                <a:gridCol w="357187">
                  <a:extLst>
                    <a:ext uri="{9D8B030D-6E8A-4147-A177-3AD203B41FA5}">
                      <a16:colId xmlns:a16="http://schemas.microsoft.com/office/drawing/2014/main" val="20018"/>
                    </a:ext>
                  </a:extLst>
                </a:gridCol>
                <a:gridCol w="385763">
                  <a:extLst>
                    <a:ext uri="{9D8B030D-6E8A-4147-A177-3AD203B41FA5}">
                      <a16:colId xmlns:a16="http://schemas.microsoft.com/office/drawing/2014/main" val="20019"/>
                    </a:ext>
                  </a:extLst>
                </a:gridCol>
                <a:gridCol w="344487">
                  <a:extLst>
                    <a:ext uri="{9D8B030D-6E8A-4147-A177-3AD203B41FA5}">
                      <a16:colId xmlns:a16="http://schemas.microsoft.com/office/drawing/2014/main" val="20020"/>
                    </a:ext>
                  </a:extLst>
                </a:gridCol>
                <a:gridCol w="357188">
                  <a:extLst>
                    <a:ext uri="{9D8B030D-6E8A-4147-A177-3AD203B41FA5}">
                      <a16:colId xmlns:a16="http://schemas.microsoft.com/office/drawing/2014/main" val="20021"/>
                    </a:ext>
                  </a:extLst>
                </a:gridCol>
                <a:gridCol w="371475">
                  <a:extLst>
                    <a:ext uri="{9D8B030D-6E8A-4147-A177-3AD203B41FA5}">
                      <a16:colId xmlns:a16="http://schemas.microsoft.com/office/drawing/2014/main" val="20022"/>
                    </a:ext>
                  </a:extLst>
                </a:gridCol>
                <a:gridCol w="384175">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4</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5</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6</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7</a:t>
                      </a:r>
                    </a:p>
                  </a:txBody>
                  <a:tcPr anchor="ctr">
                    <a:lnL>
                      <a:noFill/>
                    </a:lnL>
                    <a:lnR>
                      <a:noFill/>
                    </a:lnR>
                    <a:lnT>
                      <a:noFill/>
                    </a:lnT>
                    <a:lnB>
                      <a:noFill/>
                    </a:lnB>
                    <a:lnTlToBr>
                      <a:noFill/>
                    </a:lnTlToBr>
                    <a:lnBlToTr>
                      <a:noFill/>
                    </a:lnBlToTr>
                    <a:solidFill>
                      <a:srgbClr val="FFFFFF"/>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2792" name="Rectangle 246"/>
          <p:cNvSpPr/>
          <p:nvPr/>
        </p:nvSpPr>
        <p:spPr>
          <a:xfrm>
            <a:off x="393700" y="4037013"/>
            <a:ext cx="1655445" cy="460375"/>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Shift by: 7 </a:t>
            </a:r>
          </a:p>
        </p:txBody>
      </p:sp>
      <p:graphicFrame>
        <p:nvGraphicFramePr>
          <p:cNvPr id="72818" name="表格 72817"/>
          <p:cNvGraphicFramePr/>
          <p:nvPr/>
        </p:nvGraphicFramePr>
        <p:xfrm>
          <a:off x="357188" y="2278063"/>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2" name="直接箭头连接符 1"/>
          <p:cNvCxnSpPr/>
          <p:nvPr/>
        </p:nvCxnSpPr>
        <p:spPr>
          <a:xfrm>
            <a:off x="1708150" y="135255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 name="表格 2"/>
          <p:cNvGraphicFramePr/>
          <p:nvPr/>
        </p:nvGraphicFramePr>
        <p:xfrm>
          <a:off x="4805998" y="4150043"/>
          <a:ext cx="2982913" cy="457200"/>
        </p:xfrm>
        <a:graphic>
          <a:graphicData uri="http://schemas.openxmlformats.org/drawingml/2006/table">
            <a:tbl>
              <a:tblPr/>
              <a:tblGrid>
                <a:gridCol w="384175">
                  <a:extLst>
                    <a:ext uri="{9D8B030D-6E8A-4147-A177-3AD203B41FA5}">
                      <a16:colId xmlns:a16="http://schemas.microsoft.com/office/drawing/2014/main" val="20000"/>
                    </a:ext>
                  </a:extLst>
                </a:gridCol>
                <a:gridCol w="371475">
                  <a:extLst>
                    <a:ext uri="{9D8B030D-6E8A-4147-A177-3AD203B41FA5}">
                      <a16:colId xmlns:a16="http://schemas.microsoft.com/office/drawing/2014/main" val="20001"/>
                    </a:ext>
                  </a:extLst>
                </a:gridCol>
                <a:gridCol w="357188">
                  <a:extLst>
                    <a:ext uri="{9D8B030D-6E8A-4147-A177-3AD203B41FA5}">
                      <a16:colId xmlns:a16="http://schemas.microsoft.com/office/drawing/2014/main" val="20002"/>
                    </a:ext>
                  </a:extLst>
                </a:gridCol>
                <a:gridCol w="385762">
                  <a:extLst>
                    <a:ext uri="{9D8B030D-6E8A-4147-A177-3AD203B41FA5}">
                      <a16:colId xmlns:a16="http://schemas.microsoft.com/office/drawing/2014/main" val="20003"/>
                    </a:ext>
                  </a:extLst>
                </a:gridCol>
                <a:gridCol w="357188">
                  <a:extLst>
                    <a:ext uri="{9D8B030D-6E8A-4147-A177-3AD203B41FA5}">
                      <a16:colId xmlns:a16="http://schemas.microsoft.com/office/drawing/2014/main" val="20004"/>
                    </a:ext>
                  </a:extLst>
                </a:gridCol>
                <a:gridCol w="384175">
                  <a:extLst>
                    <a:ext uri="{9D8B030D-6E8A-4147-A177-3AD203B41FA5}">
                      <a16:colId xmlns:a16="http://schemas.microsoft.com/office/drawing/2014/main" val="20005"/>
                    </a:ext>
                  </a:extLst>
                </a:gridCol>
                <a:gridCol w="358775">
                  <a:extLst>
                    <a:ext uri="{9D8B030D-6E8A-4147-A177-3AD203B41FA5}">
                      <a16:colId xmlns:a16="http://schemas.microsoft.com/office/drawing/2014/main" val="20006"/>
                    </a:ext>
                  </a:extLst>
                </a:gridCol>
                <a:gridCol w="384175">
                  <a:extLst>
                    <a:ext uri="{9D8B030D-6E8A-4147-A177-3AD203B41FA5}">
                      <a16:colId xmlns:a16="http://schemas.microsoft.com/office/drawing/2014/main" val="20007"/>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extLst>
                  <a:ext uri="{0D108BD9-81ED-4DB2-BD59-A6C34878D82A}">
                    <a16:rowId xmlns:a16="http://schemas.microsoft.com/office/drawing/2014/main" val="10000"/>
                  </a:ext>
                </a:extLst>
              </a:tr>
            </a:tbl>
          </a:graphicData>
        </a:graphic>
      </p:graphicFrame>
      <p:cxnSp>
        <p:nvCxnSpPr>
          <p:cNvPr id="4" name="直接箭头连接符 3"/>
          <p:cNvCxnSpPr/>
          <p:nvPr/>
        </p:nvCxnSpPr>
        <p:spPr>
          <a:xfrm>
            <a:off x="4777105" y="133604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23</a:t>
            </a:fld>
            <a:endParaRPr lang="en-US" altLang="zh-CN" sz="1400" dirty="0"/>
          </a:p>
        </p:txBody>
      </p:sp>
      <p:graphicFrame>
        <p:nvGraphicFramePr>
          <p:cNvPr id="69636" name="Object 1"/>
          <p:cNvGraphicFramePr>
            <a:graphicFrameLocks noChangeAspect="1"/>
          </p:cNvGraphicFramePr>
          <p:nvPr/>
        </p:nvGraphicFramePr>
        <p:xfrm>
          <a:off x="909638" y="1928813"/>
          <a:ext cx="7616825" cy="2000250"/>
        </p:xfrm>
        <a:graphic>
          <a:graphicData uri="http://schemas.openxmlformats.org/presentationml/2006/ole">
            <mc:AlternateContent xmlns:mc="http://schemas.openxmlformats.org/markup-compatibility/2006">
              <mc:Choice xmlns:v="urn:schemas-microsoft-com:vml" Requires="v">
                <p:oleObj r:id="rId2" imgW="4546600" imgH="1193800" progId="Equation.3">
                  <p:embed/>
                </p:oleObj>
              </mc:Choice>
              <mc:Fallback>
                <p:oleObj r:id="rId2" imgW="4546600" imgH="1193800" progId="Equation.3">
                  <p:embed/>
                  <p:pic>
                    <p:nvPicPr>
                      <p:cNvPr id="69636" name="Object 1"/>
                      <p:cNvPicPr/>
                      <p:nvPr/>
                    </p:nvPicPr>
                    <p:blipFill>
                      <a:blip r:embed="rId3"/>
                      <a:stretch>
                        <a:fillRect/>
                      </a:stretch>
                    </p:blipFill>
                    <p:spPr>
                      <a:xfrm>
                        <a:off x="909638" y="1928813"/>
                        <a:ext cx="7616825" cy="2000250"/>
                      </a:xfrm>
                      <a:prstGeom prst="rect">
                        <a:avLst/>
                      </a:prstGeom>
                      <a:noFill/>
                      <a:ln w="38100">
                        <a:noFill/>
                        <a:miter/>
                      </a:ln>
                    </p:spPr>
                  </p:pic>
                </p:oleObj>
              </mc:Fallback>
            </mc:AlternateContent>
          </a:graphicData>
        </a:graphic>
      </p:graphicFrame>
      <p:sp>
        <p:nvSpPr>
          <p:cNvPr id="21197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24</a:t>
            </a:fld>
            <a:endParaRPr lang="en-US" altLang="zh-CN" sz="1400" dirty="0"/>
          </a:p>
        </p:txBody>
      </p:sp>
      <p:sp>
        <p:nvSpPr>
          <p:cNvPr id="214020" name="Rectangle 4"/>
          <p:cNvSpPr>
            <a:spLocks noGrp="1" noRot="1" noChangeArrowheads="1"/>
          </p:cNvSpPr>
          <p:nvPr>
            <p:ph type="title"/>
          </p:nvPr>
        </p:nvSpPr>
        <p:spPr>
          <a:xfrm>
            <a:off x="628650" y="53975"/>
            <a:ext cx="7886700" cy="1325563"/>
          </a:xfrm>
        </p:spPr>
        <p:txBody>
          <a:bodyPr vert="horz" wrap="square" lIns="91440" tIns="45720" rIns="91440" bIns="45720" numCol="1" anchor="ctr" anchorCtr="0" compatLnSpc="1"/>
          <a:lstStyle/>
          <a:p>
            <a:pPr algn="l" eaLnBrk="1" hangingPunct="1"/>
            <a:r>
              <a:rPr lang="zh-CN" altLang="en-US" dirty="0">
                <a:effectLst>
                  <a:outerShdw blurRad="38100" dist="38100" dir="2700000">
                    <a:srgbClr val="000000"/>
                  </a:outerShdw>
                </a:effectLst>
              </a:rPr>
              <a:t>举例：</a:t>
            </a:r>
          </a:p>
        </p:txBody>
      </p:sp>
      <p:sp>
        <p:nvSpPr>
          <p:cNvPr id="67587" name="Rectangle 5"/>
          <p:cNvSpPr>
            <a:spLocks noGrp="1" noRot="1"/>
          </p:cNvSpPr>
          <p:nvPr>
            <p:ph idx="1"/>
          </p:nvPr>
        </p:nvSpPr>
        <p:spPr/>
        <p:txBody>
          <a:bodyPr vert="horz" wrap="square" lIns="91440" tIns="45720" rIns="91440" bIns="45720" anchor="t"/>
          <a:lstStyle/>
          <a:p>
            <a:pPr eaLnBrk="1" hangingPunct="1">
              <a:lnSpc>
                <a:spcPct val="80000"/>
              </a:lnSpc>
            </a:pPr>
            <a:r>
              <a:rPr lang="zh-CN" altLang="en-US" sz="2400" dirty="0"/>
              <a:t>文本：</a:t>
            </a:r>
            <a:r>
              <a:rPr lang="en-US" altLang="zh-CN" sz="2400" dirty="0"/>
              <a:t>GCATCGCAGAGAGTATACAGTACG</a:t>
            </a:r>
          </a:p>
          <a:p>
            <a:pPr eaLnBrk="1" hangingPunct="1">
              <a:lnSpc>
                <a:spcPct val="80000"/>
              </a:lnSpc>
            </a:pPr>
            <a:r>
              <a:rPr lang="zh-CN" altLang="en-US" sz="2400" dirty="0"/>
              <a:t>模式：</a:t>
            </a:r>
            <a:r>
              <a:rPr lang="en-US" altLang="zh-CN" sz="2400" dirty="0">
                <a:solidFill>
                  <a:srgbClr val="FF0000"/>
                </a:solidFill>
              </a:rPr>
              <a:t>G</a:t>
            </a:r>
            <a:r>
              <a:rPr lang="en-US" altLang="zh-CN" sz="2400" dirty="0"/>
              <a:t>CA</a:t>
            </a:r>
            <a:r>
              <a:rPr lang="en-US" altLang="zh-CN" sz="2400" dirty="0">
                <a:solidFill>
                  <a:srgbClr val="FF0000"/>
                </a:solidFill>
              </a:rPr>
              <a:t>G</a:t>
            </a:r>
            <a:r>
              <a:rPr lang="en-US" altLang="zh-CN" sz="2400" dirty="0"/>
              <a:t>A</a:t>
            </a:r>
            <a:r>
              <a:rPr lang="en-US" altLang="zh-CN" sz="2400" dirty="0">
                <a:solidFill>
                  <a:srgbClr val="FF0000"/>
                </a:solidFill>
              </a:rPr>
              <a:t>G</a:t>
            </a:r>
            <a:r>
              <a:rPr lang="en-US" altLang="zh-CN" sz="2400" dirty="0"/>
              <a:t>A</a:t>
            </a:r>
            <a:r>
              <a:rPr lang="en-US" altLang="zh-CN" sz="2400" dirty="0">
                <a:solidFill>
                  <a:srgbClr val="FF0000"/>
                </a:solidFill>
              </a:rPr>
              <a:t>G</a:t>
            </a:r>
            <a:endParaRPr lang="en-US" altLang="zh-CN" sz="2400" dirty="0"/>
          </a:p>
          <a:p>
            <a:pPr eaLnBrk="1" hangingPunct="1">
              <a:lnSpc>
                <a:spcPct val="80000"/>
              </a:lnSpc>
              <a:buNone/>
            </a:pPr>
            <a:endParaRPr lang="en-US" altLang="zh-CN" sz="2400" dirty="0"/>
          </a:p>
          <a:p>
            <a:pPr eaLnBrk="1" hangingPunct="1">
              <a:lnSpc>
                <a:spcPct val="80000"/>
              </a:lnSpc>
              <a:buNone/>
            </a:pPr>
            <a:r>
              <a:rPr lang="zh-CN" altLang="en-US" sz="2400" dirty="0"/>
              <a:t>计算</a:t>
            </a:r>
            <a:r>
              <a:rPr lang="en-US" altLang="zh-CN" sz="2400" dirty="0">
                <a:cs typeface="Times New Roman" panose="02020603050405020304" charset="0"/>
              </a:rPr>
              <a:t>kmpNext[i]</a:t>
            </a:r>
            <a:endParaRPr lang="en-US" altLang="zh-CN" sz="2400" dirty="0">
              <a:ea typeface="Times New Roman" panose="02020603050405020304" charset="0"/>
            </a:endParaRPr>
          </a:p>
        </p:txBody>
      </p:sp>
      <p:graphicFrame>
        <p:nvGraphicFramePr>
          <p:cNvPr id="67588" name="表格 67587"/>
          <p:cNvGraphicFramePr/>
          <p:nvPr>
            <p:custDataLst>
              <p:tags r:id="rId1"/>
            </p:custDataLst>
          </p:nvPr>
        </p:nvGraphicFramePr>
        <p:xfrm>
          <a:off x="684213" y="3213100"/>
          <a:ext cx="6802438" cy="1944688"/>
        </p:xfrm>
        <a:graphic>
          <a:graphicData uri="http://schemas.openxmlformats.org/drawingml/2006/table">
            <a:tbl>
              <a:tblPr/>
              <a:tblGrid>
                <a:gridCol w="1584325">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6263">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576263">
                  <a:extLst>
                    <a:ext uri="{9D8B030D-6E8A-4147-A177-3AD203B41FA5}">
                      <a16:colId xmlns:a16="http://schemas.microsoft.com/office/drawing/2014/main" val="20008"/>
                    </a:ext>
                  </a:extLst>
                </a:gridCol>
                <a:gridCol w="504825">
                  <a:extLst>
                    <a:ext uri="{9D8B030D-6E8A-4147-A177-3AD203B41FA5}">
                      <a16:colId xmlns:a16="http://schemas.microsoft.com/office/drawing/2014/main" val="20009"/>
                    </a:ext>
                  </a:extLst>
                </a:gridCol>
              </a:tblGrid>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8</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kmpNext</a:t>
                      </a: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800" dirty="0">
                          <a:latin typeface="Arial" panose="020B0604020202020204" pitchFamily="34" charset="0"/>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800" dirty="0">
                          <a:latin typeface="Arial" panose="020B0604020202020204" pitchFamily="34" charset="0"/>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7634" name="Text Box 603"/>
          <p:cNvSpPr txBox="1"/>
          <p:nvPr/>
        </p:nvSpPr>
        <p:spPr>
          <a:xfrm>
            <a:off x="1547813" y="5300663"/>
            <a:ext cx="5184775" cy="457200"/>
          </a:xfrm>
          <a:prstGeom prst="rect">
            <a:avLst/>
          </a:prstGeom>
          <a:noFill/>
          <a:ln w="9525">
            <a:noFill/>
          </a:ln>
        </p:spPr>
        <p:txBody>
          <a:bodyPr>
            <a:spAutoFit/>
          </a:bodyPr>
          <a:lstStyle/>
          <a:p>
            <a:pPr algn="ctr">
              <a:buClrTx/>
            </a:pPr>
            <a:r>
              <a:rPr lang="en-US" altLang="zh-CN" b="1" i="1" dirty="0">
                <a:solidFill>
                  <a:srgbClr val="030301"/>
                </a:solidFill>
                <a:latin typeface="Arial" panose="020B0604020202020204" pitchFamily="34" charset="0"/>
              </a:rPr>
              <a:t>kmpNext</a:t>
            </a:r>
            <a:r>
              <a:rPr lang="zh-CN" altLang="en-US" b="1" dirty="0">
                <a:solidFill>
                  <a:srgbClr val="030301"/>
                </a:solidFill>
                <a:latin typeface="Arial" panose="020B0604020202020204" pitchFamily="34" charset="0"/>
              </a:rPr>
              <a:t>表</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25</a:t>
            </a:fld>
            <a:endParaRPr lang="en-US" altLang="zh-CN" sz="1400" dirty="0"/>
          </a:p>
        </p:txBody>
      </p:sp>
      <p:sp>
        <p:nvSpPr>
          <p:cNvPr id="70659" name="Rectangle 6"/>
          <p:cNvSpPr/>
          <p:nvPr/>
        </p:nvSpPr>
        <p:spPr>
          <a:xfrm>
            <a:off x="428625" y="2927985"/>
            <a:ext cx="209391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First attempt</a:t>
            </a:r>
            <a:r>
              <a:rPr lang="en-US" altLang="zh-CN" sz="1800" dirty="0">
                <a:latin typeface="Arial" panose="020B0604020202020204" pitchFamily="34" charset="0"/>
              </a:rPr>
              <a:t> </a:t>
            </a:r>
          </a:p>
        </p:txBody>
      </p:sp>
      <p:sp>
        <p:nvSpPr>
          <p:cNvPr id="70660" name="Rectangle 124"/>
          <p:cNvSpPr/>
          <p:nvPr/>
        </p:nvSpPr>
        <p:spPr>
          <a:xfrm>
            <a:off x="468630" y="5634355"/>
            <a:ext cx="8047355" cy="460375"/>
          </a:xfrm>
          <a:prstGeom prst="rect">
            <a:avLst/>
          </a:prstGeom>
          <a:noFill/>
          <a:ln w="9525">
            <a:noFill/>
          </a:ln>
        </p:spPr>
        <p:txBody>
          <a:bodyPr wrap="square" anchor="ctr">
            <a:spAutoFit/>
          </a:bodyPr>
          <a:lstStyle/>
          <a:p>
            <a:pPr>
              <a:spcBef>
                <a:spcPct val="0"/>
              </a:spcBef>
              <a:buClrTx/>
            </a:pPr>
            <a:r>
              <a:rPr lang="zh-CN" altLang="en-US" b="1" dirty="0">
                <a:solidFill>
                  <a:srgbClr val="030301"/>
                </a:solidFill>
                <a:latin typeface="Arial" panose="020B0604020202020204" pitchFamily="34" charset="0"/>
              </a:rPr>
              <a:t>正文指针</a:t>
            </a:r>
            <a:r>
              <a:rPr lang="en-US" altLang="zh-CN" b="1" dirty="0">
                <a:solidFill>
                  <a:srgbClr val="030301"/>
                </a:solidFill>
                <a:latin typeface="Arial" panose="020B0604020202020204" pitchFamily="34" charset="0"/>
              </a:rPr>
              <a:t>Shift by:  </a:t>
            </a:r>
            <a:r>
              <a:rPr lang="en-US" altLang="zh-CN" b="1" dirty="0">
                <a:solidFill>
                  <a:srgbClr val="030301"/>
                </a:solidFill>
                <a:sym typeface="+mn-ea"/>
              </a:rPr>
              <a:t> (i-kmpNext[i]=3- -0=3)</a:t>
            </a:r>
            <a:r>
              <a:rPr lang="en-US" altLang="zh-CN" b="1" dirty="0">
                <a:solidFill>
                  <a:srgbClr val="030301"/>
                </a:solidFill>
                <a:latin typeface="Arial" panose="020B0604020202020204" pitchFamily="34" charset="0"/>
              </a:rPr>
              <a:t> </a:t>
            </a:r>
          </a:p>
        </p:txBody>
      </p:sp>
      <p:graphicFrame>
        <p:nvGraphicFramePr>
          <p:cNvPr id="70661" name="表格 70660"/>
          <p:cNvGraphicFramePr/>
          <p:nvPr>
            <p:custDataLst>
              <p:tags r:id="rId1"/>
            </p:custDataLst>
          </p:nvPr>
        </p:nvGraphicFramePr>
        <p:xfrm>
          <a:off x="357188" y="4221163"/>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gridSpan="2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graphicFrame>
        <p:nvGraphicFramePr>
          <p:cNvPr id="70700" name="表格 70699"/>
          <p:cNvGraphicFramePr/>
          <p:nvPr/>
        </p:nvGraphicFramePr>
        <p:xfrm>
          <a:off x="357188" y="3848100"/>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sp>
        <p:nvSpPr>
          <p:cNvPr id="21197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cxnSp>
        <p:nvCxnSpPr>
          <p:cNvPr id="2" name="直接箭头连接符 1"/>
          <p:cNvCxnSpPr/>
          <p:nvPr/>
        </p:nvCxnSpPr>
        <p:spPr>
          <a:xfrm>
            <a:off x="29845" y="331533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a:off x="1360170" y="464566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 name="文本框 5"/>
          <p:cNvSpPr txBox="1"/>
          <p:nvPr/>
        </p:nvSpPr>
        <p:spPr>
          <a:xfrm>
            <a:off x="1875155" y="4679950"/>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，则下一轮子串从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a:t>
            </a:r>
            <a:r>
              <a:rPr lang="zh-CN" altLang="en-US" sz="2000">
                <a:solidFill>
                  <a:srgbClr val="FF0000"/>
                </a:solidFill>
                <a:sym typeface="+mn-ea"/>
              </a:rPr>
              <a:t>开始</a:t>
            </a:r>
          </a:p>
        </p:txBody>
      </p:sp>
      <p:graphicFrame>
        <p:nvGraphicFramePr>
          <p:cNvPr id="67588" name="表格 67587"/>
          <p:cNvGraphicFramePr/>
          <p:nvPr>
            <p:custDataLst>
              <p:tags r:id="rId2"/>
            </p:custDataLst>
          </p:nvPr>
        </p:nvGraphicFramePr>
        <p:xfrm>
          <a:off x="827723" y="980440"/>
          <a:ext cx="6802438" cy="1944688"/>
        </p:xfrm>
        <a:graphic>
          <a:graphicData uri="http://schemas.openxmlformats.org/drawingml/2006/table">
            <a:tbl>
              <a:tblPr/>
              <a:tblGrid>
                <a:gridCol w="1584325">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6263">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576263">
                  <a:extLst>
                    <a:ext uri="{9D8B030D-6E8A-4147-A177-3AD203B41FA5}">
                      <a16:colId xmlns:a16="http://schemas.microsoft.com/office/drawing/2014/main" val="20008"/>
                    </a:ext>
                  </a:extLst>
                </a:gridCol>
                <a:gridCol w="504825">
                  <a:extLst>
                    <a:ext uri="{9D8B030D-6E8A-4147-A177-3AD203B41FA5}">
                      <a16:colId xmlns:a16="http://schemas.microsoft.com/office/drawing/2014/main" val="20009"/>
                    </a:ext>
                  </a:extLst>
                </a:gridCol>
              </a:tblGrid>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8</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kmpNext</a:t>
                      </a: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800" dirty="0">
                          <a:latin typeface="Arial" panose="020B0604020202020204" pitchFamily="34" charset="0"/>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文本框 7"/>
          <p:cNvSpPr txBox="1"/>
          <p:nvPr/>
        </p:nvSpPr>
        <p:spPr>
          <a:xfrm>
            <a:off x="3779520" y="5229860"/>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下一轮正文指针跳跃距离为</a:t>
            </a:r>
            <a:r>
              <a:rPr lang="en-US" altLang="zh-CN" sz="2000">
                <a:solidFill>
                  <a:srgbClr val="FF0000"/>
                </a:solidFill>
              </a:rPr>
              <a:t>i-kmpNext[i]</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0660" grpId="1"/>
      <p:bldP spid="6" grpId="0"/>
      <p:bldP spid="6" grpId="1"/>
      <p:bldP spid="8" grpId="0"/>
      <p:bldP spid="8"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124"/>
          <p:cNvSpPr/>
          <p:nvPr/>
        </p:nvSpPr>
        <p:spPr>
          <a:xfrm>
            <a:off x="325120" y="3696970"/>
            <a:ext cx="8047355" cy="460375"/>
          </a:xfrm>
          <a:prstGeom prst="rect">
            <a:avLst/>
          </a:prstGeom>
          <a:noFill/>
          <a:ln w="9525">
            <a:noFill/>
          </a:ln>
        </p:spPr>
        <p:txBody>
          <a:bodyPr wrap="square" anchor="ctr">
            <a:spAutoFit/>
          </a:bodyPr>
          <a:lstStyle/>
          <a:p>
            <a:pPr>
              <a:spcBef>
                <a:spcPct val="0"/>
              </a:spcBef>
              <a:buClrTx/>
            </a:pPr>
            <a:r>
              <a:rPr lang="zh-CN" altLang="en-US" b="1" dirty="0">
                <a:solidFill>
                  <a:srgbClr val="030301"/>
                </a:solidFill>
                <a:latin typeface="Arial" panose="020B0604020202020204" pitchFamily="34" charset="0"/>
              </a:rPr>
              <a:t>正文指针</a:t>
            </a:r>
            <a:r>
              <a:rPr lang="en-US" altLang="zh-CN" b="1" dirty="0">
                <a:solidFill>
                  <a:srgbClr val="030301"/>
                </a:solidFill>
                <a:latin typeface="Arial" panose="020B0604020202020204" pitchFamily="34" charset="0"/>
              </a:rPr>
              <a:t>Shift by: 1 </a:t>
            </a:r>
            <a:r>
              <a:rPr lang="en-US" altLang="zh-CN" b="1" dirty="0">
                <a:solidFill>
                  <a:srgbClr val="030301"/>
                </a:solidFill>
                <a:sym typeface="+mn-ea"/>
              </a:rPr>
              <a:t> (i-kmpNext[i]=0- -1=1)</a:t>
            </a:r>
            <a:r>
              <a:rPr lang="en-US" altLang="zh-CN" b="1" dirty="0">
                <a:solidFill>
                  <a:srgbClr val="030301"/>
                </a:solidFill>
                <a:latin typeface="Arial" panose="020B0604020202020204" pitchFamily="34" charset="0"/>
              </a:rPr>
              <a:t> </a:t>
            </a:r>
          </a:p>
        </p:txBody>
      </p:sp>
      <p:graphicFrame>
        <p:nvGraphicFramePr>
          <p:cNvPr id="70661" name="表格 70660"/>
          <p:cNvGraphicFramePr/>
          <p:nvPr>
            <p:custDataLst>
              <p:tags r:id="rId1"/>
            </p:custDataLst>
          </p:nvPr>
        </p:nvGraphicFramePr>
        <p:xfrm>
          <a:off x="357188" y="2140268"/>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270">
                  <a:extLst>
                    <a:ext uri="{9D8B030D-6E8A-4147-A177-3AD203B41FA5}">
                      <a16:colId xmlns:a16="http://schemas.microsoft.com/office/drawing/2014/main" val="20007"/>
                    </a:ext>
                  </a:extLst>
                </a:gridCol>
                <a:gridCol w="381317">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a:txBody>
                    <a:body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a:txBody>
                    <a:body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gridSpan="20">
                  <a:txBody>
                    <a:body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noFill/>
                  </a:tcPr>
                </a:tc>
                <a:tc>
                  <a:txBody>
                    <a:body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noFill/>
                  </a:tcPr>
                </a:tc>
                <a:tc>
                  <a:txBody>
                    <a:body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no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A</a:t>
                      </a:r>
                    </a:p>
                  </a:txBody>
                  <a:tcPr anchor="ctr">
                    <a:lnL>
                      <a:noFill/>
                    </a:lnL>
                    <a:solidFill>
                      <a:schemeClr val="accent2">
                        <a:lumMod val="20000"/>
                        <a:lumOff val="80000"/>
                      </a:schemeClr>
                    </a:solidFill>
                  </a:tcPr>
                </a:tc>
                <a:tc>
                  <a:txBody>
                    <a:bodyPr/>
                    <a:lstStyle/>
                    <a:p>
                      <a:pPr lvl="0">
                        <a:spcBef>
                          <a:spcPct val="0"/>
                        </a:spcBef>
                        <a:buClrTx/>
                        <a:buNone/>
                      </a:pPr>
                      <a:r>
                        <a:rPr lang="en-US" altLang="zh-CN" dirty="0">
                          <a:latin typeface="Arial" panose="020B0604020202020204" pitchFamily="34" charset="0"/>
                        </a:rPr>
                        <a:t>G</a:t>
                      </a:r>
                    </a:p>
                  </a:txBody>
                  <a:tcPr anchor="ctr">
                    <a:solidFill>
                      <a:schemeClr val="accent2">
                        <a:lumMod val="20000"/>
                        <a:lumOff val="80000"/>
                      </a:schemeClr>
                    </a:solidFill>
                  </a:tcPr>
                </a:tc>
                <a:tc gridSpan="13">
                  <a:txBody>
                    <a:bodyPr/>
                    <a:lstStyle/>
                    <a:p>
                      <a:pPr>
                        <a:buNone/>
                      </a:pPr>
                      <a:endParaRPr lang="zh-CN" altLang="en-US"/>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graphicFrame>
        <p:nvGraphicFramePr>
          <p:cNvPr id="70700" name="表格 70699"/>
          <p:cNvGraphicFramePr/>
          <p:nvPr/>
        </p:nvGraphicFramePr>
        <p:xfrm>
          <a:off x="357188" y="1767205"/>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808080"/>
                    </a:solidFill>
                  </a:tcPr>
                </a:tc>
                <a:tc>
                  <a:txBody>
                    <a:body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3" name="直接箭头连接符 2"/>
          <p:cNvCxnSpPr/>
          <p:nvPr/>
        </p:nvCxnSpPr>
        <p:spPr>
          <a:xfrm>
            <a:off x="29845" y="123444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4" name="直接箭头连接符 3"/>
          <p:cNvCxnSpPr/>
          <p:nvPr/>
        </p:nvCxnSpPr>
        <p:spPr>
          <a:xfrm>
            <a:off x="1376680" y="121793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a:off x="1360170" y="256476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 name="文本框 5"/>
          <p:cNvSpPr txBox="1"/>
          <p:nvPr/>
        </p:nvSpPr>
        <p:spPr>
          <a:xfrm>
            <a:off x="1875155" y="2599055"/>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，则下一轮子串从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a:t>
            </a:r>
            <a:r>
              <a:rPr lang="zh-CN" altLang="en-US" sz="2000">
                <a:solidFill>
                  <a:srgbClr val="FF0000"/>
                </a:solidFill>
                <a:sym typeface="+mn-ea"/>
              </a:rPr>
              <a:t>开始</a:t>
            </a:r>
          </a:p>
        </p:txBody>
      </p:sp>
      <p:sp>
        <p:nvSpPr>
          <p:cNvPr id="72706" name="Rectangle 4"/>
          <p:cNvSpPr/>
          <p:nvPr/>
        </p:nvSpPr>
        <p:spPr>
          <a:xfrm>
            <a:off x="393700" y="1001713"/>
            <a:ext cx="25336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Second attempt</a:t>
            </a:r>
            <a:r>
              <a:rPr lang="en-US" altLang="zh-CN" sz="1800" dirty="0">
                <a:latin typeface="Arial" panose="020B0604020202020204" pitchFamily="34" charset="0"/>
              </a:rPr>
              <a:t> </a:t>
            </a:r>
          </a:p>
        </p:txBody>
      </p:sp>
      <p:sp>
        <p:nvSpPr>
          <p:cNvPr id="211970" name="Rectangle 2"/>
          <p:cNvSpPr>
            <a:spLocks noGrp="1" noRot="1" noChangeArrowheads="1"/>
          </p:cNvSpPr>
          <p:nvPr>
            <p:ph type="title"/>
          </p:nvPr>
        </p:nvSpPr>
        <p:spPr>
          <a:xfrm>
            <a:off x="628650" y="-17780"/>
            <a:ext cx="7886700" cy="101219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pic>
        <p:nvPicPr>
          <p:cNvPr id="9" name="内容占位符 8"/>
          <p:cNvPicPr>
            <a:picLocks noGrp="1" noChangeAspect="1"/>
          </p:cNvPicPr>
          <p:nvPr>
            <p:ph idx="1"/>
          </p:nvPr>
        </p:nvPicPr>
        <p:blipFill>
          <a:blip r:embed="rId3"/>
          <a:srcRect l="35395" t="46608" r="29002" b="48526"/>
          <a:stretch>
            <a:fillRect/>
          </a:stretch>
        </p:blipFill>
        <p:spPr>
          <a:xfrm>
            <a:off x="755650" y="2975610"/>
            <a:ext cx="6229350" cy="596900"/>
          </a:xfrm>
          <a:prstGeom prst="rect">
            <a:avLst/>
          </a:prstGeom>
        </p:spPr>
      </p:pic>
      <p:sp>
        <p:nvSpPr>
          <p:cNvPr id="10" name="矩形 9"/>
          <p:cNvSpPr/>
          <p:nvPr/>
        </p:nvSpPr>
        <p:spPr>
          <a:xfrm>
            <a:off x="6444615" y="2996565"/>
            <a:ext cx="2708275" cy="10801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73710" y="4777105"/>
            <a:ext cx="6835775" cy="460375"/>
          </a:xfrm>
          <a:prstGeom prst="rect">
            <a:avLst/>
          </a:prstGeom>
          <a:noFill/>
        </p:spPr>
        <p:txBody>
          <a:bodyPr wrap="square" rtlCol="0">
            <a:spAutoFit/>
          </a:bodyPr>
          <a:lstStyle/>
          <a:p>
            <a:r>
              <a:rPr lang="zh-CN" altLang="en-US">
                <a:solidFill>
                  <a:srgbClr val="FF0000"/>
                </a:solidFill>
              </a:rPr>
              <a:t>问题：同一位置匹配两次，如何优化？</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0660" grpId="1"/>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p:nvPr/>
        </p:nvSpPr>
        <p:spPr>
          <a:xfrm>
            <a:off x="393700" y="928370"/>
            <a:ext cx="2193290" cy="460375"/>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Third attempt</a:t>
            </a:r>
            <a:r>
              <a:rPr lang="en-US" altLang="zh-CN" sz="1800" dirty="0">
                <a:latin typeface="Arial" panose="020B0604020202020204" pitchFamily="34" charset="0"/>
              </a:rPr>
              <a:t> </a:t>
            </a:r>
          </a:p>
        </p:txBody>
      </p:sp>
      <p:graphicFrame>
        <p:nvGraphicFramePr>
          <p:cNvPr id="72707" name="表格 72706"/>
          <p:cNvGraphicFramePr/>
          <p:nvPr>
            <p:custDataLst>
              <p:tags r:id="rId1"/>
            </p:custDataLst>
          </p:nvPr>
        </p:nvGraphicFramePr>
        <p:xfrm>
          <a:off x="357188" y="1987868"/>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6713">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6713">
                  <a:extLst>
                    <a:ext uri="{9D8B030D-6E8A-4147-A177-3AD203B41FA5}">
                      <a16:colId xmlns:a16="http://schemas.microsoft.com/office/drawing/2014/main" val="20006"/>
                    </a:ext>
                  </a:extLst>
                </a:gridCol>
                <a:gridCol w="3810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81000">
                  <a:extLst>
                    <a:ext uri="{9D8B030D-6E8A-4147-A177-3AD203B41FA5}">
                      <a16:colId xmlns:a16="http://schemas.microsoft.com/office/drawing/2014/main" val="20009"/>
                    </a:ext>
                  </a:extLst>
                </a:gridCol>
                <a:gridCol w="379412">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39725">
                  <a:extLst>
                    <a:ext uri="{9D8B030D-6E8A-4147-A177-3AD203B41FA5}">
                      <a16:colId xmlns:a16="http://schemas.microsoft.com/office/drawing/2014/main" val="20013"/>
                    </a:ext>
                  </a:extLst>
                </a:gridCol>
                <a:gridCol w="354013">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4013">
                  <a:extLst>
                    <a:ext uri="{9D8B030D-6E8A-4147-A177-3AD203B41FA5}">
                      <a16:colId xmlns:a16="http://schemas.microsoft.com/office/drawing/2014/main" val="20016"/>
                    </a:ext>
                  </a:extLst>
                </a:gridCol>
                <a:gridCol w="366712">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1000">
                  <a:extLst>
                    <a:ext uri="{9D8B030D-6E8A-4147-A177-3AD203B41FA5}">
                      <a16:colId xmlns:a16="http://schemas.microsoft.com/office/drawing/2014/main" val="20019"/>
                    </a:ext>
                  </a:extLst>
                </a:gridCol>
                <a:gridCol w="339725">
                  <a:extLst>
                    <a:ext uri="{9D8B030D-6E8A-4147-A177-3AD203B41FA5}">
                      <a16:colId xmlns:a16="http://schemas.microsoft.com/office/drawing/2014/main" val="20020"/>
                    </a:ext>
                  </a:extLst>
                </a:gridCol>
                <a:gridCol w="354012">
                  <a:extLst>
                    <a:ext uri="{9D8B030D-6E8A-4147-A177-3AD203B41FA5}">
                      <a16:colId xmlns:a16="http://schemas.microsoft.com/office/drawing/2014/main" val="20021"/>
                    </a:ext>
                  </a:extLst>
                </a:gridCol>
                <a:gridCol w="366713">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dirty="0">
                          <a:latin typeface="Arial" panose="020B0604020202020204" pitchFamily="34" charset="0"/>
                        </a:rPr>
                        <a:t> i=</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gridSpan="1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2745" name="Rectangle 121"/>
          <p:cNvSpPr/>
          <p:nvPr/>
        </p:nvSpPr>
        <p:spPr>
          <a:xfrm>
            <a:off x="393700" y="3375660"/>
            <a:ext cx="7517765" cy="460375"/>
          </a:xfrm>
          <a:prstGeom prst="rect">
            <a:avLst/>
          </a:prstGeom>
          <a:noFill/>
          <a:ln w="9525">
            <a:noFill/>
          </a:ln>
        </p:spPr>
        <p:txBody>
          <a:bodyPr wrap="square" anchor="ctr">
            <a:spAutoFit/>
          </a:bodyPr>
          <a:lstStyle/>
          <a:p>
            <a:pPr>
              <a:spcBef>
                <a:spcPct val="0"/>
              </a:spcBef>
              <a:buClrTx/>
            </a:pPr>
            <a:r>
              <a:rPr lang="zh-CN" altLang="en-US" b="1" dirty="0">
                <a:solidFill>
                  <a:srgbClr val="030301"/>
                </a:solidFill>
                <a:latin typeface="Arial" panose="020B0604020202020204" pitchFamily="34" charset="0"/>
              </a:rPr>
              <a:t>正文指针</a:t>
            </a:r>
            <a:r>
              <a:rPr lang="en-US" altLang="zh-CN" b="1" dirty="0">
                <a:solidFill>
                  <a:srgbClr val="030301"/>
                </a:solidFill>
                <a:latin typeface="Arial" panose="020B0604020202020204" pitchFamily="34" charset="0"/>
              </a:rPr>
              <a:t>Shift by: 1 </a:t>
            </a:r>
            <a:r>
              <a:rPr lang="en-US" altLang="zh-CN" b="1" dirty="0">
                <a:solidFill>
                  <a:srgbClr val="030301"/>
                </a:solidFill>
                <a:sym typeface="+mn-ea"/>
              </a:rPr>
              <a:t> (i-kmpNext[i]=0- -1)</a:t>
            </a:r>
            <a:r>
              <a:rPr lang="en-US" altLang="zh-CN" b="1" dirty="0">
                <a:solidFill>
                  <a:srgbClr val="030301"/>
                </a:solidFill>
                <a:latin typeface="Arial" panose="020B0604020202020204" pitchFamily="34" charset="0"/>
              </a:rPr>
              <a:t> </a:t>
            </a:r>
          </a:p>
        </p:txBody>
      </p:sp>
      <p:graphicFrame>
        <p:nvGraphicFramePr>
          <p:cNvPr id="72793" name="表格 72792"/>
          <p:cNvGraphicFramePr/>
          <p:nvPr/>
        </p:nvGraphicFramePr>
        <p:xfrm>
          <a:off x="357188" y="1573530"/>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70205">
                  <a:extLst>
                    <a:ext uri="{9D8B030D-6E8A-4147-A177-3AD203B41FA5}">
                      <a16:colId xmlns:a16="http://schemas.microsoft.com/office/drawing/2014/main" val="20003"/>
                    </a:ext>
                  </a:extLst>
                </a:gridCol>
                <a:gridCol w="380683">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0</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1</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2</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3</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4</a:t>
                      </a:r>
                    </a:p>
                  </a:txBody>
                  <a:tcPr anchor="ctr">
                    <a:lnL>
                      <a:noFill/>
                    </a:lnL>
                    <a:lnR>
                      <a:noFill/>
                    </a:lnR>
                    <a:lnT>
                      <a:noFill/>
                    </a:lnT>
                    <a:lnB>
                      <a:noFill/>
                    </a:lnB>
                    <a:lnTlToBr>
                      <a:noFill/>
                    </a:lnTlToBr>
                    <a:lnBlToTr>
                      <a:noFill/>
                    </a:lnBlToTr>
                    <a:solidFill>
                      <a:schemeClr val="accent6"/>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sp>
        <p:nvSpPr>
          <p:cNvPr id="211970" name="Rectangle 2"/>
          <p:cNvSpPr>
            <a:spLocks noGrp="1" noRot="1" noChangeArrowheads="1"/>
          </p:cNvSpPr>
          <p:nvPr>
            <p:ph type="title"/>
          </p:nvPr>
        </p:nvSpPr>
        <p:spPr>
          <a:xfrm>
            <a:off x="628650" y="-17780"/>
            <a:ext cx="7886700" cy="101219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cxnSp>
        <p:nvCxnSpPr>
          <p:cNvPr id="2" name="直接箭头连接符 1"/>
          <p:cNvCxnSpPr/>
          <p:nvPr/>
        </p:nvCxnSpPr>
        <p:spPr>
          <a:xfrm>
            <a:off x="1663700" y="100266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2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5" grpId="0"/>
      <p:bldP spid="7274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28</a:t>
            </a:fld>
            <a:endParaRPr lang="en-US" altLang="zh-CN" sz="1400" dirty="0"/>
          </a:p>
        </p:txBody>
      </p:sp>
      <p:sp>
        <p:nvSpPr>
          <p:cNvPr id="214020" name="Rectangle 4"/>
          <p:cNvSpPr>
            <a:spLocks noGrp="1" noRot="1" noChangeArrowheads="1"/>
          </p:cNvSpPr>
          <p:nvPr>
            <p:ph type="title"/>
          </p:nvPr>
        </p:nvSpPr>
        <p:spPr>
          <a:xfrm>
            <a:off x="628650" y="-17780"/>
            <a:ext cx="8252460" cy="1325880"/>
          </a:xfrm>
        </p:spPr>
        <p:txBody>
          <a:bodyPr vert="horz" wrap="square" lIns="91440" tIns="45720" rIns="91440" bIns="45720" numCol="1" anchor="ctr" anchorCtr="0" compatLnSpc="1"/>
          <a:lstStyle/>
          <a:p>
            <a:pPr algn="l" eaLnBrk="1" hangingPunct="1"/>
            <a:r>
              <a:rPr lang="en-US" altLang="zh-CN" dirty="0">
                <a:effectLst>
                  <a:outerShdw blurRad="38100" dist="38100" dir="2700000">
                    <a:srgbClr val="000000"/>
                  </a:outerShdw>
                </a:effectLst>
              </a:rPr>
              <a:t>KMP</a:t>
            </a:r>
            <a:r>
              <a:rPr lang="zh-CN" altLang="en-US" dirty="0">
                <a:effectLst>
                  <a:outerShdw blurRad="38100" dist="38100" dir="2700000">
                    <a:srgbClr val="000000"/>
                  </a:outerShdw>
                </a:effectLst>
              </a:rPr>
              <a:t>算法的优化：首字母的</a:t>
            </a:r>
            <a:r>
              <a:rPr lang="en-US" altLang="zh-CN" dirty="0">
                <a:effectLst>
                  <a:outerShdw blurRad="38100" dist="38100" dir="2700000">
                    <a:srgbClr val="000000"/>
                  </a:outerShdw>
                </a:effectLst>
              </a:rPr>
              <a:t>Next[i]</a:t>
            </a:r>
            <a:r>
              <a:rPr lang="zh-CN" altLang="en-US" dirty="0">
                <a:effectLst>
                  <a:outerShdw blurRad="38100" dist="38100" dir="2700000">
                    <a:srgbClr val="000000"/>
                  </a:outerShdw>
                </a:effectLst>
              </a:rPr>
              <a:t>赋值为</a:t>
            </a:r>
            <a:r>
              <a:rPr lang="en-US" altLang="zh-CN" dirty="0">
                <a:effectLst>
                  <a:outerShdw blurRad="38100" dist="38100" dir="2700000">
                    <a:srgbClr val="000000"/>
                  </a:outerShdw>
                </a:effectLst>
              </a:rPr>
              <a:t>-1</a:t>
            </a:r>
          </a:p>
        </p:txBody>
      </p:sp>
      <p:sp>
        <p:nvSpPr>
          <p:cNvPr id="67587" name="Rectangle 5"/>
          <p:cNvSpPr>
            <a:spLocks noGrp="1" noRot="1"/>
          </p:cNvSpPr>
          <p:nvPr>
            <p:ph idx="1"/>
          </p:nvPr>
        </p:nvSpPr>
        <p:spPr/>
        <p:txBody>
          <a:bodyPr vert="horz" wrap="square" lIns="91440" tIns="45720" rIns="91440" bIns="45720" anchor="t"/>
          <a:lstStyle/>
          <a:p>
            <a:pPr eaLnBrk="1" hangingPunct="1">
              <a:lnSpc>
                <a:spcPct val="80000"/>
              </a:lnSpc>
            </a:pPr>
            <a:r>
              <a:rPr lang="zh-CN" altLang="en-US" sz="2400" dirty="0"/>
              <a:t>文本：</a:t>
            </a:r>
            <a:r>
              <a:rPr lang="en-US" altLang="zh-CN" sz="2400" dirty="0"/>
              <a:t>GCATCGCAGAGAGTATACAGTACG</a:t>
            </a:r>
          </a:p>
          <a:p>
            <a:pPr eaLnBrk="1" hangingPunct="1">
              <a:lnSpc>
                <a:spcPct val="80000"/>
              </a:lnSpc>
            </a:pPr>
            <a:r>
              <a:rPr lang="zh-CN" altLang="en-US" sz="2400" dirty="0"/>
              <a:t>模式：</a:t>
            </a:r>
            <a:r>
              <a:rPr lang="en-US" altLang="zh-CN" sz="2400" dirty="0">
                <a:solidFill>
                  <a:srgbClr val="FF0000"/>
                </a:solidFill>
              </a:rPr>
              <a:t>G</a:t>
            </a:r>
            <a:r>
              <a:rPr lang="en-US" altLang="zh-CN" sz="2400" dirty="0"/>
              <a:t>CA</a:t>
            </a:r>
            <a:r>
              <a:rPr lang="en-US" altLang="zh-CN" sz="2400" dirty="0">
                <a:solidFill>
                  <a:srgbClr val="FF0000"/>
                </a:solidFill>
              </a:rPr>
              <a:t>G</a:t>
            </a:r>
            <a:r>
              <a:rPr lang="en-US" altLang="zh-CN" sz="2400" dirty="0"/>
              <a:t>A</a:t>
            </a:r>
            <a:r>
              <a:rPr lang="en-US" altLang="zh-CN" sz="2400" dirty="0">
                <a:solidFill>
                  <a:srgbClr val="FF0000"/>
                </a:solidFill>
              </a:rPr>
              <a:t>G</a:t>
            </a:r>
            <a:r>
              <a:rPr lang="en-US" altLang="zh-CN" sz="2400" dirty="0"/>
              <a:t>A</a:t>
            </a:r>
            <a:r>
              <a:rPr lang="en-US" altLang="zh-CN" sz="2400" dirty="0">
                <a:solidFill>
                  <a:srgbClr val="FF0000"/>
                </a:solidFill>
              </a:rPr>
              <a:t>G</a:t>
            </a:r>
            <a:endParaRPr lang="en-US" altLang="zh-CN" sz="2400" dirty="0"/>
          </a:p>
          <a:p>
            <a:pPr eaLnBrk="1" hangingPunct="1">
              <a:lnSpc>
                <a:spcPct val="80000"/>
              </a:lnSpc>
              <a:buNone/>
            </a:pPr>
            <a:endParaRPr lang="en-US" altLang="zh-CN" sz="2400" dirty="0"/>
          </a:p>
          <a:p>
            <a:pPr eaLnBrk="1" hangingPunct="1">
              <a:lnSpc>
                <a:spcPct val="80000"/>
              </a:lnSpc>
              <a:buNone/>
            </a:pPr>
            <a:r>
              <a:rPr lang="zh-CN" altLang="en-US" sz="2400" dirty="0"/>
              <a:t>计算</a:t>
            </a:r>
            <a:r>
              <a:rPr lang="en-US" altLang="zh-CN" sz="2400" dirty="0">
                <a:cs typeface="Times New Roman" panose="02020603050405020304" charset="0"/>
              </a:rPr>
              <a:t>kmpNext[i]</a:t>
            </a:r>
            <a:endParaRPr lang="en-US" altLang="zh-CN" sz="2400" dirty="0">
              <a:ea typeface="Times New Roman" panose="02020603050405020304" charset="0"/>
            </a:endParaRPr>
          </a:p>
        </p:txBody>
      </p:sp>
      <p:graphicFrame>
        <p:nvGraphicFramePr>
          <p:cNvPr id="67588" name="表格 67587"/>
          <p:cNvGraphicFramePr/>
          <p:nvPr>
            <p:custDataLst>
              <p:tags r:id="rId1"/>
            </p:custDataLst>
          </p:nvPr>
        </p:nvGraphicFramePr>
        <p:xfrm>
          <a:off x="684213" y="3213100"/>
          <a:ext cx="6802438" cy="1944688"/>
        </p:xfrm>
        <a:graphic>
          <a:graphicData uri="http://schemas.openxmlformats.org/drawingml/2006/table">
            <a:tbl>
              <a:tblPr/>
              <a:tblGrid>
                <a:gridCol w="1584325">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76263">
                  <a:extLst>
                    <a:ext uri="{9D8B030D-6E8A-4147-A177-3AD203B41FA5}">
                      <a16:colId xmlns:a16="http://schemas.microsoft.com/office/drawing/2014/main" val="20003"/>
                    </a:ext>
                  </a:extLst>
                </a:gridCol>
                <a:gridCol w="576262">
                  <a:extLst>
                    <a:ext uri="{9D8B030D-6E8A-4147-A177-3AD203B41FA5}">
                      <a16:colId xmlns:a16="http://schemas.microsoft.com/office/drawing/2014/main" val="20004"/>
                    </a:ext>
                  </a:extLst>
                </a:gridCol>
                <a:gridCol w="576263">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574675">
                  <a:extLst>
                    <a:ext uri="{9D8B030D-6E8A-4147-A177-3AD203B41FA5}">
                      <a16:colId xmlns:a16="http://schemas.microsoft.com/office/drawing/2014/main" val="20007"/>
                    </a:ext>
                  </a:extLst>
                </a:gridCol>
                <a:gridCol w="576263">
                  <a:extLst>
                    <a:ext uri="{9D8B030D-6E8A-4147-A177-3AD203B41FA5}">
                      <a16:colId xmlns:a16="http://schemas.microsoft.com/office/drawing/2014/main" val="20008"/>
                    </a:ext>
                  </a:extLst>
                </a:gridCol>
                <a:gridCol w="504825">
                  <a:extLst>
                    <a:ext uri="{9D8B030D-6E8A-4147-A177-3AD203B41FA5}">
                      <a16:colId xmlns:a16="http://schemas.microsoft.com/office/drawing/2014/main" val="20009"/>
                    </a:ext>
                  </a:extLst>
                </a:gridCol>
              </a:tblGrid>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8</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20000"/>
                        </a:spcBef>
                        <a:buClr>
                          <a:schemeClr val="hlink"/>
                        </a:buClr>
                        <a:buFont typeface="Wingdings" panose="05000000000000000000" pitchFamily="2" charset="2"/>
                        <a:buNone/>
                      </a:pPr>
                      <a:endParaRPr lang="zh-CN" altLang="en-US" b="1" dirty="0">
                        <a:solidFill>
                          <a:srgbClr val="030301"/>
                        </a:solidFill>
                        <a:latin typeface="Arial" panose="020B0604020202020204" pitchFamily="3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kmpNext</a:t>
                      </a: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7634" name="Text Box 603"/>
          <p:cNvSpPr txBox="1"/>
          <p:nvPr/>
        </p:nvSpPr>
        <p:spPr>
          <a:xfrm>
            <a:off x="1547813" y="5300663"/>
            <a:ext cx="5184775" cy="457200"/>
          </a:xfrm>
          <a:prstGeom prst="rect">
            <a:avLst/>
          </a:prstGeom>
          <a:noFill/>
          <a:ln w="9525">
            <a:noFill/>
          </a:ln>
        </p:spPr>
        <p:txBody>
          <a:bodyPr>
            <a:spAutoFit/>
          </a:bodyPr>
          <a:lstStyle/>
          <a:p>
            <a:pPr algn="ctr">
              <a:buClrTx/>
            </a:pPr>
            <a:r>
              <a:rPr lang="en-US" altLang="zh-CN" b="1" i="1" dirty="0">
                <a:solidFill>
                  <a:srgbClr val="030301"/>
                </a:solidFill>
                <a:latin typeface="Arial" panose="020B0604020202020204" pitchFamily="34" charset="0"/>
              </a:rPr>
              <a:t>kmpNext</a:t>
            </a:r>
            <a:r>
              <a:rPr lang="zh-CN" altLang="en-US" b="1" dirty="0">
                <a:solidFill>
                  <a:srgbClr val="030301"/>
                </a:solidFill>
                <a:latin typeface="Arial" panose="020B0604020202020204" pitchFamily="34" charset="0"/>
              </a:rPr>
              <a:t>表</a:t>
            </a:r>
          </a:p>
        </p:txBody>
      </p:sp>
      <p:sp>
        <p:nvSpPr>
          <p:cNvPr id="67635" name="AutoShape 53"/>
          <p:cNvSpPr/>
          <p:nvPr/>
        </p:nvSpPr>
        <p:spPr>
          <a:xfrm>
            <a:off x="5364163" y="5489575"/>
            <a:ext cx="2808287" cy="963613"/>
          </a:xfrm>
          <a:prstGeom prst="wedgeRectCallout">
            <a:avLst>
              <a:gd name="adj1" fmla="val -64301"/>
              <a:gd name="adj2" fmla="val -108977"/>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zh-CN" altLang="en-US" sz="1800" b="1" dirty="0">
                <a:latin typeface="Arial" panose="020B0604020202020204" pitchFamily="34" charset="0"/>
              </a:rPr>
              <a:t>前面已匹配过的“</a:t>
            </a:r>
            <a:r>
              <a:rPr lang="en-US" altLang="zh-CN" sz="1800" b="1" dirty="0">
                <a:latin typeface="Arial" panose="020B0604020202020204" pitchFamily="34" charset="0"/>
              </a:rPr>
              <a:t>GCA</a:t>
            </a:r>
            <a:r>
              <a:rPr lang="en-US" altLang="zh-CN" sz="1800" b="1" dirty="0">
                <a:solidFill>
                  <a:srgbClr val="FF3300"/>
                </a:solidFill>
                <a:latin typeface="Arial" panose="020B0604020202020204" pitchFamily="34" charset="0"/>
              </a:rPr>
              <a:t>G</a:t>
            </a:r>
            <a:r>
              <a:rPr lang="en-US" altLang="zh-CN" sz="1800" b="1" dirty="0">
                <a:latin typeface="Arial" panose="020B0604020202020204" pitchFamily="34" charset="0"/>
              </a:rPr>
              <a:t>”</a:t>
            </a:r>
            <a:r>
              <a:rPr lang="zh-CN" altLang="en-US" sz="1800" b="1" dirty="0">
                <a:latin typeface="Arial" panose="020B0604020202020204" pitchFamily="34" charset="0"/>
              </a:rPr>
              <a:t>中出现的重复前缀是</a:t>
            </a:r>
            <a:r>
              <a:rPr lang="en-US" altLang="zh-CN" sz="1800" b="1" dirty="0">
                <a:solidFill>
                  <a:srgbClr val="FF3300"/>
                </a:solidFill>
                <a:latin typeface="Arial" panose="020B0604020202020204" pitchFamily="34" charset="0"/>
              </a:rPr>
              <a:t>G</a:t>
            </a:r>
            <a:r>
              <a:rPr lang="en-US" altLang="zh-CN" sz="1800" b="1" dirty="0">
                <a:latin typeface="Arial" panose="020B0604020202020204" pitchFamily="34" charset="0"/>
              </a:rPr>
              <a:t>,</a:t>
            </a:r>
          </a:p>
          <a:p>
            <a:pPr algn="ctr">
              <a:spcBef>
                <a:spcPct val="0"/>
              </a:spcBef>
              <a:buClrTx/>
            </a:pPr>
            <a:r>
              <a:rPr lang="zh-CN" altLang="en-US" sz="1800" b="1" dirty="0">
                <a:latin typeface="Arial" panose="020B0604020202020204" pitchFamily="34" charset="0"/>
              </a:rPr>
              <a:t>其长度为</a:t>
            </a:r>
            <a:r>
              <a:rPr lang="en-US" altLang="zh-CN" sz="1800" b="1" dirty="0">
                <a:solidFill>
                  <a:srgbClr val="FF3300"/>
                </a:solidFill>
                <a:latin typeface="Arial" panose="020B0604020202020204" pitchFamily="34" charset="0"/>
              </a:rPr>
              <a:t>1</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29</a:t>
            </a:fld>
            <a:endParaRPr lang="en-US" altLang="zh-CN" sz="1400" dirty="0"/>
          </a:p>
        </p:txBody>
      </p:sp>
      <p:pic>
        <p:nvPicPr>
          <p:cNvPr id="70658" name="Picture 4" descr="kmptab1"/>
          <p:cNvPicPr>
            <a:picLocks noGrp="1" noChangeAspect="1"/>
          </p:cNvPicPr>
          <p:nvPr>
            <p:ph idx="4294967295"/>
          </p:nvPr>
        </p:nvPicPr>
        <p:blipFill>
          <a:blip r:embed="rId4"/>
          <a:srcRect/>
          <a:stretch>
            <a:fillRect/>
          </a:stretch>
        </p:blipFill>
        <p:spPr>
          <a:xfrm>
            <a:off x="215265" y="908685"/>
            <a:ext cx="6769100" cy="1945005"/>
          </a:xfrm>
        </p:spPr>
      </p:pic>
      <p:sp>
        <p:nvSpPr>
          <p:cNvPr id="70659" name="Rectangle 6"/>
          <p:cNvSpPr/>
          <p:nvPr/>
        </p:nvSpPr>
        <p:spPr>
          <a:xfrm>
            <a:off x="428625" y="2784475"/>
            <a:ext cx="2093913"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First attempt</a:t>
            </a:r>
            <a:r>
              <a:rPr lang="en-US" altLang="zh-CN" sz="1800" dirty="0">
                <a:latin typeface="Arial" panose="020B0604020202020204" pitchFamily="34" charset="0"/>
              </a:rPr>
              <a:t> </a:t>
            </a:r>
          </a:p>
        </p:txBody>
      </p:sp>
      <p:sp>
        <p:nvSpPr>
          <p:cNvPr id="70660" name="Rectangle 124"/>
          <p:cNvSpPr/>
          <p:nvPr/>
        </p:nvSpPr>
        <p:spPr>
          <a:xfrm>
            <a:off x="468630" y="5634355"/>
            <a:ext cx="8047355" cy="460375"/>
          </a:xfrm>
          <a:prstGeom prst="rect">
            <a:avLst/>
          </a:prstGeom>
          <a:noFill/>
          <a:ln w="9525">
            <a:noFill/>
          </a:ln>
        </p:spPr>
        <p:txBody>
          <a:bodyPr wrap="square" anchor="ctr">
            <a:spAutoFit/>
          </a:bodyPr>
          <a:lstStyle/>
          <a:p>
            <a:pPr>
              <a:spcBef>
                <a:spcPct val="0"/>
              </a:spcBef>
              <a:buClrTx/>
            </a:pPr>
            <a:r>
              <a:rPr lang="en-US" altLang="zh-CN" b="1" dirty="0">
                <a:solidFill>
                  <a:srgbClr val="030301"/>
                </a:solidFill>
                <a:latin typeface="Arial" panose="020B0604020202020204" pitchFamily="34" charset="0"/>
              </a:rPr>
              <a:t>Shift by: 4 </a:t>
            </a:r>
            <a:r>
              <a:rPr lang="en-US" altLang="zh-CN" b="1" dirty="0">
                <a:solidFill>
                  <a:srgbClr val="030301"/>
                </a:solidFill>
                <a:sym typeface="+mn-ea"/>
              </a:rPr>
              <a:t> (i-kmpNext[i]=3- -1=4)</a:t>
            </a:r>
            <a:r>
              <a:rPr lang="en-US" altLang="zh-CN" b="1" dirty="0">
                <a:solidFill>
                  <a:srgbClr val="030301"/>
                </a:solidFill>
                <a:latin typeface="Arial" panose="020B0604020202020204" pitchFamily="34" charset="0"/>
              </a:rPr>
              <a:t> </a:t>
            </a:r>
          </a:p>
        </p:txBody>
      </p:sp>
      <p:graphicFrame>
        <p:nvGraphicFramePr>
          <p:cNvPr id="70661" name="表格 70660"/>
          <p:cNvGraphicFramePr/>
          <p:nvPr>
            <p:custDataLst>
              <p:tags r:id="rId1"/>
            </p:custDataLst>
          </p:nvPr>
        </p:nvGraphicFramePr>
        <p:xfrm>
          <a:off x="357188" y="4221163"/>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gridSpan="2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graphicFrame>
        <p:nvGraphicFramePr>
          <p:cNvPr id="70700" name="表格 70699"/>
          <p:cNvGraphicFramePr/>
          <p:nvPr/>
        </p:nvGraphicFramePr>
        <p:xfrm>
          <a:off x="357188" y="3848100"/>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2" name="直接箭头连接符 1"/>
          <p:cNvCxnSpPr/>
          <p:nvPr/>
        </p:nvCxnSpPr>
        <p:spPr>
          <a:xfrm>
            <a:off x="29845" y="331533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3" name="直接箭头连接符 2"/>
          <p:cNvCxnSpPr/>
          <p:nvPr/>
        </p:nvCxnSpPr>
        <p:spPr>
          <a:xfrm>
            <a:off x="1663700" y="329882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a:off x="1360170" y="464566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 name="文本框 5"/>
          <p:cNvSpPr txBox="1"/>
          <p:nvPr/>
        </p:nvSpPr>
        <p:spPr>
          <a:xfrm>
            <a:off x="1875155" y="4679950"/>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a:t>
            </a:r>
            <a:r>
              <a:rPr lang="zh-CN" altLang="en-US" sz="2000">
                <a:solidFill>
                  <a:srgbClr val="FF0000"/>
                </a:solidFill>
                <a:sym typeface="+mn-ea"/>
              </a:rPr>
              <a:t>开始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0660" grpId="1"/>
      <p:bldP spid="6" grpId="0"/>
      <p:bldP spid="6"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72706" name="Rectangle 4"/>
          <p:cNvSpPr/>
          <p:nvPr/>
        </p:nvSpPr>
        <p:spPr>
          <a:xfrm>
            <a:off x="393700" y="786448"/>
            <a:ext cx="25336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Second attempt</a:t>
            </a:r>
            <a:r>
              <a:rPr lang="en-US" altLang="zh-CN" sz="1800" dirty="0">
                <a:latin typeface="Arial" panose="020B0604020202020204" pitchFamily="34" charset="0"/>
              </a:rPr>
              <a:t> </a:t>
            </a:r>
          </a:p>
        </p:txBody>
      </p:sp>
      <p:graphicFrame>
        <p:nvGraphicFramePr>
          <p:cNvPr id="72707" name="表格 72706"/>
          <p:cNvGraphicFramePr/>
          <p:nvPr>
            <p:custDataLst>
              <p:tags r:id="rId1"/>
            </p:custDataLst>
          </p:nvPr>
        </p:nvGraphicFramePr>
        <p:xfrm>
          <a:off x="357188" y="1557338"/>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6713">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6713">
                  <a:extLst>
                    <a:ext uri="{9D8B030D-6E8A-4147-A177-3AD203B41FA5}">
                      <a16:colId xmlns:a16="http://schemas.microsoft.com/office/drawing/2014/main" val="20006"/>
                    </a:ext>
                  </a:extLst>
                </a:gridCol>
                <a:gridCol w="3810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81000">
                  <a:extLst>
                    <a:ext uri="{9D8B030D-6E8A-4147-A177-3AD203B41FA5}">
                      <a16:colId xmlns:a16="http://schemas.microsoft.com/office/drawing/2014/main" val="20009"/>
                    </a:ext>
                  </a:extLst>
                </a:gridCol>
                <a:gridCol w="379412">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39725">
                  <a:extLst>
                    <a:ext uri="{9D8B030D-6E8A-4147-A177-3AD203B41FA5}">
                      <a16:colId xmlns:a16="http://schemas.microsoft.com/office/drawing/2014/main" val="20013"/>
                    </a:ext>
                  </a:extLst>
                </a:gridCol>
                <a:gridCol w="354013">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4013">
                  <a:extLst>
                    <a:ext uri="{9D8B030D-6E8A-4147-A177-3AD203B41FA5}">
                      <a16:colId xmlns:a16="http://schemas.microsoft.com/office/drawing/2014/main" val="20016"/>
                    </a:ext>
                  </a:extLst>
                </a:gridCol>
                <a:gridCol w="366712">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1000">
                  <a:extLst>
                    <a:ext uri="{9D8B030D-6E8A-4147-A177-3AD203B41FA5}">
                      <a16:colId xmlns:a16="http://schemas.microsoft.com/office/drawing/2014/main" val="20019"/>
                    </a:ext>
                  </a:extLst>
                </a:gridCol>
                <a:gridCol w="339725">
                  <a:extLst>
                    <a:ext uri="{9D8B030D-6E8A-4147-A177-3AD203B41FA5}">
                      <a16:colId xmlns:a16="http://schemas.microsoft.com/office/drawing/2014/main" val="20020"/>
                    </a:ext>
                  </a:extLst>
                </a:gridCol>
                <a:gridCol w="354012">
                  <a:extLst>
                    <a:ext uri="{9D8B030D-6E8A-4147-A177-3AD203B41FA5}">
                      <a16:colId xmlns:a16="http://schemas.microsoft.com/office/drawing/2014/main" val="20021"/>
                    </a:ext>
                  </a:extLst>
                </a:gridCol>
                <a:gridCol w="366713">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dirty="0">
                          <a:latin typeface="Arial" panose="020B0604020202020204" pitchFamily="34" charset="0"/>
                        </a:rPr>
                        <a:t> i=</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gridSpan="1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2745" name="Rectangle 121"/>
          <p:cNvSpPr/>
          <p:nvPr/>
        </p:nvSpPr>
        <p:spPr>
          <a:xfrm>
            <a:off x="393700" y="2945130"/>
            <a:ext cx="7517765" cy="460375"/>
          </a:xfrm>
          <a:prstGeom prst="rect">
            <a:avLst/>
          </a:prstGeom>
          <a:noFill/>
          <a:ln w="9525">
            <a:noFill/>
          </a:ln>
        </p:spPr>
        <p:txBody>
          <a:bodyPr wrap="square" anchor="ctr">
            <a:spAutoFit/>
          </a:bodyPr>
          <a:lstStyle/>
          <a:p>
            <a:pPr>
              <a:spcBef>
                <a:spcPct val="0"/>
              </a:spcBef>
              <a:buClrTx/>
            </a:pPr>
            <a:r>
              <a:rPr lang="en-US" altLang="zh-CN" b="1" dirty="0">
                <a:solidFill>
                  <a:srgbClr val="030301"/>
                </a:solidFill>
                <a:latin typeface="Arial" panose="020B0604020202020204" pitchFamily="34" charset="0"/>
              </a:rPr>
              <a:t>Shift by: 1 </a:t>
            </a:r>
            <a:r>
              <a:rPr lang="en-US" altLang="zh-CN" b="1" dirty="0">
                <a:solidFill>
                  <a:srgbClr val="030301"/>
                </a:solidFill>
                <a:sym typeface="+mn-ea"/>
              </a:rPr>
              <a:t> (i-kmpNext[i]=0- -1)</a:t>
            </a:r>
            <a:r>
              <a:rPr lang="en-US" altLang="zh-CN" b="1" dirty="0">
                <a:solidFill>
                  <a:srgbClr val="030301"/>
                </a:solidFill>
                <a:latin typeface="Arial" panose="020B0604020202020204" pitchFamily="34" charset="0"/>
              </a:rPr>
              <a:t> </a:t>
            </a:r>
          </a:p>
        </p:txBody>
      </p:sp>
      <p:graphicFrame>
        <p:nvGraphicFramePr>
          <p:cNvPr id="72793" name="表格 72792"/>
          <p:cNvGraphicFramePr/>
          <p:nvPr/>
        </p:nvGraphicFramePr>
        <p:xfrm>
          <a:off x="357188" y="1143000"/>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70205">
                  <a:extLst>
                    <a:ext uri="{9D8B030D-6E8A-4147-A177-3AD203B41FA5}">
                      <a16:colId xmlns:a16="http://schemas.microsoft.com/office/drawing/2014/main" val="20003"/>
                    </a:ext>
                  </a:extLst>
                </a:gridCol>
                <a:gridCol w="380683">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0</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1</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2</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3</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4</a:t>
                      </a:r>
                    </a:p>
                  </a:txBody>
                  <a:tcPr anchor="ctr">
                    <a:lnL>
                      <a:noFill/>
                    </a:lnL>
                    <a:lnR>
                      <a:noFill/>
                    </a:lnR>
                    <a:lnT>
                      <a:noFill/>
                    </a:lnT>
                    <a:lnB>
                      <a:noFill/>
                    </a:lnB>
                    <a:lnTlToBr>
                      <a:noFill/>
                    </a:lnTlToBr>
                    <a:lnBlToTr>
                      <a:noFill/>
                    </a:lnBlToTr>
                    <a:solidFill>
                      <a:schemeClr val="accent6"/>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2" name="直接箭头连接符 1"/>
          <p:cNvCxnSpPr/>
          <p:nvPr/>
        </p:nvCxnSpPr>
        <p:spPr>
          <a:xfrm>
            <a:off x="1663700" y="57213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2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5" grpId="0"/>
      <p:bldP spid="7274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7270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31</a:t>
            </a:fld>
            <a:endParaRPr lang="en-US" altLang="zh-CN" sz="1400" dirty="0"/>
          </a:p>
        </p:txBody>
      </p:sp>
      <p:sp>
        <p:nvSpPr>
          <p:cNvPr id="72706" name="Rectangle 4"/>
          <p:cNvSpPr/>
          <p:nvPr/>
        </p:nvSpPr>
        <p:spPr>
          <a:xfrm>
            <a:off x="393700" y="786448"/>
            <a:ext cx="25336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Second attempt</a:t>
            </a:r>
            <a:r>
              <a:rPr lang="en-US" altLang="zh-CN" sz="1800" dirty="0">
                <a:latin typeface="Arial" panose="020B0604020202020204" pitchFamily="34" charset="0"/>
              </a:rPr>
              <a:t> </a:t>
            </a:r>
          </a:p>
        </p:txBody>
      </p:sp>
      <p:graphicFrame>
        <p:nvGraphicFramePr>
          <p:cNvPr id="72707" name="表格 72706"/>
          <p:cNvGraphicFramePr/>
          <p:nvPr>
            <p:custDataLst>
              <p:tags r:id="rId1"/>
            </p:custDataLst>
          </p:nvPr>
        </p:nvGraphicFramePr>
        <p:xfrm>
          <a:off x="357188" y="1557338"/>
          <a:ext cx="8786813"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6713">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810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6713">
                  <a:extLst>
                    <a:ext uri="{9D8B030D-6E8A-4147-A177-3AD203B41FA5}">
                      <a16:colId xmlns:a16="http://schemas.microsoft.com/office/drawing/2014/main" val="20006"/>
                    </a:ext>
                  </a:extLst>
                </a:gridCol>
                <a:gridCol w="3810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81000">
                  <a:extLst>
                    <a:ext uri="{9D8B030D-6E8A-4147-A177-3AD203B41FA5}">
                      <a16:colId xmlns:a16="http://schemas.microsoft.com/office/drawing/2014/main" val="20009"/>
                    </a:ext>
                  </a:extLst>
                </a:gridCol>
                <a:gridCol w="379412">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39725">
                  <a:extLst>
                    <a:ext uri="{9D8B030D-6E8A-4147-A177-3AD203B41FA5}">
                      <a16:colId xmlns:a16="http://schemas.microsoft.com/office/drawing/2014/main" val="20013"/>
                    </a:ext>
                  </a:extLst>
                </a:gridCol>
                <a:gridCol w="354013">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4013">
                  <a:extLst>
                    <a:ext uri="{9D8B030D-6E8A-4147-A177-3AD203B41FA5}">
                      <a16:colId xmlns:a16="http://schemas.microsoft.com/office/drawing/2014/main" val="20016"/>
                    </a:ext>
                  </a:extLst>
                </a:gridCol>
                <a:gridCol w="366712">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1000">
                  <a:extLst>
                    <a:ext uri="{9D8B030D-6E8A-4147-A177-3AD203B41FA5}">
                      <a16:colId xmlns:a16="http://schemas.microsoft.com/office/drawing/2014/main" val="20019"/>
                    </a:ext>
                  </a:extLst>
                </a:gridCol>
                <a:gridCol w="339725">
                  <a:extLst>
                    <a:ext uri="{9D8B030D-6E8A-4147-A177-3AD203B41FA5}">
                      <a16:colId xmlns:a16="http://schemas.microsoft.com/office/drawing/2014/main" val="20020"/>
                    </a:ext>
                  </a:extLst>
                </a:gridCol>
                <a:gridCol w="354012">
                  <a:extLst>
                    <a:ext uri="{9D8B030D-6E8A-4147-A177-3AD203B41FA5}">
                      <a16:colId xmlns:a16="http://schemas.microsoft.com/office/drawing/2014/main" val="20021"/>
                    </a:ext>
                  </a:extLst>
                </a:gridCol>
                <a:gridCol w="366713">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dirty="0">
                          <a:latin typeface="Arial" panose="020B0604020202020204" pitchFamily="34" charset="0"/>
                        </a:rPr>
                        <a:t> i=</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gridSpan="1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en-US" altLang="zh-CN" dirty="0">
                        <a:latin typeface="Arial" panose="020B0604020202020204" pitchFamily="34" charset="0"/>
                      </a:endParaRP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2745" name="Rectangle 121"/>
          <p:cNvSpPr/>
          <p:nvPr/>
        </p:nvSpPr>
        <p:spPr>
          <a:xfrm>
            <a:off x="393700" y="2945130"/>
            <a:ext cx="7517765" cy="460375"/>
          </a:xfrm>
          <a:prstGeom prst="rect">
            <a:avLst/>
          </a:prstGeom>
          <a:noFill/>
          <a:ln w="9525">
            <a:noFill/>
          </a:ln>
        </p:spPr>
        <p:txBody>
          <a:bodyPr wrap="square" anchor="ctr">
            <a:spAutoFit/>
          </a:bodyPr>
          <a:lstStyle/>
          <a:p>
            <a:pPr>
              <a:spcBef>
                <a:spcPct val="0"/>
              </a:spcBef>
              <a:buClrTx/>
            </a:pPr>
            <a:r>
              <a:rPr lang="en-US" altLang="zh-CN" b="1" dirty="0">
                <a:solidFill>
                  <a:srgbClr val="030301"/>
                </a:solidFill>
                <a:latin typeface="Arial" panose="020B0604020202020204" pitchFamily="34" charset="0"/>
              </a:rPr>
              <a:t>Shift by: 1 </a:t>
            </a:r>
            <a:r>
              <a:rPr lang="en-US" altLang="zh-CN" b="1" dirty="0">
                <a:solidFill>
                  <a:srgbClr val="030301"/>
                </a:solidFill>
                <a:sym typeface="+mn-ea"/>
              </a:rPr>
              <a:t> (i-kmpNext[i]=0- -1)</a:t>
            </a:r>
            <a:r>
              <a:rPr lang="en-US" altLang="zh-CN" b="1" dirty="0">
                <a:solidFill>
                  <a:srgbClr val="030301"/>
                </a:solidFill>
                <a:latin typeface="Arial" panose="020B0604020202020204" pitchFamily="34" charset="0"/>
              </a:rPr>
              <a:t> </a:t>
            </a:r>
          </a:p>
        </p:txBody>
      </p:sp>
      <p:sp>
        <p:nvSpPr>
          <p:cNvPr id="72746" name="Rectangle 122"/>
          <p:cNvSpPr/>
          <p:nvPr/>
        </p:nvSpPr>
        <p:spPr>
          <a:xfrm>
            <a:off x="393700" y="3197225"/>
            <a:ext cx="2193925" cy="731838"/>
          </a:xfrm>
          <a:prstGeom prst="rect">
            <a:avLst/>
          </a:prstGeom>
          <a:noFill/>
          <a:ln w="9525">
            <a:noFill/>
          </a:ln>
        </p:spPr>
        <p:txBody>
          <a:bodyPr wrap="none" anchor="ctr">
            <a:spAutoFit/>
          </a:bodyPr>
          <a:lstStyle/>
          <a:p>
            <a:pPr>
              <a:spcBef>
                <a:spcPct val="0"/>
              </a:spcBef>
              <a:buClrTx/>
            </a:pPr>
            <a:endParaRPr lang="en-US" altLang="zh-CN" sz="1800" dirty="0">
              <a:latin typeface="Arial" panose="020B0604020202020204" pitchFamily="34" charset="0"/>
            </a:endParaRPr>
          </a:p>
          <a:p>
            <a:pPr eaLnBrk="0" hangingPunct="0">
              <a:spcBef>
                <a:spcPct val="0"/>
              </a:spcBef>
              <a:buClrTx/>
            </a:pPr>
            <a:r>
              <a:rPr lang="en-US" altLang="zh-CN" b="1" dirty="0">
                <a:solidFill>
                  <a:srgbClr val="030301"/>
                </a:solidFill>
                <a:latin typeface="Arial" panose="020B0604020202020204" pitchFamily="34" charset="0"/>
              </a:rPr>
              <a:t>Third attempt</a:t>
            </a:r>
            <a:r>
              <a:rPr lang="en-US" altLang="zh-CN" sz="1800" dirty="0">
                <a:latin typeface="Arial" panose="020B0604020202020204" pitchFamily="34" charset="0"/>
              </a:rPr>
              <a:t> </a:t>
            </a:r>
          </a:p>
        </p:txBody>
      </p:sp>
      <p:graphicFrame>
        <p:nvGraphicFramePr>
          <p:cNvPr id="72747" name="表格 72746"/>
          <p:cNvGraphicFramePr/>
          <p:nvPr>
            <p:custDataLst>
              <p:tags r:id="rId2"/>
            </p:custDataLst>
          </p:nvPr>
        </p:nvGraphicFramePr>
        <p:xfrm>
          <a:off x="357188" y="4437063"/>
          <a:ext cx="8786813" cy="1371600"/>
        </p:xfrm>
        <a:graphic>
          <a:graphicData uri="http://schemas.openxmlformats.org/drawingml/2006/table">
            <a:tbl>
              <a:tblPr/>
              <a:tblGrid>
                <a:gridCol w="384175">
                  <a:extLst>
                    <a:ext uri="{9D8B030D-6E8A-4147-A177-3AD203B41FA5}">
                      <a16:colId xmlns:a16="http://schemas.microsoft.com/office/drawing/2014/main" val="20000"/>
                    </a:ext>
                  </a:extLst>
                </a:gridCol>
                <a:gridCol w="371475">
                  <a:extLst>
                    <a:ext uri="{9D8B030D-6E8A-4147-A177-3AD203B41FA5}">
                      <a16:colId xmlns:a16="http://schemas.microsoft.com/office/drawing/2014/main" val="20001"/>
                    </a:ext>
                  </a:extLst>
                </a:gridCol>
                <a:gridCol w="357188">
                  <a:extLst>
                    <a:ext uri="{9D8B030D-6E8A-4147-A177-3AD203B41FA5}">
                      <a16:colId xmlns:a16="http://schemas.microsoft.com/office/drawing/2014/main" val="20002"/>
                    </a:ext>
                  </a:extLst>
                </a:gridCol>
                <a:gridCol w="344487">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84175">
                  <a:extLst>
                    <a:ext uri="{9D8B030D-6E8A-4147-A177-3AD203B41FA5}">
                      <a16:colId xmlns:a16="http://schemas.microsoft.com/office/drawing/2014/main" val="20005"/>
                    </a:ext>
                  </a:extLst>
                </a:gridCol>
                <a:gridCol w="371475">
                  <a:extLst>
                    <a:ext uri="{9D8B030D-6E8A-4147-A177-3AD203B41FA5}">
                      <a16:colId xmlns:a16="http://schemas.microsoft.com/office/drawing/2014/main" val="20006"/>
                    </a:ext>
                  </a:extLst>
                </a:gridCol>
                <a:gridCol w="357188">
                  <a:extLst>
                    <a:ext uri="{9D8B030D-6E8A-4147-A177-3AD203B41FA5}">
                      <a16:colId xmlns:a16="http://schemas.microsoft.com/office/drawing/2014/main" val="20007"/>
                    </a:ext>
                  </a:extLst>
                </a:gridCol>
                <a:gridCol w="385762">
                  <a:extLst>
                    <a:ext uri="{9D8B030D-6E8A-4147-A177-3AD203B41FA5}">
                      <a16:colId xmlns:a16="http://schemas.microsoft.com/office/drawing/2014/main" val="20008"/>
                    </a:ext>
                  </a:extLst>
                </a:gridCol>
                <a:gridCol w="357188">
                  <a:extLst>
                    <a:ext uri="{9D8B030D-6E8A-4147-A177-3AD203B41FA5}">
                      <a16:colId xmlns:a16="http://schemas.microsoft.com/office/drawing/2014/main" val="20009"/>
                    </a:ext>
                  </a:extLst>
                </a:gridCol>
                <a:gridCol w="384175">
                  <a:extLst>
                    <a:ext uri="{9D8B030D-6E8A-4147-A177-3AD203B41FA5}">
                      <a16:colId xmlns:a16="http://schemas.microsoft.com/office/drawing/2014/main" val="20010"/>
                    </a:ext>
                  </a:extLst>
                </a:gridCol>
                <a:gridCol w="358775">
                  <a:extLst>
                    <a:ext uri="{9D8B030D-6E8A-4147-A177-3AD203B41FA5}">
                      <a16:colId xmlns:a16="http://schemas.microsoft.com/office/drawing/2014/main" val="20011"/>
                    </a:ext>
                  </a:extLst>
                </a:gridCol>
                <a:gridCol w="384175">
                  <a:extLst>
                    <a:ext uri="{9D8B030D-6E8A-4147-A177-3AD203B41FA5}">
                      <a16:colId xmlns:a16="http://schemas.microsoft.com/office/drawing/2014/main" val="20012"/>
                    </a:ext>
                  </a:extLst>
                </a:gridCol>
                <a:gridCol w="344487">
                  <a:extLst>
                    <a:ext uri="{9D8B030D-6E8A-4147-A177-3AD203B41FA5}">
                      <a16:colId xmlns:a16="http://schemas.microsoft.com/office/drawing/2014/main" val="20013"/>
                    </a:ext>
                  </a:extLst>
                </a:gridCol>
                <a:gridCol w="357188">
                  <a:extLst>
                    <a:ext uri="{9D8B030D-6E8A-4147-A177-3AD203B41FA5}">
                      <a16:colId xmlns:a16="http://schemas.microsoft.com/office/drawing/2014/main" val="20014"/>
                    </a:ext>
                  </a:extLst>
                </a:gridCol>
                <a:gridCol w="344487">
                  <a:extLst>
                    <a:ext uri="{9D8B030D-6E8A-4147-A177-3AD203B41FA5}">
                      <a16:colId xmlns:a16="http://schemas.microsoft.com/office/drawing/2014/main" val="20015"/>
                    </a:ext>
                  </a:extLst>
                </a:gridCol>
                <a:gridCol w="357188">
                  <a:extLst>
                    <a:ext uri="{9D8B030D-6E8A-4147-A177-3AD203B41FA5}">
                      <a16:colId xmlns:a16="http://schemas.microsoft.com/office/drawing/2014/main" val="20016"/>
                    </a:ext>
                  </a:extLst>
                </a:gridCol>
                <a:gridCol w="371475">
                  <a:extLst>
                    <a:ext uri="{9D8B030D-6E8A-4147-A177-3AD203B41FA5}">
                      <a16:colId xmlns:a16="http://schemas.microsoft.com/office/drawing/2014/main" val="20017"/>
                    </a:ext>
                  </a:extLst>
                </a:gridCol>
                <a:gridCol w="357187">
                  <a:extLst>
                    <a:ext uri="{9D8B030D-6E8A-4147-A177-3AD203B41FA5}">
                      <a16:colId xmlns:a16="http://schemas.microsoft.com/office/drawing/2014/main" val="20018"/>
                    </a:ext>
                  </a:extLst>
                </a:gridCol>
                <a:gridCol w="385763">
                  <a:extLst>
                    <a:ext uri="{9D8B030D-6E8A-4147-A177-3AD203B41FA5}">
                      <a16:colId xmlns:a16="http://schemas.microsoft.com/office/drawing/2014/main" val="20019"/>
                    </a:ext>
                  </a:extLst>
                </a:gridCol>
                <a:gridCol w="344487">
                  <a:extLst>
                    <a:ext uri="{9D8B030D-6E8A-4147-A177-3AD203B41FA5}">
                      <a16:colId xmlns:a16="http://schemas.microsoft.com/office/drawing/2014/main" val="20020"/>
                    </a:ext>
                  </a:extLst>
                </a:gridCol>
                <a:gridCol w="357188">
                  <a:extLst>
                    <a:ext uri="{9D8B030D-6E8A-4147-A177-3AD203B41FA5}">
                      <a16:colId xmlns:a16="http://schemas.microsoft.com/office/drawing/2014/main" val="20021"/>
                    </a:ext>
                  </a:extLst>
                </a:gridCol>
                <a:gridCol w="371475">
                  <a:extLst>
                    <a:ext uri="{9D8B030D-6E8A-4147-A177-3AD203B41FA5}">
                      <a16:colId xmlns:a16="http://schemas.microsoft.com/office/drawing/2014/main" val="20022"/>
                    </a:ext>
                  </a:extLst>
                </a:gridCol>
                <a:gridCol w="384175">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4</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5</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6</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7</a:t>
                      </a:r>
                    </a:p>
                  </a:txBody>
                  <a:tcPr anchor="ctr">
                    <a:lnL>
                      <a:noFill/>
                    </a:lnL>
                    <a:lnR>
                      <a:noFill/>
                    </a:lnR>
                    <a:lnT>
                      <a:noFill/>
                    </a:lnT>
                    <a:lnB>
                      <a:noFill/>
                    </a:lnB>
                    <a:lnTlToBr>
                      <a:noFill/>
                    </a:lnTlToBr>
                    <a:lnBlToTr>
                      <a:noFill/>
                    </a:lnBlToTr>
                    <a:solidFill>
                      <a:srgbClr val="FFFFFF"/>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2792" name="Rectangle 246"/>
          <p:cNvSpPr/>
          <p:nvPr/>
        </p:nvSpPr>
        <p:spPr>
          <a:xfrm>
            <a:off x="393700" y="5831205"/>
            <a:ext cx="7517765" cy="460375"/>
          </a:xfrm>
          <a:prstGeom prst="rect">
            <a:avLst/>
          </a:prstGeom>
          <a:noFill/>
          <a:ln w="9525">
            <a:noFill/>
          </a:ln>
        </p:spPr>
        <p:txBody>
          <a:bodyPr wrap="square" anchor="ctr">
            <a:spAutoFit/>
          </a:bodyPr>
          <a:lstStyle/>
          <a:p>
            <a:pPr>
              <a:spcBef>
                <a:spcPct val="0"/>
              </a:spcBef>
              <a:buClrTx/>
            </a:pPr>
            <a:r>
              <a:rPr lang="en-US" altLang="zh-CN" b="1" dirty="0">
                <a:solidFill>
                  <a:srgbClr val="030301"/>
                </a:solidFill>
                <a:latin typeface="Arial" panose="020B0604020202020204" pitchFamily="34" charset="0"/>
              </a:rPr>
              <a:t>Shift by: 7</a:t>
            </a:r>
            <a:r>
              <a:rPr lang="en-US" altLang="zh-CN" b="1" dirty="0">
                <a:solidFill>
                  <a:srgbClr val="030301"/>
                </a:solidFill>
                <a:sym typeface="+mn-ea"/>
              </a:rPr>
              <a:t> (i-kmpNext[i]=8-1=7)</a:t>
            </a:r>
            <a:r>
              <a:rPr lang="en-US" altLang="zh-CN" b="1" dirty="0">
                <a:solidFill>
                  <a:srgbClr val="030301"/>
                </a:solidFill>
                <a:latin typeface="Arial" panose="020B0604020202020204" pitchFamily="34" charset="0"/>
              </a:rPr>
              <a:t> </a:t>
            </a:r>
          </a:p>
        </p:txBody>
      </p:sp>
      <p:graphicFrame>
        <p:nvGraphicFramePr>
          <p:cNvPr id="72793" name="表格 72792"/>
          <p:cNvGraphicFramePr/>
          <p:nvPr/>
        </p:nvGraphicFramePr>
        <p:xfrm>
          <a:off x="357188" y="1143000"/>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70205">
                  <a:extLst>
                    <a:ext uri="{9D8B030D-6E8A-4147-A177-3AD203B41FA5}">
                      <a16:colId xmlns:a16="http://schemas.microsoft.com/office/drawing/2014/main" val="20003"/>
                    </a:ext>
                  </a:extLst>
                </a:gridCol>
                <a:gridCol w="380683">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0</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1</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2</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3</a:t>
                      </a:r>
                    </a:p>
                  </a:txBody>
                  <a:tcPr anchor="ctr">
                    <a:lnL>
                      <a:noFill/>
                    </a:lnL>
                    <a:lnR>
                      <a:noFill/>
                    </a:lnR>
                    <a:lnT>
                      <a:noFill/>
                    </a:lnT>
                    <a:lnB>
                      <a:noFill/>
                    </a:lnB>
                    <a:lnTlToBr>
                      <a:noFill/>
                    </a:lnTlToBr>
                    <a:lnBlToTr>
                      <a:noFill/>
                    </a:lnBlToTr>
                    <a:solidFill>
                      <a:schemeClr val="accent2">
                        <a:lumMod val="20000"/>
                        <a:lumOff val="80000"/>
                      </a:schemeClr>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buClrTx/>
                        <a:buSzTx/>
                        <a:buFontTx/>
                        <a:buNone/>
                      </a:pPr>
                      <a:r>
                        <a:rPr lang="en-US" altLang="zh-CN" sz="1000" b="1" dirty="0">
                          <a:latin typeface="Arial" panose="020B0604020202020204" pitchFamily="34" charset="0"/>
                        </a:rPr>
                        <a:t>4</a:t>
                      </a:r>
                    </a:p>
                  </a:txBody>
                  <a:tcPr anchor="ctr">
                    <a:lnL>
                      <a:noFill/>
                    </a:lnL>
                    <a:lnR>
                      <a:noFill/>
                    </a:lnR>
                    <a:lnT>
                      <a:noFill/>
                    </a:lnT>
                    <a:lnB>
                      <a:noFill/>
                    </a:lnB>
                    <a:lnTlToBr>
                      <a:noFill/>
                    </a:lnTlToBr>
                    <a:lnBlToTr>
                      <a:noFill/>
                    </a:lnBlToTr>
                    <a:solidFill>
                      <a:schemeClr val="accent6"/>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graphicFrame>
        <p:nvGraphicFramePr>
          <p:cNvPr id="72818" name="表格 72817"/>
          <p:cNvGraphicFramePr/>
          <p:nvPr/>
        </p:nvGraphicFramePr>
        <p:xfrm>
          <a:off x="357188" y="4071938"/>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2" name="直接箭头连接符 1"/>
          <p:cNvCxnSpPr/>
          <p:nvPr/>
        </p:nvCxnSpPr>
        <p:spPr>
          <a:xfrm>
            <a:off x="1663700" y="57213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a:off x="2022475" y="351409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6" name="直接箭头连接符 5"/>
          <p:cNvCxnSpPr/>
          <p:nvPr/>
        </p:nvCxnSpPr>
        <p:spPr>
          <a:xfrm>
            <a:off x="4677410" y="351409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p:nvPr/>
        </p:nvCxnSpPr>
        <p:spPr>
          <a:xfrm>
            <a:off x="5019675" y="478917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8" name="文本框 7"/>
          <p:cNvSpPr txBox="1"/>
          <p:nvPr/>
        </p:nvSpPr>
        <p:spPr>
          <a:xfrm>
            <a:off x="5375910" y="5037455"/>
            <a:ext cx="1284605" cy="46037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altLang="zh-CN">
                <a:solidFill>
                  <a:schemeClr val="accent4"/>
                </a:solidFill>
                <a:effectLst/>
              </a:rPr>
              <a:t>i=8</a:t>
            </a:r>
          </a:p>
        </p:txBody>
      </p:sp>
      <p:sp>
        <p:nvSpPr>
          <p:cNvPr id="4" name="文本框 3"/>
          <p:cNvSpPr txBox="1"/>
          <p:nvPr/>
        </p:nvSpPr>
        <p:spPr>
          <a:xfrm>
            <a:off x="655320" y="6115050"/>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next[i]=1</a:t>
            </a:r>
            <a:r>
              <a:rPr lang="zh-CN" altLang="en-US" sz="2000">
                <a:solidFill>
                  <a:srgbClr val="FF0000"/>
                </a:solidFill>
                <a:sym typeface="+mn-ea"/>
              </a:rPr>
              <a:t>开始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279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92" grpId="0"/>
      <p:bldP spid="72792" grpId="1"/>
      <p:bldP spid="8" grpId="0"/>
      <p:bldP spid="8" grpId="1"/>
      <p:bldP spid="4" grpId="0"/>
      <p:bldP spid="4"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32</a:t>
            </a:fld>
            <a:endParaRPr lang="en-US" altLang="zh-CN" sz="1400" dirty="0"/>
          </a:p>
        </p:txBody>
      </p:sp>
      <p:sp>
        <p:nvSpPr>
          <p:cNvPr id="74754" name="Rectangle 4"/>
          <p:cNvSpPr/>
          <p:nvPr/>
        </p:nvSpPr>
        <p:spPr>
          <a:xfrm>
            <a:off x="361950" y="262573"/>
            <a:ext cx="23971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Fourth attempt</a:t>
            </a:r>
            <a:r>
              <a:rPr lang="en-US" altLang="zh-CN" sz="1800" dirty="0">
                <a:latin typeface="Arial" panose="020B0604020202020204" pitchFamily="34" charset="0"/>
              </a:rPr>
              <a:t> </a:t>
            </a:r>
          </a:p>
        </p:txBody>
      </p:sp>
      <p:graphicFrame>
        <p:nvGraphicFramePr>
          <p:cNvPr id="74755" name="表格 74754"/>
          <p:cNvGraphicFramePr/>
          <p:nvPr/>
        </p:nvGraphicFramePr>
        <p:xfrm>
          <a:off x="361950" y="1341438"/>
          <a:ext cx="8782050" cy="1371600"/>
        </p:xfrm>
        <a:graphic>
          <a:graphicData uri="http://schemas.openxmlformats.org/drawingml/2006/table">
            <a:tbl>
              <a:tblPr/>
              <a:tblGrid>
                <a:gridCol w="381000">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54013">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6712">
                  <a:extLst>
                    <a:ext uri="{9D8B030D-6E8A-4147-A177-3AD203B41FA5}">
                      <a16:colId xmlns:a16="http://schemas.microsoft.com/office/drawing/2014/main" val="20006"/>
                    </a:ext>
                  </a:extLst>
                </a:gridCol>
                <a:gridCol w="3556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4013">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4012">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66713">
                  <a:extLst>
                    <a:ext uri="{9D8B030D-6E8A-4147-A177-3AD203B41FA5}">
                      <a16:colId xmlns:a16="http://schemas.microsoft.com/office/drawing/2014/main" val="20013"/>
                    </a:ext>
                  </a:extLst>
                </a:gridCol>
                <a:gridCol w="354012">
                  <a:extLst>
                    <a:ext uri="{9D8B030D-6E8A-4147-A177-3AD203B41FA5}">
                      <a16:colId xmlns:a16="http://schemas.microsoft.com/office/drawing/2014/main" val="20014"/>
                    </a:ext>
                  </a:extLst>
                </a:gridCol>
                <a:gridCol w="381000">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810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1000">
                  <a:extLst>
                    <a:ext uri="{9D8B030D-6E8A-4147-A177-3AD203B41FA5}">
                      <a16:colId xmlns:a16="http://schemas.microsoft.com/office/drawing/2014/main" val="20019"/>
                    </a:ext>
                  </a:extLst>
                </a:gridCol>
                <a:gridCol w="339725">
                  <a:extLst>
                    <a:ext uri="{9D8B030D-6E8A-4147-A177-3AD203B41FA5}">
                      <a16:colId xmlns:a16="http://schemas.microsoft.com/office/drawing/2014/main" val="20020"/>
                    </a:ext>
                  </a:extLst>
                </a:gridCol>
                <a:gridCol w="354012">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4793" name="Rectangle 121"/>
          <p:cNvSpPr/>
          <p:nvPr/>
        </p:nvSpPr>
        <p:spPr>
          <a:xfrm>
            <a:off x="361950" y="2779713"/>
            <a:ext cx="1655445" cy="460375"/>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Shift by: 1 </a:t>
            </a:r>
          </a:p>
        </p:txBody>
      </p:sp>
      <p:sp>
        <p:nvSpPr>
          <p:cNvPr id="74794" name="Rectangle 122"/>
          <p:cNvSpPr/>
          <p:nvPr/>
        </p:nvSpPr>
        <p:spPr>
          <a:xfrm>
            <a:off x="361950" y="2783523"/>
            <a:ext cx="4951730" cy="737235"/>
          </a:xfrm>
          <a:prstGeom prst="rect">
            <a:avLst/>
          </a:prstGeom>
          <a:noFill/>
          <a:ln w="9525">
            <a:noFill/>
          </a:ln>
        </p:spPr>
        <p:txBody>
          <a:bodyPr wrap="square" anchor="ctr">
            <a:spAutoFit/>
          </a:bodyPr>
          <a:lstStyle/>
          <a:p>
            <a:pPr>
              <a:spcBef>
                <a:spcPct val="0"/>
              </a:spcBef>
              <a:buClrTx/>
            </a:pPr>
            <a:endParaRPr lang="en-US" altLang="zh-CN" sz="1800" dirty="0">
              <a:latin typeface="Arial" panose="020B0604020202020204" pitchFamily="34" charset="0"/>
            </a:endParaRPr>
          </a:p>
          <a:p>
            <a:pPr eaLnBrk="0" hangingPunct="0">
              <a:spcBef>
                <a:spcPct val="0"/>
              </a:spcBef>
              <a:buClrTx/>
            </a:pPr>
            <a:r>
              <a:rPr lang="en-US" altLang="zh-CN" b="1" dirty="0">
                <a:solidFill>
                  <a:srgbClr val="030301"/>
                </a:solidFill>
                <a:latin typeface="Arial" panose="020B0604020202020204" pitchFamily="34" charset="0"/>
              </a:rPr>
              <a:t>Fifth attempt</a:t>
            </a:r>
            <a:r>
              <a:rPr lang="en-US" altLang="zh-CN" sz="1800" dirty="0">
                <a:latin typeface="Arial" panose="020B0604020202020204" pitchFamily="34" charset="0"/>
              </a:rPr>
              <a:t> </a:t>
            </a:r>
          </a:p>
        </p:txBody>
      </p:sp>
      <p:graphicFrame>
        <p:nvGraphicFramePr>
          <p:cNvPr id="74795" name="表格 74794"/>
          <p:cNvGraphicFramePr/>
          <p:nvPr>
            <p:custDataLst>
              <p:tags r:id="rId1"/>
            </p:custDataLst>
          </p:nvPr>
        </p:nvGraphicFramePr>
        <p:xfrm>
          <a:off x="361950" y="3933825"/>
          <a:ext cx="8782050" cy="1371600"/>
        </p:xfrm>
        <a:graphic>
          <a:graphicData uri="http://schemas.openxmlformats.org/drawingml/2006/table">
            <a:tbl>
              <a:tblPr/>
              <a:tblGrid>
                <a:gridCol w="377825">
                  <a:extLst>
                    <a:ext uri="{9D8B030D-6E8A-4147-A177-3AD203B41FA5}">
                      <a16:colId xmlns:a16="http://schemas.microsoft.com/office/drawing/2014/main" val="20000"/>
                    </a:ext>
                  </a:extLst>
                </a:gridCol>
                <a:gridCol w="363538">
                  <a:extLst>
                    <a:ext uri="{9D8B030D-6E8A-4147-A177-3AD203B41FA5}">
                      <a16:colId xmlns:a16="http://schemas.microsoft.com/office/drawing/2014/main" val="20001"/>
                    </a:ext>
                  </a:extLst>
                </a:gridCol>
                <a:gridCol w="350837">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65125">
                  <a:extLst>
                    <a:ext uri="{9D8B030D-6E8A-4147-A177-3AD203B41FA5}">
                      <a16:colId xmlns:a16="http://schemas.microsoft.com/office/drawing/2014/main" val="20004"/>
                    </a:ext>
                  </a:extLst>
                </a:gridCol>
                <a:gridCol w="376237">
                  <a:extLst>
                    <a:ext uri="{9D8B030D-6E8A-4147-A177-3AD203B41FA5}">
                      <a16:colId xmlns:a16="http://schemas.microsoft.com/office/drawing/2014/main" val="20005"/>
                    </a:ext>
                  </a:extLst>
                </a:gridCol>
                <a:gridCol w="365125">
                  <a:extLst>
                    <a:ext uri="{9D8B030D-6E8A-4147-A177-3AD203B41FA5}">
                      <a16:colId xmlns:a16="http://schemas.microsoft.com/office/drawing/2014/main" val="20006"/>
                    </a:ext>
                  </a:extLst>
                </a:gridCol>
                <a:gridCol w="350838">
                  <a:extLst>
                    <a:ext uri="{9D8B030D-6E8A-4147-A177-3AD203B41FA5}">
                      <a16:colId xmlns:a16="http://schemas.microsoft.com/office/drawing/2014/main" val="20007"/>
                    </a:ext>
                  </a:extLst>
                </a:gridCol>
                <a:gridCol w="377825">
                  <a:extLst>
                    <a:ext uri="{9D8B030D-6E8A-4147-A177-3AD203B41FA5}">
                      <a16:colId xmlns:a16="http://schemas.microsoft.com/office/drawing/2014/main" val="20008"/>
                    </a:ext>
                  </a:extLst>
                </a:gridCol>
                <a:gridCol w="350837">
                  <a:extLst>
                    <a:ext uri="{9D8B030D-6E8A-4147-A177-3AD203B41FA5}">
                      <a16:colId xmlns:a16="http://schemas.microsoft.com/office/drawing/2014/main" val="20009"/>
                    </a:ext>
                  </a:extLst>
                </a:gridCol>
                <a:gridCol w="377825">
                  <a:extLst>
                    <a:ext uri="{9D8B030D-6E8A-4147-A177-3AD203B41FA5}">
                      <a16:colId xmlns:a16="http://schemas.microsoft.com/office/drawing/2014/main" val="20010"/>
                    </a:ext>
                  </a:extLst>
                </a:gridCol>
                <a:gridCol w="350838">
                  <a:extLst>
                    <a:ext uri="{9D8B030D-6E8A-4147-A177-3AD203B41FA5}">
                      <a16:colId xmlns:a16="http://schemas.microsoft.com/office/drawing/2014/main" val="20011"/>
                    </a:ext>
                  </a:extLst>
                </a:gridCol>
                <a:gridCol w="377825">
                  <a:extLst>
                    <a:ext uri="{9D8B030D-6E8A-4147-A177-3AD203B41FA5}">
                      <a16:colId xmlns:a16="http://schemas.microsoft.com/office/drawing/2014/main" val="20012"/>
                    </a:ext>
                  </a:extLst>
                </a:gridCol>
                <a:gridCol w="376237">
                  <a:extLst>
                    <a:ext uri="{9D8B030D-6E8A-4147-A177-3AD203B41FA5}">
                      <a16:colId xmlns:a16="http://schemas.microsoft.com/office/drawing/2014/main" val="20013"/>
                    </a:ext>
                  </a:extLst>
                </a:gridCol>
                <a:gridCol w="365125">
                  <a:extLst>
                    <a:ext uri="{9D8B030D-6E8A-4147-A177-3AD203B41FA5}">
                      <a16:colId xmlns:a16="http://schemas.microsoft.com/office/drawing/2014/main" val="20014"/>
                    </a:ext>
                  </a:extLst>
                </a:gridCol>
                <a:gridCol w="350838">
                  <a:extLst>
                    <a:ext uri="{9D8B030D-6E8A-4147-A177-3AD203B41FA5}">
                      <a16:colId xmlns:a16="http://schemas.microsoft.com/office/drawing/2014/main" val="20015"/>
                    </a:ext>
                  </a:extLst>
                </a:gridCol>
                <a:gridCol w="377825">
                  <a:extLst>
                    <a:ext uri="{9D8B030D-6E8A-4147-A177-3AD203B41FA5}">
                      <a16:colId xmlns:a16="http://schemas.microsoft.com/office/drawing/2014/main" val="20016"/>
                    </a:ext>
                  </a:extLst>
                </a:gridCol>
                <a:gridCol w="363537">
                  <a:extLst>
                    <a:ext uri="{9D8B030D-6E8A-4147-A177-3AD203B41FA5}">
                      <a16:colId xmlns:a16="http://schemas.microsoft.com/office/drawing/2014/main" val="20017"/>
                    </a:ext>
                  </a:extLst>
                </a:gridCol>
                <a:gridCol w="377825">
                  <a:extLst>
                    <a:ext uri="{9D8B030D-6E8A-4147-A177-3AD203B41FA5}">
                      <a16:colId xmlns:a16="http://schemas.microsoft.com/office/drawing/2014/main" val="20018"/>
                    </a:ext>
                  </a:extLst>
                </a:gridCol>
                <a:gridCol w="377825">
                  <a:extLst>
                    <a:ext uri="{9D8B030D-6E8A-4147-A177-3AD203B41FA5}">
                      <a16:colId xmlns:a16="http://schemas.microsoft.com/office/drawing/2014/main" val="20019"/>
                    </a:ext>
                  </a:extLst>
                </a:gridCol>
                <a:gridCol w="377825">
                  <a:extLst>
                    <a:ext uri="{9D8B030D-6E8A-4147-A177-3AD203B41FA5}">
                      <a16:colId xmlns:a16="http://schemas.microsoft.com/office/drawing/2014/main" val="20020"/>
                    </a:ext>
                  </a:extLst>
                </a:gridCol>
                <a:gridCol w="350838">
                  <a:extLst>
                    <a:ext uri="{9D8B030D-6E8A-4147-A177-3AD203B41FA5}">
                      <a16:colId xmlns:a16="http://schemas.microsoft.com/office/drawing/2014/main" val="20021"/>
                    </a:ext>
                  </a:extLst>
                </a:gridCol>
                <a:gridCol w="363537">
                  <a:extLst>
                    <a:ext uri="{9D8B030D-6E8A-4147-A177-3AD203B41FA5}">
                      <a16:colId xmlns:a16="http://schemas.microsoft.com/office/drawing/2014/main" val="20022"/>
                    </a:ext>
                  </a:extLst>
                </a:gridCol>
                <a:gridCol w="377825">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a:t>
                      </a:r>
                    </a:p>
                  </a:txBody>
                  <a:tcPr anchor="ctr">
                    <a:lnL>
                      <a:noFill/>
                    </a:lnL>
                    <a:lnR>
                      <a:noFill/>
                    </a:lnR>
                    <a:lnT>
                      <a:noFill/>
                    </a:lnT>
                    <a:lnB>
                      <a:noFill/>
                    </a:lnB>
                    <a:lnTlToBr>
                      <a:noFill/>
                    </a:lnTlToBr>
                    <a:lnBlToTr>
                      <a:noFill/>
                    </a:lnBlToTr>
                    <a:solidFill>
                      <a:srgbClr val="FFFFFF"/>
                    </a:solidFill>
                  </a:tcPr>
                </a:tc>
                <a:tc gridSpan="10">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3">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4833" name="Rectangle 239"/>
          <p:cNvSpPr/>
          <p:nvPr/>
        </p:nvSpPr>
        <p:spPr>
          <a:xfrm>
            <a:off x="395605" y="5418455"/>
            <a:ext cx="5828665" cy="460375"/>
          </a:xfrm>
          <a:prstGeom prst="rect">
            <a:avLst/>
          </a:prstGeom>
          <a:noFill/>
          <a:ln w="9525">
            <a:noFill/>
          </a:ln>
        </p:spPr>
        <p:txBody>
          <a:bodyPr wrap="square" anchor="ctr">
            <a:spAutoFit/>
          </a:bodyPr>
          <a:lstStyle/>
          <a:p>
            <a:pPr>
              <a:spcBef>
                <a:spcPct val="0"/>
              </a:spcBef>
              <a:buClrTx/>
            </a:pPr>
            <a:r>
              <a:rPr lang="en-US" altLang="zh-CN" b="1" dirty="0">
                <a:solidFill>
                  <a:srgbClr val="030301"/>
                </a:solidFill>
                <a:latin typeface="Arial" panose="020B0604020202020204" pitchFamily="34" charset="0"/>
              </a:rPr>
              <a:t>Shift by: 1 </a:t>
            </a:r>
            <a:r>
              <a:rPr lang="en-US" altLang="zh-CN" b="1" dirty="0">
                <a:solidFill>
                  <a:srgbClr val="030301"/>
                </a:solidFill>
                <a:sym typeface="+mn-ea"/>
              </a:rPr>
              <a:t> (i-kmpNext[i]=0- -1)</a:t>
            </a:r>
            <a:r>
              <a:rPr lang="en-US" altLang="zh-CN" b="1" dirty="0">
                <a:solidFill>
                  <a:srgbClr val="030301"/>
                </a:solidFill>
                <a:latin typeface="Arial" panose="020B0604020202020204" pitchFamily="34" charset="0"/>
              </a:rPr>
              <a:t> </a:t>
            </a:r>
          </a:p>
        </p:txBody>
      </p:sp>
      <p:graphicFrame>
        <p:nvGraphicFramePr>
          <p:cNvPr id="74834" name="表格 74833"/>
          <p:cNvGraphicFramePr/>
          <p:nvPr/>
        </p:nvGraphicFramePr>
        <p:xfrm>
          <a:off x="285433" y="3643313"/>
          <a:ext cx="8786813" cy="36703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703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l">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graphicFrame>
        <p:nvGraphicFramePr>
          <p:cNvPr id="74859" name="表格 74858"/>
          <p:cNvGraphicFramePr/>
          <p:nvPr/>
        </p:nvGraphicFramePr>
        <p:xfrm>
          <a:off x="357188" y="1000125"/>
          <a:ext cx="8786813" cy="36703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703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cxnSp>
        <p:nvCxnSpPr>
          <p:cNvPr id="4" name="直接箭头连接符 3"/>
          <p:cNvCxnSpPr/>
          <p:nvPr/>
        </p:nvCxnSpPr>
        <p:spPr>
          <a:xfrm>
            <a:off x="4677410" y="50038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p:nvPr/>
        </p:nvCxnSpPr>
        <p:spPr>
          <a:xfrm>
            <a:off x="5091430" y="48387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6" name="直接箭头连接符 5"/>
          <p:cNvCxnSpPr/>
          <p:nvPr/>
        </p:nvCxnSpPr>
        <p:spPr>
          <a:xfrm>
            <a:off x="5019675" y="313880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p:nvPr/>
        </p:nvCxnSpPr>
        <p:spPr>
          <a:xfrm>
            <a:off x="5433695" y="312229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2" name="文本框 1"/>
          <p:cNvSpPr txBox="1"/>
          <p:nvPr/>
        </p:nvSpPr>
        <p:spPr>
          <a:xfrm>
            <a:off x="395605" y="5895975"/>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a:t>
            </a:r>
            <a:r>
              <a:rPr lang="zh-CN" altLang="en-US" sz="2000">
                <a:solidFill>
                  <a:srgbClr val="FF0000"/>
                </a:solidFill>
                <a:sym typeface="+mn-ea"/>
              </a:rPr>
              <a:t>开始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7680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33</a:t>
            </a:fld>
            <a:endParaRPr lang="en-US" altLang="zh-CN" sz="1400" dirty="0"/>
          </a:p>
        </p:txBody>
      </p:sp>
      <p:sp>
        <p:nvSpPr>
          <p:cNvPr id="76802" name="Rectangle 240"/>
          <p:cNvSpPr/>
          <p:nvPr/>
        </p:nvSpPr>
        <p:spPr>
          <a:xfrm>
            <a:off x="374650" y="362585"/>
            <a:ext cx="21780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Sixth attempt</a:t>
            </a:r>
            <a:r>
              <a:rPr lang="en-US" altLang="zh-CN" sz="1800" dirty="0">
                <a:latin typeface="Arial" panose="020B0604020202020204" pitchFamily="34" charset="0"/>
              </a:rPr>
              <a:t> </a:t>
            </a:r>
          </a:p>
        </p:txBody>
      </p:sp>
      <p:graphicFrame>
        <p:nvGraphicFramePr>
          <p:cNvPr id="76803" name="表格 76802"/>
          <p:cNvGraphicFramePr/>
          <p:nvPr/>
        </p:nvGraphicFramePr>
        <p:xfrm>
          <a:off x="374650" y="1412875"/>
          <a:ext cx="8769350" cy="1371600"/>
        </p:xfrm>
        <a:graphic>
          <a:graphicData uri="http://schemas.openxmlformats.org/drawingml/2006/table">
            <a:tbl>
              <a:tblPr/>
              <a:tblGrid>
                <a:gridCol w="379413">
                  <a:extLst>
                    <a:ext uri="{9D8B030D-6E8A-4147-A177-3AD203B41FA5}">
                      <a16:colId xmlns:a16="http://schemas.microsoft.com/office/drawing/2014/main" val="20000"/>
                    </a:ext>
                  </a:extLst>
                </a:gridCol>
                <a:gridCol w="365125">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38138">
                  <a:extLst>
                    <a:ext uri="{9D8B030D-6E8A-4147-A177-3AD203B41FA5}">
                      <a16:colId xmlns:a16="http://schemas.microsoft.com/office/drawing/2014/main" val="20003"/>
                    </a:ext>
                  </a:extLst>
                </a:gridCol>
                <a:gridCol w="366712">
                  <a:extLst>
                    <a:ext uri="{9D8B030D-6E8A-4147-A177-3AD203B41FA5}">
                      <a16:colId xmlns:a16="http://schemas.microsoft.com/office/drawing/2014/main" val="20004"/>
                    </a:ext>
                  </a:extLst>
                </a:gridCol>
                <a:gridCol w="379413">
                  <a:extLst>
                    <a:ext uri="{9D8B030D-6E8A-4147-A177-3AD203B41FA5}">
                      <a16:colId xmlns:a16="http://schemas.microsoft.com/office/drawing/2014/main" val="20005"/>
                    </a:ext>
                  </a:extLst>
                </a:gridCol>
                <a:gridCol w="365125">
                  <a:extLst>
                    <a:ext uri="{9D8B030D-6E8A-4147-A177-3AD203B41FA5}">
                      <a16:colId xmlns:a16="http://schemas.microsoft.com/office/drawing/2014/main" val="20006"/>
                    </a:ext>
                  </a:extLst>
                </a:gridCol>
                <a:gridCol w="352425">
                  <a:extLst>
                    <a:ext uri="{9D8B030D-6E8A-4147-A177-3AD203B41FA5}">
                      <a16:colId xmlns:a16="http://schemas.microsoft.com/office/drawing/2014/main" val="20007"/>
                    </a:ext>
                  </a:extLst>
                </a:gridCol>
                <a:gridCol w="379412">
                  <a:extLst>
                    <a:ext uri="{9D8B030D-6E8A-4147-A177-3AD203B41FA5}">
                      <a16:colId xmlns:a16="http://schemas.microsoft.com/office/drawing/2014/main" val="20008"/>
                    </a:ext>
                  </a:extLst>
                </a:gridCol>
                <a:gridCol w="352425">
                  <a:extLst>
                    <a:ext uri="{9D8B030D-6E8A-4147-A177-3AD203B41FA5}">
                      <a16:colId xmlns:a16="http://schemas.microsoft.com/office/drawing/2014/main" val="20009"/>
                    </a:ext>
                  </a:extLst>
                </a:gridCol>
                <a:gridCol w="379413">
                  <a:extLst>
                    <a:ext uri="{9D8B030D-6E8A-4147-A177-3AD203B41FA5}">
                      <a16:colId xmlns:a16="http://schemas.microsoft.com/office/drawing/2014/main" val="20010"/>
                    </a:ext>
                  </a:extLst>
                </a:gridCol>
                <a:gridCol w="352425">
                  <a:extLst>
                    <a:ext uri="{9D8B030D-6E8A-4147-A177-3AD203B41FA5}">
                      <a16:colId xmlns:a16="http://schemas.microsoft.com/office/drawing/2014/main" val="20011"/>
                    </a:ext>
                  </a:extLst>
                </a:gridCol>
                <a:gridCol w="379412">
                  <a:extLst>
                    <a:ext uri="{9D8B030D-6E8A-4147-A177-3AD203B41FA5}">
                      <a16:colId xmlns:a16="http://schemas.microsoft.com/office/drawing/2014/main" val="20012"/>
                    </a:ext>
                  </a:extLst>
                </a:gridCol>
                <a:gridCol w="339725">
                  <a:extLst>
                    <a:ext uri="{9D8B030D-6E8A-4147-A177-3AD203B41FA5}">
                      <a16:colId xmlns:a16="http://schemas.microsoft.com/office/drawing/2014/main" val="20013"/>
                    </a:ext>
                  </a:extLst>
                </a:gridCol>
                <a:gridCol w="379413">
                  <a:extLst>
                    <a:ext uri="{9D8B030D-6E8A-4147-A177-3AD203B41FA5}">
                      <a16:colId xmlns:a16="http://schemas.microsoft.com/office/drawing/2014/main" val="20014"/>
                    </a:ext>
                  </a:extLst>
                </a:gridCol>
                <a:gridCol w="365125">
                  <a:extLst>
                    <a:ext uri="{9D8B030D-6E8A-4147-A177-3AD203B41FA5}">
                      <a16:colId xmlns:a16="http://schemas.microsoft.com/office/drawing/2014/main" val="20015"/>
                    </a:ext>
                  </a:extLst>
                </a:gridCol>
                <a:gridCol w="354012">
                  <a:extLst>
                    <a:ext uri="{9D8B030D-6E8A-4147-A177-3AD203B41FA5}">
                      <a16:colId xmlns:a16="http://schemas.microsoft.com/office/drawing/2014/main" val="20016"/>
                    </a:ext>
                  </a:extLst>
                </a:gridCol>
                <a:gridCol w="379413">
                  <a:extLst>
                    <a:ext uri="{9D8B030D-6E8A-4147-A177-3AD203B41FA5}">
                      <a16:colId xmlns:a16="http://schemas.microsoft.com/office/drawing/2014/main" val="20017"/>
                    </a:ext>
                  </a:extLst>
                </a:gridCol>
                <a:gridCol w="352425">
                  <a:extLst>
                    <a:ext uri="{9D8B030D-6E8A-4147-A177-3AD203B41FA5}">
                      <a16:colId xmlns:a16="http://schemas.microsoft.com/office/drawing/2014/main" val="20018"/>
                    </a:ext>
                  </a:extLst>
                </a:gridCol>
                <a:gridCol w="379412">
                  <a:extLst>
                    <a:ext uri="{9D8B030D-6E8A-4147-A177-3AD203B41FA5}">
                      <a16:colId xmlns:a16="http://schemas.microsoft.com/office/drawing/2014/main" val="20019"/>
                    </a:ext>
                  </a:extLst>
                </a:gridCol>
                <a:gridCol w="352425">
                  <a:extLst>
                    <a:ext uri="{9D8B030D-6E8A-4147-A177-3AD203B41FA5}">
                      <a16:colId xmlns:a16="http://schemas.microsoft.com/office/drawing/2014/main" val="20020"/>
                    </a:ext>
                  </a:extLst>
                </a:gridCol>
                <a:gridCol w="379413">
                  <a:extLst>
                    <a:ext uri="{9D8B030D-6E8A-4147-A177-3AD203B41FA5}">
                      <a16:colId xmlns:a16="http://schemas.microsoft.com/office/drawing/2014/main" val="20021"/>
                    </a:ext>
                  </a:extLst>
                </a:gridCol>
                <a:gridCol w="365125">
                  <a:extLst>
                    <a:ext uri="{9D8B030D-6E8A-4147-A177-3AD203B41FA5}">
                      <a16:colId xmlns:a16="http://schemas.microsoft.com/office/drawing/2014/main" val="20022"/>
                    </a:ext>
                  </a:extLst>
                </a:gridCol>
                <a:gridCol w="379412">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9">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gridSpan="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76841" name="Rectangle 357"/>
          <p:cNvSpPr/>
          <p:nvPr/>
        </p:nvSpPr>
        <p:spPr>
          <a:xfrm>
            <a:off x="374650" y="2449513"/>
            <a:ext cx="45100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Shift by: 1 (i-kmpNext[i]=0- -1)</a:t>
            </a:r>
          </a:p>
        </p:txBody>
      </p:sp>
      <p:sp>
        <p:nvSpPr>
          <p:cNvPr id="76842" name="Rectangle 358"/>
          <p:cNvSpPr/>
          <p:nvPr/>
        </p:nvSpPr>
        <p:spPr>
          <a:xfrm>
            <a:off x="374650" y="3032760"/>
            <a:ext cx="2619375" cy="731838"/>
          </a:xfrm>
          <a:prstGeom prst="rect">
            <a:avLst/>
          </a:prstGeom>
          <a:noFill/>
          <a:ln w="9525">
            <a:noFill/>
          </a:ln>
        </p:spPr>
        <p:txBody>
          <a:bodyPr wrap="none" anchor="ctr">
            <a:spAutoFit/>
          </a:bodyPr>
          <a:lstStyle/>
          <a:p>
            <a:pPr>
              <a:spcBef>
                <a:spcPct val="0"/>
              </a:spcBef>
              <a:buClrTx/>
            </a:pPr>
            <a:endParaRPr lang="en-US" altLang="zh-CN" sz="1800" dirty="0">
              <a:latin typeface="Arial" panose="020B0604020202020204" pitchFamily="34" charset="0"/>
            </a:endParaRPr>
          </a:p>
          <a:p>
            <a:pPr eaLnBrk="0" hangingPunct="0">
              <a:spcBef>
                <a:spcPct val="0"/>
              </a:spcBef>
              <a:buClrTx/>
            </a:pPr>
            <a:r>
              <a:rPr lang="en-US" altLang="zh-CN" b="1" dirty="0">
                <a:solidFill>
                  <a:srgbClr val="030301"/>
                </a:solidFill>
                <a:latin typeface="Arial" panose="020B0604020202020204" pitchFamily="34" charset="0"/>
              </a:rPr>
              <a:t>Seventh attempt</a:t>
            </a:r>
            <a:r>
              <a:rPr lang="en-US" altLang="zh-CN" sz="1800" dirty="0">
                <a:latin typeface="Arial" panose="020B0604020202020204" pitchFamily="34" charset="0"/>
              </a:rPr>
              <a:t> </a:t>
            </a:r>
          </a:p>
        </p:txBody>
      </p:sp>
      <p:graphicFrame>
        <p:nvGraphicFramePr>
          <p:cNvPr id="76843" name="表格 76842"/>
          <p:cNvGraphicFramePr/>
          <p:nvPr/>
        </p:nvGraphicFramePr>
        <p:xfrm>
          <a:off x="374650" y="4129088"/>
          <a:ext cx="8769350" cy="1371600"/>
        </p:xfrm>
        <a:graphic>
          <a:graphicData uri="http://schemas.openxmlformats.org/drawingml/2006/table">
            <a:tbl>
              <a:tblPr/>
              <a:tblGrid>
                <a:gridCol w="377825">
                  <a:extLst>
                    <a:ext uri="{9D8B030D-6E8A-4147-A177-3AD203B41FA5}">
                      <a16:colId xmlns:a16="http://schemas.microsoft.com/office/drawing/2014/main" val="20000"/>
                    </a:ext>
                  </a:extLst>
                </a:gridCol>
                <a:gridCol w="365125">
                  <a:extLst>
                    <a:ext uri="{9D8B030D-6E8A-4147-A177-3AD203B41FA5}">
                      <a16:colId xmlns:a16="http://schemas.microsoft.com/office/drawing/2014/main" val="20001"/>
                    </a:ext>
                  </a:extLst>
                </a:gridCol>
                <a:gridCol w="350838">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63537">
                  <a:extLst>
                    <a:ext uri="{9D8B030D-6E8A-4147-A177-3AD203B41FA5}">
                      <a16:colId xmlns:a16="http://schemas.microsoft.com/office/drawing/2014/main" val="20004"/>
                    </a:ext>
                  </a:extLst>
                </a:gridCol>
                <a:gridCol w="379413">
                  <a:extLst>
                    <a:ext uri="{9D8B030D-6E8A-4147-A177-3AD203B41FA5}">
                      <a16:colId xmlns:a16="http://schemas.microsoft.com/office/drawing/2014/main" val="20005"/>
                    </a:ext>
                  </a:extLst>
                </a:gridCol>
                <a:gridCol w="363537">
                  <a:extLst>
                    <a:ext uri="{9D8B030D-6E8A-4147-A177-3AD203B41FA5}">
                      <a16:colId xmlns:a16="http://schemas.microsoft.com/office/drawing/2014/main" val="20006"/>
                    </a:ext>
                  </a:extLst>
                </a:gridCol>
                <a:gridCol w="352425">
                  <a:extLst>
                    <a:ext uri="{9D8B030D-6E8A-4147-A177-3AD203B41FA5}">
                      <a16:colId xmlns:a16="http://schemas.microsoft.com/office/drawing/2014/main" val="20007"/>
                    </a:ext>
                  </a:extLst>
                </a:gridCol>
                <a:gridCol w="377825">
                  <a:extLst>
                    <a:ext uri="{9D8B030D-6E8A-4147-A177-3AD203B41FA5}">
                      <a16:colId xmlns:a16="http://schemas.microsoft.com/office/drawing/2014/main" val="20008"/>
                    </a:ext>
                  </a:extLst>
                </a:gridCol>
                <a:gridCol w="350838">
                  <a:extLst>
                    <a:ext uri="{9D8B030D-6E8A-4147-A177-3AD203B41FA5}">
                      <a16:colId xmlns:a16="http://schemas.microsoft.com/office/drawing/2014/main" val="20009"/>
                    </a:ext>
                  </a:extLst>
                </a:gridCol>
                <a:gridCol w="379412">
                  <a:extLst>
                    <a:ext uri="{9D8B030D-6E8A-4147-A177-3AD203B41FA5}">
                      <a16:colId xmlns:a16="http://schemas.microsoft.com/office/drawing/2014/main" val="20010"/>
                    </a:ext>
                  </a:extLst>
                </a:gridCol>
                <a:gridCol w="350838">
                  <a:extLst>
                    <a:ext uri="{9D8B030D-6E8A-4147-A177-3AD203B41FA5}">
                      <a16:colId xmlns:a16="http://schemas.microsoft.com/office/drawing/2014/main" val="20011"/>
                    </a:ext>
                  </a:extLst>
                </a:gridCol>
                <a:gridCol w="377825">
                  <a:extLst>
                    <a:ext uri="{9D8B030D-6E8A-4147-A177-3AD203B41FA5}">
                      <a16:colId xmlns:a16="http://schemas.microsoft.com/office/drawing/2014/main" val="20012"/>
                    </a:ext>
                  </a:extLst>
                </a:gridCol>
                <a:gridCol w="338137">
                  <a:extLst>
                    <a:ext uri="{9D8B030D-6E8A-4147-A177-3AD203B41FA5}">
                      <a16:colId xmlns:a16="http://schemas.microsoft.com/office/drawing/2014/main" val="20013"/>
                    </a:ext>
                  </a:extLst>
                </a:gridCol>
                <a:gridCol w="352425">
                  <a:extLst>
                    <a:ext uri="{9D8B030D-6E8A-4147-A177-3AD203B41FA5}">
                      <a16:colId xmlns:a16="http://schemas.microsoft.com/office/drawing/2014/main" val="20014"/>
                    </a:ext>
                  </a:extLst>
                </a:gridCol>
                <a:gridCol w="377825">
                  <a:extLst>
                    <a:ext uri="{9D8B030D-6E8A-4147-A177-3AD203B41FA5}">
                      <a16:colId xmlns:a16="http://schemas.microsoft.com/office/drawing/2014/main" val="20015"/>
                    </a:ext>
                  </a:extLst>
                </a:gridCol>
                <a:gridCol w="365125">
                  <a:extLst>
                    <a:ext uri="{9D8B030D-6E8A-4147-A177-3AD203B41FA5}">
                      <a16:colId xmlns:a16="http://schemas.microsoft.com/office/drawing/2014/main" val="20016"/>
                    </a:ext>
                  </a:extLst>
                </a:gridCol>
                <a:gridCol w="365125">
                  <a:extLst>
                    <a:ext uri="{9D8B030D-6E8A-4147-A177-3AD203B41FA5}">
                      <a16:colId xmlns:a16="http://schemas.microsoft.com/office/drawing/2014/main" val="20017"/>
                    </a:ext>
                  </a:extLst>
                </a:gridCol>
                <a:gridCol w="377825">
                  <a:extLst>
                    <a:ext uri="{9D8B030D-6E8A-4147-A177-3AD203B41FA5}">
                      <a16:colId xmlns:a16="http://schemas.microsoft.com/office/drawing/2014/main" val="20018"/>
                    </a:ext>
                  </a:extLst>
                </a:gridCol>
                <a:gridCol w="377825">
                  <a:extLst>
                    <a:ext uri="{9D8B030D-6E8A-4147-A177-3AD203B41FA5}">
                      <a16:colId xmlns:a16="http://schemas.microsoft.com/office/drawing/2014/main" val="20019"/>
                    </a:ext>
                  </a:extLst>
                </a:gridCol>
                <a:gridCol w="377825">
                  <a:extLst>
                    <a:ext uri="{9D8B030D-6E8A-4147-A177-3AD203B41FA5}">
                      <a16:colId xmlns:a16="http://schemas.microsoft.com/office/drawing/2014/main" val="20020"/>
                    </a:ext>
                  </a:extLst>
                </a:gridCol>
                <a:gridCol w="352425">
                  <a:extLst>
                    <a:ext uri="{9D8B030D-6E8A-4147-A177-3AD203B41FA5}">
                      <a16:colId xmlns:a16="http://schemas.microsoft.com/office/drawing/2014/main" val="20021"/>
                    </a:ext>
                  </a:extLst>
                </a:gridCol>
                <a:gridCol w="377825">
                  <a:extLst>
                    <a:ext uri="{9D8B030D-6E8A-4147-A177-3AD203B41FA5}">
                      <a16:colId xmlns:a16="http://schemas.microsoft.com/office/drawing/2014/main" val="20022"/>
                    </a:ext>
                  </a:extLst>
                </a:gridCol>
                <a:gridCol w="377825">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8">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76881" name="Rectangle 475"/>
          <p:cNvSpPr/>
          <p:nvPr/>
        </p:nvSpPr>
        <p:spPr>
          <a:xfrm>
            <a:off x="374650" y="5538788"/>
            <a:ext cx="4510088"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Shift by: 1 (i-kmpNext[i]=0- -1)</a:t>
            </a:r>
          </a:p>
        </p:txBody>
      </p:sp>
      <p:graphicFrame>
        <p:nvGraphicFramePr>
          <p:cNvPr id="76882" name="表格 76881"/>
          <p:cNvGraphicFramePr/>
          <p:nvPr/>
        </p:nvGraphicFramePr>
        <p:xfrm>
          <a:off x="285115" y="1071563"/>
          <a:ext cx="8786813" cy="367030"/>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703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graphicFrame>
        <p:nvGraphicFramePr>
          <p:cNvPr id="76907" name="表格 76906"/>
          <p:cNvGraphicFramePr/>
          <p:nvPr/>
        </p:nvGraphicFramePr>
        <p:xfrm>
          <a:off x="285433" y="3776663"/>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sp>
        <p:nvSpPr>
          <p:cNvPr id="2" name="文本框 1"/>
          <p:cNvSpPr txBox="1"/>
          <p:nvPr/>
        </p:nvSpPr>
        <p:spPr>
          <a:xfrm>
            <a:off x="2336165" y="396240"/>
            <a:ext cx="7546975" cy="460375"/>
          </a:xfrm>
          <a:prstGeom prst="rect">
            <a:avLst/>
          </a:prstGeom>
          <a:noFill/>
        </p:spPr>
        <p:txBody>
          <a:bodyPr wrap="square" rtlCol="0">
            <a:spAutoFit/>
          </a:bodyPr>
          <a:lstStyle/>
          <a:p>
            <a:r>
              <a:rPr lang="en-US" altLang="zh-CN">
                <a:solidFill>
                  <a:srgbClr val="FF0000"/>
                </a:solidFill>
              </a:rPr>
              <a:t>  </a:t>
            </a:r>
            <a:r>
              <a:rPr lang="zh-CN" altLang="en-US" sz="2000">
                <a:solidFill>
                  <a:srgbClr val="FF0000"/>
                </a:solidFill>
              </a:rPr>
              <a:t>若</a:t>
            </a:r>
            <a:r>
              <a:rPr lang="en-US" altLang="zh-CN" sz="2000">
                <a:solidFill>
                  <a:srgbClr val="FF0000"/>
                </a:solidFill>
              </a:rPr>
              <a:t>next[i]&lt;=0</a:t>
            </a:r>
            <a:r>
              <a:rPr lang="zh-CN" altLang="en-US" sz="2000">
                <a:solidFill>
                  <a:srgbClr val="FF0000"/>
                </a:solidFill>
              </a:rPr>
              <a:t>，则下一轮从</a:t>
            </a:r>
            <a:r>
              <a:rPr lang="en-US" altLang="zh-CN" sz="2000">
                <a:solidFill>
                  <a:srgbClr val="FF0000"/>
                </a:solidFill>
              </a:rPr>
              <a:t>0</a:t>
            </a:r>
            <a:r>
              <a:rPr lang="zh-CN" altLang="en-US" sz="2000">
                <a:solidFill>
                  <a:srgbClr val="FF0000"/>
                </a:solidFill>
              </a:rPr>
              <a:t>开始比较；否则从</a:t>
            </a:r>
            <a:r>
              <a:rPr lang="en-US" altLang="zh-CN" sz="2000">
                <a:solidFill>
                  <a:srgbClr val="FF0000"/>
                </a:solidFill>
                <a:sym typeface="+mn-ea"/>
              </a:rPr>
              <a:t>next[i]=1</a:t>
            </a:r>
            <a:r>
              <a:rPr lang="zh-CN" altLang="en-US" sz="2000">
                <a:solidFill>
                  <a:srgbClr val="FF0000"/>
                </a:solidFill>
                <a:sym typeface="+mn-ea"/>
              </a:rPr>
              <a:t>开始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061211"/>
            <a:ext cx="7886700" cy="4474845"/>
          </a:xfrm>
        </p:spPr>
        <p:txBody>
          <a:bodyPr/>
          <a:lstStyle/>
          <a:p>
            <a:endParaRPr lang="zh-CN" altLang="en-US"/>
          </a:p>
        </p:txBody>
      </p:sp>
      <p:sp>
        <p:nvSpPr>
          <p:cNvPr id="78849" name="灯片编号占位符 3"/>
          <p:cNvSpPr txBox="1">
            <a:spLocks noGrp="1"/>
          </p:cNvSpPr>
          <p:nvPr>
            <p:ph type="sldNum" sz="quarter" idx="12"/>
          </p:nvPr>
        </p:nvSpPr>
        <p:spPr>
          <a:xfrm>
            <a:off x="6457950" y="6715126"/>
            <a:ext cx="2057400" cy="365125"/>
          </a:xfrm>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34</a:t>
            </a:fld>
            <a:endParaRPr lang="en-US" altLang="zh-CN" sz="1400" dirty="0"/>
          </a:p>
        </p:txBody>
      </p:sp>
      <p:sp>
        <p:nvSpPr>
          <p:cNvPr id="78850" name="Rectangle 4"/>
          <p:cNvSpPr/>
          <p:nvPr/>
        </p:nvSpPr>
        <p:spPr>
          <a:xfrm>
            <a:off x="357188" y="1001713"/>
            <a:ext cx="2379662"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Eighth attempt</a:t>
            </a:r>
            <a:r>
              <a:rPr lang="en-US" altLang="zh-CN" sz="1800" dirty="0">
                <a:latin typeface="Arial" panose="020B0604020202020204" pitchFamily="34" charset="0"/>
              </a:rPr>
              <a:t> </a:t>
            </a:r>
          </a:p>
        </p:txBody>
      </p:sp>
      <p:graphicFrame>
        <p:nvGraphicFramePr>
          <p:cNvPr id="78851" name="表格 78850"/>
          <p:cNvGraphicFramePr/>
          <p:nvPr>
            <p:custDataLst>
              <p:tags r:id="rId1"/>
            </p:custDataLst>
          </p:nvPr>
        </p:nvGraphicFramePr>
        <p:xfrm>
          <a:off x="250825" y="1771650"/>
          <a:ext cx="8750300" cy="1371600"/>
        </p:xfrm>
        <a:graphic>
          <a:graphicData uri="http://schemas.openxmlformats.org/drawingml/2006/table">
            <a:tbl>
              <a:tblPr/>
              <a:tblGrid>
                <a:gridCol w="379413">
                  <a:extLst>
                    <a:ext uri="{9D8B030D-6E8A-4147-A177-3AD203B41FA5}">
                      <a16:colId xmlns:a16="http://schemas.microsoft.com/office/drawing/2014/main" val="20000"/>
                    </a:ext>
                  </a:extLst>
                </a:gridCol>
                <a:gridCol w="368300">
                  <a:extLst>
                    <a:ext uri="{9D8B030D-6E8A-4147-A177-3AD203B41FA5}">
                      <a16:colId xmlns:a16="http://schemas.microsoft.com/office/drawing/2014/main" val="20001"/>
                    </a:ext>
                  </a:extLst>
                </a:gridCol>
                <a:gridCol w="352425">
                  <a:extLst>
                    <a:ext uri="{9D8B030D-6E8A-4147-A177-3AD203B41FA5}">
                      <a16:colId xmlns:a16="http://schemas.microsoft.com/office/drawing/2014/main" val="20002"/>
                    </a:ext>
                  </a:extLst>
                </a:gridCol>
                <a:gridCol w="339725">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79412">
                  <a:extLst>
                    <a:ext uri="{9D8B030D-6E8A-4147-A177-3AD203B41FA5}">
                      <a16:colId xmlns:a16="http://schemas.microsoft.com/office/drawing/2014/main" val="20005"/>
                    </a:ext>
                  </a:extLst>
                </a:gridCol>
                <a:gridCol w="366713">
                  <a:extLst>
                    <a:ext uri="{9D8B030D-6E8A-4147-A177-3AD203B41FA5}">
                      <a16:colId xmlns:a16="http://schemas.microsoft.com/office/drawing/2014/main" val="20006"/>
                    </a:ext>
                  </a:extLst>
                </a:gridCol>
                <a:gridCol w="354012">
                  <a:extLst>
                    <a:ext uri="{9D8B030D-6E8A-4147-A177-3AD203B41FA5}">
                      <a16:colId xmlns:a16="http://schemas.microsoft.com/office/drawing/2014/main" val="20007"/>
                    </a:ext>
                  </a:extLst>
                </a:gridCol>
                <a:gridCol w="379413">
                  <a:extLst>
                    <a:ext uri="{9D8B030D-6E8A-4147-A177-3AD203B41FA5}">
                      <a16:colId xmlns:a16="http://schemas.microsoft.com/office/drawing/2014/main" val="20008"/>
                    </a:ext>
                  </a:extLst>
                </a:gridCol>
                <a:gridCol w="354012">
                  <a:extLst>
                    <a:ext uri="{9D8B030D-6E8A-4147-A177-3AD203B41FA5}">
                      <a16:colId xmlns:a16="http://schemas.microsoft.com/office/drawing/2014/main" val="20009"/>
                    </a:ext>
                  </a:extLst>
                </a:gridCol>
                <a:gridCol w="379413">
                  <a:extLst>
                    <a:ext uri="{9D8B030D-6E8A-4147-A177-3AD203B41FA5}">
                      <a16:colId xmlns:a16="http://schemas.microsoft.com/office/drawing/2014/main" val="20010"/>
                    </a:ext>
                  </a:extLst>
                </a:gridCol>
                <a:gridCol w="354012">
                  <a:extLst>
                    <a:ext uri="{9D8B030D-6E8A-4147-A177-3AD203B41FA5}">
                      <a16:colId xmlns:a16="http://schemas.microsoft.com/office/drawing/2014/main" val="20011"/>
                    </a:ext>
                  </a:extLst>
                </a:gridCol>
                <a:gridCol w="379413">
                  <a:extLst>
                    <a:ext uri="{9D8B030D-6E8A-4147-A177-3AD203B41FA5}">
                      <a16:colId xmlns:a16="http://schemas.microsoft.com/office/drawing/2014/main" val="20012"/>
                    </a:ext>
                  </a:extLst>
                </a:gridCol>
                <a:gridCol w="341312">
                  <a:extLst>
                    <a:ext uri="{9D8B030D-6E8A-4147-A177-3AD203B41FA5}">
                      <a16:colId xmlns:a16="http://schemas.microsoft.com/office/drawing/2014/main" val="20013"/>
                    </a:ext>
                  </a:extLst>
                </a:gridCol>
                <a:gridCol w="352425">
                  <a:extLst>
                    <a:ext uri="{9D8B030D-6E8A-4147-A177-3AD203B41FA5}">
                      <a16:colId xmlns:a16="http://schemas.microsoft.com/office/drawing/2014/main" val="20014"/>
                    </a:ext>
                  </a:extLst>
                </a:gridCol>
                <a:gridCol w="341313">
                  <a:extLst>
                    <a:ext uri="{9D8B030D-6E8A-4147-A177-3AD203B41FA5}">
                      <a16:colId xmlns:a16="http://schemas.microsoft.com/office/drawing/2014/main" val="20015"/>
                    </a:ext>
                  </a:extLst>
                </a:gridCol>
                <a:gridCol w="379412">
                  <a:extLst>
                    <a:ext uri="{9D8B030D-6E8A-4147-A177-3AD203B41FA5}">
                      <a16:colId xmlns:a16="http://schemas.microsoft.com/office/drawing/2014/main" val="20016"/>
                    </a:ext>
                  </a:extLst>
                </a:gridCol>
                <a:gridCol w="366713">
                  <a:extLst>
                    <a:ext uri="{9D8B030D-6E8A-4147-A177-3AD203B41FA5}">
                      <a16:colId xmlns:a16="http://schemas.microsoft.com/office/drawing/2014/main" val="20017"/>
                    </a:ext>
                  </a:extLst>
                </a:gridCol>
                <a:gridCol w="354012">
                  <a:extLst>
                    <a:ext uri="{9D8B030D-6E8A-4147-A177-3AD203B41FA5}">
                      <a16:colId xmlns:a16="http://schemas.microsoft.com/office/drawing/2014/main" val="20018"/>
                    </a:ext>
                  </a:extLst>
                </a:gridCol>
                <a:gridCol w="379413">
                  <a:extLst>
                    <a:ext uri="{9D8B030D-6E8A-4147-A177-3AD203B41FA5}">
                      <a16:colId xmlns:a16="http://schemas.microsoft.com/office/drawing/2014/main" val="20019"/>
                    </a:ext>
                  </a:extLst>
                </a:gridCol>
                <a:gridCol w="354012">
                  <a:extLst>
                    <a:ext uri="{9D8B030D-6E8A-4147-A177-3AD203B41FA5}">
                      <a16:colId xmlns:a16="http://schemas.microsoft.com/office/drawing/2014/main" val="20020"/>
                    </a:ext>
                  </a:extLst>
                </a:gridCol>
                <a:gridCol w="379413">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79412">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2"/>
                  </a:ext>
                </a:extLst>
              </a:tr>
            </a:tbl>
          </a:graphicData>
        </a:graphic>
      </p:graphicFrame>
      <p:sp>
        <p:nvSpPr>
          <p:cNvPr id="78888" name="Rectangle 120"/>
          <p:cNvSpPr/>
          <p:nvPr/>
        </p:nvSpPr>
        <p:spPr>
          <a:xfrm>
            <a:off x="323533" y="2493963"/>
            <a:ext cx="4510087"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Shift by: 1 (i-kmpNext[i]=0- -1)</a:t>
            </a:r>
          </a:p>
        </p:txBody>
      </p:sp>
      <p:graphicFrame>
        <p:nvGraphicFramePr>
          <p:cNvPr id="78889" name="表格 78888"/>
          <p:cNvGraphicFramePr/>
          <p:nvPr/>
        </p:nvGraphicFramePr>
        <p:xfrm>
          <a:off x="214313" y="1430338"/>
          <a:ext cx="8786813" cy="366713"/>
        </p:xfrm>
        <a:graphic>
          <a:graphicData uri="http://schemas.openxmlformats.org/drawingml/2006/table">
            <a:tbl>
              <a:tblPr/>
              <a:tblGrid>
                <a:gridCol w="3810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54012">
                  <a:extLst>
                    <a:ext uri="{9D8B030D-6E8A-4147-A177-3AD203B41FA5}">
                      <a16:colId xmlns:a16="http://schemas.microsoft.com/office/drawing/2014/main" val="20002"/>
                    </a:ext>
                  </a:extLst>
                </a:gridCol>
                <a:gridCol w="382588">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68300">
                  <a:extLst>
                    <a:ext uri="{9D8B030D-6E8A-4147-A177-3AD203B41FA5}">
                      <a16:colId xmlns:a16="http://schemas.microsoft.com/office/drawing/2014/main" val="20006"/>
                    </a:ext>
                  </a:extLst>
                </a:gridCol>
                <a:gridCol w="382587">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3556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556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41313">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41312">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68300">
                  <a:extLst>
                    <a:ext uri="{9D8B030D-6E8A-4147-A177-3AD203B41FA5}">
                      <a16:colId xmlns:a16="http://schemas.microsoft.com/office/drawing/2014/main" val="20017"/>
                    </a:ext>
                  </a:extLst>
                </a:gridCol>
                <a:gridCol w="354013">
                  <a:extLst>
                    <a:ext uri="{9D8B030D-6E8A-4147-A177-3AD203B41FA5}">
                      <a16:colId xmlns:a16="http://schemas.microsoft.com/office/drawing/2014/main" val="20018"/>
                    </a:ext>
                  </a:extLst>
                </a:gridCol>
                <a:gridCol w="382587">
                  <a:extLst>
                    <a:ext uri="{9D8B030D-6E8A-4147-A177-3AD203B41FA5}">
                      <a16:colId xmlns:a16="http://schemas.microsoft.com/office/drawing/2014/main" val="20019"/>
                    </a:ext>
                  </a:extLst>
                </a:gridCol>
                <a:gridCol w="341313">
                  <a:extLst>
                    <a:ext uri="{9D8B030D-6E8A-4147-A177-3AD203B41FA5}">
                      <a16:colId xmlns:a16="http://schemas.microsoft.com/office/drawing/2014/main" val="20020"/>
                    </a:ext>
                  </a:extLst>
                </a:gridCol>
                <a:gridCol w="355600">
                  <a:extLst>
                    <a:ext uri="{9D8B030D-6E8A-4147-A177-3AD203B41FA5}">
                      <a16:colId xmlns:a16="http://schemas.microsoft.com/office/drawing/2014/main" val="20021"/>
                    </a:ext>
                  </a:extLst>
                </a:gridCol>
                <a:gridCol w="368300">
                  <a:extLst>
                    <a:ext uri="{9D8B030D-6E8A-4147-A177-3AD203B41FA5}">
                      <a16:colId xmlns:a16="http://schemas.microsoft.com/office/drawing/2014/main" val="20022"/>
                    </a:ext>
                  </a:extLst>
                </a:gridCol>
                <a:gridCol w="381000">
                  <a:extLst>
                    <a:ext uri="{9D8B030D-6E8A-4147-A177-3AD203B41FA5}">
                      <a16:colId xmlns:a16="http://schemas.microsoft.com/office/drawing/2014/main" val="20023"/>
                    </a:ext>
                  </a:extLst>
                </a:gridCol>
              </a:tblGrid>
              <a:tr h="3667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14</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15</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chemeClr val="bg2"/>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16</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17</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18</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19</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20</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21</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22</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000" b="1" dirty="0">
                          <a:latin typeface="Arial" panose="020B0604020202020204" pitchFamily="34" charset="0"/>
                        </a:rPr>
                        <a:t>23</a:t>
                      </a:r>
                      <a:endParaRPr lang="zh-CN" altLang="en-US" sz="1000" b="1" dirty="0">
                        <a:latin typeface="Arial" panose="020B0604020202020204" pitchFamily="34" charset="0"/>
                      </a:endParaRP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Rot="1"/>
          </p:cNvSpPr>
          <p:nvPr>
            <p:ph type="body" sz="half" idx="4294967295"/>
          </p:nvPr>
        </p:nvSpPr>
        <p:spPr>
          <a:xfrm>
            <a:off x="358775" y="1628775"/>
            <a:ext cx="4000500" cy="504825"/>
          </a:xfrm>
        </p:spPr>
        <p:txBody>
          <a:bodyPr vert="horz" wrap="square" lIns="91440" tIns="45720" rIns="91440" bIns="45720" anchor="t"/>
          <a:lstStyle/>
          <a:p>
            <a:r>
              <a:rPr lang="zh-CN" altLang="en-US" sz="2400" dirty="0"/>
              <a:t>练习</a:t>
            </a:r>
          </a:p>
          <a:p>
            <a:pPr>
              <a:buNone/>
            </a:pPr>
            <a:endParaRPr lang="zh-CN" altLang="en-US" sz="2400" dirty="0"/>
          </a:p>
        </p:txBody>
      </p:sp>
      <p:graphicFrame>
        <p:nvGraphicFramePr>
          <p:cNvPr id="229425" name="Group 49"/>
          <p:cNvGraphicFramePr>
            <a:graphicFrameLocks noGrp="1"/>
          </p:cNvGraphicFramePr>
          <p:nvPr>
            <p:ph sz="half" idx="4294967295"/>
          </p:nvPr>
        </p:nvGraphicFramePr>
        <p:xfrm>
          <a:off x="577850" y="2421255"/>
          <a:ext cx="7848600" cy="647700"/>
        </p:xfrm>
        <a:graphic>
          <a:graphicData uri="http://schemas.openxmlformats.org/drawingml/2006/table">
            <a:tbl>
              <a:tblPr/>
              <a:tblGrid>
                <a:gridCol w="327025">
                  <a:extLst>
                    <a:ext uri="{9D8B030D-6E8A-4147-A177-3AD203B41FA5}">
                      <a16:colId xmlns:a16="http://schemas.microsoft.com/office/drawing/2014/main" val="20000"/>
                    </a:ext>
                  </a:extLst>
                </a:gridCol>
                <a:gridCol w="327025">
                  <a:extLst>
                    <a:ext uri="{9D8B030D-6E8A-4147-A177-3AD203B41FA5}">
                      <a16:colId xmlns:a16="http://schemas.microsoft.com/office/drawing/2014/main" val="20001"/>
                    </a:ext>
                  </a:extLst>
                </a:gridCol>
                <a:gridCol w="327025">
                  <a:extLst>
                    <a:ext uri="{9D8B030D-6E8A-4147-A177-3AD203B41FA5}">
                      <a16:colId xmlns:a16="http://schemas.microsoft.com/office/drawing/2014/main" val="20002"/>
                    </a:ext>
                  </a:extLst>
                </a:gridCol>
                <a:gridCol w="327025">
                  <a:extLst>
                    <a:ext uri="{9D8B030D-6E8A-4147-A177-3AD203B41FA5}">
                      <a16:colId xmlns:a16="http://schemas.microsoft.com/office/drawing/2014/main" val="20003"/>
                    </a:ext>
                  </a:extLst>
                </a:gridCol>
                <a:gridCol w="347663">
                  <a:extLst>
                    <a:ext uri="{9D8B030D-6E8A-4147-A177-3AD203B41FA5}">
                      <a16:colId xmlns:a16="http://schemas.microsoft.com/office/drawing/2014/main" val="20004"/>
                    </a:ext>
                  </a:extLst>
                </a:gridCol>
                <a:gridCol w="306387">
                  <a:extLst>
                    <a:ext uri="{9D8B030D-6E8A-4147-A177-3AD203B41FA5}">
                      <a16:colId xmlns:a16="http://schemas.microsoft.com/office/drawing/2014/main" val="20005"/>
                    </a:ext>
                  </a:extLst>
                </a:gridCol>
                <a:gridCol w="327025">
                  <a:extLst>
                    <a:ext uri="{9D8B030D-6E8A-4147-A177-3AD203B41FA5}">
                      <a16:colId xmlns:a16="http://schemas.microsoft.com/office/drawing/2014/main" val="20006"/>
                    </a:ext>
                  </a:extLst>
                </a:gridCol>
                <a:gridCol w="327025">
                  <a:extLst>
                    <a:ext uri="{9D8B030D-6E8A-4147-A177-3AD203B41FA5}">
                      <a16:colId xmlns:a16="http://schemas.microsoft.com/office/drawing/2014/main" val="20007"/>
                    </a:ext>
                  </a:extLst>
                </a:gridCol>
                <a:gridCol w="327025">
                  <a:extLst>
                    <a:ext uri="{9D8B030D-6E8A-4147-A177-3AD203B41FA5}">
                      <a16:colId xmlns:a16="http://schemas.microsoft.com/office/drawing/2014/main" val="20008"/>
                    </a:ext>
                  </a:extLst>
                </a:gridCol>
                <a:gridCol w="327025">
                  <a:extLst>
                    <a:ext uri="{9D8B030D-6E8A-4147-A177-3AD203B41FA5}">
                      <a16:colId xmlns:a16="http://schemas.microsoft.com/office/drawing/2014/main" val="20009"/>
                    </a:ext>
                  </a:extLst>
                </a:gridCol>
                <a:gridCol w="327025">
                  <a:extLst>
                    <a:ext uri="{9D8B030D-6E8A-4147-A177-3AD203B41FA5}">
                      <a16:colId xmlns:a16="http://schemas.microsoft.com/office/drawing/2014/main" val="20010"/>
                    </a:ext>
                  </a:extLst>
                </a:gridCol>
                <a:gridCol w="327025">
                  <a:extLst>
                    <a:ext uri="{9D8B030D-6E8A-4147-A177-3AD203B41FA5}">
                      <a16:colId xmlns:a16="http://schemas.microsoft.com/office/drawing/2014/main" val="20011"/>
                    </a:ext>
                  </a:extLst>
                </a:gridCol>
                <a:gridCol w="327025">
                  <a:extLst>
                    <a:ext uri="{9D8B030D-6E8A-4147-A177-3AD203B41FA5}">
                      <a16:colId xmlns:a16="http://schemas.microsoft.com/office/drawing/2014/main" val="20012"/>
                    </a:ext>
                  </a:extLst>
                </a:gridCol>
                <a:gridCol w="327025">
                  <a:extLst>
                    <a:ext uri="{9D8B030D-6E8A-4147-A177-3AD203B41FA5}">
                      <a16:colId xmlns:a16="http://schemas.microsoft.com/office/drawing/2014/main" val="20013"/>
                    </a:ext>
                  </a:extLst>
                </a:gridCol>
                <a:gridCol w="327025">
                  <a:extLst>
                    <a:ext uri="{9D8B030D-6E8A-4147-A177-3AD203B41FA5}">
                      <a16:colId xmlns:a16="http://schemas.microsoft.com/office/drawing/2014/main" val="20014"/>
                    </a:ext>
                  </a:extLst>
                </a:gridCol>
                <a:gridCol w="327025">
                  <a:extLst>
                    <a:ext uri="{9D8B030D-6E8A-4147-A177-3AD203B41FA5}">
                      <a16:colId xmlns:a16="http://schemas.microsoft.com/office/drawing/2014/main" val="20015"/>
                    </a:ext>
                  </a:extLst>
                </a:gridCol>
                <a:gridCol w="327025">
                  <a:extLst>
                    <a:ext uri="{9D8B030D-6E8A-4147-A177-3AD203B41FA5}">
                      <a16:colId xmlns:a16="http://schemas.microsoft.com/office/drawing/2014/main" val="20016"/>
                    </a:ext>
                  </a:extLst>
                </a:gridCol>
                <a:gridCol w="327025">
                  <a:extLst>
                    <a:ext uri="{9D8B030D-6E8A-4147-A177-3AD203B41FA5}">
                      <a16:colId xmlns:a16="http://schemas.microsoft.com/office/drawing/2014/main" val="20017"/>
                    </a:ext>
                  </a:extLst>
                </a:gridCol>
                <a:gridCol w="327025">
                  <a:extLst>
                    <a:ext uri="{9D8B030D-6E8A-4147-A177-3AD203B41FA5}">
                      <a16:colId xmlns:a16="http://schemas.microsoft.com/office/drawing/2014/main" val="20018"/>
                    </a:ext>
                  </a:extLst>
                </a:gridCol>
                <a:gridCol w="327025">
                  <a:extLst>
                    <a:ext uri="{9D8B030D-6E8A-4147-A177-3AD203B41FA5}">
                      <a16:colId xmlns:a16="http://schemas.microsoft.com/office/drawing/2014/main" val="20019"/>
                    </a:ext>
                  </a:extLst>
                </a:gridCol>
                <a:gridCol w="327025">
                  <a:extLst>
                    <a:ext uri="{9D8B030D-6E8A-4147-A177-3AD203B41FA5}">
                      <a16:colId xmlns:a16="http://schemas.microsoft.com/office/drawing/2014/main" val="20020"/>
                    </a:ext>
                  </a:extLst>
                </a:gridCol>
                <a:gridCol w="327025">
                  <a:extLst>
                    <a:ext uri="{9D8B030D-6E8A-4147-A177-3AD203B41FA5}">
                      <a16:colId xmlns:a16="http://schemas.microsoft.com/office/drawing/2014/main" val="20021"/>
                    </a:ext>
                  </a:extLst>
                </a:gridCol>
                <a:gridCol w="327025">
                  <a:extLst>
                    <a:ext uri="{9D8B030D-6E8A-4147-A177-3AD203B41FA5}">
                      <a16:colId xmlns:a16="http://schemas.microsoft.com/office/drawing/2014/main" val="20022"/>
                    </a:ext>
                  </a:extLst>
                </a:gridCol>
                <a:gridCol w="327025">
                  <a:extLst>
                    <a:ext uri="{9D8B030D-6E8A-4147-A177-3AD203B41FA5}">
                      <a16:colId xmlns:a16="http://schemas.microsoft.com/office/drawing/2014/main" val="20023"/>
                    </a:ext>
                  </a:extLst>
                </a:gridCol>
              </a:tblGrid>
              <a:tr h="647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0924" name="Text Box 79"/>
          <p:cNvSpPr txBox="1"/>
          <p:nvPr/>
        </p:nvSpPr>
        <p:spPr>
          <a:xfrm>
            <a:off x="755576" y="3558064"/>
            <a:ext cx="2244725" cy="461963"/>
          </a:xfrm>
          <a:prstGeom prst="rect">
            <a:avLst/>
          </a:prstGeom>
          <a:solidFill>
            <a:schemeClr val="accent1"/>
          </a:solidFill>
          <a:ln w="9525">
            <a:noFill/>
          </a:ln>
        </p:spPr>
        <p:txBody>
          <a:bodyPr>
            <a:spAutoFit/>
          </a:bodyPr>
          <a:lstStyle/>
          <a:p>
            <a:pPr>
              <a:buClrTx/>
            </a:pPr>
            <a:r>
              <a:rPr lang="en-US" altLang="zh-CN" dirty="0">
                <a:latin typeface="Arial" panose="020B0604020202020204" pitchFamily="34" charset="0"/>
              </a:rPr>
              <a:t>G C A G C T A</a:t>
            </a:r>
          </a:p>
        </p:txBody>
      </p:sp>
      <p:sp>
        <p:nvSpPr>
          <p:cNvPr id="2" name="文本框 1"/>
          <p:cNvSpPr txBox="1"/>
          <p:nvPr/>
        </p:nvSpPr>
        <p:spPr>
          <a:xfrm>
            <a:off x="710565" y="4132580"/>
            <a:ext cx="2565400" cy="460375"/>
          </a:xfrm>
          <a:prstGeom prst="rect">
            <a:avLst/>
          </a:prstGeom>
          <a:noFill/>
        </p:spPr>
        <p:txBody>
          <a:bodyPr wrap="square" rtlCol="0">
            <a:spAutoFit/>
          </a:bodyPr>
          <a:lstStyle/>
          <a:p>
            <a:r>
              <a:rPr lang="en-US" altLang="zh-CN" dirty="0"/>
              <a:t>-1 0 0 -1 1 2 0 0</a:t>
            </a:r>
          </a:p>
        </p:txBody>
      </p:sp>
      <p:sp>
        <p:nvSpPr>
          <p:cNvPr id="3" name="文本框 2"/>
          <p:cNvSpPr txBox="1"/>
          <p:nvPr/>
        </p:nvSpPr>
        <p:spPr>
          <a:xfrm>
            <a:off x="561975" y="5066665"/>
            <a:ext cx="8399145" cy="398780"/>
          </a:xfrm>
          <a:prstGeom prst="rect">
            <a:avLst/>
          </a:prstGeom>
          <a:noFill/>
        </p:spPr>
        <p:txBody>
          <a:bodyPr wrap="square" rtlCol="0">
            <a:spAutoFit/>
          </a:bodyPr>
          <a:lstStyle/>
          <a:p>
            <a:r>
              <a:rPr lang="zh-CN" altLang="en-US" sz="2000" b="1"/>
              <a:t>构造一个在子串完全匹配成功后，跳跃距离最长的模式串（</a:t>
            </a:r>
            <a:r>
              <a:rPr lang="en-US" altLang="zh-CN" sz="2000" b="1"/>
              <a:t>n=7</a:t>
            </a:r>
            <a:r>
              <a:rPr lang="zh-CN" altLang="en-US" sz="2000" b="1"/>
              <a:t>）</a:t>
            </a:r>
          </a:p>
        </p:txBody>
      </p:sp>
      <p:sp>
        <p:nvSpPr>
          <p:cNvPr id="4" name="Text Box 79"/>
          <p:cNvSpPr txBox="1"/>
          <p:nvPr/>
        </p:nvSpPr>
        <p:spPr>
          <a:xfrm>
            <a:off x="710565" y="5797550"/>
            <a:ext cx="2244725" cy="460375"/>
          </a:xfrm>
          <a:prstGeom prst="rect">
            <a:avLst/>
          </a:prstGeom>
          <a:solidFill>
            <a:schemeClr val="accent1"/>
          </a:solidFill>
          <a:ln w="9525">
            <a:noFill/>
          </a:ln>
        </p:spPr>
        <p:txBody>
          <a:bodyPr>
            <a:spAutoFit/>
          </a:bodyPr>
          <a:lstStyle/>
          <a:p>
            <a:pPr>
              <a:buClrTx/>
            </a:pPr>
            <a:r>
              <a:rPr lang="en-US" altLang="zh-CN" dirty="0">
                <a:latin typeface="Arial" panose="020B0604020202020204" pitchFamily="34" charset="0"/>
              </a:rPr>
              <a:t>G C A A C T G</a:t>
            </a:r>
          </a:p>
        </p:txBody>
      </p:sp>
      <p:sp>
        <p:nvSpPr>
          <p:cNvPr id="214020" name="Rectangle 4"/>
          <p:cNvSpPr>
            <a:spLocks noGrp="1" noRot="1" noChangeArrowheads="1"/>
          </p:cNvSpPr>
          <p:nvPr>
            <p:ph type="title"/>
          </p:nvPr>
        </p:nvSpPr>
        <p:spPr>
          <a:xfrm>
            <a:off x="628650" y="-17780"/>
            <a:ext cx="8252460" cy="1325880"/>
          </a:xfrm>
        </p:spPr>
        <p:txBody>
          <a:bodyPr vert="horz" wrap="square" lIns="91440" tIns="45720" rIns="91440" bIns="45720" numCol="1" anchor="ctr" anchorCtr="0" compatLnSpc="1"/>
          <a:lstStyle/>
          <a:p>
            <a:pPr algn="l" eaLnBrk="1" hangingPunct="1"/>
            <a:r>
              <a:rPr lang="en-US" altLang="zh-CN" dirty="0">
                <a:effectLst>
                  <a:outerShdw blurRad="38100" dist="38100" dir="2700000">
                    <a:srgbClr val="000000"/>
                  </a:outerShdw>
                </a:effectLst>
              </a:rPr>
              <a:t>KMP</a:t>
            </a:r>
            <a:r>
              <a:rPr lang="zh-CN" altLang="en-US" dirty="0">
                <a:effectLst>
                  <a:outerShdw blurRad="38100" dist="38100" dir="2700000">
                    <a:srgbClr val="000000"/>
                  </a:outerShdw>
                </a:effectLst>
              </a:rPr>
              <a:t>算法的优化：首字母的</a:t>
            </a:r>
            <a:r>
              <a:rPr lang="en-US" altLang="zh-CN" dirty="0">
                <a:effectLst>
                  <a:outerShdw blurRad="38100" dist="38100" dir="2700000">
                    <a:srgbClr val="000000"/>
                  </a:outerShdw>
                </a:effectLst>
              </a:rPr>
              <a:t>Next[i]</a:t>
            </a:r>
            <a:r>
              <a:rPr lang="zh-CN" altLang="en-US" dirty="0">
                <a:effectLst>
                  <a:outerShdw blurRad="38100" dist="38100" dir="2700000">
                    <a:srgbClr val="000000"/>
                  </a:outerShdw>
                </a:effectLst>
              </a:rPr>
              <a:t>赋值为</a:t>
            </a:r>
            <a:r>
              <a:rPr lang="en-US" altLang="zh-CN" dirty="0">
                <a:effectLst>
                  <a:outerShdw blurRad="38100" dist="38100" dir="2700000">
                    <a:srgbClr val="000000"/>
                  </a:outerShdw>
                </a:effectLst>
              </a:rPr>
              <a:t>-1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animBg="1"/>
      <p:bldP spid="4"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78106"/>
            <a:ext cx="7886700" cy="1325563"/>
          </a:xfrm>
        </p:spPr>
        <p:txBody>
          <a:bodyPr/>
          <a:lstStyle/>
          <a:p>
            <a:r>
              <a:rPr lang="zh-CN" altLang="en-US"/>
              <a:t>作业</a:t>
            </a:r>
          </a:p>
        </p:txBody>
      </p:sp>
      <p:sp>
        <p:nvSpPr>
          <p:cNvPr id="83970" name="Rectangle 3"/>
          <p:cNvSpPr>
            <a:spLocks noGrp="1" noRot="1"/>
          </p:cNvSpPr>
          <p:nvPr>
            <p:ph type="body" sz="half" idx="4294967295"/>
          </p:nvPr>
        </p:nvSpPr>
        <p:spPr>
          <a:xfrm>
            <a:off x="0" y="1825625"/>
            <a:ext cx="8609330" cy="4351655"/>
          </a:xfrm>
        </p:spPr>
        <p:txBody>
          <a:bodyPr vert="horz" wrap="square" lIns="91440" tIns="45720" rIns="91440" bIns="45720" anchor="t"/>
          <a:lstStyle/>
          <a:p>
            <a:r>
              <a:rPr lang="zh-CN" altLang="en-US" sz="2400" dirty="0"/>
              <a:t>作业</a:t>
            </a:r>
            <a:r>
              <a:rPr lang="en-US" altLang="zh-CN" sz="2400" dirty="0"/>
              <a:t>: </a:t>
            </a:r>
            <a:r>
              <a:rPr lang="zh-CN" altLang="en-US" sz="2400" dirty="0"/>
              <a:t>给出数组</a:t>
            </a:r>
            <a:r>
              <a:rPr lang="en-US" altLang="zh-CN" sz="2400" dirty="0"/>
              <a:t>next[i]</a:t>
            </a:r>
            <a:r>
              <a:rPr lang="zh-CN" altLang="en-US" sz="2400" dirty="0"/>
              <a:t>的值</a:t>
            </a:r>
            <a:r>
              <a:rPr lang="en-US" altLang="zh-CN" sz="2400" dirty="0"/>
              <a:t>, </a:t>
            </a:r>
            <a:r>
              <a:rPr lang="zh-CN" altLang="en-US" sz="2400" dirty="0"/>
              <a:t>以及串匹配过程中子串对齐次数。</a:t>
            </a:r>
          </a:p>
          <a:p>
            <a:pPr>
              <a:buNone/>
            </a:pPr>
            <a:endParaRPr lang="zh-CN" altLang="en-US" sz="2400" dirty="0"/>
          </a:p>
        </p:txBody>
      </p:sp>
      <p:graphicFrame>
        <p:nvGraphicFramePr>
          <p:cNvPr id="239620" name="Group 4"/>
          <p:cNvGraphicFramePr>
            <a:graphicFrameLocks noGrp="1"/>
          </p:cNvGraphicFramePr>
          <p:nvPr>
            <p:ph sz="quarter" idx="4294967295"/>
          </p:nvPr>
        </p:nvGraphicFramePr>
        <p:xfrm>
          <a:off x="825500" y="220535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663">
                  <a:extLst>
                    <a:ext uri="{9D8B030D-6E8A-4147-A177-3AD203B41FA5}">
                      <a16:colId xmlns:a16="http://schemas.microsoft.com/office/drawing/2014/main" val="20013"/>
                    </a:ext>
                  </a:extLst>
                </a:gridCol>
                <a:gridCol w="346075">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3996" name="Text Box 29"/>
          <p:cNvSpPr txBox="1"/>
          <p:nvPr/>
        </p:nvSpPr>
        <p:spPr>
          <a:xfrm>
            <a:off x="899160" y="3068638"/>
            <a:ext cx="3095625" cy="457200"/>
          </a:xfrm>
          <a:prstGeom prst="rect">
            <a:avLst/>
          </a:prstGeom>
          <a:solidFill>
            <a:schemeClr val="accent1"/>
          </a:solidFill>
          <a:ln w="9525">
            <a:noFill/>
          </a:ln>
        </p:spPr>
        <p:txBody>
          <a:bodyPr>
            <a:spAutoFit/>
          </a:bodyPr>
          <a:lstStyle/>
          <a:p>
            <a:pPr>
              <a:buClrTx/>
            </a:pPr>
            <a:r>
              <a:rPr lang="en-US" altLang="zh-CN" dirty="0">
                <a:latin typeface="Arial" panose="020B0604020202020204" pitchFamily="34" charset="0"/>
              </a:rPr>
              <a:t>G C  A  G C A G</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Rot="1"/>
          </p:cNvSpPr>
          <p:nvPr>
            <p:ph type="body" sz="half" idx="4294967295"/>
          </p:nvPr>
        </p:nvSpPr>
        <p:spPr>
          <a:xfrm>
            <a:off x="0" y="1825625"/>
            <a:ext cx="7886700" cy="4351655"/>
          </a:xfrm>
        </p:spPr>
        <p:txBody>
          <a:bodyPr vert="horz" wrap="square" lIns="91440" tIns="45720" rIns="91440" bIns="45720" anchor="t"/>
          <a:lstStyle/>
          <a:p>
            <a:r>
              <a:rPr lang="zh-CN" altLang="en-US" sz="2400" dirty="0"/>
              <a:t>练习</a:t>
            </a:r>
          </a:p>
          <a:p>
            <a:pPr>
              <a:buNone/>
            </a:pPr>
            <a:endParaRPr lang="zh-CN" altLang="en-US" sz="2400" dirty="0"/>
          </a:p>
        </p:txBody>
      </p:sp>
      <p:graphicFrame>
        <p:nvGraphicFramePr>
          <p:cNvPr id="234576" name="Group 80"/>
          <p:cNvGraphicFramePr>
            <a:graphicFrameLocks noGrp="1"/>
          </p:cNvGraphicFramePr>
          <p:nvPr>
            <p:ph sz="quarter" idx="4294967295"/>
          </p:nvPr>
        </p:nvGraphicFramePr>
        <p:xfrm>
          <a:off x="825500" y="220535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663">
                  <a:extLst>
                    <a:ext uri="{9D8B030D-6E8A-4147-A177-3AD203B41FA5}">
                      <a16:colId xmlns:a16="http://schemas.microsoft.com/office/drawing/2014/main" val="20013"/>
                    </a:ext>
                  </a:extLst>
                </a:gridCol>
                <a:gridCol w="346075">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2972" name="Text Box 29"/>
          <p:cNvSpPr txBox="1"/>
          <p:nvPr/>
        </p:nvSpPr>
        <p:spPr>
          <a:xfrm>
            <a:off x="755650" y="3068638"/>
            <a:ext cx="3095625" cy="457200"/>
          </a:xfrm>
          <a:prstGeom prst="rect">
            <a:avLst/>
          </a:prstGeom>
          <a:solidFill>
            <a:schemeClr val="accent1"/>
          </a:solidFill>
          <a:ln w="9525">
            <a:noFill/>
          </a:ln>
        </p:spPr>
        <p:txBody>
          <a:bodyPr>
            <a:spAutoFit/>
          </a:bodyPr>
          <a:lstStyle/>
          <a:p>
            <a:pPr>
              <a:buClrTx/>
            </a:pPr>
            <a:r>
              <a:rPr lang="en-US" altLang="zh-CN" dirty="0">
                <a:latin typeface="Arial" panose="020B0604020202020204" pitchFamily="34" charset="0"/>
              </a:rPr>
              <a:t>GCAGCAG</a:t>
            </a:r>
          </a:p>
        </p:txBody>
      </p:sp>
      <p:graphicFrame>
        <p:nvGraphicFramePr>
          <p:cNvPr id="82973" name="内容占位符 82972"/>
          <p:cNvGraphicFramePr>
            <a:graphicFrameLocks noGrp="1"/>
          </p:cNvGraphicFramePr>
          <p:nvPr>
            <p:ph sz="quarter" idx="4294967295"/>
            <p:custDataLst>
              <p:tags r:id="rId1"/>
            </p:custDataLst>
            <p:extLst>
              <p:ext uri="{D42A27DB-BD31-4B8C-83A1-F6EECF244321}">
                <p14:modId xmlns:p14="http://schemas.microsoft.com/office/powerpoint/2010/main" val="1585143006"/>
              </p:ext>
            </p:extLst>
          </p:nvPr>
        </p:nvGraphicFramePr>
        <p:xfrm>
          <a:off x="861060" y="3789680"/>
          <a:ext cx="5000625" cy="1737202"/>
        </p:xfrm>
        <a:graphic>
          <a:graphicData uri="http://schemas.openxmlformats.org/drawingml/2006/table">
            <a:tbl>
              <a:tblPr/>
              <a:tblGrid>
                <a:gridCol w="1257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gridCol w="455613">
                  <a:extLst>
                    <a:ext uri="{9D8B030D-6E8A-4147-A177-3AD203B41FA5}">
                      <a16:colId xmlns:a16="http://schemas.microsoft.com/office/drawing/2014/main" val="20003"/>
                    </a:ext>
                  </a:extLst>
                </a:gridCol>
                <a:gridCol w="458787">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3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kmpNext</a:t>
                      </a: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1197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KMP</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73"/>
                                        </p:tgtEl>
                                        <p:attrNameLst>
                                          <p:attrName>style.visibility</p:attrName>
                                        </p:attrNameLst>
                                      </p:cBhvr>
                                      <p:to>
                                        <p:strVal val="visible"/>
                                      </p:to>
                                    </p:set>
                                    <p:animEffect transition="in" filter="blinds(horizontal)">
                                      <p:cBhvr>
                                        <p:cTn id="7" dur="500"/>
                                        <p:tgtEl>
                                          <p:spTgt spid="82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4576" name="Group 80"/>
          <p:cNvGraphicFramePr>
            <a:graphicFrameLocks noGrp="1"/>
          </p:cNvGraphicFramePr>
          <p:nvPr>
            <p:ph sz="quarter" idx="4294967295"/>
          </p:nvPr>
        </p:nvGraphicFramePr>
        <p:xfrm>
          <a:off x="538480" y="177482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980">
                  <a:extLst>
                    <a:ext uri="{9D8B030D-6E8A-4147-A177-3AD203B41FA5}">
                      <a16:colId xmlns:a16="http://schemas.microsoft.com/office/drawing/2014/main" val="20013"/>
                    </a:ext>
                  </a:extLst>
                </a:gridCol>
                <a:gridCol w="345758">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2972" name="Text Box 29"/>
          <p:cNvSpPr txBox="1"/>
          <p:nvPr/>
        </p:nvSpPr>
        <p:spPr>
          <a:xfrm>
            <a:off x="540385" y="2351088"/>
            <a:ext cx="3095625" cy="457200"/>
          </a:xfrm>
          <a:prstGeom prst="rect">
            <a:avLst/>
          </a:prstGeom>
          <a:solidFill>
            <a:schemeClr val="accent1"/>
          </a:solidFill>
          <a:ln w="9525">
            <a:noFill/>
          </a:ln>
        </p:spPr>
        <p:txBody>
          <a:bodyPr>
            <a:spAutoFit/>
          </a:bodyPr>
          <a:lstStyle/>
          <a:p>
            <a:pPr>
              <a:buClrTx/>
            </a:pPr>
            <a:r>
              <a:rPr lang="en-US" altLang="zh-CN" dirty="0">
                <a:latin typeface="Arial" panose="020B0604020202020204" pitchFamily="34" charset="0"/>
              </a:rPr>
              <a:t>G C  A  </a:t>
            </a:r>
            <a:r>
              <a:rPr lang="en-US" altLang="zh-CN" dirty="0">
                <a:solidFill>
                  <a:srgbClr val="C00000"/>
                </a:solidFill>
                <a:latin typeface="Arial" panose="020B0604020202020204" pitchFamily="34" charset="0"/>
              </a:rPr>
              <a:t>G</a:t>
            </a:r>
            <a:r>
              <a:rPr lang="en-US" altLang="zh-CN" dirty="0">
                <a:latin typeface="Arial" panose="020B0604020202020204" pitchFamily="34" charset="0"/>
              </a:rPr>
              <a:t> C A G</a:t>
            </a:r>
          </a:p>
        </p:txBody>
      </p:sp>
      <p:graphicFrame>
        <p:nvGraphicFramePr>
          <p:cNvPr id="82973" name="内容占位符 82972"/>
          <p:cNvGraphicFramePr>
            <a:graphicFrameLocks noGrp="1"/>
          </p:cNvGraphicFramePr>
          <p:nvPr>
            <p:ph sz="quarter" idx="4294967295"/>
            <p:custDataLst>
              <p:tags r:id="rId1"/>
            </p:custDataLst>
            <p:extLst>
              <p:ext uri="{D42A27DB-BD31-4B8C-83A1-F6EECF244321}">
                <p14:modId xmlns:p14="http://schemas.microsoft.com/office/powerpoint/2010/main" val="407537963"/>
              </p:ext>
            </p:extLst>
          </p:nvPr>
        </p:nvGraphicFramePr>
        <p:xfrm>
          <a:off x="1017905" y="34925"/>
          <a:ext cx="6543675" cy="1393825"/>
        </p:xfrm>
        <a:graphic>
          <a:graphicData uri="http://schemas.openxmlformats.org/drawingml/2006/table">
            <a:tbl>
              <a:tblPr/>
              <a:tblGrid>
                <a:gridCol w="1645285">
                  <a:extLst>
                    <a:ext uri="{9D8B030D-6E8A-4147-A177-3AD203B41FA5}">
                      <a16:colId xmlns:a16="http://schemas.microsoft.com/office/drawing/2014/main" val="20000"/>
                    </a:ext>
                  </a:extLst>
                </a:gridCol>
                <a:gridCol w="673100">
                  <a:extLst>
                    <a:ext uri="{9D8B030D-6E8A-4147-A177-3AD203B41FA5}">
                      <a16:colId xmlns:a16="http://schemas.microsoft.com/office/drawing/2014/main" val="20001"/>
                    </a:ext>
                  </a:extLst>
                </a:gridCol>
                <a:gridCol w="635635">
                  <a:extLst>
                    <a:ext uri="{9D8B030D-6E8A-4147-A177-3AD203B41FA5}">
                      <a16:colId xmlns:a16="http://schemas.microsoft.com/office/drawing/2014/main" val="20002"/>
                    </a:ext>
                  </a:extLst>
                </a:gridCol>
                <a:gridCol w="596265">
                  <a:extLst>
                    <a:ext uri="{9D8B030D-6E8A-4147-A177-3AD203B41FA5}">
                      <a16:colId xmlns:a16="http://schemas.microsoft.com/office/drawing/2014/main" val="20003"/>
                    </a:ext>
                  </a:extLst>
                </a:gridCol>
                <a:gridCol w="600075">
                  <a:extLst>
                    <a:ext uri="{9D8B030D-6E8A-4147-A177-3AD203B41FA5}">
                      <a16:colId xmlns:a16="http://schemas.microsoft.com/office/drawing/2014/main" val="20004"/>
                    </a:ext>
                  </a:extLst>
                </a:gridCol>
                <a:gridCol w="598170">
                  <a:extLst>
                    <a:ext uri="{9D8B030D-6E8A-4147-A177-3AD203B41FA5}">
                      <a16:colId xmlns:a16="http://schemas.microsoft.com/office/drawing/2014/main" val="20005"/>
                    </a:ext>
                  </a:extLst>
                </a:gridCol>
                <a:gridCol w="598170">
                  <a:extLst>
                    <a:ext uri="{9D8B030D-6E8A-4147-A177-3AD203B41FA5}">
                      <a16:colId xmlns:a16="http://schemas.microsoft.com/office/drawing/2014/main" val="20006"/>
                    </a:ext>
                  </a:extLst>
                </a:gridCol>
                <a:gridCol w="598805">
                  <a:extLst>
                    <a:ext uri="{9D8B030D-6E8A-4147-A177-3AD203B41FA5}">
                      <a16:colId xmlns:a16="http://schemas.microsoft.com/office/drawing/2014/main" val="20007"/>
                    </a:ext>
                  </a:extLst>
                </a:gridCol>
                <a:gridCol w="598170">
                  <a:extLst>
                    <a:ext uri="{9D8B030D-6E8A-4147-A177-3AD203B41FA5}">
                      <a16:colId xmlns:a16="http://schemas.microsoft.com/office/drawing/2014/main" val="20008"/>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marT="45641" marB="45641">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endParaRPr lang="en-US" altLang="zh-CN" sz="1800" dirty="0">
                        <a:latin typeface="Arial" panose="020B0604020202020204" pitchFamily="34" charset="0"/>
                      </a:endParaRPr>
                    </a:p>
                  </a:txBody>
                  <a:tcPr marT="45641" marB="4564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94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kmpNext</a:t>
                      </a: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marT="45641" marB="45641">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-1</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0</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0</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-1</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1</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2</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3</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solidFill>
                            <a:schemeClr val="accent2"/>
                          </a:solidFill>
                          <a:latin typeface="Times New Roman" panose="02020603050405020304" charset="0"/>
                          <a:cs typeface="Times New Roman" panose="02020603050405020304" charset="0"/>
                        </a:rPr>
                        <a:t>4</a:t>
                      </a:r>
                      <a:endParaRPr lang="en-US" altLang="zh-CN" sz="1800" dirty="0">
                        <a:solidFill>
                          <a:schemeClr val="accent2"/>
                        </a:solidFill>
                        <a:latin typeface="Times New Roman" panose="02020603050405020304" charset="0"/>
                        <a:cs typeface="Times New Roman" panose="02020603050405020304" charset="0"/>
                      </a:endParaRPr>
                    </a:p>
                  </a:txBody>
                  <a:tcPr marT="45641" marB="45641">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Text Box 29"/>
          <p:cNvSpPr txBox="1"/>
          <p:nvPr/>
        </p:nvSpPr>
        <p:spPr>
          <a:xfrm>
            <a:off x="1933575" y="2881948"/>
            <a:ext cx="3095625" cy="457200"/>
          </a:xfrm>
          <a:prstGeom prst="rect">
            <a:avLst/>
          </a:prstGeom>
          <a:solidFill>
            <a:schemeClr val="accent1"/>
          </a:solidFill>
          <a:ln w="9525">
            <a:noFill/>
          </a:ln>
        </p:spPr>
        <p:txBody>
          <a:bodyPr>
            <a:spAutoFit/>
          </a:bodyPr>
          <a:lstStyle/>
          <a:p>
            <a:pPr>
              <a:buClrTx/>
            </a:pPr>
            <a:r>
              <a:rPr lang="en-US" altLang="zh-CN" dirty="0">
                <a:solidFill>
                  <a:srgbClr val="C00000"/>
                </a:solidFill>
                <a:latin typeface="Arial" panose="020B0604020202020204" pitchFamily="34" charset="0"/>
              </a:rPr>
              <a:t>G</a:t>
            </a:r>
            <a:r>
              <a:rPr lang="en-US" altLang="zh-CN" dirty="0">
                <a:latin typeface="Arial" panose="020B0604020202020204" pitchFamily="34" charset="0"/>
              </a:rPr>
              <a:t> C  A  G C A G</a:t>
            </a:r>
          </a:p>
        </p:txBody>
      </p:sp>
      <p:cxnSp>
        <p:nvCxnSpPr>
          <p:cNvPr id="4" name="直接箭头连接符 3"/>
          <p:cNvCxnSpPr/>
          <p:nvPr/>
        </p:nvCxnSpPr>
        <p:spPr>
          <a:xfrm>
            <a:off x="201295" y="106553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619885" y="1120775"/>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2033905" y="1104265"/>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 Box 29"/>
          <p:cNvSpPr txBox="1"/>
          <p:nvPr/>
        </p:nvSpPr>
        <p:spPr>
          <a:xfrm>
            <a:off x="2275840" y="3367723"/>
            <a:ext cx="3095625" cy="460375"/>
          </a:xfrm>
          <a:prstGeom prst="rect">
            <a:avLst/>
          </a:prstGeom>
          <a:solidFill>
            <a:schemeClr val="accent1"/>
          </a:solidFill>
          <a:ln w="9525">
            <a:noFill/>
          </a:ln>
        </p:spPr>
        <p:txBody>
          <a:bodyPr>
            <a:spAutoFit/>
          </a:bodyPr>
          <a:lstStyle/>
          <a:p>
            <a:pPr>
              <a:buClrTx/>
            </a:pPr>
            <a:r>
              <a:rPr lang="en-US" altLang="zh-CN" dirty="0">
                <a:solidFill>
                  <a:srgbClr val="C00000"/>
                </a:solidFill>
                <a:latin typeface="Arial" panose="020B0604020202020204" pitchFamily="34" charset="0"/>
              </a:rPr>
              <a:t>G C  A  G C  A</a:t>
            </a:r>
            <a:r>
              <a:rPr lang="en-US" altLang="zh-CN" dirty="0">
                <a:latin typeface="Arial" panose="020B0604020202020204" pitchFamily="34" charset="0"/>
              </a:rPr>
              <a:t>  </a:t>
            </a:r>
            <a:r>
              <a:rPr lang="en-US" altLang="zh-CN" dirty="0">
                <a:solidFill>
                  <a:srgbClr val="C00000"/>
                </a:solidFill>
                <a:latin typeface="Arial" panose="020B0604020202020204" pitchFamily="34" charset="0"/>
              </a:rPr>
              <a:t>G</a:t>
            </a:r>
          </a:p>
        </p:txBody>
      </p:sp>
      <p:cxnSp>
        <p:nvCxnSpPr>
          <p:cNvPr id="9" name="直接箭头连接符 8"/>
          <p:cNvCxnSpPr/>
          <p:nvPr/>
        </p:nvCxnSpPr>
        <p:spPr>
          <a:xfrm>
            <a:off x="3021965" y="115951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 Box 29"/>
          <p:cNvSpPr txBox="1"/>
          <p:nvPr/>
        </p:nvSpPr>
        <p:spPr>
          <a:xfrm>
            <a:off x="3335655" y="3853498"/>
            <a:ext cx="3095625" cy="460375"/>
          </a:xfrm>
          <a:prstGeom prst="rect">
            <a:avLst/>
          </a:prstGeom>
          <a:solidFill>
            <a:schemeClr val="accent1"/>
          </a:solidFill>
          <a:ln w="9525">
            <a:noFill/>
          </a:ln>
        </p:spPr>
        <p:txBody>
          <a:bodyPr>
            <a:spAutoFit/>
          </a:bodyPr>
          <a:lstStyle/>
          <a:p>
            <a:pPr>
              <a:buClrTx/>
            </a:pPr>
            <a:r>
              <a:rPr lang="en-US" altLang="zh-CN" dirty="0">
                <a:solidFill>
                  <a:schemeClr val="tx1"/>
                </a:solidFill>
                <a:latin typeface="Arial" panose="020B0604020202020204" pitchFamily="34" charset="0"/>
              </a:rPr>
              <a:t>G</a:t>
            </a:r>
            <a:r>
              <a:rPr lang="en-US" altLang="zh-CN" dirty="0">
                <a:latin typeface="Arial" panose="020B0604020202020204" pitchFamily="34" charset="0"/>
              </a:rPr>
              <a:t> C  A </a:t>
            </a:r>
            <a:r>
              <a:rPr lang="en-US" altLang="zh-CN" dirty="0">
                <a:solidFill>
                  <a:srgbClr val="C00000"/>
                </a:solidFill>
                <a:latin typeface="Arial" panose="020B0604020202020204" pitchFamily="34" charset="0"/>
              </a:rPr>
              <a:t> G</a:t>
            </a:r>
            <a:r>
              <a:rPr lang="en-US" altLang="zh-CN" dirty="0">
                <a:latin typeface="Arial" panose="020B0604020202020204" pitchFamily="34" charset="0"/>
              </a:rPr>
              <a:t> C  A  </a:t>
            </a:r>
            <a:r>
              <a:rPr lang="en-US" altLang="zh-CN" dirty="0">
                <a:solidFill>
                  <a:schemeClr val="tx1"/>
                </a:solidFill>
                <a:latin typeface="Arial" panose="020B0604020202020204" pitchFamily="34" charset="0"/>
              </a:rPr>
              <a:t>G</a:t>
            </a:r>
          </a:p>
        </p:txBody>
      </p:sp>
      <p:cxnSp>
        <p:nvCxnSpPr>
          <p:cNvPr id="11" name="直接箭头连接符 10"/>
          <p:cNvCxnSpPr/>
          <p:nvPr/>
        </p:nvCxnSpPr>
        <p:spPr>
          <a:xfrm>
            <a:off x="4302125" y="3497580"/>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12" name="直接箭头连接符 11"/>
          <p:cNvCxnSpPr/>
          <p:nvPr/>
        </p:nvCxnSpPr>
        <p:spPr>
          <a:xfrm>
            <a:off x="4285615" y="154368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13" name="文本框 12"/>
          <p:cNvSpPr txBox="1"/>
          <p:nvPr/>
        </p:nvSpPr>
        <p:spPr>
          <a:xfrm>
            <a:off x="6824980" y="4413885"/>
            <a:ext cx="1563370" cy="460375"/>
          </a:xfrm>
          <a:prstGeom prst="rect">
            <a:avLst/>
          </a:prstGeom>
          <a:noFill/>
        </p:spPr>
        <p:txBody>
          <a:bodyPr wrap="square" rtlCol="0">
            <a:spAutoFit/>
          </a:bodyPr>
          <a:lstStyle/>
          <a:p>
            <a:r>
              <a:rPr lang="en-US" altLang="zh-CN"/>
              <a:t>i=3</a:t>
            </a:r>
          </a:p>
        </p:txBody>
      </p:sp>
      <p:sp>
        <p:nvSpPr>
          <p:cNvPr id="15" name="文本框 14"/>
          <p:cNvSpPr txBox="1"/>
          <p:nvPr/>
        </p:nvSpPr>
        <p:spPr>
          <a:xfrm>
            <a:off x="5229860" y="2890520"/>
            <a:ext cx="1563370" cy="460375"/>
          </a:xfrm>
          <a:prstGeom prst="rect">
            <a:avLst/>
          </a:prstGeom>
          <a:noFill/>
        </p:spPr>
        <p:txBody>
          <a:bodyPr wrap="square" rtlCol="0">
            <a:spAutoFit/>
          </a:bodyPr>
          <a:lstStyle/>
          <a:p>
            <a:r>
              <a:rPr lang="en-US" altLang="zh-CN"/>
              <a:t>i=0</a:t>
            </a:r>
          </a:p>
        </p:txBody>
      </p:sp>
      <p:graphicFrame>
        <p:nvGraphicFramePr>
          <p:cNvPr id="16" name="表格 15"/>
          <p:cNvGraphicFramePr/>
          <p:nvPr>
            <p:custDataLst>
              <p:tags r:id="rId2"/>
            </p:custDataLst>
          </p:nvPr>
        </p:nvGraphicFramePr>
        <p:xfrm>
          <a:off x="140970" y="5791835"/>
          <a:ext cx="8879840" cy="1101090"/>
        </p:xfrm>
        <a:graphic>
          <a:graphicData uri="http://schemas.openxmlformats.org/drawingml/2006/table">
            <a:tbl>
              <a:tblPr firstRow="1" bandRow="1">
                <a:tableStyleId>{5C22544A-7EE6-4342-B048-85BDC9FD1C3A}</a:tableStyleId>
              </a:tblPr>
              <a:tblGrid>
                <a:gridCol w="1266190">
                  <a:extLst>
                    <a:ext uri="{9D8B030D-6E8A-4147-A177-3AD203B41FA5}">
                      <a16:colId xmlns:a16="http://schemas.microsoft.com/office/drawing/2014/main" val="20000"/>
                    </a:ext>
                  </a:extLst>
                </a:gridCol>
                <a:gridCol w="953770">
                  <a:extLst>
                    <a:ext uri="{9D8B030D-6E8A-4147-A177-3AD203B41FA5}">
                      <a16:colId xmlns:a16="http://schemas.microsoft.com/office/drawing/2014/main" val="20001"/>
                    </a:ext>
                  </a:extLst>
                </a:gridCol>
                <a:gridCol w="1109980">
                  <a:extLst>
                    <a:ext uri="{9D8B030D-6E8A-4147-A177-3AD203B41FA5}">
                      <a16:colId xmlns:a16="http://schemas.microsoft.com/office/drawing/2014/main" val="20002"/>
                    </a:ext>
                  </a:extLst>
                </a:gridCol>
                <a:gridCol w="1109980">
                  <a:extLst>
                    <a:ext uri="{9D8B030D-6E8A-4147-A177-3AD203B41FA5}">
                      <a16:colId xmlns:a16="http://schemas.microsoft.com/office/drawing/2014/main" val="20003"/>
                    </a:ext>
                  </a:extLst>
                </a:gridCol>
                <a:gridCol w="1109980">
                  <a:extLst>
                    <a:ext uri="{9D8B030D-6E8A-4147-A177-3AD203B41FA5}">
                      <a16:colId xmlns:a16="http://schemas.microsoft.com/office/drawing/2014/main" val="20004"/>
                    </a:ext>
                  </a:extLst>
                </a:gridCol>
                <a:gridCol w="1109980">
                  <a:extLst>
                    <a:ext uri="{9D8B030D-6E8A-4147-A177-3AD203B41FA5}">
                      <a16:colId xmlns:a16="http://schemas.microsoft.com/office/drawing/2014/main" val="20005"/>
                    </a:ext>
                  </a:extLst>
                </a:gridCol>
                <a:gridCol w="1109980">
                  <a:extLst>
                    <a:ext uri="{9D8B030D-6E8A-4147-A177-3AD203B41FA5}">
                      <a16:colId xmlns:a16="http://schemas.microsoft.com/office/drawing/2014/main" val="20006"/>
                    </a:ext>
                  </a:extLst>
                </a:gridCol>
                <a:gridCol w="1109980">
                  <a:extLst>
                    <a:ext uri="{9D8B030D-6E8A-4147-A177-3AD203B41FA5}">
                      <a16:colId xmlns:a16="http://schemas.microsoft.com/office/drawing/2014/main" val="20007"/>
                    </a:ext>
                  </a:extLst>
                </a:gridCol>
              </a:tblGrid>
              <a:tr h="299085">
                <a:tc>
                  <a:txBody>
                    <a:bodyPr/>
                    <a:lstStyle/>
                    <a:p>
                      <a:pPr>
                        <a:buNone/>
                      </a:pPr>
                      <a:r>
                        <a:rPr lang="zh-CN" altLang="en-US"/>
                        <a:t>对齐次数</a:t>
                      </a:r>
                    </a:p>
                  </a:txBody>
                  <a:tcPr/>
                </a:tc>
                <a:tc>
                  <a:txBody>
                    <a:bodyPr/>
                    <a:lstStyle/>
                    <a:p>
                      <a:pPr algn="ctr">
                        <a:buNone/>
                      </a:pPr>
                      <a:r>
                        <a:rPr lang="en-US" altLang="zh-CN"/>
                        <a:t>1</a:t>
                      </a:r>
                    </a:p>
                  </a:txBody>
                  <a:tcPr/>
                </a:tc>
                <a:tc>
                  <a:txBody>
                    <a:bodyPr/>
                    <a:lstStyle/>
                    <a:p>
                      <a:pPr algn="ctr">
                        <a:buNone/>
                      </a:pPr>
                      <a:r>
                        <a:rPr lang="en-US" altLang="zh-CN"/>
                        <a:t>2</a:t>
                      </a:r>
                    </a:p>
                  </a:txBody>
                  <a:tcPr/>
                </a:tc>
                <a:tc>
                  <a:txBody>
                    <a:bodyPr/>
                    <a:lstStyle/>
                    <a:p>
                      <a:pPr algn="ctr">
                        <a:buNone/>
                      </a:pPr>
                      <a:r>
                        <a:rPr lang="en-US" altLang="zh-CN"/>
                        <a:t>3</a:t>
                      </a:r>
                    </a:p>
                  </a:txBody>
                  <a:tcPr/>
                </a:tc>
                <a:tc>
                  <a:txBody>
                    <a:bodyPr/>
                    <a:lstStyle/>
                    <a:p>
                      <a:pPr algn="ctr">
                        <a:buNone/>
                      </a:pPr>
                      <a:r>
                        <a:rPr lang="en-US" altLang="zh-CN"/>
                        <a:t>4</a:t>
                      </a:r>
                    </a:p>
                  </a:txBody>
                  <a:tcPr/>
                </a:tc>
                <a:tc>
                  <a:txBody>
                    <a:bodyPr/>
                    <a:lstStyle/>
                    <a:p>
                      <a:pPr algn="ctr">
                        <a:buNone/>
                      </a:pPr>
                      <a:r>
                        <a:rPr lang="en-US" altLang="zh-CN"/>
                        <a:t>5</a:t>
                      </a:r>
                    </a:p>
                  </a:txBody>
                  <a:tcPr/>
                </a:tc>
                <a:tc>
                  <a:txBody>
                    <a:bodyPr/>
                    <a:lstStyle/>
                    <a:p>
                      <a:pPr algn="ctr">
                        <a:buNone/>
                      </a:pPr>
                      <a:r>
                        <a:rPr lang="en-US" altLang="zh-CN"/>
                        <a:t>6</a:t>
                      </a:r>
                    </a:p>
                  </a:txBody>
                  <a:tcPr/>
                </a:tc>
                <a:tc>
                  <a:txBody>
                    <a:bodyPr/>
                    <a:lstStyle/>
                    <a:p>
                      <a:pPr algn="ctr">
                        <a:buNone/>
                      </a:pPr>
                      <a:r>
                        <a:rPr lang="en-US" altLang="zh-CN"/>
                        <a:t>7</a:t>
                      </a:r>
                    </a:p>
                  </a:txBody>
                  <a:tcPr/>
                </a:tc>
                <a:extLst>
                  <a:ext uri="{0D108BD9-81ED-4DB2-BD59-A6C34878D82A}">
                    <a16:rowId xmlns:a16="http://schemas.microsoft.com/office/drawing/2014/main" val="10000"/>
                  </a:ext>
                </a:extLst>
              </a:tr>
              <a:tr h="502920">
                <a:tc>
                  <a:txBody>
                    <a:bodyPr/>
                    <a:lstStyle/>
                    <a:p>
                      <a:pPr>
                        <a:buNone/>
                      </a:pPr>
                      <a:r>
                        <a:rPr lang="zh-CN" altLang="en-US"/>
                        <a:t>正文指针跳跃</a:t>
                      </a:r>
                      <a:r>
                        <a:rPr lang="en-US" altLang="zh-CN"/>
                        <a:t>i-kmpnext</a:t>
                      </a:r>
                      <a:r>
                        <a:rPr lang="zh-CN" altLang="en-US"/>
                        <a:t>【</a:t>
                      </a:r>
                      <a:r>
                        <a:rPr lang="en-US" altLang="zh-CN"/>
                        <a:t>i</a:t>
                      </a:r>
                      <a:r>
                        <a:rPr lang="zh-CN" altLang="en-US"/>
                        <a:t>】</a:t>
                      </a:r>
                    </a:p>
                  </a:txBody>
                  <a:tcPr/>
                </a:tc>
                <a:tc>
                  <a:txBody>
                    <a:bodyPr/>
                    <a:lstStyle/>
                    <a:p>
                      <a:pPr algn="ctr">
                        <a:buNone/>
                      </a:pPr>
                      <a:r>
                        <a:rPr lang="en-US" altLang="zh-CN"/>
                        <a:t>3- -1=4</a:t>
                      </a:r>
                    </a:p>
                  </a:txBody>
                  <a:tcPr/>
                </a:tc>
                <a:tc>
                  <a:txBody>
                    <a:bodyPr/>
                    <a:lstStyle/>
                    <a:p>
                      <a:pPr algn="ctr">
                        <a:buNone/>
                      </a:pPr>
                      <a:r>
                        <a:rPr lang="en-US" altLang="zh-CN"/>
                        <a:t>0- -1=1</a:t>
                      </a:r>
                    </a:p>
                  </a:txBody>
                  <a:tcPr/>
                </a:tc>
                <a:tc>
                  <a:txBody>
                    <a:bodyPr/>
                    <a:lstStyle/>
                    <a:p>
                      <a:pPr algn="ctr">
                        <a:buNone/>
                      </a:pPr>
                      <a:r>
                        <a:rPr lang="en-US" altLang="zh-CN"/>
                        <a:t>6 - 3=3</a:t>
                      </a:r>
                    </a:p>
                  </a:txBody>
                  <a:tcPr/>
                </a:tc>
                <a:tc>
                  <a:txBody>
                    <a:bodyPr/>
                    <a:lstStyle/>
                    <a:p>
                      <a:pPr algn="ctr">
                        <a:buNone/>
                      </a:pPr>
                      <a:r>
                        <a:rPr lang="en-US" altLang="zh-CN"/>
                        <a:t>3- -1=4</a:t>
                      </a:r>
                    </a:p>
                  </a:txBody>
                  <a:tcPr/>
                </a:tc>
                <a:tc>
                  <a:txBody>
                    <a:bodyPr/>
                    <a:lstStyle/>
                    <a:p>
                      <a:pPr algn="ctr">
                        <a:buNone/>
                      </a:pPr>
                      <a:r>
                        <a:rPr lang="en-US" altLang="zh-CN"/>
                        <a:t>0- -1=1</a:t>
                      </a:r>
                    </a:p>
                  </a:txBody>
                  <a:tcPr/>
                </a:tc>
                <a:tc>
                  <a:txBody>
                    <a:bodyPr/>
                    <a:lstStyle/>
                    <a:p>
                      <a:pPr algn="ctr">
                        <a:buNone/>
                      </a:pPr>
                      <a:r>
                        <a:rPr lang="en-US" altLang="zh-CN"/>
                        <a:t>7-4=3</a:t>
                      </a:r>
                    </a:p>
                  </a:txBody>
                  <a:tcPr/>
                </a:tc>
                <a:tc>
                  <a:txBody>
                    <a:bodyPr/>
                    <a:lstStyle/>
                    <a:p>
                      <a:pPr algn="ctr">
                        <a:buNone/>
                      </a:pPr>
                      <a:endParaRPr lang="zh-CN" altLang="en-US"/>
                    </a:p>
                  </a:txBody>
                  <a:tcPr/>
                </a:tc>
                <a:extLst>
                  <a:ext uri="{0D108BD9-81ED-4DB2-BD59-A6C34878D82A}">
                    <a16:rowId xmlns:a16="http://schemas.microsoft.com/office/drawing/2014/main" val="10001"/>
                  </a:ext>
                </a:extLst>
              </a:tr>
              <a:tr h="299085">
                <a:tc>
                  <a:txBody>
                    <a:bodyPr/>
                    <a:lstStyle/>
                    <a:p>
                      <a:pPr>
                        <a:buNone/>
                      </a:pPr>
                      <a:r>
                        <a:rPr lang="zh-CN" altLang="en-US"/>
                        <a:t>串指针位置</a:t>
                      </a:r>
                    </a:p>
                  </a:txBody>
                  <a:tcPr/>
                </a:tc>
                <a:tc>
                  <a:txBody>
                    <a:bodyPr/>
                    <a:lstStyle/>
                    <a:p>
                      <a:pPr algn="ctr">
                        <a:buNone/>
                      </a:pPr>
                      <a:r>
                        <a:rPr lang="en-US" altLang="zh-CN"/>
                        <a:t>0</a:t>
                      </a:r>
                    </a:p>
                  </a:txBody>
                  <a:tcPr/>
                </a:tc>
                <a:tc>
                  <a:txBody>
                    <a:bodyPr/>
                    <a:lstStyle/>
                    <a:p>
                      <a:pPr algn="ctr">
                        <a:buNone/>
                      </a:pPr>
                      <a:r>
                        <a:rPr lang="en-US" altLang="zh-CN"/>
                        <a:t>0</a:t>
                      </a:r>
                    </a:p>
                  </a:txBody>
                  <a:tcPr/>
                </a:tc>
                <a:tc>
                  <a:txBody>
                    <a:bodyPr/>
                    <a:lstStyle/>
                    <a:p>
                      <a:pPr algn="ctr">
                        <a:buNone/>
                      </a:pPr>
                      <a:r>
                        <a:rPr lang="en-US" altLang="zh-CN"/>
                        <a:t>3</a:t>
                      </a:r>
                    </a:p>
                  </a:txBody>
                  <a:tcPr/>
                </a:tc>
                <a:tc>
                  <a:txBody>
                    <a:bodyPr/>
                    <a:lstStyle/>
                    <a:p>
                      <a:pPr algn="ctr">
                        <a:buNone/>
                      </a:pPr>
                      <a:r>
                        <a:rPr lang="en-US" altLang="zh-CN"/>
                        <a:t>0</a:t>
                      </a:r>
                    </a:p>
                  </a:txBody>
                  <a:tcPr/>
                </a:tc>
                <a:tc>
                  <a:txBody>
                    <a:bodyPr/>
                    <a:lstStyle/>
                    <a:p>
                      <a:pPr algn="ctr">
                        <a:buNone/>
                      </a:pPr>
                      <a:r>
                        <a:rPr lang="en-US" altLang="zh-CN"/>
                        <a:t>0</a:t>
                      </a:r>
                    </a:p>
                  </a:txBody>
                  <a:tcPr/>
                </a:tc>
                <a:tc>
                  <a:txBody>
                    <a:bodyPr/>
                    <a:lstStyle/>
                    <a:p>
                      <a:pPr algn="ctr">
                        <a:buNone/>
                      </a:pPr>
                      <a:r>
                        <a:rPr lang="en-US" altLang="zh-CN"/>
                        <a:t>4</a:t>
                      </a:r>
                    </a:p>
                  </a:txBody>
                  <a:tcPr/>
                </a:tc>
                <a:tc>
                  <a:txBody>
                    <a:bodyPr/>
                    <a:lstStyle/>
                    <a:p>
                      <a:pPr algn="ctr">
                        <a:buNone/>
                      </a:pPr>
                      <a:endParaRPr lang="zh-CN" altLang="en-US"/>
                    </a:p>
                  </a:txBody>
                  <a:tcPr/>
                </a:tc>
                <a:extLst>
                  <a:ext uri="{0D108BD9-81ED-4DB2-BD59-A6C34878D82A}">
                    <a16:rowId xmlns:a16="http://schemas.microsoft.com/office/drawing/2014/main" val="10002"/>
                  </a:ext>
                </a:extLst>
              </a:tr>
            </a:tbl>
          </a:graphicData>
        </a:graphic>
      </p:graphicFrame>
      <p:cxnSp>
        <p:nvCxnSpPr>
          <p:cNvPr id="17" name="直接箭头连接符 16"/>
          <p:cNvCxnSpPr/>
          <p:nvPr/>
        </p:nvCxnSpPr>
        <p:spPr>
          <a:xfrm>
            <a:off x="4440555" y="114300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 Box 29"/>
          <p:cNvSpPr txBox="1"/>
          <p:nvPr/>
        </p:nvSpPr>
        <p:spPr>
          <a:xfrm>
            <a:off x="4682490" y="4339273"/>
            <a:ext cx="3095625" cy="460375"/>
          </a:xfrm>
          <a:prstGeom prst="rect">
            <a:avLst/>
          </a:prstGeom>
          <a:solidFill>
            <a:schemeClr val="accent1"/>
          </a:solidFill>
          <a:ln w="9525">
            <a:noFill/>
          </a:ln>
        </p:spPr>
        <p:txBody>
          <a:bodyPr>
            <a:spAutoFit/>
          </a:bodyPr>
          <a:lstStyle/>
          <a:p>
            <a:pPr>
              <a:buClrTx/>
            </a:pPr>
            <a:r>
              <a:rPr lang="en-US" altLang="zh-CN" dirty="0">
                <a:solidFill>
                  <a:srgbClr val="C00000"/>
                </a:solidFill>
                <a:latin typeface="Arial" panose="020B0604020202020204" pitchFamily="34" charset="0"/>
              </a:rPr>
              <a:t>G</a:t>
            </a:r>
            <a:r>
              <a:rPr lang="en-US" altLang="zh-CN" dirty="0">
                <a:latin typeface="Arial" panose="020B0604020202020204" pitchFamily="34" charset="0"/>
              </a:rPr>
              <a:t> C  A</a:t>
            </a:r>
            <a:r>
              <a:rPr lang="en-US" altLang="zh-CN" dirty="0">
                <a:solidFill>
                  <a:schemeClr val="tx1"/>
                </a:solidFill>
                <a:latin typeface="Arial" panose="020B0604020202020204" pitchFamily="34" charset="0"/>
              </a:rPr>
              <a:t>  G C </a:t>
            </a:r>
            <a:r>
              <a:rPr lang="en-US" altLang="zh-CN" dirty="0">
                <a:latin typeface="Arial" panose="020B0604020202020204" pitchFamily="34" charset="0"/>
              </a:rPr>
              <a:t> A  </a:t>
            </a:r>
            <a:r>
              <a:rPr lang="en-US" altLang="zh-CN" dirty="0">
                <a:solidFill>
                  <a:schemeClr val="tx1"/>
                </a:solidFill>
                <a:latin typeface="Arial" panose="020B0604020202020204" pitchFamily="34" charset="0"/>
              </a:rPr>
              <a:t>G</a:t>
            </a:r>
          </a:p>
        </p:txBody>
      </p:sp>
      <p:sp>
        <p:nvSpPr>
          <p:cNvPr id="19" name="Text Box 29"/>
          <p:cNvSpPr txBox="1"/>
          <p:nvPr/>
        </p:nvSpPr>
        <p:spPr>
          <a:xfrm>
            <a:off x="5096510" y="4825048"/>
            <a:ext cx="3095625" cy="460375"/>
          </a:xfrm>
          <a:prstGeom prst="rect">
            <a:avLst/>
          </a:prstGeom>
          <a:solidFill>
            <a:schemeClr val="accent1"/>
          </a:solidFill>
          <a:ln w="9525">
            <a:noFill/>
          </a:ln>
        </p:spPr>
        <p:txBody>
          <a:bodyPr>
            <a:spAutoFit/>
          </a:bodyPr>
          <a:lstStyle/>
          <a:p>
            <a:pPr>
              <a:buClrTx/>
            </a:pPr>
            <a:r>
              <a:rPr lang="en-US" altLang="zh-CN" dirty="0">
                <a:solidFill>
                  <a:srgbClr val="C00000"/>
                </a:solidFill>
                <a:latin typeface="Arial" panose="020B0604020202020204" pitchFamily="34" charset="0"/>
              </a:rPr>
              <a:t>G C  A  G C  A  G</a:t>
            </a:r>
          </a:p>
        </p:txBody>
      </p:sp>
      <p:cxnSp>
        <p:nvCxnSpPr>
          <p:cNvPr id="20" name="直接箭头连接符 19"/>
          <p:cNvCxnSpPr/>
          <p:nvPr/>
        </p:nvCxnSpPr>
        <p:spPr>
          <a:xfrm>
            <a:off x="4782820" y="112649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5770880" y="1109980"/>
            <a:ext cx="487680" cy="923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 Box 29"/>
          <p:cNvSpPr txBox="1"/>
          <p:nvPr/>
        </p:nvSpPr>
        <p:spPr>
          <a:xfrm>
            <a:off x="6084570" y="5310823"/>
            <a:ext cx="3095625" cy="460375"/>
          </a:xfrm>
          <a:prstGeom prst="rect">
            <a:avLst/>
          </a:prstGeom>
          <a:solidFill>
            <a:schemeClr val="accent1"/>
          </a:solidFill>
          <a:ln w="9525">
            <a:noFill/>
          </a:ln>
        </p:spPr>
        <p:txBody>
          <a:bodyPr>
            <a:spAutoFit/>
          </a:bodyPr>
          <a:lstStyle/>
          <a:p>
            <a:pPr>
              <a:buClrTx/>
            </a:pPr>
            <a:r>
              <a:rPr lang="en-US" altLang="zh-CN" dirty="0">
                <a:solidFill>
                  <a:schemeClr val="tx1"/>
                </a:solidFill>
                <a:latin typeface="Arial" panose="020B0604020202020204" pitchFamily="34" charset="0"/>
              </a:rPr>
              <a:t>G C</a:t>
            </a:r>
            <a:r>
              <a:rPr lang="en-US" altLang="zh-CN" dirty="0">
                <a:latin typeface="Arial" panose="020B0604020202020204" pitchFamily="34" charset="0"/>
              </a:rPr>
              <a:t>  A</a:t>
            </a:r>
            <a:r>
              <a:rPr lang="en-US" altLang="zh-CN" dirty="0">
                <a:solidFill>
                  <a:schemeClr val="tx1"/>
                </a:solidFill>
                <a:latin typeface="Arial" panose="020B0604020202020204" pitchFamily="34" charset="0"/>
              </a:rPr>
              <a:t>  G</a:t>
            </a:r>
            <a:r>
              <a:rPr lang="en-US" altLang="zh-CN" dirty="0">
                <a:solidFill>
                  <a:srgbClr val="C00000"/>
                </a:solidFill>
                <a:latin typeface="Arial" panose="020B0604020202020204" pitchFamily="34" charset="0"/>
              </a:rPr>
              <a:t> C</a:t>
            </a:r>
            <a:r>
              <a:rPr lang="en-US" altLang="zh-CN" dirty="0">
                <a:solidFill>
                  <a:schemeClr val="tx1"/>
                </a:solidFill>
                <a:latin typeface="Arial" panose="020B0604020202020204" pitchFamily="34" charset="0"/>
              </a:rPr>
              <a:t> </a:t>
            </a:r>
            <a:r>
              <a:rPr lang="en-US" altLang="zh-CN" dirty="0">
                <a:latin typeface="Arial" panose="020B0604020202020204" pitchFamily="34" charset="0"/>
              </a:rPr>
              <a:t> A  </a:t>
            </a:r>
            <a:r>
              <a:rPr lang="en-US" altLang="zh-CN" dirty="0">
                <a:solidFill>
                  <a:schemeClr val="tx1"/>
                </a:solidFill>
                <a:latin typeface="Arial" panose="020B0604020202020204" pitchFamily="34" charset="0"/>
              </a:rPr>
              <a:t>G</a:t>
            </a:r>
          </a:p>
        </p:txBody>
      </p:sp>
      <p:sp>
        <p:nvSpPr>
          <p:cNvPr id="24" name="文本框 23"/>
          <p:cNvSpPr txBox="1"/>
          <p:nvPr/>
        </p:nvSpPr>
        <p:spPr>
          <a:xfrm>
            <a:off x="5643880" y="3304540"/>
            <a:ext cx="1563370" cy="460375"/>
          </a:xfrm>
          <a:prstGeom prst="rect">
            <a:avLst/>
          </a:prstGeom>
          <a:noFill/>
        </p:spPr>
        <p:txBody>
          <a:bodyPr wrap="square" rtlCol="0">
            <a:spAutoFit/>
          </a:bodyPr>
          <a:lstStyle/>
          <a:p>
            <a:r>
              <a:rPr lang="en-US" altLang="zh-CN"/>
              <a:t>i=6</a:t>
            </a:r>
          </a:p>
        </p:txBody>
      </p:sp>
      <p:sp>
        <p:nvSpPr>
          <p:cNvPr id="25" name="文本框 24"/>
          <p:cNvSpPr txBox="1"/>
          <p:nvPr/>
        </p:nvSpPr>
        <p:spPr>
          <a:xfrm>
            <a:off x="6560185" y="3862070"/>
            <a:ext cx="1563370" cy="460375"/>
          </a:xfrm>
          <a:prstGeom prst="rect">
            <a:avLst/>
          </a:prstGeom>
          <a:noFill/>
        </p:spPr>
        <p:txBody>
          <a:bodyPr wrap="square" rtlCol="0">
            <a:spAutoFit/>
          </a:bodyPr>
          <a:lstStyle/>
          <a:p>
            <a:r>
              <a:rPr lang="en-US" altLang="zh-CN"/>
              <a:t>i=3</a:t>
            </a:r>
          </a:p>
        </p:txBody>
      </p:sp>
      <p:sp>
        <p:nvSpPr>
          <p:cNvPr id="26" name="文本框 25"/>
          <p:cNvSpPr txBox="1"/>
          <p:nvPr/>
        </p:nvSpPr>
        <p:spPr>
          <a:xfrm>
            <a:off x="7906385" y="4364990"/>
            <a:ext cx="1563370" cy="460375"/>
          </a:xfrm>
          <a:prstGeom prst="rect">
            <a:avLst/>
          </a:prstGeom>
          <a:noFill/>
        </p:spPr>
        <p:txBody>
          <a:bodyPr wrap="square" rtlCol="0">
            <a:spAutoFit/>
          </a:bodyPr>
          <a:lstStyle/>
          <a:p>
            <a:r>
              <a:rPr lang="en-US" altLang="zh-CN"/>
              <a:t>i=0</a:t>
            </a:r>
          </a:p>
        </p:txBody>
      </p:sp>
      <p:sp>
        <p:nvSpPr>
          <p:cNvPr id="27" name="文本框 26"/>
          <p:cNvSpPr txBox="1"/>
          <p:nvPr/>
        </p:nvSpPr>
        <p:spPr>
          <a:xfrm>
            <a:off x="8463915" y="4779010"/>
            <a:ext cx="1563370" cy="460375"/>
          </a:xfrm>
          <a:prstGeom prst="rect">
            <a:avLst/>
          </a:prstGeom>
          <a:noFill/>
        </p:spPr>
        <p:txBody>
          <a:bodyPr wrap="square" rtlCol="0">
            <a:spAutoFit/>
          </a:bodyPr>
          <a:lstStyle/>
          <a:p>
            <a:r>
              <a:rPr lang="en-US" altLang="zh-CN"/>
              <a:t>i=7</a:t>
            </a:r>
          </a:p>
        </p:txBody>
      </p:sp>
      <p:sp>
        <p:nvSpPr>
          <p:cNvPr id="28" name="文本框 27"/>
          <p:cNvSpPr txBox="1"/>
          <p:nvPr/>
        </p:nvSpPr>
        <p:spPr>
          <a:xfrm>
            <a:off x="4137025" y="2371725"/>
            <a:ext cx="1563370" cy="460375"/>
          </a:xfrm>
          <a:prstGeom prst="rect">
            <a:avLst/>
          </a:prstGeom>
          <a:noFill/>
        </p:spPr>
        <p:txBody>
          <a:bodyPr wrap="square" rtlCol="0">
            <a:spAutoFit/>
          </a:bodyPr>
          <a:lstStyle/>
          <a:p>
            <a:r>
              <a:rPr lang="en-US" altLang="zh-CN"/>
              <a:t>i=3</a:t>
            </a:r>
          </a:p>
        </p:txBody>
      </p:sp>
      <p:cxnSp>
        <p:nvCxnSpPr>
          <p:cNvPr id="29" name="直接箭头连接符 28"/>
          <p:cNvCxnSpPr/>
          <p:nvPr/>
        </p:nvCxnSpPr>
        <p:spPr>
          <a:xfrm>
            <a:off x="7354570" y="1670685"/>
            <a:ext cx="29400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flipH="1">
            <a:off x="4427855" y="1923415"/>
            <a:ext cx="3175" cy="3521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4770120" y="1978660"/>
            <a:ext cx="3175" cy="3521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5128895" y="1978660"/>
            <a:ext cx="3175" cy="3521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6133465" y="2050415"/>
            <a:ext cx="3175" cy="352171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73"/>
                                        </p:tgtEl>
                                        <p:attrNameLst>
                                          <p:attrName>style.visibility</p:attrName>
                                        </p:attrNameLst>
                                      </p:cBhvr>
                                      <p:to>
                                        <p:strVal val="visible"/>
                                      </p:to>
                                    </p:set>
                                    <p:animEffect transition="in" filter="blinds(horizontal)">
                                      <p:cBhvr>
                                        <p:cTn id="7" dur="500"/>
                                        <p:tgtEl>
                                          <p:spTgt spid="829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linds(horizontal)">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blinds(horizontal)">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blinds(horizontal)">
                                      <p:cBhvr>
                                        <p:cTn id="7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8" grpId="0" bldLvl="0" animBg="1"/>
      <p:bldP spid="8" grpId="1" animBg="1"/>
      <p:bldP spid="10" grpId="0" bldLvl="0" animBg="1"/>
      <p:bldP spid="10" grpId="1" animBg="1"/>
      <p:bldP spid="18" grpId="0" bldLvl="0" animBg="1"/>
      <p:bldP spid="18" grpId="1" animBg="1"/>
      <p:bldP spid="19" grpId="0" bldLvl="0" animBg="1"/>
      <p:bldP spid="19" grpId="1" animBg="1"/>
      <p:bldP spid="22" grpId="0" bldLvl="0" animBg="1"/>
      <p:bldP spid="2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39</a:t>
            </a:fld>
            <a:endParaRPr lang="en-US" altLang="zh-CN" sz="1400" dirty="0"/>
          </a:p>
        </p:txBody>
      </p:sp>
      <p:sp>
        <p:nvSpPr>
          <p:cNvPr id="84994" name="Rectangle 3"/>
          <p:cNvSpPr>
            <a:spLocks noGrp="1" noRot="1"/>
          </p:cNvSpPr>
          <p:nvPr>
            <p:ph idx="1"/>
          </p:nvPr>
        </p:nvSpPr>
        <p:spPr/>
        <p:txBody>
          <a:bodyPr vert="horz" wrap="square" lIns="91440" tIns="45720" rIns="91440" bIns="45720" anchor="t">
            <a:normAutofit fontScale="90000" lnSpcReduction="20000"/>
          </a:bodyPr>
          <a:lstStyle/>
          <a:p>
            <a:pPr eaLnBrk="1" hangingPunct="1">
              <a:lnSpc>
                <a:spcPct val="80000"/>
              </a:lnSpc>
              <a:buNone/>
            </a:pPr>
            <a:r>
              <a:rPr lang="en-US" altLang="zh-CN" sz="2400" dirty="0"/>
              <a:t>void preKmp(char *x, int m, int kmpNext[ ])</a:t>
            </a:r>
          </a:p>
          <a:p>
            <a:pPr eaLnBrk="1" hangingPunct="1">
              <a:lnSpc>
                <a:spcPct val="80000"/>
              </a:lnSpc>
              <a:buNone/>
            </a:pPr>
            <a:r>
              <a:rPr lang="en-US" altLang="zh-CN" sz="2400" dirty="0"/>
              <a:t> { </a:t>
            </a:r>
          </a:p>
          <a:p>
            <a:pPr eaLnBrk="1" hangingPunct="1">
              <a:lnSpc>
                <a:spcPct val="80000"/>
              </a:lnSpc>
              <a:buNone/>
            </a:pPr>
            <a:r>
              <a:rPr lang="en-US" altLang="zh-CN" sz="2400" dirty="0"/>
              <a:t>        int i, j; </a:t>
            </a:r>
          </a:p>
          <a:p>
            <a:pPr eaLnBrk="1" hangingPunct="1">
              <a:lnSpc>
                <a:spcPct val="80000"/>
              </a:lnSpc>
              <a:buNone/>
            </a:pPr>
            <a:r>
              <a:rPr lang="en-US" altLang="zh-CN" sz="2400" dirty="0"/>
              <a:t>        i = 0</a:t>
            </a:r>
            <a:r>
              <a:rPr lang="zh-CN" altLang="en-US" sz="2400" dirty="0"/>
              <a:t>，</a:t>
            </a:r>
            <a:r>
              <a:rPr lang="en-US" altLang="zh-CN" sz="2400" dirty="0"/>
              <a:t>j=-1;                                                                                  </a:t>
            </a:r>
          </a:p>
          <a:p>
            <a:pPr eaLnBrk="1" hangingPunct="1">
              <a:lnSpc>
                <a:spcPct val="80000"/>
              </a:lnSpc>
              <a:buNone/>
            </a:pPr>
            <a:r>
              <a:rPr lang="en-US" altLang="zh-CN" sz="2400" dirty="0"/>
              <a:t>       kmpNext[0] = -1; </a:t>
            </a:r>
          </a:p>
          <a:p>
            <a:pPr eaLnBrk="1" hangingPunct="1">
              <a:lnSpc>
                <a:spcPct val="80000"/>
              </a:lnSpc>
              <a:buNone/>
            </a:pPr>
            <a:r>
              <a:rPr lang="en-US" altLang="zh-CN" sz="2400" dirty="0"/>
              <a:t>       while (i &lt; m)</a:t>
            </a:r>
          </a:p>
          <a:p>
            <a:pPr eaLnBrk="1" hangingPunct="1">
              <a:lnSpc>
                <a:spcPct val="80000"/>
              </a:lnSpc>
              <a:buNone/>
            </a:pPr>
            <a:r>
              <a:rPr lang="en-US" altLang="zh-CN" sz="2400" dirty="0"/>
              <a:t>        { </a:t>
            </a:r>
          </a:p>
          <a:p>
            <a:pPr eaLnBrk="1" hangingPunct="1">
              <a:lnSpc>
                <a:spcPct val="80000"/>
              </a:lnSpc>
              <a:buNone/>
            </a:pPr>
            <a:r>
              <a:rPr lang="en-US" altLang="zh-CN" sz="2400" dirty="0"/>
              <a:t>            while (j &gt; -1 &amp;&amp; x[i] != x[j])   j = kmpNext [j];</a:t>
            </a:r>
          </a:p>
          <a:p>
            <a:pPr eaLnBrk="1" hangingPunct="1">
              <a:lnSpc>
                <a:spcPct val="80000"/>
              </a:lnSpc>
              <a:buNone/>
            </a:pPr>
            <a:r>
              <a:rPr lang="en-US" altLang="zh-CN" sz="2400" dirty="0"/>
              <a:t>             i++; </a:t>
            </a:r>
          </a:p>
          <a:p>
            <a:pPr eaLnBrk="1" hangingPunct="1">
              <a:lnSpc>
                <a:spcPct val="80000"/>
              </a:lnSpc>
              <a:buNone/>
            </a:pPr>
            <a:r>
              <a:rPr lang="en-US" altLang="zh-CN" sz="2400" dirty="0"/>
              <a:t>             j++; </a:t>
            </a:r>
          </a:p>
          <a:p>
            <a:pPr eaLnBrk="1" hangingPunct="1">
              <a:lnSpc>
                <a:spcPct val="80000"/>
              </a:lnSpc>
              <a:buNone/>
            </a:pPr>
            <a:r>
              <a:rPr lang="en-US" altLang="zh-CN" sz="2400" dirty="0"/>
              <a:t>            if (x[i] == x[j])   kmpNext[i] = kmpNext[j]; </a:t>
            </a:r>
          </a:p>
          <a:p>
            <a:pPr eaLnBrk="1" hangingPunct="1">
              <a:lnSpc>
                <a:spcPct val="80000"/>
              </a:lnSpc>
              <a:buNone/>
            </a:pPr>
            <a:r>
              <a:rPr lang="en-US" altLang="zh-CN" sz="2400" dirty="0"/>
              <a:t>               else kmpNext[i] = j; </a:t>
            </a:r>
          </a:p>
          <a:p>
            <a:pPr eaLnBrk="1" hangingPunct="1">
              <a:lnSpc>
                <a:spcPct val="80000"/>
              </a:lnSpc>
              <a:buNone/>
            </a:pPr>
            <a:r>
              <a:rPr lang="en-US" altLang="zh-CN" sz="2400" dirty="0"/>
              <a:t>       }</a:t>
            </a:r>
          </a:p>
          <a:p>
            <a:pPr eaLnBrk="1" hangingPunct="1">
              <a:lnSpc>
                <a:spcPct val="80000"/>
              </a:lnSpc>
              <a:buNone/>
            </a:pPr>
            <a:r>
              <a:rPr lang="en-US" altLang="zh-CN" sz="2400" dirty="0"/>
              <a:t> } </a:t>
            </a:r>
          </a:p>
        </p:txBody>
      </p:sp>
      <p:sp>
        <p:nvSpPr>
          <p:cNvPr id="220164" name="Rectangle 4"/>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algn="l" eaLnBrk="1" hangingPunct="1"/>
            <a:r>
              <a:rPr lang="zh-CN" altLang="en-US" dirty="0">
                <a:effectLst>
                  <a:outerShdw blurRad="38100" dist="38100" dir="2700000">
                    <a:srgbClr val="000000"/>
                  </a:outerShdw>
                </a:effectLst>
              </a:rPr>
              <a:t>代码</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40</a:t>
            </a:fld>
            <a:endParaRPr lang="en-US" altLang="zh-CN" sz="1400" dirty="0"/>
          </a:p>
        </p:txBody>
      </p:sp>
      <p:sp>
        <p:nvSpPr>
          <p:cNvPr id="88066" name="Text Box 4"/>
          <p:cNvSpPr txBox="1"/>
          <p:nvPr/>
        </p:nvSpPr>
        <p:spPr>
          <a:xfrm>
            <a:off x="396081" y="965835"/>
            <a:ext cx="8351838" cy="5446395"/>
          </a:xfrm>
          <a:prstGeom prst="rect">
            <a:avLst/>
          </a:prstGeom>
          <a:noFill/>
          <a:ln w="9525">
            <a:noFill/>
          </a:ln>
        </p:spPr>
        <p:txBody>
          <a:bodyPr>
            <a:spAutoFit/>
          </a:bodyPr>
          <a:lstStyle/>
          <a:p>
            <a:pPr>
              <a:buClrTx/>
            </a:pPr>
            <a:r>
              <a:rPr lang="en-US" altLang="zh-CN" b="1" dirty="0">
                <a:solidFill>
                  <a:srgbClr val="000000"/>
                </a:solidFill>
                <a:latin typeface="Arial" panose="020B0604020202020204" pitchFamily="34" charset="0"/>
              </a:rPr>
              <a:t>void KMP(char *x, int m, char *y, int n) { </a:t>
            </a:r>
          </a:p>
          <a:p>
            <a:pPr>
              <a:buClrTx/>
            </a:pPr>
            <a:r>
              <a:rPr lang="en-US" altLang="zh-CN" b="1" dirty="0">
                <a:solidFill>
                  <a:srgbClr val="000000"/>
                </a:solidFill>
                <a:latin typeface="Arial" panose="020B0604020202020204" pitchFamily="34" charset="0"/>
              </a:rPr>
              <a:t>       int i, j, kmpNext[XSIZE]; </a:t>
            </a:r>
          </a:p>
          <a:p>
            <a:pPr>
              <a:buClrTx/>
            </a:pPr>
            <a:r>
              <a:rPr lang="en-US" altLang="zh-CN" b="1" dirty="0">
                <a:solidFill>
                  <a:srgbClr val="000000"/>
                </a:solidFill>
                <a:latin typeface="Arial" panose="020B0604020202020204" pitchFamily="34" charset="0"/>
              </a:rPr>
              <a:t>       /* Preprocessing */</a:t>
            </a:r>
          </a:p>
          <a:p>
            <a:pPr>
              <a:buClrTx/>
            </a:pPr>
            <a:r>
              <a:rPr lang="en-US" altLang="zh-CN" b="1" dirty="0">
                <a:solidFill>
                  <a:srgbClr val="000000"/>
                </a:solidFill>
                <a:latin typeface="Arial" panose="020B0604020202020204" pitchFamily="34" charset="0"/>
              </a:rPr>
              <a:t>      preKmp(x, m, kmpNext); </a:t>
            </a:r>
          </a:p>
          <a:p>
            <a:pPr>
              <a:buClrTx/>
            </a:pPr>
            <a:r>
              <a:rPr lang="en-US" altLang="zh-CN" b="1" dirty="0">
                <a:solidFill>
                  <a:srgbClr val="000000"/>
                </a:solidFill>
                <a:latin typeface="Arial" panose="020B0604020202020204" pitchFamily="34" charset="0"/>
              </a:rPr>
              <a:t>      /* Searching */ </a:t>
            </a:r>
          </a:p>
          <a:p>
            <a:pPr>
              <a:buClrTx/>
            </a:pPr>
            <a:r>
              <a:rPr lang="en-US" altLang="zh-CN" b="1" dirty="0">
                <a:solidFill>
                  <a:srgbClr val="000000"/>
                </a:solidFill>
                <a:latin typeface="Arial" panose="020B0604020202020204" pitchFamily="34" charset="0"/>
              </a:rPr>
              <a:t>      i = j = 0; </a:t>
            </a:r>
          </a:p>
          <a:p>
            <a:pPr>
              <a:buClrTx/>
            </a:pPr>
            <a:r>
              <a:rPr lang="en-US" altLang="zh-CN" b="1" dirty="0">
                <a:solidFill>
                  <a:srgbClr val="000000"/>
                </a:solidFill>
                <a:latin typeface="Arial" panose="020B0604020202020204" pitchFamily="34" charset="0"/>
              </a:rPr>
              <a:t>      while (j &lt; n) { </a:t>
            </a:r>
          </a:p>
          <a:p>
            <a:pPr>
              <a:buClrTx/>
            </a:pPr>
            <a:r>
              <a:rPr lang="en-US" altLang="zh-CN" b="1" dirty="0">
                <a:solidFill>
                  <a:srgbClr val="000000"/>
                </a:solidFill>
                <a:latin typeface="Arial" panose="020B0604020202020204" pitchFamily="34" charset="0"/>
              </a:rPr>
              <a:t>          while (i &gt; -1 &amp;&amp; x[i] != y[j]) </a:t>
            </a:r>
          </a:p>
          <a:p>
            <a:pPr>
              <a:buClrTx/>
            </a:pPr>
            <a:r>
              <a:rPr lang="en-US" altLang="zh-CN" b="1" dirty="0">
                <a:solidFill>
                  <a:srgbClr val="000000"/>
                </a:solidFill>
                <a:latin typeface="Arial" panose="020B0604020202020204" pitchFamily="34" charset="0"/>
              </a:rPr>
              <a:t>                 </a:t>
            </a:r>
            <a:r>
              <a:rPr lang="en-US" altLang="zh-CN" dirty="0">
                <a:sym typeface="+mn-ea"/>
              </a:rPr>
              <a:t> </a:t>
            </a:r>
            <a:r>
              <a:rPr lang="en-US" altLang="zh-CN" b="1" dirty="0">
                <a:solidFill>
                  <a:srgbClr val="000000"/>
                </a:solidFill>
                <a:sym typeface="+mn-ea"/>
              </a:rPr>
              <a:t>i = kmpNext[i]; </a:t>
            </a:r>
            <a:endParaRPr lang="en-US" altLang="zh-CN" b="1" dirty="0">
              <a:solidFill>
                <a:srgbClr val="000000"/>
              </a:solidFill>
              <a:latin typeface="Arial" panose="020B0604020202020204" pitchFamily="34" charset="0"/>
            </a:endParaRPr>
          </a:p>
          <a:p>
            <a:pPr>
              <a:buClrTx/>
            </a:pPr>
            <a:endParaRPr lang="en-US" altLang="zh-CN" b="1" dirty="0">
              <a:solidFill>
                <a:srgbClr val="000000"/>
              </a:solidFill>
              <a:latin typeface="Arial" panose="020B0604020202020204" pitchFamily="34" charset="0"/>
            </a:endParaRPr>
          </a:p>
        </p:txBody>
      </p:sp>
      <p:sp>
        <p:nvSpPr>
          <p:cNvPr id="88067" name="Text Box 4"/>
          <p:cNvSpPr txBox="1"/>
          <p:nvPr/>
        </p:nvSpPr>
        <p:spPr>
          <a:xfrm>
            <a:off x="5148064" y="2564904"/>
            <a:ext cx="3889375" cy="4189730"/>
          </a:xfrm>
          <a:prstGeom prst="rect">
            <a:avLst/>
          </a:prstGeom>
          <a:solidFill>
            <a:srgbClr val="FFFFFF"/>
          </a:solidFill>
          <a:ln w="0">
            <a:solidFill>
              <a:schemeClr val="accent1"/>
            </a:solidFill>
          </a:ln>
        </p:spPr>
        <p:txBody>
          <a:bodyPr>
            <a:spAutoFit/>
          </a:bodyPr>
          <a:lstStyle/>
          <a:p>
            <a:pPr>
              <a:lnSpc>
                <a:spcPct val="120000"/>
              </a:lnSpc>
              <a:spcBef>
                <a:spcPct val="0"/>
              </a:spcBef>
              <a:buClrTx/>
            </a:pPr>
            <a:r>
              <a:rPr lang="en-US" altLang="zh-CN" b="1" dirty="0">
                <a:solidFill>
                  <a:srgbClr val="000000"/>
                </a:solidFill>
                <a:latin typeface="Arial" panose="020B0604020202020204" pitchFamily="34" charset="0"/>
              </a:rPr>
              <a:t>           i++; </a:t>
            </a:r>
          </a:p>
          <a:p>
            <a:pPr>
              <a:lnSpc>
                <a:spcPct val="120000"/>
              </a:lnSpc>
              <a:spcBef>
                <a:spcPct val="0"/>
              </a:spcBef>
              <a:buClrTx/>
            </a:pPr>
            <a:r>
              <a:rPr lang="en-US" altLang="zh-CN" b="1" dirty="0">
                <a:solidFill>
                  <a:srgbClr val="000000"/>
                </a:solidFill>
                <a:latin typeface="Arial" panose="020B0604020202020204" pitchFamily="34" charset="0"/>
              </a:rPr>
              <a:t>           j++; </a:t>
            </a:r>
          </a:p>
          <a:p>
            <a:pPr>
              <a:lnSpc>
                <a:spcPct val="120000"/>
              </a:lnSpc>
              <a:spcBef>
                <a:spcPct val="0"/>
              </a:spcBef>
              <a:buClrTx/>
            </a:pPr>
            <a:r>
              <a:rPr lang="en-US" altLang="zh-CN" b="1" dirty="0">
                <a:solidFill>
                  <a:srgbClr val="000000"/>
                </a:solidFill>
                <a:latin typeface="Arial" panose="020B0604020202020204" pitchFamily="34" charset="0"/>
              </a:rPr>
              <a:t>           if (i &gt;= m) { </a:t>
            </a:r>
          </a:p>
          <a:p>
            <a:pPr>
              <a:lnSpc>
                <a:spcPct val="120000"/>
              </a:lnSpc>
              <a:spcBef>
                <a:spcPct val="0"/>
              </a:spcBef>
              <a:buClrTx/>
            </a:pPr>
            <a:r>
              <a:rPr lang="en-US" altLang="zh-CN" b="1" dirty="0">
                <a:solidFill>
                  <a:srgbClr val="000000"/>
                </a:solidFill>
                <a:latin typeface="Arial" panose="020B0604020202020204" pitchFamily="34" charset="0"/>
              </a:rPr>
              <a:t>               OUTPUT(j - i); </a:t>
            </a:r>
          </a:p>
          <a:p>
            <a:pPr>
              <a:lnSpc>
                <a:spcPct val="120000"/>
              </a:lnSpc>
              <a:spcBef>
                <a:spcPct val="0"/>
              </a:spcBef>
              <a:buClrTx/>
            </a:pPr>
            <a:r>
              <a:rPr lang="en-US" altLang="zh-CN" b="1" dirty="0">
                <a:solidFill>
                  <a:srgbClr val="000000"/>
                </a:solidFill>
                <a:latin typeface="Arial" panose="020B0604020202020204" pitchFamily="34" charset="0"/>
              </a:rPr>
              <a:t>               i = kmpNext[i]; </a:t>
            </a:r>
          </a:p>
          <a:p>
            <a:pPr>
              <a:lnSpc>
                <a:spcPct val="120000"/>
              </a:lnSpc>
              <a:spcBef>
                <a:spcPct val="0"/>
              </a:spcBef>
              <a:buClrTx/>
            </a:pPr>
            <a:r>
              <a:rPr lang="en-US" altLang="zh-CN" b="1" dirty="0">
                <a:solidFill>
                  <a:srgbClr val="000000"/>
                </a:solidFill>
                <a:latin typeface="Arial" panose="020B0604020202020204" pitchFamily="34" charset="0"/>
              </a:rPr>
              <a:t>           }</a:t>
            </a:r>
          </a:p>
          <a:p>
            <a:pPr>
              <a:lnSpc>
                <a:spcPct val="120000"/>
              </a:lnSpc>
              <a:spcBef>
                <a:spcPct val="0"/>
              </a:spcBef>
              <a:buClrTx/>
            </a:pPr>
            <a:r>
              <a:rPr lang="en-US" altLang="zh-CN" b="1" dirty="0">
                <a:solidFill>
                  <a:srgbClr val="000000"/>
                </a:solidFill>
                <a:latin typeface="Arial" panose="020B0604020202020204" pitchFamily="34" charset="0"/>
              </a:rPr>
              <a:t>        } </a:t>
            </a:r>
          </a:p>
          <a:p>
            <a:pPr>
              <a:lnSpc>
                <a:spcPct val="120000"/>
              </a:lnSpc>
              <a:spcBef>
                <a:spcPct val="0"/>
              </a:spcBef>
              <a:buClrTx/>
            </a:pPr>
            <a:r>
              <a:rPr lang="en-US" altLang="zh-CN" b="1" dirty="0">
                <a:solidFill>
                  <a:srgbClr val="000000"/>
                </a:solidFill>
                <a:latin typeface="Arial" panose="020B0604020202020204" pitchFamily="34" charset="0"/>
              </a:rPr>
              <a:t> }</a:t>
            </a:r>
            <a:r>
              <a:rPr lang="en-US" altLang="zh-CN" dirty="0">
                <a:solidFill>
                  <a:srgbClr val="000000"/>
                </a:solidFill>
                <a:latin typeface="Arial" panose="020B0604020202020204" pitchFamily="34" charset="0"/>
              </a:rPr>
              <a:t> </a:t>
            </a:r>
          </a:p>
          <a:p>
            <a:pPr>
              <a:buClrTx/>
            </a:pPr>
            <a:endParaRPr lang="en-US" altLang="zh-CN" dirty="0">
              <a:latin typeface="Arial" panose="020B0604020202020204" pitchFamily="34"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41</a:t>
            </a:fld>
            <a:endParaRPr lang="en-US" altLang="zh-CN" sz="1400" dirty="0"/>
          </a:p>
        </p:txBody>
      </p:sp>
      <p:sp>
        <p:nvSpPr>
          <p:cNvPr id="24781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
        <p:nvSpPr>
          <p:cNvPr id="90115" name="Rectangle 3"/>
          <p:cNvSpPr>
            <a:spLocks noGrp="1" noRot="1"/>
          </p:cNvSpPr>
          <p:nvPr>
            <p:ph idx="1"/>
          </p:nvPr>
        </p:nvSpPr>
        <p:spPr>
          <a:xfrm>
            <a:off x="313690" y="948690"/>
            <a:ext cx="8690610" cy="5013325"/>
          </a:xfrm>
        </p:spPr>
        <p:txBody>
          <a:bodyPr vert="horz" wrap="square" lIns="91440" tIns="45720" rIns="91440" bIns="45720" anchor="t">
            <a:noAutofit/>
          </a:bodyPr>
          <a:lstStyle/>
          <a:p>
            <a:pPr eaLnBrk="1" hangingPunct="1">
              <a:lnSpc>
                <a:spcPct val="130000"/>
              </a:lnSpc>
            </a:pPr>
            <a:r>
              <a:rPr lang="en-US" altLang="zh-CN" sz="2400" b="1"/>
              <a:t>BM</a:t>
            </a:r>
            <a:r>
              <a:rPr lang="zh-CN" altLang="en-US" sz="2400" b="1"/>
              <a:t>算法被盛誉为速度最快的算法。</a:t>
            </a:r>
          </a:p>
          <a:p>
            <a:pPr eaLnBrk="1" hangingPunct="1">
              <a:lnSpc>
                <a:spcPct val="130000"/>
              </a:lnSpc>
            </a:pPr>
            <a:r>
              <a:rPr lang="zh-CN" altLang="en-US" sz="2400" b="1"/>
              <a:t>主要思想：算法从正文左端开始扫描，对齐后从</a:t>
            </a:r>
            <a:r>
              <a:rPr lang="zh-CN" altLang="en-US" sz="2400" b="1">
                <a:solidFill>
                  <a:srgbClr val="C00000"/>
                </a:solidFill>
                <a:sym typeface="+mn-ea"/>
              </a:rPr>
              <a:t>模式</a:t>
            </a:r>
            <a:r>
              <a:rPr lang="zh-CN" altLang="en-US" sz="2400" b="1">
                <a:solidFill>
                  <a:srgbClr val="C00000"/>
                </a:solidFill>
              </a:rPr>
              <a:t>最右端开始自右向左</a:t>
            </a:r>
            <a:r>
              <a:rPr lang="zh-CN" altLang="en-US" sz="2400" b="1"/>
              <a:t>诸字符比较。在不匹配（或完全匹配）时，用两个预先计算的函数</a:t>
            </a:r>
            <a:r>
              <a:rPr lang="en-US" altLang="zh-CN" sz="2400" b="1"/>
              <a:t>bad character</a:t>
            </a:r>
            <a:r>
              <a:rPr lang="zh-CN" altLang="en-US" sz="2400" b="1"/>
              <a:t>和</a:t>
            </a:r>
            <a:r>
              <a:rPr lang="en-US" altLang="zh-CN" sz="2400" b="1"/>
              <a:t>good suffix </a:t>
            </a:r>
            <a:r>
              <a:rPr lang="zh-CN" altLang="en-US" sz="2400" b="1"/>
              <a:t>来确定指针在正文中移动的距离。</a:t>
            </a:r>
          </a:p>
          <a:p>
            <a:pPr lvl="0" eaLnBrk="1" hangingPunct="1">
              <a:lnSpc>
                <a:spcPct val="130000"/>
              </a:lnSpc>
            </a:pPr>
            <a:r>
              <a:rPr lang="zh-CN" altLang="en-US" sz="2400" b="1">
                <a:sym typeface="+mn-ea"/>
              </a:rPr>
              <a:t>    BM算法的关键是</a:t>
            </a:r>
            <a:r>
              <a:rPr lang="zh-CN" altLang="en-US" sz="2400" b="1">
                <a:solidFill>
                  <a:srgbClr val="C00000"/>
                </a:solidFill>
                <a:sym typeface="+mn-ea"/>
              </a:rPr>
              <a:t>找出不必要的比较</a:t>
            </a:r>
            <a:r>
              <a:rPr lang="zh-CN" altLang="en-US" sz="2400" b="1">
                <a:sym typeface="+mn-ea"/>
              </a:rPr>
              <a:t>。进行比较时，从字符串的右端而不是左端开始比较。</a:t>
            </a:r>
          </a:p>
          <a:p>
            <a:pPr lvl="1" eaLnBrk="1" hangingPunct="1">
              <a:lnSpc>
                <a:spcPct val="130000"/>
              </a:lnSpc>
            </a:pPr>
            <a:r>
              <a:rPr lang="zh-CN" altLang="en-US" sz="2000" b="1">
                <a:sym typeface="+mn-ea"/>
              </a:rPr>
              <a:t>当匹配不成功时，正文指针可直接向右移若干个位置；</a:t>
            </a:r>
          </a:p>
          <a:p>
            <a:pPr lvl="1" eaLnBrk="1" hangingPunct="1">
              <a:lnSpc>
                <a:spcPct val="130000"/>
              </a:lnSpc>
            </a:pPr>
            <a:r>
              <a:rPr lang="zh-CN" altLang="en-US" sz="2000" b="1">
                <a:sym typeface="+mn-ea"/>
              </a:rPr>
              <a:t>当被比较的字符相等时，正文和模式指针向左移动</a:t>
            </a:r>
            <a:r>
              <a:rPr lang="en-US" altLang="zh-CN" sz="2000" b="1">
                <a:sym typeface="+mn-ea"/>
              </a:rPr>
              <a:t>1</a:t>
            </a:r>
            <a:r>
              <a:rPr lang="zh-CN" altLang="en-US" sz="2000" b="1">
                <a:sym typeface="+mn-ea"/>
              </a:rPr>
              <a:t>位，继续比较对应的字符。</a:t>
            </a:r>
          </a:p>
          <a:p>
            <a:pPr lvl="1" eaLnBrk="1" hangingPunct="1">
              <a:lnSpc>
                <a:spcPct val="130000"/>
              </a:lnSpc>
            </a:pPr>
            <a:r>
              <a:rPr lang="zh-CN" altLang="en-US" sz="2000" b="1">
                <a:sym typeface="+mn-ea"/>
              </a:rPr>
              <a:t>如果成功次数等于模式串长度，则模式匹配成功，输出当前模式首地址对应的正文位置。</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011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011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01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4576" name="Group 80"/>
          <p:cNvGraphicFramePr>
            <a:graphicFrameLocks noGrp="1"/>
          </p:cNvGraphicFramePr>
          <p:nvPr>
            <p:ph sz="quarter" idx="4294967295"/>
          </p:nvPr>
        </p:nvGraphicFramePr>
        <p:xfrm>
          <a:off x="466725" y="263588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663">
                  <a:extLst>
                    <a:ext uri="{9D8B030D-6E8A-4147-A177-3AD203B41FA5}">
                      <a16:colId xmlns:a16="http://schemas.microsoft.com/office/drawing/2014/main" val="20013"/>
                    </a:ext>
                  </a:extLst>
                </a:gridCol>
                <a:gridCol w="346075">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82972" name="Text Box 29"/>
          <p:cNvSpPr txBox="1"/>
          <p:nvPr/>
        </p:nvSpPr>
        <p:spPr>
          <a:xfrm>
            <a:off x="468630" y="3212465"/>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C  A  G C  G C</a:t>
            </a:r>
          </a:p>
        </p:txBody>
      </p:sp>
      <p:graphicFrame>
        <p:nvGraphicFramePr>
          <p:cNvPr id="3" name="Group 80"/>
          <p:cNvGraphicFramePr>
            <a:graphicFrameLocks noGrp="1"/>
          </p:cNvGraphicFramePr>
          <p:nvPr/>
        </p:nvGraphicFramePr>
        <p:xfrm>
          <a:off x="450215" y="89725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663">
                  <a:extLst>
                    <a:ext uri="{9D8B030D-6E8A-4147-A177-3AD203B41FA5}">
                      <a16:colId xmlns:a16="http://schemas.microsoft.com/office/drawing/2014/main" val="20013"/>
                    </a:ext>
                  </a:extLst>
                </a:gridCol>
                <a:gridCol w="346075">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4" name="Text Box 29"/>
          <p:cNvSpPr txBox="1"/>
          <p:nvPr/>
        </p:nvSpPr>
        <p:spPr>
          <a:xfrm>
            <a:off x="507365" y="1529080"/>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A  A  G A  G C</a:t>
            </a:r>
          </a:p>
        </p:txBody>
      </p:sp>
      <p:graphicFrame>
        <p:nvGraphicFramePr>
          <p:cNvPr id="5" name="Group 80"/>
          <p:cNvGraphicFramePr>
            <a:graphicFrameLocks noGrp="1"/>
          </p:cNvGraphicFramePr>
          <p:nvPr/>
        </p:nvGraphicFramePr>
        <p:xfrm>
          <a:off x="433705" y="4612005"/>
          <a:ext cx="8318500" cy="838200"/>
        </p:xfrm>
        <a:graphic>
          <a:graphicData uri="http://schemas.openxmlformats.org/drawingml/2006/table">
            <a:tbl>
              <a:tblPr/>
              <a:tblGrid>
                <a:gridCol w="346075">
                  <a:extLst>
                    <a:ext uri="{9D8B030D-6E8A-4147-A177-3AD203B41FA5}">
                      <a16:colId xmlns:a16="http://schemas.microsoft.com/office/drawing/2014/main" val="20000"/>
                    </a:ext>
                  </a:extLst>
                </a:gridCol>
                <a:gridCol w="347663">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346075">
                  <a:extLst>
                    <a:ext uri="{9D8B030D-6E8A-4147-A177-3AD203B41FA5}">
                      <a16:colId xmlns:a16="http://schemas.microsoft.com/office/drawing/2014/main" val="20003"/>
                    </a:ext>
                  </a:extLst>
                </a:gridCol>
                <a:gridCol w="347662">
                  <a:extLst>
                    <a:ext uri="{9D8B030D-6E8A-4147-A177-3AD203B41FA5}">
                      <a16:colId xmlns:a16="http://schemas.microsoft.com/office/drawing/2014/main" val="20004"/>
                    </a:ext>
                  </a:extLst>
                </a:gridCol>
                <a:gridCol w="346075">
                  <a:extLst>
                    <a:ext uri="{9D8B030D-6E8A-4147-A177-3AD203B41FA5}">
                      <a16:colId xmlns:a16="http://schemas.microsoft.com/office/drawing/2014/main" val="20005"/>
                    </a:ext>
                  </a:extLst>
                </a:gridCol>
                <a:gridCol w="346075">
                  <a:extLst>
                    <a:ext uri="{9D8B030D-6E8A-4147-A177-3AD203B41FA5}">
                      <a16:colId xmlns:a16="http://schemas.microsoft.com/office/drawing/2014/main" val="20006"/>
                    </a:ext>
                  </a:extLst>
                </a:gridCol>
                <a:gridCol w="347663">
                  <a:extLst>
                    <a:ext uri="{9D8B030D-6E8A-4147-A177-3AD203B41FA5}">
                      <a16:colId xmlns:a16="http://schemas.microsoft.com/office/drawing/2014/main" val="20007"/>
                    </a:ext>
                  </a:extLst>
                </a:gridCol>
                <a:gridCol w="346075">
                  <a:extLst>
                    <a:ext uri="{9D8B030D-6E8A-4147-A177-3AD203B41FA5}">
                      <a16:colId xmlns:a16="http://schemas.microsoft.com/office/drawing/2014/main" val="20008"/>
                    </a:ext>
                  </a:extLst>
                </a:gridCol>
                <a:gridCol w="346075">
                  <a:extLst>
                    <a:ext uri="{9D8B030D-6E8A-4147-A177-3AD203B41FA5}">
                      <a16:colId xmlns:a16="http://schemas.microsoft.com/office/drawing/2014/main" val="20009"/>
                    </a:ext>
                  </a:extLst>
                </a:gridCol>
                <a:gridCol w="347662">
                  <a:extLst>
                    <a:ext uri="{9D8B030D-6E8A-4147-A177-3AD203B41FA5}">
                      <a16:colId xmlns:a16="http://schemas.microsoft.com/office/drawing/2014/main" val="20010"/>
                    </a:ext>
                  </a:extLst>
                </a:gridCol>
                <a:gridCol w="346075">
                  <a:extLst>
                    <a:ext uri="{9D8B030D-6E8A-4147-A177-3AD203B41FA5}">
                      <a16:colId xmlns:a16="http://schemas.microsoft.com/office/drawing/2014/main" val="20011"/>
                    </a:ext>
                  </a:extLst>
                </a:gridCol>
                <a:gridCol w="346075">
                  <a:extLst>
                    <a:ext uri="{9D8B030D-6E8A-4147-A177-3AD203B41FA5}">
                      <a16:colId xmlns:a16="http://schemas.microsoft.com/office/drawing/2014/main" val="20012"/>
                    </a:ext>
                  </a:extLst>
                </a:gridCol>
                <a:gridCol w="347663">
                  <a:extLst>
                    <a:ext uri="{9D8B030D-6E8A-4147-A177-3AD203B41FA5}">
                      <a16:colId xmlns:a16="http://schemas.microsoft.com/office/drawing/2014/main" val="20013"/>
                    </a:ext>
                  </a:extLst>
                </a:gridCol>
                <a:gridCol w="346075">
                  <a:extLst>
                    <a:ext uri="{9D8B030D-6E8A-4147-A177-3AD203B41FA5}">
                      <a16:colId xmlns:a16="http://schemas.microsoft.com/office/drawing/2014/main" val="20014"/>
                    </a:ext>
                  </a:extLst>
                </a:gridCol>
                <a:gridCol w="346075">
                  <a:extLst>
                    <a:ext uri="{9D8B030D-6E8A-4147-A177-3AD203B41FA5}">
                      <a16:colId xmlns:a16="http://schemas.microsoft.com/office/drawing/2014/main" val="20015"/>
                    </a:ext>
                  </a:extLst>
                </a:gridCol>
                <a:gridCol w="347662">
                  <a:extLst>
                    <a:ext uri="{9D8B030D-6E8A-4147-A177-3AD203B41FA5}">
                      <a16:colId xmlns:a16="http://schemas.microsoft.com/office/drawing/2014/main" val="20016"/>
                    </a:ext>
                  </a:extLst>
                </a:gridCol>
                <a:gridCol w="346075">
                  <a:extLst>
                    <a:ext uri="{9D8B030D-6E8A-4147-A177-3AD203B41FA5}">
                      <a16:colId xmlns:a16="http://schemas.microsoft.com/office/drawing/2014/main" val="20017"/>
                    </a:ext>
                  </a:extLst>
                </a:gridCol>
                <a:gridCol w="346075">
                  <a:extLst>
                    <a:ext uri="{9D8B030D-6E8A-4147-A177-3AD203B41FA5}">
                      <a16:colId xmlns:a16="http://schemas.microsoft.com/office/drawing/2014/main" val="20018"/>
                    </a:ext>
                  </a:extLst>
                </a:gridCol>
                <a:gridCol w="347663">
                  <a:extLst>
                    <a:ext uri="{9D8B030D-6E8A-4147-A177-3AD203B41FA5}">
                      <a16:colId xmlns:a16="http://schemas.microsoft.com/office/drawing/2014/main" val="20019"/>
                    </a:ext>
                  </a:extLst>
                </a:gridCol>
                <a:gridCol w="346075">
                  <a:extLst>
                    <a:ext uri="{9D8B030D-6E8A-4147-A177-3AD203B41FA5}">
                      <a16:colId xmlns:a16="http://schemas.microsoft.com/office/drawing/2014/main" val="20020"/>
                    </a:ext>
                  </a:extLst>
                </a:gridCol>
                <a:gridCol w="346075">
                  <a:extLst>
                    <a:ext uri="{9D8B030D-6E8A-4147-A177-3AD203B41FA5}">
                      <a16:colId xmlns:a16="http://schemas.microsoft.com/office/drawing/2014/main" val="20021"/>
                    </a:ext>
                  </a:extLst>
                </a:gridCol>
                <a:gridCol w="347662">
                  <a:extLst>
                    <a:ext uri="{9D8B030D-6E8A-4147-A177-3AD203B41FA5}">
                      <a16:colId xmlns:a16="http://schemas.microsoft.com/office/drawing/2014/main" val="20022"/>
                    </a:ext>
                  </a:extLst>
                </a:gridCol>
                <a:gridCol w="346075">
                  <a:extLst>
                    <a:ext uri="{9D8B030D-6E8A-4147-A177-3AD203B41FA5}">
                      <a16:colId xmlns:a16="http://schemas.microsoft.com/office/drawing/2014/main" val="20023"/>
                    </a:ext>
                  </a:extLst>
                </a:gridCol>
              </a:tblGrid>
              <a:tr h="838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rgbClr val="C00000"/>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a:t>
                      </a: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G</a:t>
                      </a:r>
                    </a:p>
                  </a:txBody>
                  <a:tcPr anchor="ctr"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0"/>
                  </a:ext>
                </a:extLst>
              </a:tr>
            </a:tbl>
          </a:graphicData>
        </a:graphic>
      </p:graphicFrame>
      <p:sp>
        <p:nvSpPr>
          <p:cNvPr id="6" name="Text Box 29"/>
          <p:cNvSpPr txBox="1"/>
          <p:nvPr/>
        </p:nvSpPr>
        <p:spPr>
          <a:xfrm>
            <a:off x="452120" y="5205095"/>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C  A  G A  G C</a:t>
            </a:r>
          </a:p>
        </p:txBody>
      </p:sp>
      <p:sp>
        <p:nvSpPr>
          <p:cNvPr id="7" name="Text Box 29"/>
          <p:cNvSpPr txBox="1"/>
          <p:nvPr/>
        </p:nvSpPr>
        <p:spPr>
          <a:xfrm>
            <a:off x="2212975" y="2014855"/>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A  A  G A  G C</a:t>
            </a:r>
          </a:p>
        </p:txBody>
      </p:sp>
      <p:sp>
        <p:nvSpPr>
          <p:cNvPr id="8" name="Text Box 29"/>
          <p:cNvSpPr txBox="1"/>
          <p:nvPr/>
        </p:nvSpPr>
        <p:spPr>
          <a:xfrm>
            <a:off x="1241425" y="3698240"/>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C  A  G C  G C</a:t>
            </a:r>
          </a:p>
        </p:txBody>
      </p:sp>
      <p:sp>
        <p:nvSpPr>
          <p:cNvPr id="9" name="Text Box 29"/>
          <p:cNvSpPr txBox="1"/>
          <p:nvPr/>
        </p:nvSpPr>
        <p:spPr>
          <a:xfrm>
            <a:off x="1511935" y="5690870"/>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C  A  G A  G C</a:t>
            </a:r>
          </a:p>
        </p:txBody>
      </p:sp>
      <p:cxnSp>
        <p:nvCxnSpPr>
          <p:cNvPr id="10" name="直接箭头连接符 9"/>
          <p:cNvCxnSpPr/>
          <p:nvPr/>
        </p:nvCxnSpPr>
        <p:spPr>
          <a:xfrm>
            <a:off x="1805305" y="606425"/>
            <a:ext cx="246380" cy="4464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788795" y="2383790"/>
            <a:ext cx="246380" cy="4464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1788795" y="4392930"/>
            <a:ext cx="246380" cy="4464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33375" y="222885"/>
            <a:ext cx="1646555" cy="460375"/>
          </a:xfrm>
          <a:prstGeom prst="rect">
            <a:avLst/>
          </a:prstGeom>
          <a:noFill/>
        </p:spPr>
        <p:txBody>
          <a:bodyPr wrap="square" rtlCol="0">
            <a:spAutoFit/>
          </a:bodyPr>
          <a:lstStyle/>
          <a:p>
            <a:r>
              <a:rPr lang="zh-CN" altLang="en-US"/>
              <a:t>启发</a:t>
            </a:r>
          </a:p>
        </p:txBody>
      </p:sp>
      <p:sp>
        <p:nvSpPr>
          <p:cNvPr id="13" name="Text Box 29"/>
          <p:cNvSpPr txBox="1"/>
          <p:nvPr/>
        </p:nvSpPr>
        <p:spPr>
          <a:xfrm>
            <a:off x="2212975" y="6248400"/>
            <a:ext cx="2493010" cy="460375"/>
          </a:xfrm>
          <a:prstGeom prst="rect">
            <a:avLst/>
          </a:prstGeom>
          <a:solidFill>
            <a:schemeClr val="accent1"/>
          </a:solidFill>
          <a:ln w="9525">
            <a:noFill/>
          </a:ln>
        </p:spPr>
        <p:txBody>
          <a:bodyPr wrap="square">
            <a:spAutoFit/>
          </a:bodyPr>
          <a:lstStyle/>
          <a:p>
            <a:pPr>
              <a:buClrTx/>
            </a:pPr>
            <a:r>
              <a:rPr lang="en-US" altLang="zh-CN" dirty="0">
                <a:latin typeface="Arial" panose="020B0604020202020204" pitchFamily="34" charset="0"/>
              </a:rPr>
              <a:t>G C  A  G A  G C</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457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9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72" grpId="0" animBg="1"/>
      <p:bldP spid="82972" grpId="1" animBg="1"/>
      <p:bldP spid="6" grpId="0" animBg="1"/>
      <p:bldP spid="6" grpId="1" animBg="1"/>
      <p:bldP spid="7" grpId="0" animBg="1"/>
      <p:bldP spid="7" grpId="1" animBg="1"/>
      <p:bldP spid="8" grpId="0" animBg="1"/>
      <p:bldP spid="8" grpId="1" animBg="1"/>
      <p:bldP spid="9" grpId="0" animBg="1"/>
      <p:bldP spid="9" grpId="1" animBg="1"/>
      <p:bldP spid="13" grpId="0" animBg="1"/>
      <p:bldP spid="1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43</a:t>
            </a:fld>
            <a:endParaRPr lang="en-US" altLang="zh-CN" sz="1400" dirty="0"/>
          </a:p>
        </p:txBody>
      </p:sp>
      <p:sp>
        <p:nvSpPr>
          <p:cNvPr id="94210" name="Text Box 4"/>
          <p:cNvSpPr txBox="1"/>
          <p:nvPr/>
        </p:nvSpPr>
        <p:spPr>
          <a:xfrm>
            <a:off x="395288" y="908050"/>
            <a:ext cx="7993062" cy="5446395"/>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从以上具体分析可以看出：</a:t>
            </a:r>
          </a:p>
          <a:p>
            <a:pPr marL="342900" indent="-342900">
              <a:buClrTx/>
              <a:buFont typeface="Arial" panose="020B0604020202020204" pitchFamily="34" charset="0"/>
              <a:buChar char="•"/>
            </a:pPr>
            <a:r>
              <a:rPr lang="zh-CN" altLang="en-US" b="1" dirty="0">
                <a:solidFill>
                  <a:srgbClr val="030301"/>
                </a:solidFill>
                <a:latin typeface="Arial" panose="020B0604020202020204" pitchFamily="34" charset="0"/>
              </a:rPr>
              <a:t>如果正在比较的正文中的字符在模式串中不存在，并且也不存在部分匹配，那么应右移的位置数等于</a:t>
            </a:r>
            <a:r>
              <a:rPr lang="zh-CN" altLang="en-US" b="1" dirty="0">
                <a:solidFill>
                  <a:srgbClr val="FF0000"/>
                </a:solidFill>
                <a:latin typeface="Arial" panose="020B0604020202020204" pitchFamily="34" charset="0"/>
              </a:rPr>
              <a:t>模式的长度</a:t>
            </a:r>
            <a:r>
              <a:rPr lang="zh-CN" altLang="en-US" b="1" dirty="0">
                <a:solidFill>
                  <a:srgbClr val="030301"/>
                </a:solidFill>
                <a:latin typeface="Arial" panose="020B0604020202020204" pitchFamily="34" charset="0"/>
              </a:rPr>
              <a:t>（如第一种情况）</a:t>
            </a:r>
          </a:p>
          <a:p>
            <a:pPr marL="342900" indent="-342900">
              <a:buClrTx/>
              <a:buFont typeface="Arial" panose="020B0604020202020204" pitchFamily="34" charset="0"/>
              <a:buChar char="•"/>
            </a:pPr>
            <a:endParaRPr lang="zh-CN" altLang="en-US" b="1" dirty="0">
              <a:solidFill>
                <a:srgbClr val="030301"/>
              </a:solidFill>
              <a:latin typeface="Arial" panose="020B0604020202020204" pitchFamily="34" charset="0"/>
            </a:endParaRPr>
          </a:p>
          <a:p>
            <a:pPr marL="342900" indent="-342900">
              <a:buClrTx/>
              <a:buFont typeface="Arial" panose="020B0604020202020204" pitchFamily="34" charset="0"/>
              <a:buChar char="•"/>
            </a:pPr>
            <a:r>
              <a:rPr lang="zh-CN" altLang="en-US" b="1" dirty="0">
                <a:solidFill>
                  <a:srgbClr val="030301"/>
                </a:solidFill>
                <a:latin typeface="Arial" panose="020B0604020202020204" pitchFamily="34" charset="0"/>
              </a:rPr>
              <a:t>如果正在比较的正文中的字符在模式串中不存在，但</a:t>
            </a:r>
            <a:r>
              <a:rPr lang="zh-CN" altLang="en-US" b="1" dirty="0">
                <a:solidFill>
                  <a:srgbClr val="FF0000"/>
                </a:solidFill>
                <a:latin typeface="Arial" panose="020B0604020202020204" pitchFamily="34" charset="0"/>
              </a:rPr>
              <a:t>存在部分匹配</a:t>
            </a:r>
            <a:r>
              <a:rPr lang="zh-CN" altLang="en-US" b="1" dirty="0">
                <a:solidFill>
                  <a:srgbClr val="030301"/>
                </a:solidFill>
                <a:latin typeface="Arial" panose="020B0604020202020204" pitchFamily="34" charset="0"/>
              </a:rPr>
              <a:t>，则右移的位置数等于模式串长度减去部分匹配的字符个数（如第二种情况）</a:t>
            </a:r>
          </a:p>
          <a:p>
            <a:pPr marL="342900" indent="-342900">
              <a:buClrTx/>
              <a:buFont typeface="Arial" panose="020B0604020202020204" pitchFamily="34" charset="0"/>
              <a:buChar char="•"/>
            </a:pPr>
            <a:endParaRPr lang="zh-CN" altLang="en-US" b="1" dirty="0">
              <a:solidFill>
                <a:srgbClr val="030301"/>
              </a:solidFill>
              <a:latin typeface="Arial" panose="020B0604020202020204" pitchFamily="34" charset="0"/>
            </a:endParaRPr>
          </a:p>
          <a:p>
            <a:pPr marL="342900" indent="-342900">
              <a:buClrTx/>
              <a:buFont typeface="Arial" panose="020B0604020202020204" pitchFamily="34" charset="0"/>
              <a:buChar char="•"/>
            </a:pPr>
            <a:r>
              <a:rPr lang="zh-CN" altLang="en-US" b="1" dirty="0">
                <a:solidFill>
                  <a:srgbClr val="030301"/>
                </a:solidFill>
                <a:latin typeface="Arial" panose="020B0604020202020204" pitchFamily="34" charset="0"/>
              </a:rPr>
              <a:t>如果正在比较的正文中的字符出现在模式串中，则右移的位置数应为从模式串的最</a:t>
            </a:r>
            <a:r>
              <a:rPr lang="zh-CN" altLang="en-US" b="1" dirty="0">
                <a:solidFill>
                  <a:srgbClr val="FF0000"/>
                </a:solidFill>
                <a:latin typeface="Arial" panose="020B0604020202020204" pitchFamily="34" charset="0"/>
              </a:rPr>
              <a:t>右端到模式串中该字符的距离</a:t>
            </a:r>
            <a:r>
              <a:rPr lang="zh-CN" altLang="en-US" b="1" dirty="0">
                <a:solidFill>
                  <a:srgbClr val="030301"/>
                </a:solidFill>
                <a:latin typeface="Arial" panose="020B0604020202020204" pitchFamily="34" charset="0"/>
              </a:rPr>
              <a:t>（如第三种情况）</a:t>
            </a:r>
          </a:p>
        </p:txBody>
      </p:sp>
      <p:sp>
        <p:nvSpPr>
          <p:cNvPr id="24781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44</a:t>
            </a:fld>
            <a:endParaRPr lang="en-US" altLang="zh-CN" sz="1400" dirty="0"/>
          </a:p>
        </p:txBody>
      </p:sp>
      <p:sp>
        <p:nvSpPr>
          <p:cNvPr id="96258" name="Text Box 4"/>
          <p:cNvSpPr txBox="1"/>
          <p:nvPr/>
        </p:nvSpPr>
        <p:spPr>
          <a:xfrm>
            <a:off x="611188" y="1195070"/>
            <a:ext cx="7777162" cy="4754245"/>
          </a:xfrm>
          <a:prstGeom prst="rect">
            <a:avLst/>
          </a:prstGeom>
          <a:noFill/>
          <a:ln w="9525">
            <a:noFill/>
          </a:ln>
        </p:spPr>
        <p:txBody>
          <a:bodyPr>
            <a:spAutoFit/>
          </a:bodyPr>
          <a:lstStyle/>
          <a:p>
            <a:pPr>
              <a:buClrTx/>
            </a:pPr>
            <a:r>
              <a:rPr lang="en-US" altLang="zh-CN" b="1">
                <a:solidFill>
                  <a:srgbClr val="030301"/>
                </a:solidFill>
                <a:latin typeface="Arial" panose="020B0604020202020204" pitchFamily="34" charset="0"/>
              </a:rPr>
              <a:t>       </a:t>
            </a:r>
            <a:r>
              <a:rPr lang="zh-CN" altLang="en-US" b="1">
                <a:solidFill>
                  <a:srgbClr val="030301"/>
                </a:solidFill>
                <a:latin typeface="Arial" panose="020B0604020202020204" pitchFamily="34" charset="0"/>
              </a:rPr>
              <a:t>具体实现该算法时，可以设计一张表，表中包含每一个可能比较的字符元素，</a:t>
            </a:r>
            <a:r>
              <a:rPr lang="zh-CN" altLang="en-US" b="1">
                <a:solidFill>
                  <a:srgbClr val="FF0000"/>
                </a:solidFill>
                <a:latin typeface="Arial" panose="020B0604020202020204" pitchFamily="34" charset="0"/>
              </a:rPr>
              <a:t>表中的每个记录存贮的是相应字符的移动计数</a:t>
            </a:r>
            <a:r>
              <a:rPr lang="zh-CN" altLang="en-US" b="1">
                <a:solidFill>
                  <a:srgbClr val="030301"/>
                </a:solidFill>
                <a:latin typeface="Arial" panose="020B0604020202020204" pitchFamily="34" charset="0"/>
              </a:rPr>
              <a:t>。</a:t>
            </a:r>
          </a:p>
          <a:p>
            <a:pPr lvl="1">
              <a:buClrTx/>
              <a:buChar char="•"/>
            </a:pPr>
            <a:r>
              <a:rPr lang="zh-CN" altLang="en-US" b="1">
                <a:solidFill>
                  <a:srgbClr val="030301"/>
                </a:solidFill>
                <a:latin typeface="Arial" panose="020B0604020202020204" pitchFamily="34" charset="0"/>
              </a:rPr>
              <a:t>对于那些未出现在模式串中的字符，移动的计数等于模式串的长度。</a:t>
            </a:r>
          </a:p>
          <a:p>
            <a:pPr lvl="1">
              <a:buClrTx/>
              <a:buChar char="•"/>
            </a:pPr>
            <a:r>
              <a:rPr lang="zh-CN" altLang="en-US" b="1">
                <a:solidFill>
                  <a:srgbClr val="030301"/>
                </a:solidFill>
                <a:latin typeface="Arial" panose="020B0604020202020204" pitchFamily="34" charset="0"/>
              </a:rPr>
              <a:t>对于那些出现在模式串中的字符，移动的计数等于从模式串中最右端到该字符在模式串中出现的最右位置之间的距离，</a:t>
            </a:r>
          </a:p>
          <a:p>
            <a:pPr lvl="1">
              <a:buClrTx/>
              <a:buChar char="•"/>
            </a:pPr>
            <a:r>
              <a:rPr lang="zh-CN" altLang="en-US" b="1">
                <a:solidFill>
                  <a:srgbClr val="030301"/>
                </a:solidFill>
                <a:latin typeface="Arial" panose="020B0604020202020204" pitchFamily="34" charset="0"/>
              </a:rPr>
              <a:t>在模式匹配的过程中，当出现字符不匹配的情况下，只需查一下该表，就可以知道右移的位置数。</a:t>
            </a:r>
          </a:p>
          <a:p>
            <a:pPr>
              <a:buClrTx/>
            </a:pPr>
            <a:endParaRPr lang="en-US" altLang="zh-CN" sz="1800">
              <a:latin typeface="Arial" panose="020B0604020202020204" pitchFamily="34" charset="0"/>
            </a:endParaRPr>
          </a:p>
        </p:txBody>
      </p:sp>
      <p:sp>
        <p:nvSpPr>
          <p:cNvPr id="24781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2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2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45</a:t>
            </a:fld>
            <a:endParaRPr lang="en-US" altLang="zh-CN" sz="1400" dirty="0"/>
          </a:p>
        </p:txBody>
      </p:sp>
      <p:sp>
        <p:nvSpPr>
          <p:cNvPr id="98307" name="Rectangle 3"/>
          <p:cNvSpPr>
            <a:spLocks noGrp="1" noRot="1"/>
          </p:cNvSpPr>
          <p:nvPr>
            <p:ph idx="1"/>
          </p:nvPr>
        </p:nvSpPr>
        <p:spPr/>
        <p:txBody>
          <a:bodyPr vert="horz" wrap="square" lIns="91440" tIns="45720" rIns="91440" bIns="45720" anchor="t"/>
          <a:lstStyle/>
          <a:p>
            <a:pPr eaLnBrk="1" hangingPunct="1">
              <a:lnSpc>
                <a:spcPct val="150000"/>
              </a:lnSpc>
            </a:pPr>
            <a:r>
              <a:rPr lang="en-US" altLang="zh-CN" sz="2400" dirty="0"/>
              <a:t>Bad character</a:t>
            </a:r>
          </a:p>
          <a:p>
            <a:pPr lvl="1" eaLnBrk="1" hangingPunct="1">
              <a:lnSpc>
                <a:spcPct val="150000"/>
              </a:lnSpc>
            </a:pPr>
            <a:r>
              <a:rPr lang="zh-CN" altLang="en-US" sz="2000" dirty="0"/>
              <a:t>计算出</a:t>
            </a:r>
            <a:r>
              <a:rPr lang="zh-CN" altLang="en-US" sz="2000" dirty="0">
                <a:solidFill>
                  <a:srgbClr val="FF0000"/>
                </a:solidFill>
              </a:rPr>
              <a:t>字符集中每个字符的偏移值</a:t>
            </a:r>
            <a:r>
              <a:rPr lang="en-US" altLang="zh-CN" sz="2000" dirty="0" err="1">
                <a:solidFill>
                  <a:srgbClr val="FF0000"/>
                </a:solidFill>
              </a:rPr>
              <a:t>bmBC</a:t>
            </a:r>
            <a:r>
              <a:rPr lang="en-US" altLang="zh-CN" sz="2000" dirty="0">
                <a:solidFill>
                  <a:srgbClr val="FF0000"/>
                </a:solidFill>
              </a:rPr>
              <a:t>[</a:t>
            </a:r>
            <a:r>
              <a:rPr lang="en-US" altLang="zh-CN" sz="2000" dirty="0" err="1">
                <a:solidFill>
                  <a:srgbClr val="FF0000"/>
                </a:solidFill>
              </a:rPr>
              <a:t>i</a:t>
            </a:r>
            <a:r>
              <a:rPr lang="en-US" altLang="zh-CN" sz="2000" dirty="0">
                <a:solidFill>
                  <a:srgbClr val="FF0000"/>
                </a:solidFill>
              </a:rPr>
              <a:t>],</a:t>
            </a:r>
            <a:r>
              <a:rPr lang="zh-CN" altLang="en-US" sz="2000" dirty="0"/>
              <a:t>对于未在模式中出现的字符，偏移为</a:t>
            </a:r>
            <a:r>
              <a:rPr lang="en-US" altLang="zh-CN" sz="2000" dirty="0"/>
              <a:t>m,</a:t>
            </a:r>
            <a:r>
              <a:rPr lang="zh-CN" altLang="en-US" sz="2000" dirty="0"/>
              <a:t>否则取</a:t>
            </a:r>
            <a:r>
              <a:rPr lang="en-US" altLang="zh-CN" sz="2000" dirty="0"/>
              <a:t>m-i-1,(</a:t>
            </a:r>
            <a:r>
              <a:rPr lang="zh-CN" altLang="en-US" sz="2000" dirty="0"/>
              <a:t>其中</a:t>
            </a:r>
            <a:r>
              <a:rPr lang="en-US" altLang="zh-CN" sz="2000" dirty="0" err="1"/>
              <a:t>i</a:t>
            </a:r>
            <a:r>
              <a:rPr lang="zh-CN" altLang="en-US" sz="2000" dirty="0"/>
              <a:t>为字符在模式中的位置</a:t>
            </a:r>
            <a:r>
              <a:rPr lang="en-US" altLang="zh-CN" sz="2000" dirty="0"/>
              <a:t>),</a:t>
            </a:r>
            <a:r>
              <a:rPr lang="zh-CN" altLang="en-US" sz="2000" dirty="0"/>
              <a:t>即取此字符在模式中出现的最右位置和文本中此字符位置对齐；</a:t>
            </a:r>
            <a:endParaRPr lang="en-US" altLang="zh-CN" sz="2000" dirty="0"/>
          </a:p>
          <a:p>
            <a:pPr lvl="1" eaLnBrk="1" hangingPunct="1">
              <a:lnSpc>
                <a:spcPct val="150000"/>
              </a:lnSpc>
            </a:pPr>
            <a:r>
              <a:rPr lang="zh-CN" altLang="en-US" sz="2000" dirty="0"/>
              <a:t>若字符未在模式中出现，则可将模式向前推</a:t>
            </a:r>
            <a:r>
              <a:rPr lang="en-US" altLang="zh-CN" sz="2000" dirty="0"/>
              <a:t>m</a:t>
            </a:r>
            <a:r>
              <a:rPr lang="zh-CN" altLang="en-US" sz="2000" dirty="0"/>
              <a:t>个字符位置。但是，在某些情况下这种偏移可能是负的。</a:t>
            </a:r>
            <a:r>
              <a:rPr lang="zh-CN" altLang="en-US" sz="2000" dirty="0">
                <a:solidFill>
                  <a:srgbClr val="FF0000"/>
                </a:solidFill>
              </a:rPr>
              <a:t>实际的偏移值取得是两者中值较大者。</a:t>
            </a:r>
          </a:p>
        </p:txBody>
      </p:sp>
      <p:sp>
        <p:nvSpPr>
          <p:cNvPr id="24781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46</a:t>
            </a:fld>
            <a:endParaRPr lang="en-US" altLang="zh-CN" sz="1400" dirty="0"/>
          </a:p>
        </p:txBody>
      </p:sp>
      <p:pic>
        <p:nvPicPr>
          <p:cNvPr id="250884" name="Picture 4" descr="figure 13.3"/>
          <p:cNvPicPr>
            <a:picLocks noChangeAspect="1"/>
          </p:cNvPicPr>
          <p:nvPr/>
        </p:nvPicPr>
        <p:blipFill>
          <a:blip r:embed="rId3"/>
          <a:stretch>
            <a:fillRect/>
          </a:stretch>
        </p:blipFill>
        <p:spPr>
          <a:xfrm>
            <a:off x="250825" y="1125538"/>
            <a:ext cx="6229350" cy="2087562"/>
          </a:xfrm>
          <a:prstGeom prst="rect">
            <a:avLst/>
          </a:prstGeom>
          <a:noFill/>
          <a:ln w="9525">
            <a:noFill/>
          </a:ln>
        </p:spPr>
      </p:pic>
      <p:pic>
        <p:nvPicPr>
          <p:cNvPr id="250885" name="Picture 5" descr="figure 13.4"/>
          <p:cNvPicPr>
            <a:picLocks noChangeAspect="1"/>
          </p:cNvPicPr>
          <p:nvPr/>
        </p:nvPicPr>
        <p:blipFill>
          <a:blip r:embed="rId4"/>
          <a:stretch>
            <a:fillRect/>
          </a:stretch>
        </p:blipFill>
        <p:spPr>
          <a:xfrm>
            <a:off x="273050" y="3716338"/>
            <a:ext cx="5954713" cy="2178050"/>
          </a:xfrm>
          <a:prstGeom prst="rect">
            <a:avLst/>
          </a:prstGeom>
          <a:noFill/>
          <a:ln w="9525">
            <a:noFill/>
          </a:ln>
        </p:spPr>
      </p:pic>
      <p:sp>
        <p:nvSpPr>
          <p:cNvPr id="250888" name="AutoShape 8"/>
          <p:cNvSpPr/>
          <p:nvPr/>
        </p:nvSpPr>
        <p:spPr>
          <a:xfrm>
            <a:off x="5638800" y="1628775"/>
            <a:ext cx="3276600" cy="914400"/>
          </a:xfrm>
          <a:prstGeom prst="borderCallout1">
            <a:avLst>
              <a:gd name="adj1" fmla="val 108333"/>
              <a:gd name="adj2" fmla="val 96514"/>
              <a:gd name="adj3" fmla="val 108333"/>
              <a:gd name="adj4" fmla="val -28343"/>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bad-character shift, b occurs in </a:t>
            </a:r>
            <a:r>
              <a:rPr lang="en-US" altLang="zh-CN" sz="1800" i="1" dirty="0">
                <a:solidFill>
                  <a:srgbClr val="000000"/>
                </a:solidFill>
                <a:latin typeface="Arial" panose="020B0604020202020204" pitchFamily="34" charset="0"/>
              </a:rPr>
              <a:t>x</a:t>
            </a:r>
            <a:r>
              <a:rPr lang="en-US" altLang="zh-CN" sz="1800" dirty="0">
                <a:solidFill>
                  <a:srgbClr val="000000"/>
                </a:solidFill>
                <a:latin typeface="Arial" panose="020B0604020202020204" pitchFamily="34" charset="0"/>
              </a:rPr>
              <a:t>.</a:t>
            </a:r>
          </a:p>
          <a:p>
            <a:pPr algn="ctr">
              <a:spcBef>
                <a:spcPct val="0"/>
              </a:spcBef>
              <a:buClrTx/>
            </a:pPr>
            <a:endParaRPr lang="en-US" altLang="zh-CN" sz="1800" dirty="0">
              <a:solidFill>
                <a:srgbClr val="000000"/>
              </a:solidFill>
              <a:latin typeface="Arial" panose="020B0604020202020204" pitchFamily="34" charset="0"/>
            </a:endParaRPr>
          </a:p>
        </p:txBody>
      </p:sp>
      <p:sp>
        <p:nvSpPr>
          <p:cNvPr id="250889" name="AutoShape 9"/>
          <p:cNvSpPr/>
          <p:nvPr/>
        </p:nvSpPr>
        <p:spPr>
          <a:xfrm>
            <a:off x="5638800" y="4149725"/>
            <a:ext cx="3276600" cy="914400"/>
          </a:xfrm>
          <a:prstGeom prst="borderCallout1">
            <a:avLst>
              <a:gd name="adj1" fmla="val 108333"/>
              <a:gd name="adj2" fmla="val 96514"/>
              <a:gd name="adj3" fmla="val 108333"/>
              <a:gd name="adj4" fmla="val -33042"/>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bad-character shift, </a:t>
            </a:r>
            <a:r>
              <a:rPr lang="en-US" altLang="zh-CN" sz="1800" i="1" dirty="0">
                <a:solidFill>
                  <a:srgbClr val="000000"/>
                </a:solidFill>
                <a:latin typeface="Arial" panose="020B0604020202020204" pitchFamily="34" charset="0"/>
              </a:rPr>
              <a:t>b</a:t>
            </a:r>
            <a:r>
              <a:rPr lang="en-US" altLang="zh-CN" sz="1800" dirty="0">
                <a:solidFill>
                  <a:srgbClr val="000000"/>
                </a:solidFill>
                <a:latin typeface="Arial" panose="020B0604020202020204" pitchFamily="34" charset="0"/>
              </a:rPr>
              <a:t> does not occur in </a:t>
            </a:r>
            <a:r>
              <a:rPr lang="en-US" altLang="zh-CN" sz="1800" i="1" dirty="0">
                <a:solidFill>
                  <a:srgbClr val="000000"/>
                </a:solidFill>
                <a:latin typeface="Arial" panose="020B0604020202020204" pitchFamily="34" charset="0"/>
              </a:rPr>
              <a:t>x</a:t>
            </a:r>
            <a:r>
              <a:rPr lang="en-US" altLang="zh-CN" sz="1800" dirty="0">
                <a:solidFill>
                  <a:srgbClr val="000000"/>
                </a:solidFill>
                <a:latin typeface="Arial" panose="020B0604020202020204" pitchFamily="34" charset="0"/>
              </a:rPr>
              <a:t>.</a:t>
            </a:r>
          </a:p>
          <a:p>
            <a:pPr algn="ctr">
              <a:spcBef>
                <a:spcPct val="0"/>
              </a:spcBef>
              <a:buClrTx/>
            </a:pPr>
            <a:endParaRPr lang="en-US" altLang="zh-CN" sz="1800" dirty="0">
              <a:solidFill>
                <a:srgbClr val="000000"/>
              </a:solidFill>
              <a:latin typeface="Arial" panose="020B0604020202020204" pitchFamily="34" charset="0"/>
            </a:endParaRPr>
          </a:p>
        </p:txBody>
      </p:sp>
      <p:sp>
        <p:nvSpPr>
          <p:cNvPr id="24781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250884"/>
                                        </p:tgtEl>
                                        <p:attrNameLst>
                                          <p:attrName>style.visibility</p:attrName>
                                        </p:attrNameLst>
                                      </p:cBhvr>
                                      <p:to>
                                        <p:strVal val="visible"/>
                                      </p:to>
                                    </p:set>
                                    <p:anim calcmode="lin" valueType="num">
                                      <p:cBhvr additive="base">
                                        <p:cTn id="7" dur="500" fill="hold"/>
                                        <p:tgtEl>
                                          <p:spTgt spid="250884"/>
                                        </p:tgtEl>
                                        <p:attrNameLst>
                                          <p:attrName>ppt_x</p:attrName>
                                        </p:attrNameLst>
                                      </p:cBhvr>
                                      <p:tavLst>
                                        <p:tav tm="0">
                                          <p:val>
                                            <p:strVal val="#ppt_x"/>
                                          </p:val>
                                        </p:tav>
                                        <p:tav tm="100000">
                                          <p:val>
                                            <p:strVal val="#ppt_x"/>
                                          </p:val>
                                        </p:tav>
                                      </p:tavLst>
                                    </p:anim>
                                    <p:anim calcmode="lin" valueType="num">
                                      <p:cBhvr additive="base">
                                        <p:cTn id="8" dur="500" fill="hold"/>
                                        <p:tgtEl>
                                          <p:spTgt spid="2508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0888"/>
                                        </p:tgtEl>
                                        <p:attrNameLst>
                                          <p:attrName>style.visibility</p:attrName>
                                        </p:attrNameLst>
                                      </p:cBhvr>
                                      <p:to>
                                        <p:strVal val="visible"/>
                                      </p:to>
                                    </p:set>
                                    <p:anim calcmode="lin" valueType="num">
                                      <p:cBhvr additive="base">
                                        <p:cTn id="13" dur="500" fill="hold"/>
                                        <p:tgtEl>
                                          <p:spTgt spid="250888"/>
                                        </p:tgtEl>
                                        <p:attrNameLst>
                                          <p:attrName>ppt_x</p:attrName>
                                        </p:attrNameLst>
                                      </p:cBhvr>
                                      <p:tavLst>
                                        <p:tav tm="0">
                                          <p:val>
                                            <p:strVal val="1+#ppt_w/2"/>
                                          </p:val>
                                        </p:tav>
                                        <p:tav tm="100000">
                                          <p:val>
                                            <p:strVal val="#ppt_x"/>
                                          </p:val>
                                        </p:tav>
                                      </p:tavLst>
                                    </p:anim>
                                    <p:anim calcmode="lin" valueType="num">
                                      <p:cBhvr additive="base">
                                        <p:cTn id="14" dur="500" fill="hold"/>
                                        <p:tgtEl>
                                          <p:spTgt spid="2508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0885"/>
                                        </p:tgtEl>
                                        <p:attrNameLst>
                                          <p:attrName>style.visibility</p:attrName>
                                        </p:attrNameLst>
                                      </p:cBhvr>
                                      <p:to>
                                        <p:strVal val="visible"/>
                                      </p:to>
                                    </p:set>
                                    <p:anim calcmode="lin" valueType="num">
                                      <p:cBhvr additive="base">
                                        <p:cTn id="19" dur="500" fill="hold"/>
                                        <p:tgtEl>
                                          <p:spTgt spid="250885"/>
                                        </p:tgtEl>
                                        <p:attrNameLst>
                                          <p:attrName>ppt_x</p:attrName>
                                        </p:attrNameLst>
                                      </p:cBhvr>
                                      <p:tavLst>
                                        <p:tav tm="0">
                                          <p:val>
                                            <p:strVal val="#ppt_x"/>
                                          </p:val>
                                        </p:tav>
                                        <p:tav tm="100000">
                                          <p:val>
                                            <p:strVal val="#ppt_x"/>
                                          </p:val>
                                        </p:tav>
                                      </p:tavLst>
                                    </p:anim>
                                    <p:anim calcmode="lin" valueType="num">
                                      <p:cBhvr additive="base">
                                        <p:cTn id="20" dur="500" fill="hold"/>
                                        <p:tgtEl>
                                          <p:spTgt spid="2508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50889"/>
                                        </p:tgtEl>
                                        <p:attrNameLst>
                                          <p:attrName>style.visibility</p:attrName>
                                        </p:attrNameLst>
                                      </p:cBhvr>
                                      <p:to>
                                        <p:strVal val="visible"/>
                                      </p:to>
                                    </p:set>
                                    <p:anim calcmode="lin" valueType="num">
                                      <p:cBhvr additive="base">
                                        <p:cTn id="25" dur="500" fill="hold"/>
                                        <p:tgtEl>
                                          <p:spTgt spid="250889"/>
                                        </p:tgtEl>
                                        <p:attrNameLst>
                                          <p:attrName>ppt_x</p:attrName>
                                        </p:attrNameLst>
                                      </p:cBhvr>
                                      <p:tavLst>
                                        <p:tav tm="0">
                                          <p:val>
                                            <p:strVal val="1+#ppt_w/2"/>
                                          </p:val>
                                        </p:tav>
                                        <p:tav tm="100000">
                                          <p:val>
                                            <p:strVal val="#ppt_x"/>
                                          </p:val>
                                        </p:tav>
                                      </p:tavLst>
                                    </p:anim>
                                    <p:anim calcmode="lin" valueType="num">
                                      <p:cBhvr additive="base">
                                        <p:cTn id="26" dur="500" fill="hold"/>
                                        <p:tgtEl>
                                          <p:spTgt spid="2508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8" grpId="0" animBg="1"/>
      <p:bldP spid="25088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47</a:t>
            </a:fld>
            <a:endParaRPr lang="en-US" altLang="zh-CN" sz="1400" dirty="0"/>
          </a:p>
        </p:txBody>
      </p:sp>
      <p:pic>
        <p:nvPicPr>
          <p:cNvPr id="251908" name="Picture 4" descr="figure 13.1"/>
          <p:cNvPicPr>
            <a:picLocks noChangeAspect="1"/>
          </p:cNvPicPr>
          <p:nvPr/>
        </p:nvPicPr>
        <p:blipFill>
          <a:blip r:embed="rId3"/>
          <a:stretch>
            <a:fillRect/>
          </a:stretch>
        </p:blipFill>
        <p:spPr>
          <a:xfrm>
            <a:off x="0" y="981075"/>
            <a:ext cx="6137275" cy="2232025"/>
          </a:xfrm>
          <a:prstGeom prst="rect">
            <a:avLst/>
          </a:prstGeom>
          <a:noFill/>
          <a:ln w="9525">
            <a:noFill/>
          </a:ln>
        </p:spPr>
      </p:pic>
      <p:pic>
        <p:nvPicPr>
          <p:cNvPr id="251909" name="Picture 5" descr="figure 13.2"/>
          <p:cNvPicPr>
            <a:picLocks noChangeAspect="1"/>
          </p:cNvPicPr>
          <p:nvPr/>
        </p:nvPicPr>
        <p:blipFill>
          <a:blip r:embed="rId4"/>
          <a:stretch>
            <a:fillRect/>
          </a:stretch>
        </p:blipFill>
        <p:spPr>
          <a:xfrm>
            <a:off x="0" y="3311525"/>
            <a:ext cx="6343650" cy="2278063"/>
          </a:xfrm>
          <a:prstGeom prst="rect">
            <a:avLst/>
          </a:prstGeom>
          <a:noFill/>
          <a:ln w="9525">
            <a:noFill/>
          </a:ln>
        </p:spPr>
      </p:pic>
      <p:sp>
        <p:nvSpPr>
          <p:cNvPr id="251910" name="AutoShape 6"/>
          <p:cNvSpPr/>
          <p:nvPr/>
        </p:nvSpPr>
        <p:spPr>
          <a:xfrm>
            <a:off x="5867400" y="1412875"/>
            <a:ext cx="3276600" cy="914400"/>
          </a:xfrm>
          <a:prstGeom prst="borderCallout1">
            <a:avLst>
              <a:gd name="adj1" fmla="val 108333"/>
              <a:gd name="adj2" fmla="val 96514"/>
              <a:gd name="adj3" fmla="val 108333"/>
              <a:gd name="adj4" fmla="val -28343"/>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good-suffix shift, </a:t>
            </a:r>
            <a:r>
              <a:rPr lang="en-US" altLang="zh-CN" sz="1800" i="1" dirty="0">
                <a:solidFill>
                  <a:srgbClr val="000000"/>
                </a:solidFill>
                <a:latin typeface="Arial" panose="020B0604020202020204" pitchFamily="34" charset="0"/>
              </a:rPr>
              <a:t>u</a:t>
            </a:r>
            <a:r>
              <a:rPr lang="en-US" altLang="zh-CN" sz="1800" dirty="0">
                <a:solidFill>
                  <a:srgbClr val="000000"/>
                </a:solidFill>
                <a:latin typeface="Arial" panose="020B0604020202020204" pitchFamily="34" charset="0"/>
              </a:rPr>
              <a:t> re-occurs preceded by a character </a:t>
            </a:r>
            <a:r>
              <a:rPr lang="en-US" altLang="zh-CN" sz="1800" i="1" dirty="0">
                <a:solidFill>
                  <a:srgbClr val="000000"/>
                </a:solidFill>
                <a:latin typeface="Arial" panose="020B0604020202020204" pitchFamily="34" charset="0"/>
              </a:rPr>
              <a:t>c</a:t>
            </a:r>
            <a:r>
              <a:rPr lang="en-US" altLang="zh-CN" sz="1800" dirty="0">
                <a:solidFill>
                  <a:srgbClr val="000000"/>
                </a:solidFill>
                <a:latin typeface="Arial" panose="020B0604020202020204" pitchFamily="34" charset="0"/>
              </a:rPr>
              <a:t> different from </a:t>
            </a:r>
            <a:r>
              <a:rPr lang="en-US" altLang="zh-CN" sz="1800" i="1" dirty="0">
                <a:solidFill>
                  <a:srgbClr val="000000"/>
                </a:solidFill>
                <a:latin typeface="Arial" panose="020B0604020202020204" pitchFamily="34" charset="0"/>
              </a:rPr>
              <a:t>a</a:t>
            </a:r>
            <a:r>
              <a:rPr lang="en-US" altLang="zh-CN" sz="1800" dirty="0">
                <a:solidFill>
                  <a:srgbClr val="000000"/>
                </a:solidFill>
                <a:latin typeface="Arial" panose="020B0604020202020204" pitchFamily="34" charset="0"/>
              </a:rPr>
              <a:t>.</a:t>
            </a:r>
            <a:endParaRPr lang="en-US" altLang="zh-CN" sz="1800" dirty="0">
              <a:latin typeface="Arial" panose="020B0604020202020204" pitchFamily="34" charset="0"/>
            </a:endParaRPr>
          </a:p>
        </p:txBody>
      </p:sp>
      <p:sp>
        <p:nvSpPr>
          <p:cNvPr id="251912" name="AutoShape 8"/>
          <p:cNvSpPr/>
          <p:nvPr/>
        </p:nvSpPr>
        <p:spPr>
          <a:xfrm>
            <a:off x="5867400" y="4027488"/>
            <a:ext cx="3276600" cy="914400"/>
          </a:xfrm>
          <a:prstGeom prst="borderCallout1">
            <a:avLst>
              <a:gd name="adj1" fmla="val 108333"/>
              <a:gd name="adj2" fmla="val 96514"/>
              <a:gd name="adj3" fmla="val 108333"/>
              <a:gd name="adj4" fmla="val -28343"/>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good-suffix shift, only a suffix of </a:t>
            </a:r>
            <a:r>
              <a:rPr lang="en-US" altLang="zh-CN" sz="1800" i="1" dirty="0">
                <a:solidFill>
                  <a:srgbClr val="000000"/>
                </a:solidFill>
                <a:latin typeface="Arial" panose="020B0604020202020204" pitchFamily="34" charset="0"/>
              </a:rPr>
              <a:t>u</a:t>
            </a:r>
            <a:r>
              <a:rPr lang="en-US" altLang="zh-CN" sz="1800" dirty="0">
                <a:solidFill>
                  <a:srgbClr val="000000"/>
                </a:solidFill>
                <a:latin typeface="Arial" panose="020B0604020202020204" pitchFamily="34" charset="0"/>
              </a:rPr>
              <a:t> re-occurs in </a:t>
            </a:r>
            <a:r>
              <a:rPr lang="en-US" altLang="zh-CN" sz="1800" i="1" dirty="0">
                <a:solidFill>
                  <a:srgbClr val="000000"/>
                </a:solidFill>
                <a:latin typeface="Arial" panose="020B0604020202020204" pitchFamily="34" charset="0"/>
              </a:rPr>
              <a:t>x</a:t>
            </a:r>
            <a:r>
              <a:rPr lang="en-US" altLang="zh-CN" sz="1800" dirty="0">
                <a:solidFill>
                  <a:srgbClr val="000000"/>
                </a:solidFill>
                <a:latin typeface="Arial" panose="020B0604020202020204" pitchFamily="34" charset="0"/>
              </a:rPr>
              <a:t>.</a:t>
            </a:r>
          </a:p>
        </p:txBody>
      </p:sp>
      <p:sp>
        <p:nvSpPr>
          <p:cNvPr id="24781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1908"/>
                                        </p:tgtEl>
                                        <p:attrNameLst>
                                          <p:attrName>style.visibility</p:attrName>
                                        </p:attrNameLst>
                                      </p:cBhvr>
                                      <p:to>
                                        <p:strVal val="visible"/>
                                      </p:to>
                                    </p:set>
                                    <p:anim calcmode="lin" valueType="num">
                                      <p:cBhvr additive="base">
                                        <p:cTn id="7" dur="500" fill="hold"/>
                                        <p:tgtEl>
                                          <p:spTgt spid="251908"/>
                                        </p:tgtEl>
                                        <p:attrNameLst>
                                          <p:attrName>ppt_x</p:attrName>
                                        </p:attrNameLst>
                                      </p:cBhvr>
                                      <p:tavLst>
                                        <p:tav tm="0">
                                          <p:val>
                                            <p:strVal val="#ppt_x"/>
                                          </p:val>
                                        </p:tav>
                                        <p:tav tm="100000">
                                          <p:val>
                                            <p:strVal val="#ppt_x"/>
                                          </p:val>
                                        </p:tav>
                                      </p:tavLst>
                                    </p:anim>
                                    <p:anim calcmode="lin" valueType="num">
                                      <p:cBhvr additive="base">
                                        <p:cTn id="8" dur="500" fill="hold"/>
                                        <p:tgtEl>
                                          <p:spTgt spid="2519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1910"/>
                                        </p:tgtEl>
                                        <p:attrNameLst>
                                          <p:attrName>style.visibility</p:attrName>
                                        </p:attrNameLst>
                                      </p:cBhvr>
                                      <p:to>
                                        <p:strVal val="visible"/>
                                      </p:to>
                                    </p:set>
                                    <p:anim calcmode="lin" valueType="num">
                                      <p:cBhvr additive="base">
                                        <p:cTn id="13" dur="500" fill="hold"/>
                                        <p:tgtEl>
                                          <p:spTgt spid="251910"/>
                                        </p:tgtEl>
                                        <p:attrNameLst>
                                          <p:attrName>ppt_x</p:attrName>
                                        </p:attrNameLst>
                                      </p:cBhvr>
                                      <p:tavLst>
                                        <p:tav tm="0">
                                          <p:val>
                                            <p:strVal val="1+#ppt_w/2"/>
                                          </p:val>
                                        </p:tav>
                                        <p:tav tm="100000">
                                          <p:val>
                                            <p:strVal val="#ppt_x"/>
                                          </p:val>
                                        </p:tav>
                                      </p:tavLst>
                                    </p:anim>
                                    <p:anim calcmode="lin" valueType="num">
                                      <p:cBhvr additive="base">
                                        <p:cTn id="14" dur="500" fill="hold"/>
                                        <p:tgtEl>
                                          <p:spTgt spid="2519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1909"/>
                                        </p:tgtEl>
                                        <p:attrNameLst>
                                          <p:attrName>style.visibility</p:attrName>
                                        </p:attrNameLst>
                                      </p:cBhvr>
                                      <p:to>
                                        <p:strVal val="visible"/>
                                      </p:to>
                                    </p:set>
                                    <p:anim calcmode="lin" valueType="num">
                                      <p:cBhvr additive="base">
                                        <p:cTn id="19" dur="500" fill="hold"/>
                                        <p:tgtEl>
                                          <p:spTgt spid="251909"/>
                                        </p:tgtEl>
                                        <p:attrNameLst>
                                          <p:attrName>ppt_x</p:attrName>
                                        </p:attrNameLst>
                                      </p:cBhvr>
                                      <p:tavLst>
                                        <p:tav tm="0">
                                          <p:val>
                                            <p:strVal val="#ppt_x"/>
                                          </p:val>
                                        </p:tav>
                                        <p:tav tm="100000">
                                          <p:val>
                                            <p:strVal val="#ppt_x"/>
                                          </p:val>
                                        </p:tav>
                                      </p:tavLst>
                                    </p:anim>
                                    <p:anim calcmode="lin" valueType="num">
                                      <p:cBhvr additive="base">
                                        <p:cTn id="20" dur="500" fill="hold"/>
                                        <p:tgtEl>
                                          <p:spTgt spid="25190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51912"/>
                                        </p:tgtEl>
                                        <p:attrNameLst>
                                          <p:attrName>style.visibility</p:attrName>
                                        </p:attrNameLst>
                                      </p:cBhvr>
                                      <p:to>
                                        <p:strVal val="visible"/>
                                      </p:to>
                                    </p:set>
                                    <p:anim calcmode="lin" valueType="num">
                                      <p:cBhvr additive="base">
                                        <p:cTn id="25" dur="500" fill="hold"/>
                                        <p:tgtEl>
                                          <p:spTgt spid="251912"/>
                                        </p:tgtEl>
                                        <p:attrNameLst>
                                          <p:attrName>ppt_x</p:attrName>
                                        </p:attrNameLst>
                                      </p:cBhvr>
                                      <p:tavLst>
                                        <p:tav tm="0">
                                          <p:val>
                                            <p:strVal val="1+#ppt_w/2"/>
                                          </p:val>
                                        </p:tav>
                                        <p:tav tm="100000">
                                          <p:val>
                                            <p:strVal val="#ppt_x"/>
                                          </p:val>
                                        </p:tav>
                                      </p:tavLst>
                                    </p:anim>
                                    <p:anim calcmode="lin" valueType="num">
                                      <p:cBhvr additive="base">
                                        <p:cTn id="26" dur="500" fill="hold"/>
                                        <p:tgtEl>
                                          <p:spTgt spid="2519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0" grpId="0" animBg="1"/>
      <p:bldP spid="2519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48</a:t>
            </a:fld>
            <a:endParaRPr lang="en-US" altLang="zh-CN" sz="1400" dirty="0"/>
          </a:p>
        </p:txBody>
      </p:sp>
      <p:sp>
        <p:nvSpPr>
          <p:cNvPr id="104451" name="Rectangle 3"/>
          <p:cNvSpPr>
            <a:spLocks noGrp="1" noRot="1"/>
          </p:cNvSpPr>
          <p:nvPr>
            <p:ph idx="1"/>
          </p:nvPr>
        </p:nvSpPr>
        <p:spPr/>
        <p:txBody>
          <a:bodyPr vert="horz" wrap="square" lIns="91440" tIns="45720" rIns="91440" bIns="45720" anchor="t"/>
          <a:lstStyle/>
          <a:p>
            <a:pPr eaLnBrk="1" hangingPunct="1">
              <a:lnSpc>
                <a:spcPct val="200000"/>
              </a:lnSpc>
            </a:pPr>
            <a:r>
              <a:rPr lang="en-US" altLang="zh-CN" b="1"/>
              <a:t>Good suffix</a:t>
            </a:r>
            <a:r>
              <a:rPr lang="zh-CN" altLang="en-US" b="1"/>
              <a:t>的思想来源于</a:t>
            </a:r>
            <a:r>
              <a:rPr lang="en-US" altLang="zh-CN" b="1"/>
              <a:t>KMP</a:t>
            </a:r>
            <a:r>
              <a:rPr lang="zh-CN" altLang="en-US" b="1"/>
              <a:t>算法，</a:t>
            </a:r>
          </a:p>
          <a:p>
            <a:pPr lvl="1" eaLnBrk="1" hangingPunct="1">
              <a:lnSpc>
                <a:spcPct val="200000"/>
              </a:lnSpc>
            </a:pPr>
            <a:r>
              <a:rPr lang="zh-CN" altLang="en-US" b="1"/>
              <a:t>即一个模式中在不同部分可能又存在相同的子串的性质。可以利用已经成功完成的字符匹配，把已匹配部分看作整个模式的子模式，考虑模式前面一段中是否有与此子模式相匹配的片断。</a:t>
            </a:r>
            <a:endParaRPr lang="en-US" altLang="zh-CN" b="1"/>
          </a:p>
          <a:p>
            <a:pPr lvl="1" eaLnBrk="1" hangingPunct="1">
              <a:lnSpc>
                <a:spcPct val="200000"/>
              </a:lnSpc>
            </a:pPr>
            <a:r>
              <a:rPr lang="zh-CN" altLang="en-US" b="1"/>
              <a:t>这样，就有可能把模式串</a:t>
            </a:r>
            <a:r>
              <a:rPr lang="zh-CN" altLang="en-US" b="1">
                <a:solidFill>
                  <a:srgbClr val="FF0000"/>
                </a:solidFill>
              </a:rPr>
              <a:t>向前推更远的距离</a:t>
            </a:r>
            <a:r>
              <a:rPr lang="zh-CN" altLang="en-US" b="1"/>
              <a:t>（在算法中是向前移动文本指针）。由于</a:t>
            </a:r>
            <a:r>
              <a:rPr lang="en-US" altLang="zh-CN" b="1"/>
              <a:t>BM</a:t>
            </a:r>
            <a:r>
              <a:rPr lang="zh-CN" altLang="en-US" b="1"/>
              <a:t>算法是从右向左比较的，所以构造出的不是前缀数组，而是后缀数组。  </a:t>
            </a:r>
          </a:p>
          <a:p>
            <a:pPr eaLnBrk="1" hangingPunct="1">
              <a:lnSpc>
                <a:spcPct val="200000"/>
              </a:lnSpc>
            </a:pPr>
            <a:endParaRPr lang="zh-CN" altLang="en-US" b="1"/>
          </a:p>
          <a:p>
            <a:pPr eaLnBrk="1" hangingPunct="1">
              <a:lnSpc>
                <a:spcPct val="200000"/>
              </a:lnSpc>
            </a:pPr>
            <a:endParaRPr lang="en-US" altLang="zh-CN" b="1"/>
          </a:p>
        </p:txBody>
      </p:sp>
      <p:sp>
        <p:nvSpPr>
          <p:cNvPr id="247810"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49</a:t>
            </a:fld>
            <a:endParaRPr lang="en-US" altLang="zh-CN" sz="1400" dirty="0"/>
          </a:p>
        </p:txBody>
      </p:sp>
      <p:pic>
        <p:nvPicPr>
          <p:cNvPr id="251908" name="Picture 4" descr="figure 13.1"/>
          <p:cNvPicPr>
            <a:picLocks noChangeAspect="1"/>
          </p:cNvPicPr>
          <p:nvPr/>
        </p:nvPicPr>
        <p:blipFill>
          <a:blip r:embed="rId3"/>
          <a:stretch>
            <a:fillRect/>
          </a:stretch>
        </p:blipFill>
        <p:spPr>
          <a:xfrm>
            <a:off x="0" y="981075"/>
            <a:ext cx="6137275" cy="2232025"/>
          </a:xfrm>
          <a:prstGeom prst="rect">
            <a:avLst/>
          </a:prstGeom>
          <a:noFill/>
          <a:ln w="9525">
            <a:noFill/>
          </a:ln>
        </p:spPr>
      </p:pic>
      <p:sp>
        <p:nvSpPr>
          <p:cNvPr id="251910" name="AutoShape 6"/>
          <p:cNvSpPr/>
          <p:nvPr/>
        </p:nvSpPr>
        <p:spPr>
          <a:xfrm>
            <a:off x="5867400" y="1412875"/>
            <a:ext cx="3276600" cy="914400"/>
          </a:xfrm>
          <a:prstGeom prst="borderCallout1">
            <a:avLst>
              <a:gd name="adj1" fmla="val 108333"/>
              <a:gd name="adj2" fmla="val 96514"/>
              <a:gd name="adj3" fmla="val 108333"/>
              <a:gd name="adj4" fmla="val -28343"/>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good-suffix shift, </a:t>
            </a:r>
            <a:r>
              <a:rPr lang="en-US" altLang="zh-CN" sz="1800" i="1" dirty="0">
                <a:solidFill>
                  <a:srgbClr val="000000"/>
                </a:solidFill>
                <a:latin typeface="Arial" panose="020B0604020202020204" pitchFamily="34" charset="0"/>
              </a:rPr>
              <a:t>u</a:t>
            </a:r>
            <a:r>
              <a:rPr lang="en-US" altLang="zh-CN" sz="1800" dirty="0">
                <a:solidFill>
                  <a:srgbClr val="000000"/>
                </a:solidFill>
                <a:latin typeface="Arial" panose="020B0604020202020204" pitchFamily="34" charset="0"/>
              </a:rPr>
              <a:t> re-occurs preceded by a character </a:t>
            </a:r>
            <a:r>
              <a:rPr lang="en-US" altLang="zh-CN" sz="1800" i="1" dirty="0">
                <a:solidFill>
                  <a:srgbClr val="000000"/>
                </a:solidFill>
                <a:latin typeface="Arial" panose="020B0604020202020204" pitchFamily="34" charset="0"/>
              </a:rPr>
              <a:t>c</a:t>
            </a:r>
            <a:r>
              <a:rPr lang="en-US" altLang="zh-CN" sz="1800" dirty="0">
                <a:solidFill>
                  <a:srgbClr val="000000"/>
                </a:solidFill>
                <a:latin typeface="Arial" panose="020B0604020202020204" pitchFamily="34" charset="0"/>
              </a:rPr>
              <a:t> different from </a:t>
            </a:r>
            <a:r>
              <a:rPr lang="en-US" altLang="zh-CN" sz="1800" i="1" dirty="0">
                <a:solidFill>
                  <a:srgbClr val="000000"/>
                </a:solidFill>
                <a:latin typeface="Arial" panose="020B0604020202020204" pitchFamily="34" charset="0"/>
              </a:rPr>
              <a:t>a</a:t>
            </a:r>
            <a:r>
              <a:rPr lang="en-US" altLang="zh-CN" sz="1800" dirty="0">
                <a:solidFill>
                  <a:srgbClr val="000000"/>
                </a:solidFill>
                <a:latin typeface="Arial" panose="020B0604020202020204" pitchFamily="34" charset="0"/>
              </a:rPr>
              <a:t>.</a:t>
            </a:r>
            <a:endParaRPr lang="en-US" altLang="zh-CN" sz="1800" dirty="0">
              <a:latin typeface="Arial" panose="020B0604020202020204" pitchFamily="34" charset="0"/>
            </a:endParaRPr>
          </a:p>
        </p:txBody>
      </p:sp>
      <p:pic>
        <p:nvPicPr>
          <p:cNvPr id="7" name="Picture 4" descr="figure 13.3"/>
          <p:cNvPicPr>
            <a:picLocks noChangeAspect="1"/>
          </p:cNvPicPr>
          <p:nvPr/>
        </p:nvPicPr>
        <p:blipFill>
          <a:blip r:embed="rId4"/>
          <a:stretch>
            <a:fillRect/>
          </a:stretch>
        </p:blipFill>
        <p:spPr>
          <a:xfrm>
            <a:off x="-60325" y="3213100"/>
            <a:ext cx="6229350" cy="2087563"/>
          </a:xfrm>
          <a:prstGeom prst="rect">
            <a:avLst/>
          </a:prstGeom>
          <a:noFill/>
          <a:ln w="9525">
            <a:noFill/>
          </a:ln>
        </p:spPr>
      </p:pic>
      <p:sp>
        <p:nvSpPr>
          <p:cNvPr id="8" name="AutoShape 8"/>
          <p:cNvSpPr/>
          <p:nvPr/>
        </p:nvSpPr>
        <p:spPr>
          <a:xfrm>
            <a:off x="5327650" y="3716338"/>
            <a:ext cx="3276600" cy="914400"/>
          </a:xfrm>
          <a:prstGeom prst="borderCallout1">
            <a:avLst>
              <a:gd name="adj1" fmla="val 108333"/>
              <a:gd name="adj2" fmla="val 96514"/>
              <a:gd name="adj3" fmla="val 108333"/>
              <a:gd name="adj4" fmla="val -28343"/>
            </a:avLst>
          </a:prstGeom>
          <a:solidFill>
            <a:schemeClr val="accent1"/>
          </a:solidFill>
          <a:ln w="9525" cap="flat" cmpd="sng">
            <a:solidFill>
              <a:schemeClr val="tx1"/>
            </a:solidFill>
            <a:prstDash val="solid"/>
            <a:miter/>
            <a:headEnd type="none" w="med" len="med"/>
            <a:tailEnd type="none" w="med" len="med"/>
          </a:ln>
        </p:spPr>
        <p:txBody>
          <a:bodyPr/>
          <a:lstStyle/>
          <a:p>
            <a:pPr algn="ctr">
              <a:spcBef>
                <a:spcPct val="0"/>
              </a:spcBef>
              <a:buClrTx/>
            </a:pPr>
            <a:r>
              <a:rPr lang="en-US" altLang="zh-CN" sz="1800" dirty="0">
                <a:solidFill>
                  <a:srgbClr val="000000"/>
                </a:solidFill>
                <a:latin typeface="Arial" panose="020B0604020202020204" pitchFamily="34" charset="0"/>
              </a:rPr>
              <a:t>The bad-character shift, b occurs in </a:t>
            </a:r>
            <a:r>
              <a:rPr lang="en-US" altLang="zh-CN" sz="1800" i="1" dirty="0">
                <a:solidFill>
                  <a:srgbClr val="000000"/>
                </a:solidFill>
                <a:latin typeface="Arial" panose="020B0604020202020204" pitchFamily="34" charset="0"/>
              </a:rPr>
              <a:t>x</a:t>
            </a:r>
            <a:r>
              <a:rPr lang="en-US" altLang="zh-CN" sz="1800" dirty="0">
                <a:solidFill>
                  <a:srgbClr val="000000"/>
                </a:solidFill>
                <a:latin typeface="Arial" panose="020B0604020202020204" pitchFamily="34" charset="0"/>
              </a:rPr>
              <a:t>.</a:t>
            </a:r>
          </a:p>
          <a:p>
            <a:pPr algn="ctr">
              <a:spcBef>
                <a:spcPct val="0"/>
              </a:spcBef>
              <a:buClrTx/>
            </a:pPr>
            <a:endParaRPr lang="en-US" altLang="zh-CN" sz="1800" dirty="0">
              <a:solidFill>
                <a:srgbClr val="000000"/>
              </a:solidFill>
              <a:latin typeface="Arial" panose="020B0604020202020204" pitchFamily="34" charset="0"/>
            </a:endParaRPr>
          </a:p>
        </p:txBody>
      </p:sp>
      <p:sp>
        <p:nvSpPr>
          <p:cNvPr id="106502" name="文本框 1"/>
          <p:cNvSpPr txBox="1"/>
          <p:nvPr/>
        </p:nvSpPr>
        <p:spPr>
          <a:xfrm>
            <a:off x="755650" y="5589588"/>
            <a:ext cx="7632700" cy="1383665"/>
          </a:xfrm>
          <a:prstGeom prst="rect">
            <a:avLst/>
          </a:prstGeom>
          <a:noFill/>
          <a:ln w="9525">
            <a:noFill/>
          </a:ln>
        </p:spPr>
        <p:txBody>
          <a:bodyPr>
            <a:spAutoFit/>
          </a:bodyPr>
          <a:lstStyle/>
          <a:p>
            <a:pPr>
              <a:buClrTx/>
            </a:pPr>
            <a:r>
              <a:rPr lang="zh-CN" altLang="en-US" b="1">
                <a:solidFill>
                  <a:srgbClr val="FF0000"/>
                </a:solidFill>
                <a:latin typeface="Arial" panose="020B0604020202020204" pitchFamily="34" charset="0"/>
              </a:rPr>
              <a:t>对于同时存在好后缀和坏字符的情况，如何确定跳跃距离？</a:t>
            </a:r>
          </a:p>
          <a:p>
            <a:pPr>
              <a:buClrTx/>
            </a:pPr>
            <a:endParaRPr lang="zh-CN" altLang="en-US" b="1">
              <a:solidFill>
                <a:srgbClr val="FF0000"/>
              </a:solidFill>
              <a:latin typeface="Arial" panose="020B0604020202020204" pitchFamily="34" charset="0"/>
            </a:endParaRPr>
          </a:p>
        </p:txBody>
      </p:sp>
      <p:sp>
        <p:nvSpPr>
          <p:cNvPr id="247810" name="Rectangle 2"/>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dirty="0">
                <a:effectLst>
                  <a:outerShdw blurRad="38100" dist="38100" dir="2700000">
                    <a:srgbClr val="000000"/>
                  </a:outerShdw>
                </a:effectLst>
              </a:rPr>
              <a:t>BM</a:t>
            </a:r>
            <a:r>
              <a:rPr lang="zh-CN" altLang="en-US" dirty="0">
                <a:effectLst>
                  <a:outerShdw blurRad="38100" dist="38100" dir="2700000">
                    <a:srgbClr val="000000"/>
                  </a:outerShdw>
                </a:effectLst>
              </a:rPr>
              <a:t>算法 </a:t>
            </a:r>
          </a:p>
        </p:txBody>
      </p:sp>
      <p:sp>
        <p:nvSpPr>
          <p:cNvPr id="2" name="文本框 1"/>
          <p:cNvSpPr txBox="1"/>
          <p:nvPr/>
        </p:nvSpPr>
        <p:spPr>
          <a:xfrm>
            <a:off x="1547495" y="6021705"/>
            <a:ext cx="1713230" cy="460375"/>
          </a:xfrm>
          <a:prstGeom prst="rect">
            <a:avLst/>
          </a:prstGeom>
          <a:noFill/>
        </p:spPr>
        <p:txBody>
          <a:bodyPr wrap="none" rtlCol="0" anchor="t">
            <a:spAutoFit/>
          </a:bodyPr>
          <a:lstStyle/>
          <a:p>
            <a:r>
              <a:rPr lang="zh-CN" altLang="en-US" b="1">
                <a:solidFill>
                  <a:srgbClr val="FF0000"/>
                </a:solidFill>
                <a:sym typeface="+mn-ea"/>
              </a:rPr>
              <a:t>取最大者。</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1908"/>
                                        </p:tgtEl>
                                        <p:attrNameLst>
                                          <p:attrName>style.visibility</p:attrName>
                                        </p:attrNameLst>
                                      </p:cBhvr>
                                      <p:to>
                                        <p:strVal val="visible"/>
                                      </p:to>
                                    </p:set>
                                    <p:anim calcmode="lin" valueType="num">
                                      <p:cBhvr additive="base">
                                        <p:cTn id="7" dur="500" fill="hold"/>
                                        <p:tgtEl>
                                          <p:spTgt spid="251908"/>
                                        </p:tgtEl>
                                        <p:attrNameLst>
                                          <p:attrName>ppt_x</p:attrName>
                                        </p:attrNameLst>
                                      </p:cBhvr>
                                      <p:tavLst>
                                        <p:tav tm="0">
                                          <p:val>
                                            <p:strVal val="#ppt_x"/>
                                          </p:val>
                                        </p:tav>
                                        <p:tav tm="100000">
                                          <p:val>
                                            <p:strVal val="#ppt_x"/>
                                          </p:val>
                                        </p:tav>
                                      </p:tavLst>
                                    </p:anim>
                                    <p:anim calcmode="lin" valueType="num">
                                      <p:cBhvr additive="base">
                                        <p:cTn id="8" dur="500" fill="hold"/>
                                        <p:tgtEl>
                                          <p:spTgt spid="2519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1910"/>
                                        </p:tgtEl>
                                        <p:attrNameLst>
                                          <p:attrName>style.visibility</p:attrName>
                                        </p:attrNameLst>
                                      </p:cBhvr>
                                      <p:to>
                                        <p:strVal val="visible"/>
                                      </p:to>
                                    </p:set>
                                    <p:anim calcmode="lin" valueType="num">
                                      <p:cBhvr additive="base">
                                        <p:cTn id="13" dur="500" fill="hold"/>
                                        <p:tgtEl>
                                          <p:spTgt spid="251910"/>
                                        </p:tgtEl>
                                        <p:attrNameLst>
                                          <p:attrName>ppt_x</p:attrName>
                                        </p:attrNameLst>
                                      </p:cBhvr>
                                      <p:tavLst>
                                        <p:tav tm="0">
                                          <p:val>
                                            <p:strVal val="1+#ppt_w/2"/>
                                          </p:val>
                                        </p:tav>
                                        <p:tav tm="100000">
                                          <p:val>
                                            <p:strVal val="#ppt_x"/>
                                          </p:val>
                                        </p:tav>
                                      </p:tavLst>
                                    </p:anim>
                                    <p:anim calcmode="lin" valueType="num">
                                      <p:cBhvr additive="base">
                                        <p:cTn id="14" dur="500" fill="hold"/>
                                        <p:tgtEl>
                                          <p:spTgt spid="2519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50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0" grpId="0" animBg="1"/>
      <p:bldP spid="8" grpId="0" animBg="1"/>
      <p:bldP spid="2" grpId="0"/>
      <p:bldP spid="2"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522" name="Rectangle 12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algn="l" eaLnBrk="1" hangingPunct="1"/>
            <a:r>
              <a:rPr lang="zh-CN" altLang="en-US" dirty="0">
                <a:effectLst>
                  <a:outerShdw blurRad="38100" dist="38100" dir="2700000">
                    <a:srgbClr val="000000"/>
                  </a:outerShdw>
                </a:effectLst>
              </a:rPr>
              <a:t>举例：</a:t>
            </a:r>
          </a:p>
        </p:txBody>
      </p:sp>
      <p:sp>
        <p:nvSpPr>
          <p:cNvPr id="108547" name="Rectangle 123"/>
          <p:cNvSpPr>
            <a:spLocks noGrp="1" noRot="1"/>
          </p:cNvSpPr>
          <p:nvPr>
            <p:ph idx="1"/>
          </p:nvPr>
        </p:nvSpPr>
        <p:spPr>
          <a:xfrm>
            <a:off x="628650" y="913131"/>
            <a:ext cx="7886700" cy="4474845"/>
          </a:xfrm>
        </p:spPr>
        <p:txBody>
          <a:bodyPr vert="horz" wrap="square" lIns="91440" tIns="45720" rIns="91440" bIns="45720" anchor="t"/>
          <a:lstStyle/>
          <a:p>
            <a:pPr eaLnBrk="1" hangingPunct="1"/>
            <a:r>
              <a:rPr lang="zh-CN" altLang="en-US" dirty="0"/>
              <a:t>文本：</a:t>
            </a:r>
            <a:r>
              <a:rPr lang="en-US" altLang="zh-CN" dirty="0"/>
              <a:t>GCATCG</a:t>
            </a:r>
            <a:r>
              <a:rPr lang="en-US" altLang="zh-CN" b="1" dirty="0"/>
              <a:t>C</a:t>
            </a:r>
            <a:r>
              <a:rPr lang="en-US" altLang="zh-CN" dirty="0"/>
              <a:t>AGAGAGTATACAGTACG</a:t>
            </a:r>
          </a:p>
          <a:p>
            <a:pPr eaLnBrk="1" hangingPunct="1">
              <a:buNone/>
            </a:pPr>
            <a:r>
              <a:rPr lang="en-US" altLang="zh-CN" b="0" dirty="0">
                <a:solidFill>
                  <a:srgbClr val="FF0000"/>
                </a:solidFill>
              </a:rPr>
              <a:t>                76543210                       </a:t>
            </a:r>
          </a:p>
          <a:p>
            <a:pPr eaLnBrk="1" hangingPunct="1"/>
            <a:r>
              <a:rPr lang="zh-CN" altLang="en-US" dirty="0"/>
              <a:t>模式：</a:t>
            </a:r>
            <a:r>
              <a:rPr lang="en-US" altLang="zh-CN" dirty="0"/>
              <a:t>GCAGAGAG</a:t>
            </a:r>
          </a:p>
        </p:txBody>
      </p:sp>
      <p:graphicFrame>
        <p:nvGraphicFramePr>
          <p:cNvPr id="108548" name="表格 108547"/>
          <p:cNvGraphicFramePr/>
          <p:nvPr>
            <p:custDataLst>
              <p:tags r:id="rId1"/>
            </p:custDataLst>
          </p:nvPr>
        </p:nvGraphicFramePr>
        <p:xfrm>
          <a:off x="522605" y="2839403"/>
          <a:ext cx="8087360" cy="919480"/>
        </p:xfrm>
        <a:graphic>
          <a:graphicData uri="http://schemas.openxmlformats.org/drawingml/2006/table">
            <a:tbl>
              <a:tblPr/>
              <a:tblGrid>
                <a:gridCol w="3208655">
                  <a:extLst>
                    <a:ext uri="{9D8B030D-6E8A-4147-A177-3AD203B41FA5}">
                      <a16:colId xmlns:a16="http://schemas.microsoft.com/office/drawing/2014/main" val="20000"/>
                    </a:ext>
                  </a:extLst>
                </a:gridCol>
                <a:gridCol w="1310640">
                  <a:extLst>
                    <a:ext uri="{9D8B030D-6E8A-4147-A177-3AD203B41FA5}">
                      <a16:colId xmlns:a16="http://schemas.microsoft.com/office/drawing/2014/main" val="20001"/>
                    </a:ext>
                  </a:extLst>
                </a:gridCol>
                <a:gridCol w="1233805">
                  <a:extLst>
                    <a:ext uri="{9D8B030D-6E8A-4147-A177-3AD203B41FA5}">
                      <a16:colId xmlns:a16="http://schemas.microsoft.com/office/drawing/2014/main" val="20002"/>
                    </a:ext>
                  </a:extLst>
                </a:gridCol>
                <a:gridCol w="1167130">
                  <a:extLst>
                    <a:ext uri="{9D8B030D-6E8A-4147-A177-3AD203B41FA5}">
                      <a16:colId xmlns:a16="http://schemas.microsoft.com/office/drawing/2014/main" val="20003"/>
                    </a:ext>
                  </a:extLst>
                </a:gridCol>
                <a:gridCol w="1167130">
                  <a:extLst>
                    <a:ext uri="{9D8B030D-6E8A-4147-A177-3AD203B41FA5}">
                      <a16:colId xmlns:a16="http://schemas.microsoft.com/office/drawing/2014/main" val="20004"/>
                    </a:ext>
                  </a:extLst>
                </a:gridCol>
              </a:tblGrid>
              <a:tr h="45974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T</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974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bmBc[c]</a:t>
                      </a:r>
                      <a:endParaRPr lang="en-US" altLang="zh-CN" i="1" dirty="0">
                        <a:latin typeface="Times New Roman" panose="02020603050405020304" charset="0"/>
                        <a:ea typeface="Times New Roman" panose="0202060305040502030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8</a:t>
                      </a:r>
                      <a:endParaRPr lang="en-US" altLang="zh-CN" sz="1800" dirty="0">
                        <a:latin typeface="Arial" panose="020B0604020202020204" pitchFamily="3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8568" name="Text Box 145"/>
          <p:cNvSpPr txBox="1"/>
          <p:nvPr/>
        </p:nvSpPr>
        <p:spPr>
          <a:xfrm>
            <a:off x="762000" y="2387283"/>
            <a:ext cx="7315200" cy="384175"/>
          </a:xfrm>
          <a:prstGeom prst="rect">
            <a:avLst/>
          </a:prstGeom>
          <a:noFill/>
          <a:ln w="9525">
            <a:noFill/>
          </a:ln>
        </p:spPr>
        <p:txBody>
          <a:bodyPr>
            <a:spAutoFit/>
          </a:bodyPr>
          <a:lstStyle/>
          <a:p>
            <a:pPr>
              <a:lnSpc>
                <a:spcPct val="80000"/>
              </a:lnSpc>
              <a:spcBef>
                <a:spcPct val="20000"/>
              </a:spcBef>
              <a:buClr>
                <a:schemeClr val="hlink"/>
              </a:buClr>
              <a:buFont typeface="Wingdings" panose="05000000000000000000" pitchFamily="2" charset="2"/>
              <a:buNone/>
            </a:pPr>
            <a:r>
              <a:rPr lang="zh-CN" altLang="en-US" b="1" dirty="0">
                <a:solidFill>
                  <a:srgbClr val="030301"/>
                </a:solidFill>
                <a:latin typeface="Arial" panose="020B0604020202020204" pitchFamily="34" charset="0"/>
              </a:rPr>
              <a:t>计算</a:t>
            </a:r>
            <a:r>
              <a:rPr lang="en-US" altLang="zh-CN" b="1" dirty="0">
                <a:solidFill>
                  <a:srgbClr val="030301"/>
                </a:solidFill>
                <a:latin typeface="Arial" panose="020B0604020202020204" pitchFamily="34" charset="0"/>
                <a:cs typeface="Times New Roman" panose="02020603050405020304" charset="0"/>
              </a:rPr>
              <a:t>bmBc[c]</a:t>
            </a:r>
            <a:endParaRPr lang="en-US" altLang="zh-CN" sz="1800" dirty="0">
              <a:latin typeface="Arial" panose="020B0604020202020204" pitchFamily="34" charset="0"/>
            </a:endParaRPr>
          </a:p>
        </p:txBody>
      </p:sp>
      <p:graphicFrame>
        <p:nvGraphicFramePr>
          <p:cNvPr id="108569" name="表格 108568"/>
          <p:cNvGraphicFramePr/>
          <p:nvPr>
            <p:custDataLst>
              <p:tags r:id="rId2"/>
            </p:custDataLst>
          </p:nvPr>
        </p:nvGraphicFramePr>
        <p:xfrm>
          <a:off x="457200" y="4368483"/>
          <a:ext cx="8051483" cy="1485900"/>
        </p:xfrm>
        <a:graphic>
          <a:graphicData uri="http://schemas.openxmlformats.org/drawingml/2006/table">
            <a:tbl>
              <a:tblPr/>
              <a:tblGrid>
                <a:gridCol w="20288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38188">
                  <a:extLst>
                    <a:ext uri="{9D8B030D-6E8A-4147-A177-3AD203B41FA5}">
                      <a16:colId xmlns:a16="http://schemas.microsoft.com/office/drawing/2014/main" val="20003"/>
                    </a:ext>
                  </a:extLst>
                </a:gridCol>
                <a:gridCol w="738187">
                  <a:extLst>
                    <a:ext uri="{9D8B030D-6E8A-4147-A177-3AD203B41FA5}">
                      <a16:colId xmlns:a16="http://schemas.microsoft.com/office/drawing/2014/main" val="20004"/>
                    </a:ext>
                  </a:extLst>
                </a:gridCol>
                <a:gridCol w="738188">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1995">
                  <a:extLst>
                    <a:ext uri="{9D8B030D-6E8A-4147-A177-3AD203B41FA5}">
                      <a16:colId xmlns:a16="http://schemas.microsoft.com/office/drawing/2014/main" val="20008"/>
                    </a:ext>
                  </a:extLst>
                </a:gridCol>
              </a:tblGrid>
              <a:tr h="4953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i</a:t>
                      </a:r>
                      <a:endParaRPr lang="en-US" altLang="zh-CN" sz="1800" dirty="0">
                        <a:latin typeface="Arial" panose="020B0604020202020204" pitchFamily="3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0</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1</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3</a:t>
                      </a:r>
                      <a:endParaRPr lang="en-US" altLang="zh-CN" dirty="0">
                        <a:latin typeface="Times New Roman" panose="02020603050405020304" charset="0"/>
                        <a:ea typeface="Times New Roman" panose="0202060305040502030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4</a:t>
                      </a:r>
                      <a:endParaRPr lang="en-US" altLang="zh-CN" dirty="0">
                        <a:latin typeface="Times New Roman" panose="02020603050405020304" charset="0"/>
                        <a:ea typeface="Times New Roman" panose="0202060305040502030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5</a:t>
                      </a:r>
                      <a:endParaRPr lang="en-US" altLang="zh-CN" dirty="0">
                        <a:latin typeface="Times New Roman" panose="02020603050405020304" charset="0"/>
                        <a:ea typeface="Times New Roman" panose="0202060305040502030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6</a:t>
                      </a:r>
                      <a:endParaRPr lang="en-US" altLang="zh-CN" dirty="0">
                        <a:latin typeface="Times New Roman" panose="02020603050405020304" charset="0"/>
                        <a:ea typeface="Times New Roman" panose="0202060305040502030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sz="1800" dirty="0">
                        <a:latin typeface="Arial" panose="020B0604020202020204" pitchFamily="34" charset="0"/>
                      </a:endParaRP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x[i]</a:t>
                      </a:r>
                      <a:endParaRPr lang="en-US" altLang="zh-CN" i="1" dirty="0">
                        <a:latin typeface="Times New Roman" panose="02020603050405020304" charset="0"/>
                        <a:ea typeface="Times New Roman" panose="0202060305040502030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C</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A</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G</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i="1" dirty="0">
                          <a:latin typeface="Times New Roman" panose="02020603050405020304" charset="0"/>
                          <a:cs typeface="Times New Roman" panose="02020603050405020304" charset="0"/>
                        </a:rPr>
                        <a:t>bmGs[i]</a:t>
                      </a:r>
                      <a:endParaRPr lang="en-US" altLang="zh-CN" i="1" dirty="0">
                        <a:latin typeface="Times New Roman" panose="02020603050405020304" charset="0"/>
                        <a:ea typeface="Times New Roman" panose="02020603050405020304"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2</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a:solidFill>
                            <a:srgbClr val="FF0000"/>
                          </a:solidFill>
                          <a:latin typeface="Times New Roman" panose="02020603050405020304" charset="0"/>
                          <a:cs typeface="Times New Roman" panose="02020603050405020304" charset="0"/>
                        </a:rPr>
                        <a:t>4</a:t>
                      </a:r>
                      <a:endParaRPr lang="en-US" altLang="zh-CN">
                        <a:solidFill>
                          <a:srgbClr val="FF0000"/>
                        </a:solidFill>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dirty="0">
                          <a:latin typeface="Times New Roman" panose="02020603050405020304" charset="0"/>
                          <a:cs typeface="Times New Roman" panose="02020603050405020304" charset="0"/>
                        </a:rPr>
                        <a:t>7</a:t>
                      </a:r>
                      <a:endParaRPr lang="en-US" altLang="zh-CN" dirty="0">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ea typeface="Times New Roman" panose="02020603050405020304"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8611" name="Text Box 186"/>
          <p:cNvSpPr txBox="1"/>
          <p:nvPr/>
        </p:nvSpPr>
        <p:spPr>
          <a:xfrm>
            <a:off x="838200" y="3987483"/>
            <a:ext cx="7315200" cy="384175"/>
          </a:xfrm>
          <a:prstGeom prst="rect">
            <a:avLst/>
          </a:prstGeom>
          <a:noFill/>
          <a:ln w="9525">
            <a:noFill/>
          </a:ln>
        </p:spPr>
        <p:txBody>
          <a:bodyPr>
            <a:spAutoFit/>
          </a:bodyPr>
          <a:lstStyle/>
          <a:p>
            <a:pPr>
              <a:lnSpc>
                <a:spcPct val="80000"/>
              </a:lnSpc>
              <a:spcBef>
                <a:spcPct val="20000"/>
              </a:spcBef>
              <a:buClr>
                <a:schemeClr val="hlink"/>
              </a:buClr>
              <a:buFont typeface="Wingdings" panose="05000000000000000000" pitchFamily="2" charset="2"/>
              <a:buNone/>
            </a:pPr>
            <a:r>
              <a:rPr lang="zh-CN" altLang="en-US" b="1" dirty="0">
                <a:solidFill>
                  <a:srgbClr val="030301"/>
                </a:solidFill>
                <a:latin typeface="Arial" panose="020B0604020202020204" pitchFamily="34" charset="0"/>
              </a:rPr>
              <a:t>计算</a:t>
            </a:r>
            <a:r>
              <a:rPr lang="en-US" altLang="zh-CN" b="1" dirty="0">
                <a:solidFill>
                  <a:srgbClr val="030301"/>
                </a:solidFill>
                <a:latin typeface="Arial" panose="020B0604020202020204" pitchFamily="34" charset="0"/>
                <a:cs typeface="Times New Roman" panose="02020603050405020304" charset="0"/>
              </a:rPr>
              <a:t>bmGs[i]</a:t>
            </a:r>
            <a:endParaRPr lang="en-US" altLang="zh-CN" b="1" dirty="0">
              <a:solidFill>
                <a:srgbClr val="030301"/>
              </a:solidFill>
              <a:latin typeface="Arial" panose="020B0604020202020204" pitchFamily="34" charset="0"/>
              <a:ea typeface="Times New Roman" panose="02020603050405020304" charset="0"/>
            </a:endParaRPr>
          </a:p>
        </p:txBody>
      </p:sp>
      <p:sp>
        <p:nvSpPr>
          <p:cNvPr id="2" name="文本框 1"/>
          <p:cNvSpPr txBox="1"/>
          <p:nvPr/>
        </p:nvSpPr>
        <p:spPr>
          <a:xfrm>
            <a:off x="690245" y="6082030"/>
            <a:ext cx="7873365" cy="398780"/>
          </a:xfrm>
          <a:prstGeom prst="rect">
            <a:avLst/>
          </a:prstGeom>
          <a:noFill/>
        </p:spPr>
        <p:txBody>
          <a:bodyPr wrap="square" rtlCol="0">
            <a:spAutoFit/>
          </a:bodyPr>
          <a:lstStyle/>
          <a:p>
            <a:r>
              <a:rPr lang="zh-CN" altLang="en-US" sz="2000" b="1"/>
              <a:t>当前位置匹配不成功，需要向左移动部门</a:t>
            </a:r>
            <a:r>
              <a:rPr lang="en-US" altLang="zh-CN" sz="2000" b="1"/>
              <a:t>bmGs[i]</a:t>
            </a:r>
            <a:r>
              <a:rPr lang="zh-CN" altLang="en-US" sz="2000" b="1"/>
              <a:t>个字符</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5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8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11" grpId="0"/>
      <p:bldP spid="108611"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51</a:t>
            </a:fld>
            <a:endParaRPr lang="en-US" altLang="zh-CN" sz="1400" dirty="0"/>
          </a:p>
        </p:txBody>
      </p:sp>
      <p:sp>
        <p:nvSpPr>
          <p:cNvPr id="110594" name="Rectangle 2"/>
          <p:cNvSpPr/>
          <p:nvPr/>
        </p:nvSpPr>
        <p:spPr>
          <a:xfrm>
            <a:off x="468313" y="914400"/>
            <a:ext cx="2093912"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First attempt</a:t>
            </a:r>
            <a:r>
              <a:rPr lang="en-US" altLang="zh-CN" sz="1800" dirty="0">
                <a:latin typeface="Arial" panose="020B0604020202020204" pitchFamily="34" charset="0"/>
              </a:rPr>
              <a:t> </a:t>
            </a:r>
          </a:p>
        </p:txBody>
      </p:sp>
      <p:graphicFrame>
        <p:nvGraphicFramePr>
          <p:cNvPr id="110595" name="表格 110594"/>
          <p:cNvGraphicFramePr/>
          <p:nvPr>
            <p:custDataLst>
              <p:tags r:id="rId1"/>
            </p:custDataLst>
          </p:nvPr>
        </p:nvGraphicFramePr>
        <p:xfrm>
          <a:off x="395288" y="1587500"/>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619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619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52</a:t>
            </a:fld>
            <a:endParaRPr lang="en-US" altLang="zh-CN" sz="1400" dirty="0"/>
          </a:p>
        </p:txBody>
      </p:sp>
      <p:sp>
        <p:nvSpPr>
          <p:cNvPr id="112642" name="Rectangle 371"/>
          <p:cNvSpPr/>
          <p:nvPr/>
        </p:nvSpPr>
        <p:spPr>
          <a:xfrm>
            <a:off x="323850" y="1100138"/>
            <a:ext cx="2508250"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Second attempt</a:t>
            </a:r>
            <a:r>
              <a:rPr lang="en-US" altLang="zh-CN" sz="1100" dirty="0">
                <a:latin typeface="Arial" panose="020B0604020202020204" pitchFamily="34" charset="0"/>
              </a:rPr>
              <a:t> </a:t>
            </a:r>
            <a:endParaRPr lang="en-US" altLang="zh-CN" sz="1800" dirty="0">
              <a:latin typeface="Arial" panose="020B0604020202020204" pitchFamily="34" charset="0"/>
            </a:endParaRPr>
          </a:p>
        </p:txBody>
      </p:sp>
      <p:graphicFrame>
        <p:nvGraphicFramePr>
          <p:cNvPr id="112643" name="表格 112642"/>
          <p:cNvGraphicFramePr/>
          <p:nvPr>
            <p:extLst>
              <p:ext uri="{D42A27DB-BD31-4B8C-83A1-F6EECF244321}">
                <p14:modId xmlns:p14="http://schemas.microsoft.com/office/powerpoint/2010/main" val="177961316"/>
              </p:ext>
            </p:extLst>
          </p:nvPr>
        </p:nvGraphicFramePr>
        <p:xfrm>
          <a:off x="107504" y="1761813"/>
          <a:ext cx="9120458" cy="1737360"/>
        </p:xfrm>
        <a:graphic>
          <a:graphicData uri="http://schemas.openxmlformats.org/drawingml/2006/table">
            <a:tbl>
              <a:tblPr/>
              <a:tblGrid>
                <a:gridCol w="510277">
                  <a:extLst>
                    <a:ext uri="{9D8B030D-6E8A-4147-A177-3AD203B41FA5}">
                      <a16:colId xmlns:a16="http://schemas.microsoft.com/office/drawing/2014/main" val="20000"/>
                    </a:ext>
                  </a:extLst>
                </a:gridCol>
                <a:gridCol w="391060">
                  <a:extLst>
                    <a:ext uri="{9D8B030D-6E8A-4147-A177-3AD203B41FA5}">
                      <a16:colId xmlns:a16="http://schemas.microsoft.com/office/drawing/2014/main" val="20001"/>
                    </a:ext>
                  </a:extLst>
                </a:gridCol>
                <a:gridCol w="377339">
                  <a:extLst>
                    <a:ext uri="{9D8B030D-6E8A-4147-A177-3AD203B41FA5}">
                      <a16:colId xmlns:a16="http://schemas.microsoft.com/office/drawing/2014/main" val="20002"/>
                    </a:ext>
                  </a:extLst>
                </a:gridCol>
                <a:gridCol w="363617">
                  <a:extLst>
                    <a:ext uri="{9D8B030D-6E8A-4147-A177-3AD203B41FA5}">
                      <a16:colId xmlns:a16="http://schemas.microsoft.com/office/drawing/2014/main" val="20003"/>
                    </a:ext>
                  </a:extLst>
                </a:gridCol>
                <a:gridCol w="391060">
                  <a:extLst>
                    <a:ext uri="{9D8B030D-6E8A-4147-A177-3AD203B41FA5}">
                      <a16:colId xmlns:a16="http://schemas.microsoft.com/office/drawing/2014/main" val="20004"/>
                    </a:ext>
                  </a:extLst>
                </a:gridCol>
                <a:gridCol w="391060">
                  <a:extLst>
                    <a:ext uri="{9D8B030D-6E8A-4147-A177-3AD203B41FA5}">
                      <a16:colId xmlns:a16="http://schemas.microsoft.com/office/drawing/2014/main" val="20005"/>
                    </a:ext>
                  </a:extLst>
                </a:gridCol>
                <a:gridCol w="391060">
                  <a:extLst>
                    <a:ext uri="{9D8B030D-6E8A-4147-A177-3AD203B41FA5}">
                      <a16:colId xmlns:a16="http://schemas.microsoft.com/office/drawing/2014/main" val="20006"/>
                    </a:ext>
                  </a:extLst>
                </a:gridCol>
                <a:gridCol w="363617">
                  <a:extLst>
                    <a:ext uri="{9D8B030D-6E8A-4147-A177-3AD203B41FA5}">
                      <a16:colId xmlns:a16="http://schemas.microsoft.com/office/drawing/2014/main" val="20007"/>
                    </a:ext>
                  </a:extLst>
                </a:gridCol>
                <a:gridCol w="391060">
                  <a:extLst>
                    <a:ext uri="{9D8B030D-6E8A-4147-A177-3AD203B41FA5}">
                      <a16:colId xmlns:a16="http://schemas.microsoft.com/office/drawing/2014/main" val="20008"/>
                    </a:ext>
                  </a:extLst>
                </a:gridCol>
                <a:gridCol w="363617">
                  <a:extLst>
                    <a:ext uri="{9D8B030D-6E8A-4147-A177-3AD203B41FA5}">
                      <a16:colId xmlns:a16="http://schemas.microsoft.com/office/drawing/2014/main" val="20009"/>
                    </a:ext>
                  </a:extLst>
                </a:gridCol>
                <a:gridCol w="391060">
                  <a:extLst>
                    <a:ext uri="{9D8B030D-6E8A-4147-A177-3AD203B41FA5}">
                      <a16:colId xmlns:a16="http://schemas.microsoft.com/office/drawing/2014/main" val="20010"/>
                    </a:ext>
                  </a:extLst>
                </a:gridCol>
                <a:gridCol w="363617">
                  <a:extLst>
                    <a:ext uri="{9D8B030D-6E8A-4147-A177-3AD203B41FA5}">
                      <a16:colId xmlns:a16="http://schemas.microsoft.com/office/drawing/2014/main" val="20011"/>
                    </a:ext>
                  </a:extLst>
                </a:gridCol>
                <a:gridCol w="391060">
                  <a:extLst>
                    <a:ext uri="{9D8B030D-6E8A-4147-A177-3AD203B41FA5}">
                      <a16:colId xmlns:a16="http://schemas.microsoft.com/office/drawing/2014/main" val="20012"/>
                    </a:ext>
                  </a:extLst>
                </a:gridCol>
                <a:gridCol w="349896">
                  <a:extLst>
                    <a:ext uri="{9D8B030D-6E8A-4147-A177-3AD203B41FA5}">
                      <a16:colId xmlns:a16="http://schemas.microsoft.com/office/drawing/2014/main" val="20013"/>
                    </a:ext>
                  </a:extLst>
                </a:gridCol>
                <a:gridCol w="363617">
                  <a:extLst>
                    <a:ext uri="{9D8B030D-6E8A-4147-A177-3AD203B41FA5}">
                      <a16:colId xmlns:a16="http://schemas.microsoft.com/office/drawing/2014/main" val="20014"/>
                    </a:ext>
                  </a:extLst>
                </a:gridCol>
                <a:gridCol w="349896">
                  <a:extLst>
                    <a:ext uri="{9D8B030D-6E8A-4147-A177-3AD203B41FA5}">
                      <a16:colId xmlns:a16="http://schemas.microsoft.com/office/drawing/2014/main" val="20015"/>
                    </a:ext>
                  </a:extLst>
                </a:gridCol>
                <a:gridCol w="363617">
                  <a:extLst>
                    <a:ext uri="{9D8B030D-6E8A-4147-A177-3AD203B41FA5}">
                      <a16:colId xmlns:a16="http://schemas.microsoft.com/office/drawing/2014/main" val="20016"/>
                    </a:ext>
                  </a:extLst>
                </a:gridCol>
                <a:gridCol w="377339">
                  <a:extLst>
                    <a:ext uri="{9D8B030D-6E8A-4147-A177-3AD203B41FA5}">
                      <a16:colId xmlns:a16="http://schemas.microsoft.com/office/drawing/2014/main" val="20017"/>
                    </a:ext>
                  </a:extLst>
                </a:gridCol>
                <a:gridCol w="363617">
                  <a:extLst>
                    <a:ext uri="{9D8B030D-6E8A-4147-A177-3AD203B41FA5}">
                      <a16:colId xmlns:a16="http://schemas.microsoft.com/office/drawing/2014/main" val="20018"/>
                    </a:ext>
                  </a:extLst>
                </a:gridCol>
                <a:gridCol w="391060">
                  <a:extLst>
                    <a:ext uri="{9D8B030D-6E8A-4147-A177-3AD203B41FA5}">
                      <a16:colId xmlns:a16="http://schemas.microsoft.com/office/drawing/2014/main" val="20019"/>
                    </a:ext>
                  </a:extLst>
                </a:gridCol>
                <a:gridCol w="349896">
                  <a:extLst>
                    <a:ext uri="{9D8B030D-6E8A-4147-A177-3AD203B41FA5}">
                      <a16:colId xmlns:a16="http://schemas.microsoft.com/office/drawing/2014/main" val="20020"/>
                    </a:ext>
                  </a:extLst>
                </a:gridCol>
                <a:gridCol w="363617">
                  <a:extLst>
                    <a:ext uri="{9D8B030D-6E8A-4147-A177-3AD203B41FA5}">
                      <a16:colId xmlns:a16="http://schemas.microsoft.com/office/drawing/2014/main" val="20021"/>
                    </a:ext>
                  </a:extLst>
                </a:gridCol>
                <a:gridCol w="377339">
                  <a:extLst>
                    <a:ext uri="{9D8B030D-6E8A-4147-A177-3AD203B41FA5}">
                      <a16:colId xmlns:a16="http://schemas.microsoft.com/office/drawing/2014/main" val="20022"/>
                    </a:ext>
                  </a:extLst>
                </a:gridCol>
                <a:gridCol w="39106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0G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1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en-US" dirty="0">
                          <a:latin typeface="Arial" panose="020B0604020202020204" pitchFamily="34" charset="0"/>
                        </a:rPr>
                        <a:t>此时</a:t>
                      </a:r>
                      <a:r>
                        <a:rPr lang="en-US" altLang="zh-CN" dirty="0">
                          <a:latin typeface="Arial" panose="020B0604020202020204" pitchFamily="34" charset="0"/>
                        </a:rPr>
                        <a:t>shift(C)=</a:t>
                      </a:r>
                      <a:r>
                        <a:rPr lang="en-US" altLang="zh-CN" dirty="0" err="1">
                          <a:latin typeface="Arial" panose="020B0604020202020204" pitchFamily="34" charset="0"/>
                        </a:rPr>
                        <a:t>Bc</a:t>
                      </a:r>
                      <a:r>
                        <a:rPr lang="en-US" altLang="zh-CN" dirty="0">
                          <a:latin typeface="Arial" panose="020B0604020202020204" pitchFamily="34" charset="0"/>
                        </a:rPr>
                        <a:t>[C]-(m-1-i)=6-(8-1-5)=4</a:t>
                      </a:r>
                    </a:p>
                    <a:p>
                      <a:pPr lvl="0">
                        <a:spcBef>
                          <a:spcPct val="0"/>
                        </a:spcBef>
                        <a:buClrTx/>
                        <a:buNone/>
                      </a:pPr>
                      <a:r>
                        <a:rPr lang="zh-CN" altLang="en-US" dirty="0">
                          <a:latin typeface="Arial" panose="020B0604020202020204" pitchFamily="34" charset="0"/>
                        </a:rPr>
                        <a:t>也可以直接手动数前面第四个就是</a:t>
                      </a: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112683" name="Rectangle 491"/>
          <p:cNvSpPr/>
          <p:nvPr/>
        </p:nvSpPr>
        <p:spPr>
          <a:xfrm>
            <a:off x="395288" y="3716338"/>
            <a:ext cx="21685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Third attempt</a:t>
            </a:r>
            <a:r>
              <a:rPr lang="en-US" altLang="zh-CN" sz="1100" dirty="0">
                <a:latin typeface="Arial" panose="020B0604020202020204" pitchFamily="34" charset="0"/>
              </a:rPr>
              <a:t> </a:t>
            </a:r>
            <a:endParaRPr lang="en-US" altLang="zh-CN" sz="1800" dirty="0">
              <a:latin typeface="Arial" panose="020B0604020202020204" pitchFamily="34" charset="0"/>
            </a:endParaRPr>
          </a:p>
        </p:txBody>
      </p:sp>
      <p:graphicFrame>
        <p:nvGraphicFramePr>
          <p:cNvPr id="112684" name="表格 112683"/>
          <p:cNvGraphicFramePr/>
          <p:nvPr>
            <p:custDataLst>
              <p:tags r:id="rId1"/>
            </p:custDataLst>
            <p:extLst>
              <p:ext uri="{D42A27DB-BD31-4B8C-83A1-F6EECF244321}">
                <p14:modId xmlns:p14="http://schemas.microsoft.com/office/powerpoint/2010/main" val="1426180841"/>
              </p:ext>
            </p:extLst>
          </p:nvPr>
        </p:nvGraphicFramePr>
        <p:xfrm>
          <a:off x="265113" y="4292600"/>
          <a:ext cx="8409305" cy="1371600"/>
        </p:xfrm>
        <a:graphic>
          <a:graphicData uri="http://schemas.openxmlformats.org/drawingml/2006/table">
            <a:tbl>
              <a:tblPr/>
              <a:tblGrid>
                <a:gridCol w="503555">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365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23850">
                  <a:extLst>
                    <a:ext uri="{9D8B030D-6E8A-4147-A177-3AD203B41FA5}">
                      <a16:colId xmlns:a16="http://schemas.microsoft.com/office/drawing/2014/main" val="20020"/>
                    </a:ext>
                  </a:extLst>
                </a:gridCol>
                <a:gridCol w="3365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8</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7</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6</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5</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4</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5">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11">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3" grpId="0"/>
      <p:bldP spid="11268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53</a:t>
            </a:fld>
            <a:endParaRPr lang="en-US" altLang="zh-CN" sz="1400" dirty="0"/>
          </a:p>
        </p:txBody>
      </p:sp>
      <p:sp>
        <p:nvSpPr>
          <p:cNvPr id="114690" name="Rectangle 124"/>
          <p:cNvSpPr/>
          <p:nvPr/>
        </p:nvSpPr>
        <p:spPr>
          <a:xfrm>
            <a:off x="192088" y="3548063"/>
            <a:ext cx="20669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Fifth attempt</a:t>
            </a:r>
            <a:r>
              <a:rPr lang="en-US" altLang="zh-CN" sz="1100" dirty="0">
                <a:latin typeface="Arial" panose="020B0604020202020204" pitchFamily="34" charset="0"/>
              </a:rPr>
              <a:t> </a:t>
            </a:r>
            <a:endParaRPr lang="en-US" altLang="zh-CN" sz="1800" dirty="0">
              <a:latin typeface="Arial" panose="020B0604020202020204" pitchFamily="34" charset="0"/>
            </a:endParaRPr>
          </a:p>
        </p:txBody>
      </p:sp>
      <p:graphicFrame>
        <p:nvGraphicFramePr>
          <p:cNvPr id="114691" name="表格 114690"/>
          <p:cNvGraphicFramePr/>
          <p:nvPr/>
        </p:nvGraphicFramePr>
        <p:xfrm>
          <a:off x="192088" y="4078288"/>
          <a:ext cx="8331200" cy="1371600"/>
        </p:xfrm>
        <a:graphic>
          <a:graphicData uri="http://schemas.openxmlformats.org/drawingml/2006/table">
            <a:tbl>
              <a:tblPr/>
              <a:tblGrid>
                <a:gridCol w="361950">
                  <a:extLst>
                    <a:ext uri="{9D8B030D-6E8A-4147-A177-3AD203B41FA5}">
                      <a16:colId xmlns:a16="http://schemas.microsoft.com/office/drawing/2014/main" val="20000"/>
                    </a:ext>
                  </a:extLst>
                </a:gridCol>
                <a:gridCol w="349250">
                  <a:extLst>
                    <a:ext uri="{9D8B030D-6E8A-4147-A177-3AD203B41FA5}">
                      <a16:colId xmlns:a16="http://schemas.microsoft.com/office/drawing/2014/main" val="20001"/>
                    </a:ext>
                  </a:extLst>
                </a:gridCol>
                <a:gridCol w="336550">
                  <a:extLst>
                    <a:ext uri="{9D8B030D-6E8A-4147-A177-3AD203B41FA5}">
                      <a16:colId xmlns:a16="http://schemas.microsoft.com/office/drawing/2014/main" val="20002"/>
                    </a:ext>
                  </a:extLst>
                </a:gridCol>
                <a:gridCol w="323850">
                  <a:extLst>
                    <a:ext uri="{9D8B030D-6E8A-4147-A177-3AD203B41FA5}">
                      <a16:colId xmlns:a16="http://schemas.microsoft.com/office/drawing/2014/main" val="20003"/>
                    </a:ext>
                  </a:extLst>
                </a:gridCol>
                <a:gridCol w="349250">
                  <a:extLst>
                    <a:ext uri="{9D8B030D-6E8A-4147-A177-3AD203B41FA5}">
                      <a16:colId xmlns:a16="http://schemas.microsoft.com/office/drawing/2014/main" val="20004"/>
                    </a:ext>
                  </a:extLst>
                </a:gridCol>
                <a:gridCol w="361950">
                  <a:extLst>
                    <a:ext uri="{9D8B030D-6E8A-4147-A177-3AD203B41FA5}">
                      <a16:colId xmlns:a16="http://schemas.microsoft.com/office/drawing/2014/main" val="20005"/>
                    </a:ext>
                  </a:extLst>
                </a:gridCol>
                <a:gridCol w="349250">
                  <a:extLst>
                    <a:ext uri="{9D8B030D-6E8A-4147-A177-3AD203B41FA5}">
                      <a16:colId xmlns:a16="http://schemas.microsoft.com/office/drawing/2014/main" val="20006"/>
                    </a:ext>
                  </a:extLst>
                </a:gridCol>
                <a:gridCol w="336550">
                  <a:extLst>
                    <a:ext uri="{9D8B030D-6E8A-4147-A177-3AD203B41FA5}">
                      <a16:colId xmlns:a16="http://schemas.microsoft.com/office/drawing/2014/main" val="20007"/>
                    </a:ext>
                  </a:extLst>
                </a:gridCol>
                <a:gridCol w="361950">
                  <a:extLst>
                    <a:ext uri="{9D8B030D-6E8A-4147-A177-3AD203B41FA5}">
                      <a16:colId xmlns:a16="http://schemas.microsoft.com/office/drawing/2014/main" val="20008"/>
                    </a:ext>
                  </a:extLst>
                </a:gridCol>
                <a:gridCol w="336550">
                  <a:extLst>
                    <a:ext uri="{9D8B030D-6E8A-4147-A177-3AD203B41FA5}">
                      <a16:colId xmlns:a16="http://schemas.microsoft.com/office/drawing/2014/main" val="20009"/>
                    </a:ext>
                  </a:extLst>
                </a:gridCol>
                <a:gridCol w="361950">
                  <a:extLst>
                    <a:ext uri="{9D8B030D-6E8A-4147-A177-3AD203B41FA5}">
                      <a16:colId xmlns:a16="http://schemas.microsoft.com/office/drawing/2014/main" val="20010"/>
                    </a:ext>
                  </a:extLst>
                </a:gridCol>
                <a:gridCol w="336550">
                  <a:extLst>
                    <a:ext uri="{9D8B030D-6E8A-4147-A177-3AD203B41FA5}">
                      <a16:colId xmlns:a16="http://schemas.microsoft.com/office/drawing/2014/main" val="20011"/>
                    </a:ext>
                  </a:extLst>
                </a:gridCol>
                <a:gridCol w="361950">
                  <a:extLst>
                    <a:ext uri="{9D8B030D-6E8A-4147-A177-3AD203B41FA5}">
                      <a16:colId xmlns:a16="http://schemas.microsoft.com/office/drawing/2014/main" val="20012"/>
                    </a:ext>
                  </a:extLst>
                </a:gridCol>
                <a:gridCol w="323850">
                  <a:extLst>
                    <a:ext uri="{9D8B030D-6E8A-4147-A177-3AD203B41FA5}">
                      <a16:colId xmlns:a16="http://schemas.microsoft.com/office/drawing/2014/main" val="20013"/>
                    </a:ext>
                  </a:extLst>
                </a:gridCol>
                <a:gridCol w="336550">
                  <a:extLst>
                    <a:ext uri="{9D8B030D-6E8A-4147-A177-3AD203B41FA5}">
                      <a16:colId xmlns:a16="http://schemas.microsoft.com/office/drawing/2014/main" val="20014"/>
                    </a:ext>
                  </a:extLst>
                </a:gridCol>
                <a:gridCol w="323850">
                  <a:extLst>
                    <a:ext uri="{9D8B030D-6E8A-4147-A177-3AD203B41FA5}">
                      <a16:colId xmlns:a16="http://schemas.microsoft.com/office/drawing/2014/main" val="20015"/>
                    </a:ext>
                  </a:extLst>
                </a:gridCol>
                <a:gridCol w="361950">
                  <a:extLst>
                    <a:ext uri="{9D8B030D-6E8A-4147-A177-3AD203B41FA5}">
                      <a16:colId xmlns:a16="http://schemas.microsoft.com/office/drawing/2014/main" val="20016"/>
                    </a:ext>
                  </a:extLst>
                </a:gridCol>
                <a:gridCol w="349250">
                  <a:extLst>
                    <a:ext uri="{9D8B030D-6E8A-4147-A177-3AD203B41FA5}">
                      <a16:colId xmlns:a16="http://schemas.microsoft.com/office/drawing/2014/main" val="20017"/>
                    </a:ext>
                  </a:extLst>
                </a:gridCol>
                <a:gridCol w="336550">
                  <a:extLst>
                    <a:ext uri="{9D8B030D-6E8A-4147-A177-3AD203B41FA5}">
                      <a16:colId xmlns:a16="http://schemas.microsoft.com/office/drawing/2014/main" val="20018"/>
                    </a:ext>
                  </a:extLst>
                </a:gridCol>
                <a:gridCol w="361950">
                  <a:extLst>
                    <a:ext uri="{9D8B030D-6E8A-4147-A177-3AD203B41FA5}">
                      <a16:colId xmlns:a16="http://schemas.microsoft.com/office/drawing/2014/main" val="20019"/>
                    </a:ext>
                  </a:extLst>
                </a:gridCol>
                <a:gridCol w="336550">
                  <a:extLst>
                    <a:ext uri="{9D8B030D-6E8A-4147-A177-3AD203B41FA5}">
                      <a16:colId xmlns:a16="http://schemas.microsoft.com/office/drawing/2014/main" val="20020"/>
                    </a:ext>
                  </a:extLst>
                </a:gridCol>
                <a:gridCol w="361950">
                  <a:extLst>
                    <a:ext uri="{9D8B030D-6E8A-4147-A177-3AD203B41FA5}">
                      <a16:colId xmlns:a16="http://schemas.microsoft.com/office/drawing/2014/main" val="20021"/>
                    </a:ext>
                  </a:extLst>
                </a:gridCol>
                <a:gridCol w="349250">
                  <a:extLst>
                    <a:ext uri="{9D8B030D-6E8A-4147-A177-3AD203B41FA5}">
                      <a16:colId xmlns:a16="http://schemas.microsoft.com/office/drawing/2014/main" val="20022"/>
                    </a:ext>
                  </a:extLst>
                </a:gridCol>
                <a:gridCol w="361950">
                  <a:extLst>
                    <a:ext uri="{9D8B030D-6E8A-4147-A177-3AD203B41FA5}">
                      <a16:colId xmlns:a16="http://schemas.microsoft.com/office/drawing/2014/main" val="20023"/>
                    </a:ext>
                  </a:extLst>
                </a:gridCol>
              </a:tblGrid>
              <a:tr h="4572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extLst>
                  <a:ext uri="{0D108BD9-81ED-4DB2-BD59-A6C34878D82A}">
                    <a16:rowId xmlns:a16="http://schemas.microsoft.com/office/drawing/2014/main" val="10000"/>
                  </a:ext>
                </a:extLst>
              </a:tr>
              <a:tr h="457200">
                <a:tc gridSpan="2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0001"/>
                  </a:ext>
                </a:extLst>
              </a:tr>
              <a:tr h="457200">
                <a:tc gridSpan="16">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extLst>
                  <a:ext uri="{0D108BD9-81ED-4DB2-BD59-A6C34878D82A}">
                    <a16:rowId xmlns:a16="http://schemas.microsoft.com/office/drawing/2014/main" val="10002"/>
                  </a:ext>
                </a:extLst>
              </a:tr>
            </a:tbl>
          </a:graphicData>
        </a:graphic>
      </p:graphicFrame>
      <p:sp>
        <p:nvSpPr>
          <p:cNvPr id="114728" name="Rectangle 242"/>
          <p:cNvSpPr/>
          <p:nvPr/>
        </p:nvSpPr>
        <p:spPr>
          <a:xfrm>
            <a:off x="250825" y="1052513"/>
            <a:ext cx="2371725" cy="457200"/>
          </a:xfrm>
          <a:prstGeom prst="rect">
            <a:avLst/>
          </a:prstGeom>
          <a:noFill/>
          <a:ln w="9525">
            <a:noFill/>
          </a:ln>
        </p:spPr>
        <p:txBody>
          <a:bodyPr wrap="none" anchor="ctr">
            <a:spAutoFit/>
          </a:bodyPr>
          <a:lstStyle/>
          <a:p>
            <a:pPr>
              <a:spcBef>
                <a:spcPct val="0"/>
              </a:spcBef>
              <a:buClrTx/>
            </a:pPr>
            <a:r>
              <a:rPr lang="en-US" altLang="zh-CN" b="1" dirty="0">
                <a:solidFill>
                  <a:srgbClr val="030301"/>
                </a:solidFill>
                <a:latin typeface="Arial" panose="020B0604020202020204" pitchFamily="34" charset="0"/>
              </a:rPr>
              <a:t>Fourth attempt</a:t>
            </a:r>
            <a:r>
              <a:rPr lang="en-US" altLang="zh-CN" sz="1100" dirty="0">
                <a:latin typeface="Arial" panose="020B0604020202020204" pitchFamily="34" charset="0"/>
              </a:rPr>
              <a:t> </a:t>
            </a:r>
            <a:endParaRPr lang="en-US" altLang="zh-CN" sz="1800" dirty="0">
              <a:latin typeface="Arial" panose="020B0604020202020204" pitchFamily="34" charset="0"/>
            </a:endParaRPr>
          </a:p>
        </p:txBody>
      </p:sp>
      <p:graphicFrame>
        <p:nvGraphicFramePr>
          <p:cNvPr id="114729" name="内容占位符 114728"/>
          <p:cNvGraphicFramePr>
            <a:graphicFrameLocks noGrp="1"/>
          </p:cNvGraphicFramePr>
          <p:nvPr>
            <p:ph idx="4294967295"/>
            <p:custDataLst>
              <p:tags r:id="rId1"/>
            </p:custDataLst>
          </p:nvPr>
        </p:nvGraphicFramePr>
        <p:xfrm>
          <a:off x="215265" y="1700530"/>
          <a:ext cx="8153400" cy="1443038"/>
        </p:xfrm>
        <a:graphic>
          <a:graphicData uri="http://schemas.openxmlformats.org/drawingml/2006/table">
            <a:tbl>
              <a:tblPr/>
              <a:tblGrid>
                <a:gridCol w="354013">
                  <a:extLst>
                    <a:ext uri="{9D8B030D-6E8A-4147-A177-3AD203B41FA5}">
                      <a16:colId xmlns:a16="http://schemas.microsoft.com/office/drawing/2014/main" val="20000"/>
                    </a:ext>
                  </a:extLst>
                </a:gridCol>
                <a:gridCol w="341312">
                  <a:extLst>
                    <a:ext uri="{9D8B030D-6E8A-4147-A177-3AD203B41FA5}">
                      <a16:colId xmlns:a16="http://schemas.microsoft.com/office/drawing/2014/main" val="20001"/>
                    </a:ext>
                  </a:extLst>
                </a:gridCol>
                <a:gridCol w="328613">
                  <a:extLst>
                    <a:ext uri="{9D8B030D-6E8A-4147-A177-3AD203B41FA5}">
                      <a16:colId xmlns:a16="http://schemas.microsoft.com/office/drawing/2014/main" val="20002"/>
                    </a:ext>
                  </a:extLst>
                </a:gridCol>
                <a:gridCol w="315912">
                  <a:extLst>
                    <a:ext uri="{9D8B030D-6E8A-4147-A177-3AD203B41FA5}">
                      <a16:colId xmlns:a16="http://schemas.microsoft.com/office/drawing/2014/main" val="20003"/>
                    </a:ext>
                  </a:extLst>
                </a:gridCol>
                <a:gridCol w="341313">
                  <a:extLst>
                    <a:ext uri="{9D8B030D-6E8A-4147-A177-3AD203B41FA5}">
                      <a16:colId xmlns:a16="http://schemas.microsoft.com/office/drawing/2014/main" val="20004"/>
                    </a:ext>
                  </a:extLst>
                </a:gridCol>
                <a:gridCol w="354012">
                  <a:extLst>
                    <a:ext uri="{9D8B030D-6E8A-4147-A177-3AD203B41FA5}">
                      <a16:colId xmlns:a16="http://schemas.microsoft.com/office/drawing/2014/main" val="20005"/>
                    </a:ext>
                  </a:extLst>
                </a:gridCol>
                <a:gridCol w="341313">
                  <a:extLst>
                    <a:ext uri="{9D8B030D-6E8A-4147-A177-3AD203B41FA5}">
                      <a16:colId xmlns:a16="http://schemas.microsoft.com/office/drawing/2014/main" val="20006"/>
                    </a:ext>
                  </a:extLst>
                </a:gridCol>
                <a:gridCol w="328612">
                  <a:extLst>
                    <a:ext uri="{9D8B030D-6E8A-4147-A177-3AD203B41FA5}">
                      <a16:colId xmlns:a16="http://schemas.microsoft.com/office/drawing/2014/main" val="20007"/>
                    </a:ext>
                  </a:extLst>
                </a:gridCol>
                <a:gridCol w="354013">
                  <a:extLst>
                    <a:ext uri="{9D8B030D-6E8A-4147-A177-3AD203B41FA5}">
                      <a16:colId xmlns:a16="http://schemas.microsoft.com/office/drawing/2014/main" val="20008"/>
                    </a:ext>
                  </a:extLst>
                </a:gridCol>
                <a:gridCol w="328612">
                  <a:extLst>
                    <a:ext uri="{9D8B030D-6E8A-4147-A177-3AD203B41FA5}">
                      <a16:colId xmlns:a16="http://schemas.microsoft.com/office/drawing/2014/main" val="20009"/>
                    </a:ext>
                  </a:extLst>
                </a:gridCol>
                <a:gridCol w="354013">
                  <a:extLst>
                    <a:ext uri="{9D8B030D-6E8A-4147-A177-3AD203B41FA5}">
                      <a16:colId xmlns:a16="http://schemas.microsoft.com/office/drawing/2014/main" val="20010"/>
                    </a:ext>
                  </a:extLst>
                </a:gridCol>
                <a:gridCol w="328612">
                  <a:extLst>
                    <a:ext uri="{9D8B030D-6E8A-4147-A177-3AD203B41FA5}">
                      <a16:colId xmlns:a16="http://schemas.microsoft.com/office/drawing/2014/main" val="20011"/>
                    </a:ext>
                  </a:extLst>
                </a:gridCol>
                <a:gridCol w="354013">
                  <a:extLst>
                    <a:ext uri="{9D8B030D-6E8A-4147-A177-3AD203B41FA5}">
                      <a16:colId xmlns:a16="http://schemas.microsoft.com/office/drawing/2014/main" val="20012"/>
                    </a:ext>
                  </a:extLst>
                </a:gridCol>
                <a:gridCol w="341312">
                  <a:extLst>
                    <a:ext uri="{9D8B030D-6E8A-4147-A177-3AD203B41FA5}">
                      <a16:colId xmlns:a16="http://schemas.microsoft.com/office/drawing/2014/main" val="20013"/>
                    </a:ext>
                  </a:extLst>
                </a:gridCol>
                <a:gridCol w="328613">
                  <a:extLst>
                    <a:ext uri="{9D8B030D-6E8A-4147-A177-3AD203B41FA5}">
                      <a16:colId xmlns:a16="http://schemas.microsoft.com/office/drawing/2014/main" val="20014"/>
                    </a:ext>
                  </a:extLst>
                </a:gridCol>
                <a:gridCol w="354012">
                  <a:extLst>
                    <a:ext uri="{9D8B030D-6E8A-4147-A177-3AD203B41FA5}">
                      <a16:colId xmlns:a16="http://schemas.microsoft.com/office/drawing/2014/main" val="20015"/>
                    </a:ext>
                  </a:extLst>
                </a:gridCol>
                <a:gridCol w="328613">
                  <a:extLst>
                    <a:ext uri="{9D8B030D-6E8A-4147-A177-3AD203B41FA5}">
                      <a16:colId xmlns:a16="http://schemas.microsoft.com/office/drawing/2014/main" val="20016"/>
                    </a:ext>
                  </a:extLst>
                </a:gridCol>
                <a:gridCol w="354012">
                  <a:extLst>
                    <a:ext uri="{9D8B030D-6E8A-4147-A177-3AD203B41FA5}">
                      <a16:colId xmlns:a16="http://schemas.microsoft.com/office/drawing/2014/main" val="20017"/>
                    </a:ext>
                  </a:extLst>
                </a:gridCol>
                <a:gridCol w="328613">
                  <a:extLst>
                    <a:ext uri="{9D8B030D-6E8A-4147-A177-3AD203B41FA5}">
                      <a16:colId xmlns:a16="http://schemas.microsoft.com/office/drawing/2014/main" val="20018"/>
                    </a:ext>
                  </a:extLst>
                </a:gridCol>
                <a:gridCol w="354012">
                  <a:extLst>
                    <a:ext uri="{9D8B030D-6E8A-4147-A177-3AD203B41FA5}">
                      <a16:colId xmlns:a16="http://schemas.microsoft.com/office/drawing/2014/main" val="20019"/>
                    </a:ext>
                  </a:extLst>
                </a:gridCol>
                <a:gridCol w="315913">
                  <a:extLst>
                    <a:ext uri="{9D8B030D-6E8A-4147-A177-3AD203B41FA5}">
                      <a16:colId xmlns:a16="http://schemas.microsoft.com/office/drawing/2014/main" val="20020"/>
                    </a:ext>
                  </a:extLst>
                </a:gridCol>
                <a:gridCol w="328612">
                  <a:extLst>
                    <a:ext uri="{9D8B030D-6E8A-4147-A177-3AD203B41FA5}">
                      <a16:colId xmlns:a16="http://schemas.microsoft.com/office/drawing/2014/main" val="20021"/>
                    </a:ext>
                  </a:extLst>
                </a:gridCol>
                <a:gridCol w="341313">
                  <a:extLst>
                    <a:ext uri="{9D8B030D-6E8A-4147-A177-3AD203B41FA5}">
                      <a16:colId xmlns:a16="http://schemas.microsoft.com/office/drawing/2014/main" val="20022"/>
                    </a:ext>
                  </a:extLst>
                </a:gridCol>
                <a:gridCol w="354012">
                  <a:extLst>
                    <a:ext uri="{9D8B030D-6E8A-4147-A177-3AD203B41FA5}">
                      <a16:colId xmlns:a16="http://schemas.microsoft.com/office/drawing/2014/main" val="20023"/>
                    </a:ext>
                  </a:extLst>
                </a:gridCol>
              </a:tblGrid>
              <a:tr h="52863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T</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extLst>
                  <a:ext uri="{0D108BD9-81ED-4DB2-BD59-A6C34878D82A}">
                    <a16:rowId xmlns:a16="http://schemas.microsoft.com/office/drawing/2014/main" val="10000"/>
                  </a:ext>
                </a:extLst>
              </a:tr>
              <a:tr h="457200">
                <a:tc gridSpan="17">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3</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2</a:t>
                      </a:r>
                    </a:p>
                  </a:txBody>
                  <a:tcPr anchor="ctr">
                    <a:lnL>
                      <a:noFill/>
                    </a:lnL>
                    <a:lnR>
                      <a:noFill/>
                    </a:lnR>
                    <a:lnT>
                      <a:noFill/>
                    </a:lnT>
                    <a:lnB>
                      <a:noFill/>
                    </a:lnB>
                    <a:lnTlToBr>
                      <a:noFill/>
                    </a:lnTlToBr>
                    <a:lnBlToTr>
                      <a:noFill/>
                    </a:lnBlToTr>
                    <a:solidFill>
                      <a:srgbClr val="FFFF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1</a:t>
                      </a:r>
                    </a:p>
                  </a:txBody>
                  <a:tcPr anchor="ctr">
                    <a:lnL>
                      <a:noFill/>
                    </a:lnL>
                    <a:lnR>
                      <a:noFill/>
                    </a:lnR>
                    <a:lnT>
                      <a:noFill/>
                    </a:lnT>
                    <a:lnB>
                      <a:noFill/>
                    </a:lnB>
                    <a:lnTlToBr>
                      <a:noFill/>
                    </a:lnTlToBr>
                    <a:lnBlToTr>
                      <a:noFill/>
                    </a:lnBlToTr>
                    <a:solidFill>
                      <a:srgbClr val="FFFFFF"/>
                    </a:solidFill>
                  </a:tcPr>
                </a:tc>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57200">
                <a:tc gridSpan="12">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C</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FAEBD7"/>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808080"/>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A</a:t>
                      </a:r>
                    </a:p>
                  </a:txBody>
                  <a:tcPr anchor="ctr">
                    <a:lnL>
                      <a:noFill/>
                    </a:lnL>
                    <a:lnR>
                      <a:noFill/>
                    </a:lnR>
                    <a:lnT>
                      <a:noFill/>
                    </a:lnT>
                    <a:lnB>
                      <a:noFill/>
                    </a:lnB>
                    <a:lnTlToBr>
                      <a:noFill/>
                    </a:lnTlToBr>
                    <a:lnBlToTr>
                      <a:noFill/>
                    </a:lnBlToTr>
                    <a:solidFill>
                      <a:srgbClr val="D3D3D3"/>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G</a:t>
                      </a:r>
                    </a:p>
                  </a:txBody>
                  <a:tcPr anchor="ctr">
                    <a:lnL>
                      <a:noFill/>
                    </a:lnL>
                    <a:lnR>
                      <a:noFill/>
                    </a:lnR>
                    <a:lnT>
                      <a:noFill/>
                    </a:lnT>
                    <a:lnB>
                      <a:noFill/>
                    </a:lnB>
                    <a:lnTlToBr>
                      <a:noFill/>
                    </a:lnTlToBr>
                    <a:lnBlToTr>
                      <a:noFill/>
                    </a:lnBlToTr>
                    <a:solidFill>
                      <a:srgbClr val="D3D3D3"/>
                    </a:solidFill>
                  </a:tcPr>
                </a:tc>
                <a:tc gridSpan="4">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dirty="0">
                          <a:latin typeface="Arial" panose="020B0604020202020204" pitchFamily="34" charset="0"/>
                        </a:rPr>
                        <a:t> </a:t>
                      </a:r>
                    </a:p>
                  </a:txBody>
                  <a:tcPr anchor="ctr">
                    <a:lnL>
                      <a:noFill/>
                    </a:lnL>
                    <a:lnR>
                      <a:noFill/>
                    </a:lnR>
                    <a:lnT>
                      <a:noFill/>
                    </a:lnT>
                    <a:lnB>
                      <a:noFill/>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P spid="114690" grpId="1"/>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p:cNvSpPr txBox="1"/>
          <p:nvPr/>
        </p:nvSpPr>
        <p:spPr>
          <a:xfrm>
            <a:off x="488950" y="566420"/>
            <a:ext cx="8166100" cy="5815965"/>
          </a:xfrm>
          <a:prstGeom prst="rect">
            <a:avLst/>
          </a:prstGeom>
          <a:noFill/>
        </p:spPr>
        <p:txBody>
          <a:bodyPr wrap="square" rtlCol="0" anchor="t">
            <a:spAutoFit/>
          </a:bodyPr>
          <a:lstStyle/>
          <a:p>
            <a:pPr>
              <a:lnSpc>
                <a:spcPct val="50000"/>
              </a:lnSpc>
            </a:pPr>
            <a:r>
              <a:rPr lang="zh-CN" altLang="en-US" b="1" dirty="0"/>
              <a:t>创建数组bmBc：</a:t>
            </a:r>
          </a:p>
          <a:p>
            <a:pPr>
              <a:lnSpc>
                <a:spcPct val="50000"/>
              </a:lnSpc>
            </a:pPr>
            <a:endParaRPr lang="zh-CN" altLang="en-US" dirty="0"/>
          </a:p>
          <a:p>
            <a:pPr>
              <a:lnSpc>
                <a:spcPct val="50000"/>
              </a:lnSpc>
            </a:pPr>
            <a:r>
              <a:rPr lang="zh-CN" altLang="en-US" dirty="0"/>
              <a:t>  void preBmBc(char *x, int m, int bmBc[]) </a:t>
            </a:r>
          </a:p>
          <a:p>
            <a:pPr>
              <a:lnSpc>
                <a:spcPct val="50000"/>
              </a:lnSpc>
            </a:pPr>
            <a:r>
              <a:rPr lang="zh-CN" altLang="en-US" dirty="0"/>
              <a:t>{</a:t>
            </a:r>
          </a:p>
          <a:p>
            <a:pPr>
              <a:lnSpc>
                <a:spcPct val="50000"/>
              </a:lnSpc>
            </a:pPr>
            <a:r>
              <a:rPr lang="zh-CN" altLang="en-US" dirty="0"/>
              <a:t>  </a:t>
            </a:r>
          </a:p>
          <a:p>
            <a:pPr>
              <a:lnSpc>
                <a:spcPct val="50000"/>
              </a:lnSpc>
            </a:pPr>
            <a:r>
              <a:rPr lang="zh-CN" altLang="en-US" dirty="0"/>
              <a:t>     int i;</a:t>
            </a:r>
          </a:p>
          <a:p>
            <a:pPr>
              <a:lnSpc>
                <a:spcPct val="50000"/>
              </a:lnSpc>
            </a:pPr>
            <a:r>
              <a:rPr lang="zh-CN" altLang="en-US" dirty="0"/>
              <a:t>  </a:t>
            </a:r>
          </a:p>
          <a:p>
            <a:pPr>
              <a:lnSpc>
                <a:spcPct val="50000"/>
              </a:lnSpc>
            </a:pPr>
            <a:r>
              <a:rPr lang="zh-CN" altLang="en-US" dirty="0"/>
              <a:t>     for (i = 0; i &lt; ASIZE; ++i)</a:t>
            </a:r>
          </a:p>
          <a:p>
            <a:pPr>
              <a:lnSpc>
                <a:spcPct val="50000"/>
              </a:lnSpc>
            </a:pPr>
            <a:r>
              <a:rPr lang="zh-CN" altLang="en-US" dirty="0"/>
              <a:t>  </a:t>
            </a:r>
          </a:p>
          <a:p>
            <a:pPr>
              <a:lnSpc>
                <a:spcPct val="50000"/>
              </a:lnSpc>
            </a:pPr>
            <a:r>
              <a:rPr lang="zh-CN" altLang="en-US" dirty="0"/>
              <a:t>        bmBc[i] = m;</a:t>
            </a:r>
          </a:p>
          <a:p>
            <a:pPr>
              <a:lnSpc>
                <a:spcPct val="50000"/>
              </a:lnSpc>
            </a:pPr>
            <a:r>
              <a:rPr lang="zh-CN" altLang="en-US" dirty="0"/>
              <a:t>  </a:t>
            </a:r>
          </a:p>
          <a:p>
            <a:pPr>
              <a:lnSpc>
                <a:spcPct val="50000"/>
              </a:lnSpc>
            </a:pPr>
            <a:r>
              <a:rPr lang="zh-CN" altLang="en-US" dirty="0"/>
              <a:t>     for (i = 0; i &lt; m - 1; ++i)</a:t>
            </a:r>
          </a:p>
          <a:p>
            <a:pPr>
              <a:lnSpc>
                <a:spcPct val="50000"/>
              </a:lnSpc>
            </a:pPr>
            <a:r>
              <a:rPr lang="zh-CN" altLang="en-US" dirty="0"/>
              <a:t> </a:t>
            </a:r>
          </a:p>
          <a:p>
            <a:pPr>
              <a:lnSpc>
                <a:spcPct val="50000"/>
              </a:lnSpc>
            </a:pPr>
            <a:r>
              <a:rPr lang="zh-CN" altLang="en-US" dirty="0"/>
              <a:t>       bmBc[x[i]] = m - i - 1;</a:t>
            </a:r>
          </a:p>
          <a:p>
            <a:pPr>
              <a:lnSpc>
                <a:spcPct val="50000"/>
              </a:lnSpc>
            </a:pPr>
            <a:r>
              <a:rPr lang="zh-CN" altLang="en-US" dirty="0"/>
              <a:t> </a:t>
            </a:r>
          </a:p>
          <a:p>
            <a:pPr>
              <a:lnSpc>
                <a:spcPct val="50000"/>
              </a:lnSpc>
            </a:pPr>
            <a:r>
              <a:rPr lang="zh-CN" altLang="en-US" dirty="0"/>
              <a:t> }</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p:cNvSpPr txBox="1"/>
          <p:nvPr/>
        </p:nvSpPr>
        <p:spPr>
          <a:xfrm>
            <a:off x="396875" y="435610"/>
            <a:ext cx="8227695" cy="6621145"/>
          </a:xfrm>
          <a:prstGeom prst="rect">
            <a:avLst/>
          </a:prstGeom>
          <a:noFill/>
        </p:spPr>
        <p:txBody>
          <a:bodyPr wrap="square" rtlCol="0" anchor="t">
            <a:spAutoFit/>
          </a:bodyPr>
          <a:lstStyle/>
          <a:p>
            <a:pPr>
              <a:lnSpc>
                <a:spcPct val="80000"/>
              </a:lnSpc>
            </a:pPr>
            <a:r>
              <a:rPr lang="zh-CN" altLang="en-US" b="1" dirty="0"/>
              <a:t>构建suffix数组：</a:t>
            </a:r>
          </a:p>
          <a:p>
            <a:pPr>
              <a:lnSpc>
                <a:spcPct val="80000"/>
              </a:lnSpc>
            </a:pPr>
            <a:endParaRPr lang="zh-CN" altLang="en-US" dirty="0"/>
          </a:p>
          <a:p>
            <a:pPr>
              <a:lnSpc>
                <a:spcPct val="80000"/>
              </a:lnSpc>
            </a:pPr>
            <a:r>
              <a:rPr lang="zh-CN" altLang="en-US" dirty="0"/>
              <a:t>  void suffixes(char *x, int m, int *suff)</a:t>
            </a:r>
          </a:p>
          <a:p>
            <a:pPr>
              <a:lnSpc>
                <a:spcPct val="80000"/>
              </a:lnSpc>
            </a:pPr>
            <a:r>
              <a:rPr lang="zh-CN" altLang="en-US" dirty="0"/>
              <a:t>   {</a:t>
            </a:r>
          </a:p>
          <a:p>
            <a:pPr>
              <a:lnSpc>
                <a:spcPct val="80000"/>
              </a:lnSpc>
            </a:pPr>
            <a:r>
              <a:rPr lang="zh-CN" altLang="en-US" dirty="0"/>
              <a:t>  　　suff[m-1]=m;</a:t>
            </a:r>
          </a:p>
          <a:p>
            <a:pPr>
              <a:lnSpc>
                <a:spcPct val="80000"/>
              </a:lnSpc>
            </a:pPr>
            <a:r>
              <a:rPr lang="zh-CN" altLang="en-US" dirty="0"/>
              <a:t>  　　for (i=m-2；i&gt;=0；--i)</a:t>
            </a:r>
          </a:p>
          <a:p>
            <a:pPr>
              <a:lnSpc>
                <a:spcPct val="80000"/>
              </a:lnSpc>
            </a:pPr>
            <a:r>
              <a:rPr lang="zh-CN" altLang="en-US" dirty="0"/>
              <a:t>     {</a:t>
            </a:r>
          </a:p>
          <a:p>
            <a:pPr>
              <a:lnSpc>
                <a:spcPct val="80000"/>
              </a:lnSpc>
            </a:pPr>
            <a:r>
              <a:rPr lang="zh-CN" altLang="en-US" dirty="0"/>
              <a:t>      q=i;</a:t>
            </a:r>
          </a:p>
          <a:p>
            <a:pPr>
              <a:lnSpc>
                <a:spcPct val="80000"/>
              </a:lnSpc>
            </a:pPr>
            <a:r>
              <a:rPr lang="zh-CN" altLang="en-US" dirty="0"/>
              <a:t>      while(q&gt;=0&amp;&amp;x[q]==x[m-1-i+q])</a:t>
            </a:r>
          </a:p>
          <a:p>
            <a:pPr>
              <a:lnSpc>
                <a:spcPct val="80000"/>
              </a:lnSpc>
            </a:pPr>
            <a:r>
              <a:rPr lang="zh-CN" altLang="en-US" dirty="0"/>
              <a:t>          --q;</a:t>
            </a:r>
          </a:p>
          <a:p>
            <a:pPr>
              <a:lnSpc>
                <a:spcPct val="80000"/>
              </a:lnSpc>
            </a:pPr>
            <a:r>
              <a:rPr lang="zh-CN" altLang="en-US" dirty="0"/>
              <a:t>      suff[i]=i-q;</a:t>
            </a:r>
          </a:p>
          <a:p>
            <a:pPr>
              <a:lnSpc>
                <a:spcPct val="80000"/>
              </a:lnSpc>
            </a:pPr>
            <a:r>
              <a:rPr lang="zh-CN" altLang="en-US" dirty="0"/>
              <a:t>     }</a:t>
            </a:r>
          </a:p>
          <a:p>
            <a:pPr>
              <a:lnSpc>
                <a:spcPct val="80000"/>
              </a:lnSpc>
            </a:pPr>
            <a:r>
              <a:rPr lang="zh-CN" altLang="en-US" dirty="0"/>
              <a:t> }</a:t>
            </a:r>
          </a:p>
          <a:p>
            <a:pPr>
              <a:lnSpc>
                <a:spcPct val="80000"/>
              </a:lnSpc>
            </a:pPr>
            <a:endParaRPr lang="zh-CN" altLang="en-US"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350520"/>
            <a:ext cx="7886700" cy="5826760"/>
          </a:xfrm>
        </p:spPr>
        <p:txBody>
          <a:bodyPr>
            <a:noAutofit/>
          </a:bodyPr>
          <a:lstStyle/>
          <a:p>
            <a:pPr marL="0" indent="0">
              <a:buNone/>
            </a:pPr>
            <a:r>
              <a:rPr lang="zh-CN" altLang="en-US" sz="2800" b="1" dirty="0"/>
              <a:t>构建bmGs数组</a:t>
            </a:r>
            <a:endParaRPr lang="zh-CN" altLang="en-US" sz="2000" dirty="0"/>
          </a:p>
          <a:p>
            <a:pPr marL="0" indent="0">
              <a:buNone/>
            </a:pPr>
            <a:endParaRPr lang="zh-CN" altLang="en-US" sz="2000" dirty="0"/>
          </a:p>
          <a:p>
            <a:pPr marL="0" indent="0">
              <a:buNone/>
            </a:pPr>
            <a:r>
              <a:rPr lang="zh-CN" altLang="en-US" sz="2000" dirty="0"/>
              <a:t> void preBmGs(char *x, int m, int bmGs[]) {</a:t>
            </a:r>
          </a:p>
          <a:p>
            <a:pPr marL="0" indent="0">
              <a:buNone/>
            </a:pPr>
            <a:r>
              <a:rPr lang="zh-CN" altLang="en-US" sz="2000" dirty="0"/>
              <a:t>    int i, j, suff[XSIZE];</a:t>
            </a:r>
          </a:p>
          <a:p>
            <a:pPr marL="0" indent="0">
              <a:buNone/>
            </a:pPr>
            <a:r>
              <a:rPr lang="zh-CN" altLang="en-US" sz="2000" dirty="0"/>
              <a:t>     suffixes(x, m, suff);</a:t>
            </a:r>
          </a:p>
          <a:p>
            <a:pPr marL="0" indent="0">
              <a:buNone/>
            </a:pPr>
            <a:r>
              <a:rPr lang="zh-CN" altLang="en-US" sz="2000" dirty="0"/>
              <a:t>     for (i = 0; i &lt; m; ++i)</a:t>
            </a:r>
          </a:p>
          <a:p>
            <a:pPr marL="0" indent="0">
              <a:buNone/>
            </a:pPr>
            <a:r>
              <a:rPr lang="zh-CN" altLang="en-US" sz="2000" dirty="0"/>
              <a:t>        bmGs[i] = m;</a:t>
            </a:r>
          </a:p>
          <a:p>
            <a:pPr marL="0" indent="0">
              <a:buNone/>
            </a:pPr>
            <a:r>
              <a:rPr lang="zh-CN" altLang="en-US" sz="2000" dirty="0"/>
              <a:t>     j = 0;</a:t>
            </a:r>
          </a:p>
          <a:p>
            <a:pPr marL="0" indent="0">
              <a:buNone/>
            </a:pPr>
            <a:r>
              <a:rPr lang="zh-CN" altLang="en-US" sz="2000" dirty="0"/>
              <a:t>     for (i = m - 1; i &gt;= 0; --i)</a:t>
            </a:r>
          </a:p>
          <a:p>
            <a:pPr marL="0" indent="0">
              <a:buNone/>
            </a:pPr>
            <a:r>
              <a:rPr lang="zh-CN" altLang="en-US" sz="2000" dirty="0"/>
              <a:t>        if (suff[i] == i + 1)</a:t>
            </a:r>
          </a:p>
          <a:p>
            <a:pPr marL="0" indent="0">
              <a:buNone/>
            </a:pPr>
            <a:r>
              <a:rPr lang="zh-CN" altLang="en-US" sz="2000" dirty="0"/>
              <a:t>           for (; j &lt; m - 1 - i; ++j)</a:t>
            </a:r>
          </a:p>
          <a:p>
            <a:pPr marL="0" indent="0">
              <a:buNone/>
            </a:pPr>
            <a:r>
              <a:rPr lang="zh-CN" altLang="en-US" sz="2000" dirty="0"/>
              <a:t>             if (bmGs[j] == m)</a:t>
            </a:r>
          </a:p>
          <a:p>
            <a:pPr marL="0" indent="0">
              <a:buNone/>
            </a:pPr>
            <a:r>
              <a:rPr lang="zh-CN" altLang="en-US" sz="2000" dirty="0"/>
              <a:t>                bmGs[j] = m - 1 - i;</a:t>
            </a:r>
          </a:p>
          <a:p>
            <a:pPr marL="0" indent="0">
              <a:buNone/>
            </a:pPr>
            <a:r>
              <a:rPr lang="zh-CN" altLang="en-US" sz="2000" dirty="0"/>
              <a:t>    for (i = 0; i &lt;= m - 2; ++i)</a:t>
            </a:r>
          </a:p>
          <a:p>
            <a:pPr marL="0" indent="0">
              <a:buNone/>
            </a:pPr>
            <a:r>
              <a:rPr lang="zh-CN" altLang="en-US" sz="2000" dirty="0"/>
              <a:t>       bmGs[m - 1 - suff[i]] = m - 1 - i;</a:t>
            </a:r>
          </a:p>
          <a:p>
            <a:pPr marL="0" indent="0">
              <a:buNone/>
            </a:pPr>
            <a:r>
              <a:rPr lang="zh-CN" altLang="en-US" sz="2000" dirty="0"/>
              <a:t> }</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57</a:t>
            </a:fld>
            <a:endParaRPr lang="en-US" altLang="zh-CN" sz="1400" dirty="0"/>
          </a:p>
        </p:txBody>
      </p:sp>
      <p:sp>
        <p:nvSpPr>
          <p:cNvPr id="116738" name="Rectangle 123"/>
          <p:cNvSpPr>
            <a:spLocks noGrp="1" noRot="1"/>
          </p:cNvSpPr>
          <p:nvPr>
            <p:ph idx="4294967295"/>
          </p:nvPr>
        </p:nvSpPr>
        <p:spPr>
          <a:xfrm>
            <a:off x="828040" y="1794510"/>
            <a:ext cx="8153400" cy="2836545"/>
          </a:xfrm>
        </p:spPr>
        <p:txBody>
          <a:bodyPr vert="horz" wrap="square" lIns="91440" tIns="45720" rIns="91440" bIns="45720" anchor="t"/>
          <a:lstStyle/>
          <a:p>
            <a:pPr eaLnBrk="1" hangingPunct="1"/>
            <a:r>
              <a:rPr lang="zh-CN" altLang="en-US" sz="2800" dirty="0"/>
              <a:t>文本：</a:t>
            </a:r>
            <a:r>
              <a:rPr lang="en-US" altLang="zh-CN" sz="2800" dirty="0"/>
              <a:t>GCATCGCAGAGAGTATACAGTACG</a:t>
            </a:r>
          </a:p>
          <a:p>
            <a:pPr eaLnBrk="1" hangingPunct="1">
              <a:buNone/>
            </a:pPr>
            <a:r>
              <a:rPr lang="en-US" altLang="zh-CN" sz="2800" b="0" dirty="0">
                <a:solidFill>
                  <a:srgbClr val="FF0000"/>
                </a:solidFill>
              </a:rPr>
              <a:t>              765432 1 0                       </a:t>
            </a:r>
          </a:p>
          <a:p>
            <a:pPr eaLnBrk="1" hangingPunct="1"/>
            <a:r>
              <a:rPr lang="zh-CN" altLang="en-US" sz="2800" dirty="0"/>
              <a:t>模式：</a:t>
            </a:r>
            <a:r>
              <a:rPr lang="en-US" altLang="zh-CN" sz="2800" dirty="0"/>
              <a:t>GCAGCGAG</a:t>
            </a:r>
          </a:p>
        </p:txBody>
      </p:sp>
      <p:sp>
        <p:nvSpPr>
          <p:cNvPr id="116739" name="文本框 4"/>
          <p:cNvSpPr txBox="1"/>
          <p:nvPr/>
        </p:nvSpPr>
        <p:spPr>
          <a:xfrm>
            <a:off x="755650" y="836613"/>
            <a:ext cx="3024188" cy="461962"/>
          </a:xfrm>
          <a:prstGeom prst="rect">
            <a:avLst/>
          </a:prstGeom>
          <a:noFill/>
          <a:ln w="9525">
            <a:noFill/>
          </a:ln>
        </p:spPr>
        <p:txBody>
          <a:bodyPr>
            <a:spAutoFit/>
          </a:bodyPr>
          <a:lstStyle/>
          <a:p>
            <a:pPr>
              <a:buClrTx/>
            </a:pPr>
            <a:r>
              <a:rPr lang="zh-CN" altLang="en-US">
                <a:latin typeface="Arial" panose="020B0604020202020204" pitchFamily="34" charset="0"/>
              </a:rPr>
              <a:t>练习：</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58</a:t>
            </a:fld>
            <a:endParaRPr lang="en-US" altLang="zh-CN" sz="1400" dirty="0"/>
          </a:p>
        </p:txBody>
      </p:sp>
      <p:sp>
        <p:nvSpPr>
          <p:cNvPr id="117762" name="Rectangle 3"/>
          <p:cNvSpPr>
            <a:spLocks noGrp="1" noRot="1"/>
          </p:cNvSpPr>
          <p:nvPr>
            <p:ph idx="1"/>
          </p:nvPr>
        </p:nvSpPr>
        <p:spPr>
          <a:xfrm>
            <a:off x="628650" y="984886"/>
            <a:ext cx="7886700" cy="4474845"/>
          </a:xfrm>
        </p:spPr>
        <p:txBody>
          <a:bodyPr vert="horz" wrap="square" lIns="91440" tIns="45720" rIns="91440" bIns="45720" anchor="t">
            <a:normAutofit fontScale="92500" lnSpcReduction="20000"/>
          </a:bodyPr>
          <a:lstStyle/>
          <a:p>
            <a:pPr eaLnBrk="1" hangingPunct="1">
              <a:lnSpc>
                <a:spcPct val="90000"/>
              </a:lnSpc>
            </a:pPr>
            <a:r>
              <a:rPr lang="en-US" altLang="zh-CN" sz="2400" dirty="0"/>
              <a:t>BF</a:t>
            </a:r>
            <a:r>
              <a:rPr lang="zh-CN" altLang="en-US" sz="2400" dirty="0"/>
              <a:t>算法</a:t>
            </a:r>
          </a:p>
          <a:p>
            <a:pPr eaLnBrk="1" hangingPunct="1">
              <a:lnSpc>
                <a:spcPct val="90000"/>
              </a:lnSpc>
              <a:buNone/>
            </a:pPr>
            <a:r>
              <a:rPr lang="zh-CN" altLang="en-US" sz="2400" dirty="0"/>
              <a:t>  </a:t>
            </a:r>
            <a:r>
              <a:rPr lang="en-US" altLang="zh-CN" sz="2400" dirty="0"/>
              <a:t>String  length: 24</a:t>
            </a:r>
          </a:p>
          <a:p>
            <a:pPr eaLnBrk="1" hangingPunct="1">
              <a:lnSpc>
                <a:spcPct val="90000"/>
              </a:lnSpc>
              <a:buNone/>
            </a:pPr>
            <a:r>
              <a:rPr lang="en-US" altLang="zh-CN" sz="2400" dirty="0"/>
              <a:t>  Pattern length: 8</a:t>
            </a:r>
          </a:p>
          <a:p>
            <a:pPr eaLnBrk="1" hangingPunct="1">
              <a:lnSpc>
                <a:spcPct val="90000"/>
              </a:lnSpc>
              <a:buNone/>
            </a:pPr>
            <a:r>
              <a:rPr lang="en-US" altLang="zh-CN" sz="2400" dirty="0"/>
              <a:t>  Attempts: 17</a:t>
            </a:r>
          </a:p>
          <a:p>
            <a:pPr eaLnBrk="1" hangingPunct="1">
              <a:lnSpc>
                <a:spcPct val="90000"/>
              </a:lnSpc>
              <a:buNone/>
            </a:pPr>
            <a:r>
              <a:rPr lang="en-US" altLang="zh-CN" sz="2400" dirty="0"/>
              <a:t>  Character comparisons: 30</a:t>
            </a:r>
          </a:p>
          <a:p>
            <a:pPr eaLnBrk="1" hangingPunct="1">
              <a:lnSpc>
                <a:spcPct val="90000"/>
              </a:lnSpc>
              <a:buNone/>
            </a:pPr>
            <a:endParaRPr lang="en-US" altLang="zh-CN" sz="2400" dirty="0"/>
          </a:p>
          <a:p>
            <a:pPr eaLnBrk="1" hangingPunct="1">
              <a:lnSpc>
                <a:spcPct val="90000"/>
              </a:lnSpc>
            </a:pPr>
            <a:r>
              <a:rPr lang="en-US" altLang="zh-CN" sz="2400" dirty="0"/>
              <a:t>KMP</a:t>
            </a:r>
            <a:r>
              <a:rPr lang="zh-CN" altLang="en-US" sz="2400" dirty="0"/>
              <a:t>算法</a:t>
            </a:r>
          </a:p>
          <a:p>
            <a:pPr eaLnBrk="1" hangingPunct="1">
              <a:lnSpc>
                <a:spcPct val="90000"/>
              </a:lnSpc>
              <a:buNone/>
            </a:pPr>
            <a:r>
              <a:rPr lang="zh-CN" altLang="en-US" sz="2400" dirty="0"/>
              <a:t>   </a:t>
            </a:r>
            <a:r>
              <a:rPr lang="en-US" altLang="zh-CN" sz="2400" dirty="0"/>
              <a:t>Attempts: 8</a:t>
            </a:r>
          </a:p>
          <a:p>
            <a:pPr eaLnBrk="1" hangingPunct="1">
              <a:lnSpc>
                <a:spcPct val="90000"/>
              </a:lnSpc>
              <a:buNone/>
            </a:pPr>
            <a:r>
              <a:rPr lang="en-US" altLang="zh-CN" sz="2400" dirty="0"/>
              <a:t>   Character comparisons: 18</a:t>
            </a:r>
          </a:p>
          <a:p>
            <a:pPr eaLnBrk="1" hangingPunct="1">
              <a:lnSpc>
                <a:spcPct val="90000"/>
              </a:lnSpc>
              <a:buNone/>
            </a:pPr>
            <a:endParaRPr lang="en-US" altLang="zh-CN" sz="2400" dirty="0"/>
          </a:p>
          <a:p>
            <a:pPr eaLnBrk="1" hangingPunct="1">
              <a:lnSpc>
                <a:spcPct val="90000"/>
              </a:lnSpc>
            </a:pPr>
            <a:r>
              <a:rPr lang="en-US" altLang="zh-CN" sz="2400" dirty="0"/>
              <a:t>BM </a:t>
            </a:r>
            <a:r>
              <a:rPr lang="zh-CN" altLang="en-US" sz="2400" dirty="0"/>
              <a:t>算法</a:t>
            </a:r>
          </a:p>
          <a:p>
            <a:pPr eaLnBrk="1" hangingPunct="1">
              <a:lnSpc>
                <a:spcPct val="90000"/>
              </a:lnSpc>
              <a:buNone/>
            </a:pPr>
            <a:r>
              <a:rPr lang="zh-CN" altLang="en-US" sz="2400" dirty="0"/>
              <a:t>   </a:t>
            </a:r>
            <a:r>
              <a:rPr lang="en-US" altLang="zh-CN" sz="2400" dirty="0"/>
              <a:t>Attempts: 5</a:t>
            </a:r>
          </a:p>
          <a:p>
            <a:pPr eaLnBrk="1" hangingPunct="1">
              <a:lnSpc>
                <a:spcPct val="90000"/>
              </a:lnSpc>
              <a:buNone/>
            </a:pPr>
            <a:r>
              <a:rPr lang="en-US" altLang="zh-CN" sz="2400" dirty="0"/>
              <a:t>   Character comparisons: 17</a:t>
            </a:r>
          </a:p>
          <a:p>
            <a:pPr eaLnBrk="1" hangingPunct="1">
              <a:lnSpc>
                <a:spcPct val="90000"/>
              </a:lnSpc>
            </a:pPr>
            <a:endParaRPr lang="en-US" altLang="zh-CN"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59</a:t>
            </a:fld>
            <a:endParaRPr lang="en-US" altLang="zh-CN" sz="1400" dirty="0"/>
          </a:p>
        </p:txBody>
      </p:sp>
      <p:sp>
        <p:nvSpPr>
          <p:cNvPr id="119810" name="Text Box 7"/>
          <p:cNvSpPr txBox="1"/>
          <p:nvPr/>
        </p:nvSpPr>
        <p:spPr>
          <a:xfrm>
            <a:off x="467043" y="1258888"/>
            <a:ext cx="8137525" cy="4473575"/>
          </a:xfrm>
          <a:prstGeom prst="rect">
            <a:avLst/>
          </a:prstGeom>
          <a:noFill/>
          <a:ln w="9525">
            <a:noFill/>
          </a:ln>
        </p:spPr>
        <p:txBody>
          <a:bodyPr>
            <a:spAutoFit/>
          </a:bodyPr>
          <a:lstStyle/>
          <a:p>
            <a:pPr>
              <a:lnSpc>
                <a:spcPct val="120000"/>
              </a:lnSpc>
              <a:spcBef>
                <a:spcPct val="0"/>
              </a:spcBef>
              <a:buClrTx/>
            </a:pPr>
            <a:r>
              <a:rPr lang="en-US" altLang="zh-CN" b="1" dirty="0">
                <a:solidFill>
                  <a:srgbClr val="030301"/>
                </a:solidFill>
                <a:latin typeface="Arial" panose="020B0604020202020204" pitchFamily="34" charset="0"/>
              </a:rPr>
              <a:t>       </a:t>
            </a:r>
            <a:r>
              <a:rPr lang="zh-CN" altLang="en-US" b="1" dirty="0">
                <a:solidFill>
                  <a:srgbClr val="030301"/>
                </a:solidFill>
                <a:latin typeface="Arial" panose="020B0604020202020204" pitchFamily="34" charset="0"/>
              </a:rPr>
              <a:t>在搜索过程中大多数情况下只利用了</a:t>
            </a:r>
            <a:r>
              <a:rPr lang="en-US" altLang="zh-CN" b="1" dirty="0">
                <a:solidFill>
                  <a:srgbClr val="030301"/>
                </a:solidFill>
                <a:latin typeface="Arial" panose="020B0604020202020204" pitchFamily="34" charset="0"/>
              </a:rPr>
              <a:t>bad-character</a:t>
            </a:r>
            <a:r>
              <a:rPr lang="zh-CN" altLang="en-US" b="1" dirty="0">
                <a:solidFill>
                  <a:srgbClr val="030301"/>
                </a:solidFill>
                <a:latin typeface="Arial" panose="020B0604020202020204" pitchFamily="34" charset="0"/>
              </a:rPr>
              <a:t>表，这个表是</a:t>
            </a:r>
            <a:r>
              <a:rPr lang="en-US" altLang="zh-CN" b="1" dirty="0">
                <a:solidFill>
                  <a:srgbClr val="030301"/>
                </a:solidFill>
                <a:latin typeface="Arial" panose="020B0604020202020204" pitchFamily="34" charset="0"/>
              </a:rPr>
              <a:t>BM</a:t>
            </a:r>
            <a:r>
              <a:rPr lang="zh-CN" altLang="en-US" b="1" dirty="0">
                <a:solidFill>
                  <a:srgbClr val="030301"/>
                </a:solidFill>
                <a:latin typeface="Arial" panose="020B0604020202020204" pitchFamily="34" charset="0"/>
              </a:rPr>
              <a:t>算法的核心，</a:t>
            </a:r>
            <a:r>
              <a:rPr lang="en-US" altLang="zh-CN" b="1" dirty="0">
                <a:solidFill>
                  <a:srgbClr val="030301"/>
                </a:solidFill>
                <a:latin typeface="Arial" panose="020B0604020202020204" pitchFamily="34" charset="0"/>
              </a:rPr>
              <a:t>bad-character</a:t>
            </a:r>
            <a:r>
              <a:rPr lang="zh-CN" altLang="en-US" b="1" dirty="0">
                <a:solidFill>
                  <a:srgbClr val="030301"/>
                </a:solidFill>
                <a:latin typeface="Arial" panose="020B0604020202020204" pitchFamily="34" charset="0"/>
              </a:rPr>
              <a:t>思想不仅表达简练而且非常实用。因为在实际自然语言文本搜索中，</a:t>
            </a:r>
            <a:r>
              <a:rPr lang="zh-CN" altLang="en-US" b="1" dirty="0">
                <a:solidFill>
                  <a:srgbClr val="C00000"/>
                </a:solidFill>
                <a:latin typeface="Arial" panose="020B0604020202020204" pitchFamily="34" charset="0"/>
              </a:rPr>
              <a:t>字符比较失败的概率很大，所以出现大距离跳跃的几率很大，另外随着模式的变长，可能跳跃的距离也将变长。</a:t>
            </a:r>
            <a:r>
              <a:rPr lang="zh-CN" altLang="en-US" b="1" dirty="0">
                <a:solidFill>
                  <a:srgbClr val="030301"/>
                </a:solidFill>
                <a:latin typeface="Arial" panose="020B0604020202020204" pitchFamily="34" charset="0"/>
              </a:rPr>
              <a:t>因此，</a:t>
            </a:r>
            <a:r>
              <a:rPr lang="en-US" altLang="zh-CN" b="1" dirty="0">
                <a:solidFill>
                  <a:srgbClr val="030301"/>
                </a:solidFill>
                <a:latin typeface="Arial" panose="020B0604020202020204" pitchFamily="34" charset="0"/>
              </a:rPr>
              <a:t>BM</a:t>
            </a:r>
            <a:r>
              <a:rPr lang="zh-CN" altLang="en-US" b="1" dirty="0">
                <a:solidFill>
                  <a:srgbClr val="030301"/>
                </a:solidFill>
                <a:latin typeface="Arial" panose="020B0604020202020204" pitchFamily="34" charset="0"/>
              </a:rPr>
              <a:t>家族算法在实际应用中的速度是很快的。</a:t>
            </a:r>
          </a:p>
          <a:p>
            <a:pPr>
              <a:lnSpc>
                <a:spcPct val="120000"/>
              </a:lnSpc>
              <a:spcBef>
                <a:spcPct val="0"/>
              </a:spcBef>
              <a:buClrTx/>
            </a:pPr>
            <a:r>
              <a:rPr lang="zh-CN" altLang="en-US" b="1" dirty="0">
                <a:solidFill>
                  <a:srgbClr val="030301"/>
                </a:solidFill>
                <a:latin typeface="Arial" panose="020B0604020202020204" pitchFamily="34" charset="0"/>
              </a:rPr>
              <a:t>       后来的变种如</a:t>
            </a:r>
            <a:r>
              <a:rPr lang="en-US" altLang="zh-CN" b="1" dirty="0">
                <a:solidFill>
                  <a:srgbClr val="030301"/>
                </a:solidFill>
                <a:latin typeface="Arial" panose="020B0604020202020204" pitchFamily="34" charset="0"/>
              </a:rPr>
              <a:t>Horspool-BM</a:t>
            </a:r>
            <a:r>
              <a:rPr lang="zh-CN" altLang="en-US"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Tuned-BM</a:t>
            </a:r>
            <a:r>
              <a:rPr lang="zh-CN" altLang="en-US"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QS</a:t>
            </a:r>
            <a:r>
              <a:rPr lang="zh-CN" altLang="en-US" b="1" dirty="0">
                <a:solidFill>
                  <a:srgbClr val="030301"/>
                </a:solidFill>
                <a:latin typeface="Arial" panose="020B0604020202020204" pitchFamily="34" charset="0"/>
              </a:rPr>
              <a:t>等大都只保留了</a:t>
            </a:r>
            <a:r>
              <a:rPr lang="en-US" altLang="zh-CN" b="1" dirty="0">
                <a:solidFill>
                  <a:srgbClr val="030301"/>
                </a:solidFill>
                <a:latin typeface="Arial" panose="020B0604020202020204" pitchFamily="34" charset="0"/>
              </a:rPr>
              <a:t>bad-character</a:t>
            </a:r>
            <a:r>
              <a:rPr lang="zh-CN" altLang="en-US" b="1" dirty="0">
                <a:solidFill>
                  <a:srgbClr val="030301"/>
                </a:solidFill>
                <a:latin typeface="Arial" panose="020B0604020202020204" pitchFamily="34" charset="0"/>
              </a:rPr>
              <a:t>思想，所作的工作只是简化算法实现和提高跳跃几率，因为在模式匹配中，字符比较是最费时的操作。</a:t>
            </a:r>
            <a:r>
              <a:rPr lang="zh-CN" altLang="en-US" sz="1800" dirty="0">
                <a:latin typeface="Arial" panose="020B0604020202020204" pitchFamily="34" charset="0"/>
              </a:rPr>
              <a:t> </a:t>
            </a:r>
          </a:p>
        </p:txBody>
      </p:sp>
      <p:sp>
        <p:nvSpPr>
          <p:cNvPr id="3" name="标题 2"/>
          <p:cNvSpPr>
            <a:spLocks noGrp="1"/>
          </p:cNvSpPr>
          <p:nvPr>
            <p:ph type="title"/>
          </p:nvPr>
        </p:nvSpPr>
        <p:spPr>
          <a:xfrm>
            <a:off x="413385" y="6351"/>
            <a:ext cx="7886700" cy="1325563"/>
          </a:xfrm>
        </p:spPr>
        <p:txBody>
          <a:bodyPr/>
          <a:lstStyle/>
          <a:p>
            <a:r>
              <a:rPr lang="zh-CN" altLang="en-US"/>
              <a:t>小结</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60</a:t>
            </a:fld>
            <a:endParaRPr lang="en-US" altLang="zh-CN" sz="1400" dirty="0"/>
          </a:p>
        </p:txBody>
      </p:sp>
      <p:sp>
        <p:nvSpPr>
          <p:cNvPr id="234504" name="Rectangle 8"/>
          <p:cNvSpPr>
            <a:spLocks noRot="1" noChangeArrowheads="1"/>
          </p:cNvSpPr>
          <p:nvPr/>
        </p:nvSpPr>
        <p:spPr bwMode="auto">
          <a:xfrm>
            <a:off x="971550" y="262890"/>
            <a:ext cx="7369175" cy="606425"/>
          </a:xfrm>
          <a:prstGeom prst="rect">
            <a:avLst/>
          </a:prstGeom>
          <a:noFill/>
          <a:ln w="9525">
            <a:noFill/>
            <a:miter lim="800000"/>
          </a:ln>
          <a:effectLst/>
        </p:spPr>
        <p:txBody>
          <a:bodyPr anchor="ctr"/>
          <a:lstStyle/>
          <a:p>
            <a:pPr algn="ctr">
              <a:spcBef>
                <a:spcPct val="0"/>
              </a:spcBef>
              <a:buClrTx/>
            </a:pPr>
            <a:r>
              <a:rPr lang="zh-CN" altLang="en-US" sz="3200" b="1" dirty="0">
                <a:effectLst>
                  <a:outerShdw blurRad="38100" dist="38100" dir="2700000">
                    <a:srgbClr val="000000"/>
                  </a:outerShdw>
                </a:effectLst>
                <a:latin typeface="Arial" panose="020B0604020202020204" pitchFamily="34" charset="0"/>
              </a:rPr>
              <a:t>单模式匹配算法比较</a:t>
            </a:r>
          </a:p>
        </p:txBody>
      </p:sp>
      <p:sp>
        <p:nvSpPr>
          <p:cNvPr id="122883" name="Text Box 9"/>
          <p:cNvSpPr txBox="1"/>
          <p:nvPr/>
        </p:nvSpPr>
        <p:spPr>
          <a:xfrm>
            <a:off x="539750" y="1026795"/>
            <a:ext cx="8064500" cy="5262245"/>
          </a:xfrm>
          <a:prstGeom prst="rect">
            <a:avLst/>
          </a:prstGeom>
          <a:noFill/>
          <a:ln w="9525">
            <a:noFill/>
          </a:ln>
        </p:spPr>
        <p:txBody>
          <a:bodyPr>
            <a:spAutoFit/>
          </a:bodyPr>
          <a:lstStyle/>
          <a:p>
            <a:pPr marL="1257300" lvl="2" indent="-342900">
              <a:spcBef>
                <a:spcPct val="0"/>
              </a:spcBef>
              <a:buClrTx/>
            </a:pPr>
            <a:endParaRPr lang="zh-CN" altLang="en-US" b="1" dirty="0">
              <a:solidFill>
                <a:srgbClr val="030301"/>
              </a:solidFill>
              <a:latin typeface="Arial" panose="020B0604020202020204" pitchFamily="34" charset="0"/>
            </a:endParaRPr>
          </a:p>
          <a:p>
            <a:pPr marL="342900" lvl="0" indent="-342900">
              <a:spcBef>
                <a:spcPct val="0"/>
              </a:spcBef>
              <a:buClrTx/>
            </a:pPr>
            <a:r>
              <a:rPr lang="zh-CN" altLang="en-US" b="1" dirty="0">
                <a:solidFill>
                  <a:srgbClr val="C00000"/>
                </a:solidFill>
                <a:latin typeface="Arial" panose="020B0604020202020204" pitchFamily="34" charset="0"/>
              </a:rPr>
              <a:t>测试系统环境：</a:t>
            </a:r>
          </a:p>
          <a:p>
            <a:pPr marL="342900" indent="-342900">
              <a:spcBef>
                <a:spcPct val="0"/>
              </a:spcBef>
              <a:buClrTx/>
            </a:pPr>
            <a:r>
              <a:rPr lang="zh-CN" altLang="en-US" b="1" dirty="0">
                <a:solidFill>
                  <a:srgbClr val="030301"/>
                </a:solidFill>
                <a:latin typeface="Arial" panose="020B0604020202020204" pitchFamily="34" charset="0"/>
              </a:rPr>
              <a:t>    测试平台：清华同方，双</a:t>
            </a:r>
            <a:r>
              <a:rPr lang="en-US" altLang="zh-CN" b="1" dirty="0">
                <a:solidFill>
                  <a:srgbClr val="030301"/>
                </a:solidFill>
                <a:latin typeface="Arial" panose="020B0604020202020204" pitchFamily="34" charset="0"/>
              </a:rPr>
              <a:t>CPU:PIII 600MHz </a:t>
            </a:r>
            <a:r>
              <a:rPr lang="zh-CN" altLang="en-US" b="1" dirty="0">
                <a:solidFill>
                  <a:srgbClr val="030301"/>
                </a:solidFill>
                <a:latin typeface="Arial" panose="020B0604020202020204" pitchFamily="34" charset="0"/>
              </a:rPr>
              <a:t>，内存</a:t>
            </a:r>
            <a:r>
              <a:rPr lang="en-US" altLang="zh-CN" b="1" dirty="0">
                <a:solidFill>
                  <a:srgbClr val="030301"/>
                </a:solidFill>
                <a:latin typeface="Arial" panose="020B0604020202020204" pitchFamily="34" charset="0"/>
              </a:rPr>
              <a:t>:1GB</a:t>
            </a:r>
            <a:r>
              <a:rPr lang="zh-CN" altLang="en-US" b="1" dirty="0">
                <a:solidFill>
                  <a:srgbClr val="030301"/>
                </a:solidFill>
                <a:latin typeface="Arial" panose="020B0604020202020204" pitchFamily="34" charset="0"/>
              </a:rPr>
              <a:t>，</a:t>
            </a:r>
          </a:p>
          <a:p>
            <a:pPr marL="342900" indent="-342900">
              <a:spcBef>
                <a:spcPct val="0"/>
              </a:spcBef>
              <a:buClrTx/>
            </a:pPr>
            <a:r>
              <a:rPr lang="zh-CN" altLang="en-US" b="1" dirty="0">
                <a:solidFill>
                  <a:srgbClr val="030301"/>
                </a:solidFill>
                <a:latin typeface="Arial" panose="020B0604020202020204" pitchFamily="34" charset="0"/>
              </a:rPr>
              <a:t>     操作系统：</a:t>
            </a:r>
            <a:r>
              <a:rPr lang="en-US" altLang="zh-CN" b="1" dirty="0">
                <a:solidFill>
                  <a:srgbClr val="030301"/>
                </a:solidFill>
                <a:latin typeface="Arial" panose="020B0604020202020204" pitchFamily="34" charset="0"/>
              </a:rPr>
              <a:t>RedHat Linux 6.2</a:t>
            </a:r>
          </a:p>
          <a:p>
            <a:pPr marL="342900" indent="-342900">
              <a:spcBef>
                <a:spcPct val="0"/>
              </a:spcBef>
              <a:buClrTx/>
            </a:pPr>
            <a:r>
              <a:rPr lang="zh-CN" altLang="en-US" b="1" dirty="0">
                <a:solidFill>
                  <a:srgbClr val="030301"/>
                </a:solidFill>
                <a:latin typeface="Arial" panose="020B0604020202020204" pitchFamily="34" charset="0"/>
              </a:rPr>
              <a:t>     编译器为 </a:t>
            </a:r>
            <a:r>
              <a:rPr lang="en-US" altLang="zh-CN" b="1" dirty="0">
                <a:solidFill>
                  <a:srgbClr val="030301"/>
                </a:solidFill>
                <a:latin typeface="Arial" panose="020B0604020202020204" pitchFamily="34" charset="0"/>
              </a:rPr>
              <a:t>GNU C compiler egcs--2.91.66</a:t>
            </a:r>
          </a:p>
          <a:p>
            <a:pPr marL="342900" indent="-342900">
              <a:spcBef>
                <a:spcPct val="0"/>
              </a:spcBef>
              <a:buClrTx/>
            </a:pPr>
            <a:r>
              <a:rPr lang="en-US" altLang="zh-CN" b="1" dirty="0">
                <a:solidFill>
                  <a:srgbClr val="C00000"/>
                </a:solidFill>
                <a:latin typeface="Arial" panose="020B0604020202020204" pitchFamily="34" charset="0"/>
              </a:rPr>
              <a:t> </a:t>
            </a:r>
          </a:p>
          <a:p>
            <a:pPr marL="342900" indent="-342900">
              <a:spcBef>
                <a:spcPct val="0"/>
              </a:spcBef>
              <a:buClrTx/>
            </a:pPr>
            <a:r>
              <a:rPr lang="zh-CN" altLang="en-US" b="1" dirty="0">
                <a:solidFill>
                  <a:srgbClr val="C00000"/>
                </a:solidFill>
                <a:latin typeface="Arial" panose="020B0604020202020204" pitchFamily="34" charset="0"/>
              </a:rPr>
              <a:t>测试文本的选取：</a:t>
            </a:r>
          </a:p>
          <a:p>
            <a:pPr marL="342900" indent="-342900">
              <a:spcBef>
                <a:spcPct val="0"/>
              </a:spcBef>
              <a:buClrTx/>
            </a:pPr>
            <a:r>
              <a:rPr lang="zh-CN" altLang="en-US" b="1" dirty="0">
                <a:solidFill>
                  <a:srgbClr val="030301"/>
                </a:solidFill>
                <a:latin typeface="Arial" panose="020B0604020202020204" pitchFamily="34" charset="0"/>
              </a:rPr>
              <a:t>    首先假设字符集内的每个字符在文本中出现的概率是固定的，即某个字母在文章甲和文章乙中出现机会的大小是一样的。实际测试时选取的文本是较长的文本，而不是小文本，主要基于两方面考虑。一方面，参加比较测试的算法都是较优的，在模式长度固定时，平均时间复杂度与文本长度至少是线性关系的。另一方面，测试时由于多进程等</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61</a:t>
            </a:fld>
            <a:endParaRPr lang="en-US" altLang="zh-CN" sz="1400" dirty="0"/>
          </a:p>
        </p:txBody>
      </p:sp>
      <p:sp>
        <p:nvSpPr>
          <p:cNvPr id="124930" name="Text Box 5"/>
          <p:cNvSpPr txBox="1"/>
          <p:nvPr/>
        </p:nvSpPr>
        <p:spPr>
          <a:xfrm>
            <a:off x="468630" y="1231265"/>
            <a:ext cx="8046085" cy="4706620"/>
          </a:xfrm>
          <a:prstGeom prst="rect">
            <a:avLst/>
          </a:prstGeom>
          <a:noFill/>
          <a:ln w="9525">
            <a:noFill/>
          </a:ln>
        </p:spPr>
        <p:txBody>
          <a:bodyPr wrap="square">
            <a:spAutoFit/>
          </a:bodyPr>
          <a:lstStyle/>
          <a:p>
            <a:pPr>
              <a:lnSpc>
                <a:spcPct val="120000"/>
              </a:lnSpc>
              <a:spcBef>
                <a:spcPct val="0"/>
              </a:spcBef>
              <a:buClrTx/>
            </a:pPr>
            <a:r>
              <a:rPr lang="zh-CN" altLang="en-US" b="1" dirty="0">
                <a:solidFill>
                  <a:srgbClr val="030301"/>
                </a:solidFill>
                <a:latin typeface="Arial" panose="020B0604020202020204" pitchFamily="34" charset="0"/>
              </a:rPr>
              <a:t>因素，计算出的测试时间必然存在误差。当测试程序的运行时间较短时，相对误差较大，相反假如测试程序的运行时间足够长时，这种不确定的相对误差就可以忽略，从而可以更有效地比较算法的效率。</a:t>
            </a:r>
          </a:p>
          <a:p>
            <a:pPr>
              <a:lnSpc>
                <a:spcPct val="120000"/>
              </a:lnSpc>
              <a:buClrTx/>
            </a:pPr>
            <a:r>
              <a:rPr lang="zh-CN" altLang="en-US" b="1" dirty="0">
                <a:solidFill>
                  <a:srgbClr val="030301"/>
                </a:solidFill>
                <a:latin typeface="Arial" panose="020B0604020202020204" pitchFamily="34" charset="0"/>
              </a:rPr>
              <a:t>        实际选取了一个大小为</a:t>
            </a:r>
            <a:r>
              <a:rPr lang="en-US" altLang="zh-CN" b="1" dirty="0">
                <a:solidFill>
                  <a:srgbClr val="030301"/>
                </a:solidFill>
                <a:latin typeface="Arial" panose="020B0604020202020204" pitchFamily="34" charset="0"/>
              </a:rPr>
              <a:t>2.12M</a:t>
            </a:r>
            <a:r>
              <a:rPr lang="zh-CN" altLang="en-US" b="1" dirty="0">
                <a:solidFill>
                  <a:srgbClr val="030301"/>
                </a:solidFill>
                <a:latin typeface="Arial" panose="020B0604020202020204" pitchFamily="34" charset="0"/>
              </a:rPr>
              <a:t>的纯英文文本。该文本是从网上下载的几部电子小说的合集，包括</a:t>
            </a:r>
            <a:r>
              <a:rPr lang="en-US" altLang="zh-CN" b="1" dirty="0">
                <a:solidFill>
                  <a:srgbClr val="030301"/>
                </a:solidFill>
                <a:latin typeface="Arial" panose="020B0604020202020204" pitchFamily="34" charset="0"/>
              </a:rPr>
              <a:t>Robert Louis Stevenson </a:t>
            </a:r>
            <a:r>
              <a:rPr lang="zh-CN" altLang="en-US"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Shakespeare </a:t>
            </a:r>
            <a:r>
              <a:rPr lang="zh-CN" altLang="en-US" b="1" dirty="0">
                <a:solidFill>
                  <a:srgbClr val="030301"/>
                </a:solidFill>
                <a:latin typeface="Arial" panose="020B0604020202020204" pitchFamily="34" charset="0"/>
              </a:rPr>
              <a:t>，</a:t>
            </a:r>
            <a:r>
              <a:rPr lang="en-US" altLang="zh-CN" b="1" dirty="0">
                <a:solidFill>
                  <a:srgbClr val="030301"/>
                </a:solidFill>
                <a:latin typeface="Arial" panose="020B0604020202020204" pitchFamily="34" charset="0"/>
              </a:rPr>
              <a:t>Jack London</a:t>
            </a:r>
            <a:r>
              <a:rPr lang="zh-CN" altLang="en-US" b="1" dirty="0">
                <a:solidFill>
                  <a:srgbClr val="030301"/>
                </a:solidFill>
                <a:latin typeface="Arial" panose="020B0604020202020204" pitchFamily="34" charset="0"/>
              </a:rPr>
              <a:t>的英文原著和圣经中的</a:t>
            </a:r>
            <a:r>
              <a:rPr lang="en-US" altLang="zh-CN" b="1" dirty="0">
                <a:solidFill>
                  <a:srgbClr val="030301"/>
                </a:solidFill>
                <a:latin typeface="Arial" panose="020B0604020202020204" pitchFamily="34" charset="0"/>
              </a:rPr>
              <a:t>Exodus</a:t>
            </a:r>
            <a:r>
              <a:rPr lang="zh-CN" altLang="en-US" b="1" dirty="0">
                <a:solidFill>
                  <a:srgbClr val="030301"/>
                </a:solidFill>
                <a:latin typeface="Arial" panose="020B0604020202020204" pitchFamily="34" charset="0"/>
              </a:rPr>
              <a:t>篇。而模式是随机取的几个长度不等的英文单词，其中长度超过</a:t>
            </a:r>
            <a:r>
              <a:rPr lang="en-US" altLang="zh-CN" b="1" dirty="0">
                <a:solidFill>
                  <a:srgbClr val="030301"/>
                </a:solidFill>
                <a:latin typeface="Arial" panose="020B0604020202020204" pitchFamily="34" charset="0"/>
              </a:rPr>
              <a:t>20</a:t>
            </a:r>
            <a:r>
              <a:rPr lang="zh-CN" altLang="en-US" b="1" dirty="0">
                <a:solidFill>
                  <a:srgbClr val="030301"/>
                </a:solidFill>
                <a:latin typeface="Arial" panose="020B0604020202020204" pitchFamily="34" charset="0"/>
              </a:rPr>
              <a:t>的模式都是替换文本的某个较短单词生成的。</a:t>
            </a:r>
            <a:r>
              <a:rPr lang="zh-CN" altLang="en-US" sz="1800" dirty="0">
                <a:latin typeface="Arial" panose="020B0604020202020204" pitchFamily="34" charset="0"/>
              </a:rPr>
              <a:t> </a:t>
            </a:r>
          </a:p>
        </p:txBody>
      </p:sp>
      <p:sp>
        <p:nvSpPr>
          <p:cNvPr id="234504" name="Rectangle 8"/>
          <p:cNvSpPr>
            <a:spLocks noRot="1" noChangeArrowheads="1"/>
          </p:cNvSpPr>
          <p:nvPr/>
        </p:nvSpPr>
        <p:spPr bwMode="auto">
          <a:xfrm>
            <a:off x="971550" y="262890"/>
            <a:ext cx="7369175" cy="606425"/>
          </a:xfrm>
          <a:prstGeom prst="rect">
            <a:avLst/>
          </a:prstGeom>
          <a:noFill/>
          <a:ln w="9525">
            <a:noFill/>
            <a:miter lim="800000"/>
          </a:ln>
          <a:effectLst/>
        </p:spPr>
        <p:txBody>
          <a:bodyPr anchor="ctr"/>
          <a:lstStyle/>
          <a:p>
            <a:pPr algn="ctr">
              <a:spcBef>
                <a:spcPct val="0"/>
              </a:spcBef>
              <a:buClrTx/>
            </a:pPr>
            <a:r>
              <a:rPr lang="zh-CN" altLang="en-US" sz="3200" b="1" dirty="0">
                <a:effectLst>
                  <a:outerShdw blurRad="38100" dist="38100" dir="2700000">
                    <a:srgbClr val="000000"/>
                  </a:outerShdw>
                </a:effectLst>
                <a:latin typeface="Arial" panose="020B0604020202020204" pitchFamily="34" charset="0"/>
              </a:rPr>
              <a:t>单模式匹配算法比较</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62</a:t>
            </a:fld>
            <a:endParaRPr lang="en-US" altLang="zh-CN" sz="1400" dirty="0"/>
          </a:p>
        </p:txBody>
      </p:sp>
      <p:sp>
        <p:nvSpPr>
          <p:cNvPr id="129026" name="Text Box 5"/>
          <p:cNvSpPr txBox="1"/>
          <p:nvPr/>
        </p:nvSpPr>
        <p:spPr>
          <a:xfrm>
            <a:off x="457200" y="914400"/>
            <a:ext cx="8077200" cy="5785485"/>
          </a:xfrm>
          <a:prstGeom prst="rect">
            <a:avLst/>
          </a:prstGeom>
          <a:noFill/>
          <a:ln w="9525">
            <a:noFill/>
          </a:ln>
        </p:spPr>
        <p:txBody>
          <a:bodyPr>
            <a:spAutoFit/>
          </a:bodyPr>
          <a:lstStyle/>
          <a:p>
            <a:pPr lvl="2">
              <a:lnSpc>
                <a:spcPct val="150000"/>
              </a:lnSpc>
              <a:spcBef>
                <a:spcPct val="0"/>
              </a:spcBef>
              <a:buClrTx/>
            </a:pPr>
            <a:r>
              <a:rPr lang="zh-CN" altLang="en-US" sz="2000" b="1" dirty="0">
                <a:solidFill>
                  <a:srgbClr val="030301"/>
                </a:solidFill>
                <a:latin typeface="Arial" panose="020B0604020202020204" pitchFamily="34" charset="0"/>
              </a:rPr>
              <a:t>基本输入及要求：</a:t>
            </a:r>
          </a:p>
          <a:p>
            <a:pPr lvl="2" fontAlgn="ctr">
              <a:lnSpc>
                <a:spcPct val="150000"/>
              </a:lnSpc>
              <a:spcBef>
                <a:spcPct val="0"/>
              </a:spcBef>
              <a:buClrTx/>
            </a:pPr>
            <a:r>
              <a:rPr lang="zh-CN" altLang="en-US" sz="2000" b="1" dirty="0">
                <a:solidFill>
                  <a:srgbClr val="030301"/>
                </a:solidFill>
                <a:latin typeface="Arial" panose="020B0604020202020204" pitchFamily="34" charset="0"/>
              </a:rPr>
              <a:t>测试文本：纯英文自然语言文本</a:t>
            </a:r>
          </a:p>
          <a:p>
            <a:pPr>
              <a:lnSpc>
                <a:spcPct val="150000"/>
              </a:lnSpc>
              <a:spcBef>
                <a:spcPct val="0"/>
              </a:spcBef>
              <a:buClrTx/>
            </a:pPr>
            <a:r>
              <a:rPr lang="zh-CN" altLang="en-US" sz="2000" b="1" dirty="0">
                <a:solidFill>
                  <a:srgbClr val="030301"/>
                </a:solidFill>
                <a:latin typeface="Arial" panose="020B0604020202020204" pitchFamily="34" charset="0"/>
              </a:rPr>
              <a:t>           </a:t>
            </a:r>
            <a:r>
              <a:rPr lang="zh-CN" altLang="en-US" sz="2000" b="1" dirty="0">
                <a:solidFill>
                  <a:srgbClr val="C00000"/>
                </a:solidFill>
                <a:latin typeface="Arial" panose="020B0604020202020204" pitchFamily="34" charset="0"/>
              </a:rPr>
              <a:t>模式长度：为</a:t>
            </a:r>
            <a:r>
              <a:rPr lang="en-US" altLang="zh-CN" sz="2000" b="1" dirty="0">
                <a:solidFill>
                  <a:srgbClr val="C00000"/>
                </a:solidFill>
                <a:latin typeface="Arial" panose="020B0604020202020204" pitchFamily="34" charset="0"/>
              </a:rPr>
              <a:t>8 10 15 20 25 </a:t>
            </a:r>
            <a:r>
              <a:rPr lang="zh-CN" altLang="en-US" sz="2000" b="1" dirty="0">
                <a:solidFill>
                  <a:srgbClr val="C00000"/>
                </a:solidFill>
                <a:latin typeface="Arial" panose="020B0604020202020204" pitchFamily="34" charset="0"/>
              </a:rPr>
              <a:t>的英文字符串</a:t>
            </a:r>
          </a:p>
          <a:p>
            <a:pPr>
              <a:lnSpc>
                <a:spcPct val="150000"/>
              </a:lnSpc>
              <a:spcBef>
                <a:spcPct val="0"/>
              </a:spcBef>
              <a:buClrTx/>
            </a:pPr>
            <a:r>
              <a:rPr lang="zh-CN" altLang="en-US" sz="2000" b="1" dirty="0">
                <a:solidFill>
                  <a:srgbClr val="030301"/>
                </a:solidFill>
                <a:latin typeface="Arial" panose="020B0604020202020204" pitchFamily="34" charset="0"/>
              </a:rPr>
              <a:t>           匹配结果：匹配出整个文本出现关键字的所有位置</a:t>
            </a:r>
          </a:p>
          <a:p>
            <a:pPr>
              <a:lnSpc>
                <a:spcPct val="150000"/>
              </a:lnSpc>
              <a:spcBef>
                <a:spcPct val="0"/>
              </a:spcBef>
              <a:buClrTx/>
            </a:pPr>
            <a:r>
              <a:rPr lang="zh-CN" altLang="en-US" sz="2000" b="1" dirty="0">
                <a:solidFill>
                  <a:srgbClr val="030301"/>
                </a:solidFill>
                <a:latin typeface="Arial" panose="020B0604020202020204" pitchFamily="34" charset="0"/>
              </a:rPr>
              <a:t>          文本和模式的字符集是</a:t>
            </a:r>
            <a:r>
              <a:rPr lang="en-US" altLang="zh-CN" sz="2000" b="1" dirty="0">
                <a:solidFill>
                  <a:srgbClr val="030301"/>
                </a:solidFill>
                <a:latin typeface="Arial" panose="020B0604020202020204" pitchFamily="34" charset="0"/>
              </a:rPr>
              <a:t>ASCII</a:t>
            </a:r>
            <a:r>
              <a:rPr lang="zh-CN" altLang="en-US" sz="2000" b="1" dirty="0">
                <a:solidFill>
                  <a:srgbClr val="030301"/>
                </a:solidFill>
                <a:latin typeface="Arial" panose="020B0604020202020204" pitchFamily="34" charset="0"/>
              </a:rPr>
              <a:t>字符集，是固定的有限字符集，其大小为</a:t>
            </a:r>
            <a:r>
              <a:rPr lang="en-US" altLang="zh-CN" sz="2000" b="1" dirty="0">
                <a:solidFill>
                  <a:srgbClr val="030301"/>
                </a:solidFill>
                <a:latin typeface="Arial" panose="020B0604020202020204" pitchFamily="34" charset="0"/>
              </a:rPr>
              <a:t>256</a:t>
            </a:r>
            <a:r>
              <a:rPr lang="zh-CN" altLang="en-US" sz="2000" b="1" dirty="0">
                <a:solidFill>
                  <a:srgbClr val="030301"/>
                </a:solidFill>
                <a:latin typeface="Arial" panose="020B0604020202020204" pitchFamily="34" charset="0"/>
              </a:rPr>
              <a:t>。</a:t>
            </a:r>
          </a:p>
          <a:p>
            <a:pPr lvl="2">
              <a:lnSpc>
                <a:spcPct val="150000"/>
              </a:lnSpc>
              <a:spcBef>
                <a:spcPct val="0"/>
              </a:spcBef>
              <a:buClrTx/>
            </a:pPr>
            <a:endParaRPr lang="zh-CN" altLang="en-US" sz="2000" b="1" dirty="0">
              <a:solidFill>
                <a:srgbClr val="030301"/>
              </a:solidFill>
              <a:latin typeface="Arial" panose="020B0604020202020204" pitchFamily="34" charset="0"/>
            </a:endParaRPr>
          </a:p>
          <a:p>
            <a:pPr lvl="2">
              <a:lnSpc>
                <a:spcPct val="150000"/>
              </a:lnSpc>
              <a:spcBef>
                <a:spcPct val="0"/>
              </a:spcBef>
              <a:buClrTx/>
            </a:pPr>
            <a:r>
              <a:rPr lang="zh-CN" altLang="en-US" sz="2000" b="1" dirty="0">
                <a:solidFill>
                  <a:srgbClr val="030301"/>
                </a:solidFill>
                <a:latin typeface="Arial" panose="020B0604020202020204" pitchFamily="34" charset="0"/>
              </a:rPr>
              <a:t>测试结果：</a:t>
            </a:r>
          </a:p>
          <a:p>
            <a:pPr>
              <a:lnSpc>
                <a:spcPct val="150000"/>
              </a:lnSpc>
              <a:spcBef>
                <a:spcPct val="0"/>
              </a:spcBef>
              <a:buClrTx/>
            </a:pPr>
            <a:r>
              <a:rPr lang="zh-CN" altLang="en-US" sz="2000" b="1" dirty="0">
                <a:solidFill>
                  <a:srgbClr val="030301"/>
                </a:solidFill>
                <a:latin typeface="Arial" panose="020B0604020202020204" pitchFamily="34" charset="0"/>
              </a:rPr>
              <a:t>          总共对</a:t>
            </a:r>
            <a:r>
              <a:rPr lang="en-US" altLang="zh-CN" sz="2000" b="1" dirty="0">
                <a:solidFill>
                  <a:srgbClr val="030301"/>
                </a:solidFill>
                <a:latin typeface="Arial" panose="020B0604020202020204" pitchFamily="34" charset="0"/>
              </a:rPr>
              <a:t>27</a:t>
            </a:r>
            <a:r>
              <a:rPr lang="zh-CN" altLang="en-US" sz="2000" b="1" dirty="0">
                <a:solidFill>
                  <a:srgbClr val="030301"/>
                </a:solidFill>
                <a:latin typeface="Arial" panose="020B0604020202020204" pitchFamily="34" charset="0"/>
              </a:rPr>
              <a:t>种算法实现了运行时间的比较测试。测试之前重新启动系统，然后在每个算法的实现函数调用之前和调用之后分别记录时间，计算出执行时间。如下表所示：</a:t>
            </a:r>
          </a:p>
          <a:p>
            <a:pPr>
              <a:lnSpc>
                <a:spcPct val="150000"/>
              </a:lnSpc>
              <a:buClrTx/>
            </a:pPr>
            <a:endParaRPr lang="zh-CN" altLang="en-US" sz="2000" b="1" dirty="0">
              <a:solidFill>
                <a:srgbClr val="030301"/>
              </a:solidFill>
              <a:latin typeface="Arial" panose="020B0604020202020204" pitchFamily="34" charset="0"/>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63</a:t>
            </a:fld>
            <a:endParaRPr lang="en-US" altLang="zh-CN" sz="1400" dirty="0"/>
          </a:p>
        </p:txBody>
      </p:sp>
      <p:graphicFrame>
        <p:nvGraphicFramePr>
          <p:cNvPr id="131074" name="内容占位符 131073"/>
          <p:cNvGraphicFramePr>
            <a:graphicFrameLocks noGrp="1"/>
          </p:cNvGraphicFramePr>
          <p:nvPr>
            <p:ph idx="4294967295"/>
            <p:custDataLst>
              <p:tags r:id="rId1"/>
            </p:custDataLst>
          </p:nvPr>
        </p:nvGraphicFramePr>
        <p:xfrm>
          <a:off x="215265" y="1484630"/>
          <a:ext cx="8713788" cy="4359275"/>
        </p:xfrm>
        <a:graphic>
          <a:graphicData uri="http://schemas.openxmlformats.org/drawingml/2006/table">
            <a:tbl>
              <a:tblPr/>
              <a:tblGrid>
                <a:gridCol w="1223963">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935037">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936625">
                  <a:extLst>
                    <a:ext uri="{9D8B030D-6E8A-4147-A177-3AD203B41FA5}">
                      <a16:colId xmlns:a16="http://schemas.microsoft.com/office/drawing/2014/main" val="20005"/>
                    </a:ext>
                  </a:extLst>
                </a:gridCol>
                <a:gridCol w="935038">
                  <a:extLst>
                    <a:ext uri="{9D8B030D-6E8A-4147-A177-3AD203B41FA5}">
                      <a16:colId xmlns:a16="http://schemas.microsoft.com/office/drawing/2014/main" val="20006"/>
                    </a:ext>
                  </a:extLst>
                </a:gridCol>
                <a:gridCol w="936625">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tblGrid>
              <a:tr h="84455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en-US" sz="1600" b="1" dirty="0">
                          <a:solidFill>
                            <a:srgbClr val="000000"/>
                          </a:solidFill>
                          <a:latin typeface="Times New Roman" panose="02020603050405020304" charset="0"/>
                          <a:cs typeface="Times New Roman" panose="02020603050405020304" charset="0"/>
                        </a:rPr>
                        <a:t>算法</a:t>
                      </a:r>
                      <a:endParaRPr lang="zh-CN" altLang="en-US"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5</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8</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  10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14</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25</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30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ALPHASKIP </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226.283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104.65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73.796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63.656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49.758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38.669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033.228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29.896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16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AUT</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423.019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422.809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422.711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422.588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422.705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422.982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422.827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422.975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AXAMAC</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116.550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116.882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118.435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116.750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118.299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117.158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116.983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118.187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FF0000"/>
                          </a:solidFill>
                          <a:latin typeface="Times New Roman" panose="02020603050405020304" charset="0"/>
                          <a:cs typeface="Times New Roman" panose="02020603050405020304" charset="0"/>
                        </a:rPr>
                        <a:t>BF</a:t>
                      </a:r>
                      <a:endParaRPr lang="en-US" altLang="zh-CN" sz="1600" b="1" dirty="0">
                        <a:solidFill>
                          <a:srgbClr val="FF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273.983</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273.102</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273.200</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274.202</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273.181</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273.456</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272.587</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272.770</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95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FF0000"/>
                          </a:solidFill>
                          <a:latin typeface="Times New Roman" panose="02020603050405020304" charset="0"/>
                          <a:cs typeface="Times New Roman" panose="02020603050405020304" charset="0"/>
                        </a:rPr>
                        <a:t>BM</a:t>
                      </a:r>
                      <a:endParaRPr lang="en-US" altLang="zh-CN" sz="1600" b="1" dirty="0">
                        <a:solidFill>
                          <a:srgbClr val="FF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73.926</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39.503</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29.681</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25.470</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22.635</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19.654</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15.838</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14.550</a:t>
                      </a:r>
                      <a:endParaRPr lang="en-US" altLang="zh-CN" sz="1600" b="1" dirty="0">
                        <a:solidFill>
                          <a:srgbClr val="FF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30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BNDM</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86.150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47.136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35.195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30.448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27.304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20000"/>
                        </a:spcBef>
                        <a:buClr>
                          <a:schemeClr val="hlink"/>
                        </a:buClr>
                        <a:buFont typeface="Wingdings" panose="05000000000000000000" pitchFamily="2" charset="2"/>
                        <a:buNone/>
                      </a:pPr>
                      <a:endParaRPr lang="zh-CN" altLang="en-US"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95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BOM</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137.673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93.003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77.303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65.550.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61.772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56.625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45.106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43.715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16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BR</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101.119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65.117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50.729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44.430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36.367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29.735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26.871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24.070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31176" name="Text Box 3347"/>
          <p:cNvSpPr txBox="1"/>
          <p:nvPr/>
        </p:nvSpPr>
        <p:spPr>
          <a:xfrm>
            <a:off x="900113" y="955675"/>
            <a:ext cx="7200900" cy="457200"/>
          </a:xfrm>
          <a:prstGeom prst="rect">
            <a:avLst/>
          </a:prstGeom>
          <a:noFill/>
          <a:ln w="9525">
            <a:noFill/>
          </a:ln>
        </p:spPr>
        <p:txBody>
          <a:bodyPr>
            <a:spAutoFit/>
          </a:bodyPr>
          <a:lstStyle/>
          <a:p>
            <a:pPr>
              <a:buClrTx/>
            </a:pPr>
            <a:r>
              <a:rPr lang="zh-CN" altLang="en-US" b="1" dirty="0">
                <a:solidFill>
                  <a:srgbClr val="030301"/>
                </a:solidFill>
                <a:latin typeface="Arial" panose="020B0604020202020204" pitchFamily="34" charset="0"/>
              </a:rPr>
              <a:t>自然语言文本的匹配效率比较     时间：</a:t>
            </a:r>
            <a:r>
              <a:rPr lang="en-US" altLang="zh-CN" b="1" dirty="0">
                <a:solidFill>
                  <a:srgbClr val="030301"/>
                </a:solidFill>
                <a:latin typeface="Arial" panose="020B0604020202020204" pitchFamily="34" charset="0"/>
              </a:rPr>
              <a:t>ms</a:t>
            </a:r>
            <a:r>
              <a:rPr lang="en-US" altLang="zh-CN" sz="1800" dirty="0">
                <a:latin typeface="Arial" panose="020B0604020202020204" pitchFamily="34" charset="0"/>
              </a:rPr>
              <a:t> </a:t>
            </a:r>
          </a:p>
        </p:txBody>
      </p:sp>
      <p:sp>
        <p:nvSpPr>
          <p:cNvPr id="2" name="文本框 1"/>
          <p:cNvSpPr txBox="1"/>
          <p:nvPr/>
        </p:nvSpPr>
        <p:spPr>
          <a:xfrm>
            <a:off x="284480" y="6002655"/>
            <a:ext cx="7095490" cy="398780"/>
          </a:xfrm>
          <a:prstGeom prst="rect">
            <a:avLst/>
          </a:prstGeom>
          <a:noFill/>
        </p:spPr>
        <p:txBody>
          <a:bodyPr wrap="square" rtlCol="0">
            <a:spAutoFit/>
          </a:bodyPr>
          <a:lstStyle/>
          <a:p>
            <a:r>
              <a:rPr lang="en-US" altLang="zh-CN" sz="2000" b="1">
                <a:solidFill>
                  <a:srgbClr val="C00000"/>
                </a:solidFill>
              </a:rPr>
              <a:t>BM</a:t>
            </a:r>
            <a:r>
              <a:rPr lang="zh-CN" altLang="en-US" sz="2000" b="1">
                <a:solidFill>
                  <a:srgbClr val="C00000"/>
                </a:solidFill>
              </a:rPr>
              <a:t>算法受模式长度影响较大，模式越长耗时短。</a:t>
            </a:r>
            <a:r>
              <a:rPr lang="en-US" altLang="zh-CN" sz="2000" b="1">
                <a:solidFill>
                  <a:srgbClr val="C00000"/>
                </a:solidFill>
              </a:rPr>
              <a:t>WHY</a:t>
            </a:r>
            <a:r>
              <a:rPr lang="zh-CN" altLang="en-US" sz="2000" b="1">
                <a:solidFill>
                  <a:srgbClr val="C00000"/>
                </a:solidFill>
              </a:rPr>
              <a:t>？</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64</a:t>
            </a:fld>
            <a:endParaRPr lang="en-US" altLang="zh-CN" sz="1400" dirty="0"/>
          </a:p>
        </p:txBody>
      </p:sp>
      <p:graphicFrame>
        <p:nvGraphicFramePr>
          <p:cNvPr id="133122" name="内容占位符 133121"/>
          <p:cNvGraphicFramePr>
            <a:graphicFrameLocks noGrp="1"/>
          </p:cNvGraphicFramePr>
          <p:nvPr>
            <p:ph idx="4294967295"/>
            <p:custDataLst>
              <p:tags r:id="rId1"/>
            </p:custDataLst>
          </p:nvPr>
        </p:nvGraphicFramePr>
        <p:xfrm>
          <a:off x="286385" y="943610"/>
          <a:ext cx="8714105" cy="5581321"/>
        </p:xfrm>
        <a:graphic>
          <a:graphicData uri="http://schemas.openxmlformats.org/drawingml/2006/table">
            <a:tbl>
              <a:tblPr/>
              <a:tblGrid>
                <a:gridCol w="100838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938212">
                  <a:extLst>
                    <a:ext uri="{9D8B030D-6E8A-4147-A177-3AD203B41FA5}">
                      <a16:colId xmlns:a16="http://schemas.microsoft.com/office/drawing/2014/main" val="20002"/>
                    </a:ext>
                  </a:extLst>
                </a:gridCol>
                <a:gridCol w="939800">
                  <a:extLst>
                    <a:ext uri="{9D8B030D-6E8A-4147-A177-3AD203B41FA5}">
                      <a16:colId xmlns:a16="http://schemas.microsoft.com/office/drawing/2014/main" val="20003"/>
                    </a:ext>
                  </a:extLst>
                </a:gridCol>
                <a:gridCol w="939800">
                  <a:extLst>
                    <a:ext uri="{9D8B030D-6E8A-4147-A177-3AD203B41FA5}">
                      <a16:colId xmlns:a16="http://schemas.microsoft.com/office/drawing/2014/main" val="20004"/>
                    </a:ext>
                  </a:extLst>
                </a:gridCol>
                <a:gridCol w="941388">
                  <a:extLst>
                    <a:ext uri="{9D8B030D-6E8A-4147-A177-3AD203B41FA5}">
                      <a16:colId xmlns:a16="http://schemas.microsoft.com/office/drawing/2014/main" val="20005"/>
                    </a:ext>
                  </a:extLst>
                </a:gridCol>
                <a:gridCol w="938212">
                  <a:extLst>
                    <a:ext uri="{9D8B030D-6E8A-4147-A177-3AD203B41FA5}">
                      <a16:colId xmlns:a16="http://schemas.microsoft.com/office/drawing/2014/main" val="20006"/>
                    </a:ext>
                  </a:extLst>
                </a:gridCol>
                <a:gridCol w="939800">
                  <a:extLst>
                    <a:ext uri="{9D8B030D-6E8A-4147-A177-3AD203B41FA5}">
                      <a16:colId xmlns:a16="http://schemas.microsoft.com/office/drawing/2014/main" val="20007"/>
                    </a:ext>
                  </a:extLst>
                </a:gridCol>
                <a:gridCol w="1052513">
                  <a:extLst>
                    <a:ext uri="{9D8B030D-6E8A-4147-A177-3AD203B41FA5}">
                      <a16:colId xmlns:a16="http://schemas.microsoft.com/office/drawing/2014/main" val="20008"/>
                    </a:ext>
                  </a:extLst>
                </a:gridCol>
              </a:tblGrid>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zh-CN" altLang="en-US" sz="1600" b="1" dirty="0">
                          <a:solidFill>
                            <a:srgbClr val="030301"/>
                          </a:solidFill>
                          <a:latin typeface="Times New Roman" panose="02020603050405020304" charset="0"/>
                          <a:cs typeface="Times New Roman" panose="02020603050405020304" charset="0"/>
                        </a:rPr>
                        <a:t>算法</a:t>
                      </a:r>
                      <a:endParaRPr lang="zh-CN" altLang="en-US"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2</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5</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8</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  10</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14</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20</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25</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ctr">
                        <a:spcBef>
                          <a:spcPct val="0"/>
                        </a:spcBef>
                        <a:buClrTx/>
                        <a:buNone/>
                      </a:pPr>
                      <a:r>
                        <a:rPr lang="en-US" altLang="zh-CN" sz="1600" b="1" dirty="0">
                          <a:solidFill>
                            <a:srgbClr val="030301"/>
                          </a:solidFill>
                          <a:latin typeface="Times New Roman" panose="02020603050405020304" charset="0"/>
                          <a:cs typeface="Times New Roman" panose="02020603050405020304" charset="0"/>
                        </a:rPr>
                        <a:t>       30</a:t>
                      </a:r>
                      <a:endParaRPr lang="en-US" altLang="zh-CN" sz="1600" b="1" dirty="0">
                        <a:solidFill>
                          <a:srgbClr val="030301"/>
                        </a:solidFill>
                        <a:latin typeface="Arial" panose="020B0604020202020204" pitchFamily="34" charset="0"/>
                      </a:endParaRPr>
                    </a:p>
                  </a:txBody>
                  <a:tcPr marT="45714" marB="45714"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COLLUSSI</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150.046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148.943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149.269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148.983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149.148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148.990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148.902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149.042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7">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GG 	</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169.753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166.835</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166.643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166.932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166.618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166.702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166.743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166.312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GS</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322.259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315.102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317.835</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325.746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317.900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319.373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314.767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312.019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785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HORSPOOL </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62.550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36.394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28.217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24.359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21.734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18.359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15.458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13.969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FF0000"/>
                          </a:solidFill>
                          <a:latin typeface="Times New Roman" panose="02020603050405020304" charset="0"/>
                          <a:cs typeface="Times New Roman" panose="02020603050405020304" charset="0"/>
                        </a:rPr>
                        <a:t>KMP</a:t>
                      </a:r>
                      <a:endParaRPr lang="en-US" altLang="zh-CN" sz="1600" b="1" dirty="0">
                        <a:solidFill>
                          <a:srgbClr val="FF0000"/>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99.446</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92.725</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93.348</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101.714</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92.229</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94.614</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88.621</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FF0000"/>
                          </a:solidFill>
                          <a:latin typeface="宋体" panose="02010600030101010101" pitchFamily="2" charset="-122"/>
                          <a:cs typeface="Times New Roman" panose="02020603050405020304" charset="0"/>
                        </a:rPr>
                        <a:t>89.035</a:t>
                      </a:r>
                      <a:endParaRPr lang="en-US" altLang="zh-CN" sz="1600" b="1" dirty="0">
                        <a:solidFill>
                          <a:srgbClr val="FF0000"/>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KR</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82.998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78.789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78.067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78.174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78.178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78.634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78.203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78.459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576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MP</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99.398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93.161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95.378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103.385</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92.502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95.739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90.307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89.487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MS</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i="1" u="sng" dirty="0">
                          <a:solidFill>
                            <a:srgbClr val="030301"/>
                          </a:solidFill>
                          <a:latin typeface="宋体" panose="02010600030101010101" pitchFamily="2" charset="-122"/>
                          <a:cs typeface="Times New Roman" panose="02020603050405020304" charset="0"/>
                        </a:rPr>
                        <a:t>53.058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36.796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30.232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25.596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21.820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18.939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15.758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14.990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NSN</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61.852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70.485</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73.836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70.473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73.561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70.744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70.569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73.937</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OM</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65.974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43.971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35.313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30.156</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26.831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23.198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19.312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17.680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QS</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121.173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71.723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54.255</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46.789</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40.104</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36.163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27.848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26.431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841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spcBef>
                          <a:spcPct val="0"/>
                        </a:spcBef>
                        <a:buClrTx/>
                        <a:buNone/>
                      </a:pPr>
                      <a:r>
                        <a:rPr lang="en-US" altLang="zh-CN" sz="1600" b="1" dirty="0">
                          <a:solidFill>
                            <a:srgbClr val="030301"/>
                          </a:solidFill>
                          <a:latin typeface="Times New Roman" panose="02020603050405020304" charset="0"/>
                          <a:cs typeface="Times New Roman" panose="02020603050405020304" charset="0"/>
                        </a:rPr>
                        <a:t>RAITA</a:t>
                      </a:r>
                      <a:endParaRPr lang="en-US" altLang="zh-CN" sz="1600" b="1" dirty="0">
                        <a:solidFill>
                          <a:srgbClr val="030301"/>
                        </a:solidFill>
                        <a:latin typeface="Arial" panose="020B0604020202020204" pitchFamily="34" charset="0"/>
                      </a:endParaRPr>
                    </a:p>
                  </a:txBody>
                  <a:tcPr marT="45714" marB="45714">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62.670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33.753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25.588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22.521</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20.240</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18.162</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14.823</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marL="342900" lvl="0" indent="-342900" algn="r">
                        <a:spcBef>
                          <a:spcPct val="0"/>
                        </a:spcBef>
                        <a:buClrTx/>
                        <a:buNone/>
                      </a:pPr>
                      <a:r>
                        <a:rPr lang="en-US" altLang="zh-CN" sz="1600" b="1" dirty="0">
                          <a:solidFill>
                            <a:srgbClr val="030301"/>
                          </a:solidFill>
                          <a:latin typeface="宋体" panose="02010600030101010101" pitchFamily="2" charset="-122"/>
                          <a:cs typeface="Times New Roman" panose="02020603050405020304" charset="0"/>
                        </a:rPr>
                        <a:t>14.018</a:t>
                      </a:r>
                      <a:endParaRPr lang="en-US" altLang="zh-CN" sz="1600" b="1" dirty="0">
                        <a:solidFill>
                          <a:srgbClr val="030301"/>
                        </a:solidFill>
                        <a:latin typeface="Arial" panose="020B0604020202020204" pitchFamily="34" charset="0"/>
                      </a:endParaRPr>
                    </a:p>
                  </a:txBody>
                  <a:tcPr marT="45714" marB="45714"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2" name="文本框 1"/>
          <p:cNvSpPr txBox="1"/>
          <p:nvPr/>
        </p:nvSpPr>
        <p:spPr>
          <a:xfrm>
            <a:off x="286385" y="294640"/>
            <a:ext cx="7095490" cy="398780"/>
          </a:xfrm>
          <a:prstGeom prst="rect">
            <a:avLst/>
          </a:prstGeom>
          <a:noFill/>
        </p:spPr>
        <p:txBody>
          <a:bodyPr wrap="square" rtlCol="0">
            <a:spAutoFit/>
          </a:bodyPr>
          <a:lstStyle/>
          <a:p>
            <a:r>
              <a:rPr lang="en-US" altLang="zh-CN" sz="2000" b="1">
                <a:solidFill>
                  <a:srgbClr val="C00000"/>
                </a:solidFill>
              </a:rPr>
              <a:t>KMP</a:t>
            </a:r>
            <a:r>
              <a:rPr lang="zh-CN" altLang="en-US" sz="2000" b="1">
                <a:solidFill>
                  <a:srgbClr val="C00000"/>
                </a:solidFill>
              </a:rPr>
              <a:t>算法受模式长度影响较大，模式越长耗时短。</a:t>
            </a:r>
            <a:r>
              <a:rPr lang="en-US" altLang="zh-CN" sz="2000" b="1">
                <a:solidFill>
                  <a:srgbClr val="C00000"/>
                </a:solidFill>
              </a:rPr>
              <a:t>WHY</a:t>
            </a:r>
            <a:r>
              <a:rPr lang="zh-CN" altLang="en-US" sz="2000" b="1">
                <a:solidFill>
                  <a:srgbClr val="C00000"/>
                </a:solidFill>
              </a:rPr>
              <a:t>？</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灯片编号占位符 2"/>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65</a:t>
            </a:fld>
            <a:endParaRPr lang="en-US" altLang="zh-CN" sz="1400" dirty="0"/>
          </a:p>
        </p:txBody>
      </p:sp>
      <p:graphicFrame>
        <p:nvGraphicFramePr>
          <p:cNvPr id="135170" name="内容占位符 135169"/>
          <p:cNvGraphicFramePr>
            <a:graphicFrameLocks noGrp="1"/>
          </p:cNvGraphicFramePr>
          <p:nvPr>
            <p:ph idx="4294967295"/>
            <p:custDataLst>
              <p:tags r:id="rId1"/>
            </p:custDataLst>
          </p:nvPr>
        </p:nvGraphicFramePr>
        <p:xfrm>
          <a:off x="215265" y="980440"/>
          <a:ext cx="8642350" cy="4864100"/>
        </p:xfrm>
        <a:graphic>
          <a:graphicData uri="http://schemas.openxmlformats.org/drawingml/2006/table">
            <a:tbl>
              <a:tblPr/>
              <a:tblGrid>
                <a:gridCol w="1008380">
                  <a:extLst>
                    <a:ext uri="{9D8B030D-6E8A-4147-A177-3AD203B41FA5}">
                      <a16:colId xmlns:a16="http://schemas.microsoft.com/office/drawing/2014/main" val="20000"/>
                    </a:ext>
                  </a:extLst>
                </a:gridCol>
                <a:gridCol w="998220">
                  <a:extLst>
                    <a:ext uri="{9D8B030D-6E8A-4147-A177-3AD203B41FA5}">
                      <a16:colId xmlns:a16="http://schemas.microsoft.com/office/drawing/2014/main" val="20001"/>
                    </a:ext>
                  </a:extLst>
                </a:gridCol>
                <a:gridCol w="931863">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gridCol w="930275">
                  <a:extLst>
                    <a:ext uri="{9D8B030D-6E8A-4147-A177-3AD203B41FA5}">
                      <a16:colId xmlns:a16="http://schemas.microsoft.com/office/drawing/2014/main" val="20004"/>
                    </a:ext>
                  </a:extLst>
                </a:gridCol>
                <a:gridCol w="931862">
                  <a:extLst>
                    <a:ext uri="{9D8B030D-6E8A-4147-A177-3AD203B41FA5}">
                      <a16:colId xmlns:a16="http://schemas.microsoft.com/office/drawing/2014/main" val="20005"/>
                    </a:ext>
                  </a:extLst>
                </a:gridCol>
                <a:gridCol w="931863">
                  <a:extLst>
                    <a:ext uri="{9D8B030D-6E8A-4147-A177-3AD203B41FA5}">
                      <a16:colId xmlns:a16="http://schemas.microsoft.com/office/drawing/2014/main" val="20006"/>
                    </a:ext>
                  </a:extLst>
                </a:gridCol>
                <a:gridCol w="931862">
                  <a:extLst>
                    <a:ext uri="{9D8B030D-6E8A-4147-A177-3AD203B41FA5}">
                      <a16:colId xmlns:a16="http://schemas.microsoft.com/office/drawing/2014/main" val="20007"/>
                    </a:ext>
                  </a:extLst>
                </a:gridCol>
                <a:gridCol w="1044575">
                  <a:extLst>
                    <a:ext uri="{9D8B030D-6E8A-4147-A177-3AD203B41FA5}">
                      <a16:colId xmlns:a16="http://schemas.microsoft.com/office/drawing/2014/main" val="20008"/>
                    </a:ext>
                  </a:extLst>
                </a:gridCol>
              </a:tblGrid>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en-US" sz="1600" b="1" dirty="0">
                          <a:solidFill>
                            <a:srgbClr val="000000"/>
                          </a:solidFill>
                          <a:latin typeface="Times New Roman" panose="02020603050405020304" charset="0"/>
                          <a:cs typeface="Times New Roman" panose="02020603050405020304" charset="0"/>
                        </a:rPr>
                        <a:t>算法</a:t>
                      </a:r>
                      <a:endParaRPr lang="zh-CN" altLang="en-US"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5</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8</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  10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14</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25</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       30</a:t>
                      </a:r>
                      <a:endParaRPr lang="en-US" altLang="zh-CN" sz="1600" b="1" dirty="0">
                        <a:solidFill>
                          <a:srgbClr val="000000"/>
                        </a:solidFill>
                        <a:latin typeface="Arial" panose="020B0604020202020204" pitchFamily="34" charset="0"/>
                      </a:endParaRPr>
                    </a:p>
                  </a:txBody>
                  <a:tcPr marT="45723" marB="45723"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8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RF</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245.975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126.985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90.690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76.119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66.719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63.364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43.223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49.672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SMITH</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120.833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68.594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49.822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42.967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36.654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31.848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25.384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24.072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SMOA</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136.282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110.151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111.327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131.793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111.751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118.240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101.353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102.873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SO</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63.947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63.429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63.363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63.358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63.291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63.426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63.558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63.595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4136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TBM 	</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121.825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61.218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43.530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36.191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32.363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27.618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20.945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19.492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7">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58.687</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35.410</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28.183</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22.776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20.169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16.649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15.131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i="1" u="sng" dirty="0">
                          <a:solidFill>
                            <a:srgbClr val="000000"/>
                          </a:solidFill>
                          <a:latin typeface="宋体" panose="02010600030101010101" pitchFamily="2" charset="-122"/>
                          <a:cs typeface="Times New Roman" panose="02020603050405020304" charset="0"/>
                        </a:rPr>
                        <a:t>13.352</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672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600" b="1" dirty="0">
                          <a:solidFill>
                            <a:srgbClr val="000000"/>
                          </a:solidFill>
                          <a:latin typeface="Times New Roman" panose="02020603050405020304" charset="0"/>
                          <a:cs typeface="Times New Roman" panose="02020603050405020304" charset="0"/>
                        </a:rPr>
                        <a:t>TW</a:t>
                      </a:r>
                      <a:endParaRPr lang="en-US" altLang="zh-CN"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93.615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87.524</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91.625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89.609</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91.831</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91.945</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90.208</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buNone/>
                      </a:pPr>
                      <a:r>
                        <a:rPr lang="en-US" altLang="zh-CN" sz="1600" b="1" dirty="0">
                          <a:solidFill>
                            <a:srgbClr val="000000"/>
                          </a:solidFill>
                          <a:latin typeface="宋体" panose="02010600030101010101" pitchFamily="2" charset="-122"/>
                          <a:cs typeface="Times New Roman" panose="02020603050405020304" charset="0"/>
                        </a:rPr>
                        <a:t>90.096</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8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74295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en-US" sz="1600" b="1" dirty="0">
                          <a:solidFill>
                            <a:srgbClr val="000000"/>
                          </a:solidFill>
                          <a:latin typeface="Times New Roman" panose="02020603050405020304" charset="0"/>
                          <a:cs typeface="Times New Roman" panose="02020603050405020304" charset="0"/>
                        </a:rPr>
                        <a:t>最快的算法</a:t>
                      </a:r>
                      <a:endParaRPr lang="zh-CN" altLang="en-US" sz="1600" b="1" dirty="0">
                        <a:solidFill>
                          <a:srgbClr val="000000"/>
                        </a:solidFill>
                        <a:latin typeface="Arial" panose="020B0604020202020204" pitchFamily="34" charset="0"/>
                      </a:endParaRPr>
                    </a:p>
                  </a:txBody>
                  <a:tcPr marT="45723" marB="45723">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MS</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a:spcBef>
                          <a:spcPct val="0"/>
                        </a:spcBef>
                        <a:buClrTx/>
                        <a:buNone/>
                      </a:pPr>
                      <a:r>
                        <a:rPr lang="en-US" altLang="zh-CN" sz="1600" b="1" dirty="0">
                          <a:solidFill>
                            <a:srgbClr val="000000"/>
                          </a:solidFill>
                          <a:latin typeface="Times New Roman" panose="02020603050405020304" charset="0"/>
                          <a:cs typeface="Times New Roman" panose="02020603050405020304" charset="0"/>
                        </a:rPr>
                        <a:t>TUNEDBM</a:t>
                      </a:r>
                      <a:endParaRPr lang="en-US" altLang="zh-CN" sz="1600" b="1" dirty="0">
                        <a:solidFill>
                          <a:srgbClr val="000000"/>
                        </a:solidFill>
                        <a:latin typeface="Arial" panose="020B0604020202020204" pitchFamily="34" charset="0"/>
                      </a:endParaRPr>
                    </a:p>
                  </a:txBody>
                  <a:tcPr marT="45723" marB="45723" anchor="b">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8000"/>
                      </a:solidFill>
                      <a:prstDash val="solid"/>
                      <a:headEnd type="none" w="med" len="med"/>
                      <a:tailEnd type="none" w="med" len="med"/>
                    </a:lnT>
                    <a:lnB w="25400" cap="flat" cmpd="sng">
                      <a:solidFill>
                        <a:srgbClr val="008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Rot="1"/>
          </p:cNvSpPr>
          <p:nvPr>
            <p:ph idx="1"/>
          </p:nvPr>
        </p:nvSpPr>
        <p:spPr>
          <a:xfrm>
            <a:off x="628650" y="1082040"/>
            <a:ext cx="7886700" cy="5095240"/>
          </a:xfrm>
        </p:spPr>
        <p:txBody>
          <a:bodyPr vert="horz" wrap="square" lIns="91440" tIns="45720" rIns="91440" bIns="45720" anchor="t">
            <a:normAutofit fontScale="90000" lnSpcReduction="20000"/>
          </a:bodyPr>
          <a:lstStyle/>
          <a:p>
            <a:pPr>
              <a:lnSpc>
                <a:spcPct val="150000"/>
              </a:lnSpc>
            </a:pPr>
            <a:r>
              <a:rPr lang="zh-CN" altLang="en-US" sz="2400" dirty="0"/>
              <a:t>小结</a:t>
            </a:r>
          </a:p>
          <a:p>
            <a:pPr lvl="1">
              <a:lnSpc>
                <a:spcPct val="150000"/>
              </a:lnSpc>
            </a:pPr>
            <a:r>
              <a:rPr lang="en-US" altLang="zh-CN" sz="2400" dirty="0"/>
              <a:t>KMP</a:t>
            </a:r>
            <a:r>
              <a:rPr lang="zh-CN" altLang="en-US" sz="2400" dirty="0"/>
              <a:t>和</a:t>
            </a:r>
            <a:r>
              <a:rPr lang="en-US" altLang="zh-CN" sz="2400" dirty="0"/>
              <a:t>BM</a:t>
            </a:r>
            <a:r>
              <a:rPr lang="zh-CN" altLang="en-US" sz="2400" dirty="0"/>
              <a:t>的优点</a:t>
            </a:r>
            <a:r>
              <a:rPr lang="en-US" altLang="zh-CN" sz="2400" dirty="0"/>
              <a:t>:  </a:t>
            </a:r>
            <a:r>
              <a:rPr lang="zh-CN" altLang="en-US" sz="2400" dirty="0"/>
              <a:t>对正文扫描一遍，不回朔。且每一次比较后，有明确的信息记录下一次比较的位置。</a:t>
            </a:r>
          </a:p>
          <a:p>
            <a:pPr lvl="1" algn="l">
              <a:lnSpc>
                <a:spcPct val="150000"/>
              </a:lnSpc>
              <a:buClrTx/>
              <a:buSzTx/>
            </a:pPr>
            <a:r>
              <a:rPr lang="zh-CN" altLang="en-US" sz="2400" dirty="0">
                <a:sym typeface="+mn-ea"/>
              </a:rPr>
              <a:t>BF算法时间复杂度为O(n*m)</a:t>
            </a:r>
          </a:p>
          <a:p>
            <a:pPr lvl="1" algn="l">
              <a:lnSpc>
                <a:spcPct val="150000"/>
              </a:lnSpc>
              <a:buClrTx/>
              <a:buSzTx/>
            </a:pPr>
            <a:r>
              <a:rPr lang="zh-CN" altLang="en-US" sz="2400" dirty="0">
                <a:sym typeface="+mn-ea"/>
              </a:rPr>
              <a:t>KMP算法时间复杂度为O(n</a:t>
            </a:r>
            <a:r>
              <a:rPr lang="en-US" altLang="zh-CN" sz="2400" dirty="0">
                <a:sym typeface="+mn-ea"/>
              </a:rPr>
              <a:t>+m</a:t>
            </a:r>
            <a:r>
              <a:rPr lang="zh-CN" altLang="en-US" sz="2400" dirty="0">
                <a:sym typeface="+mn-ea"/>
              </a:rPr>
              <a:t>)</a:t>
            </a:r>
          </a:p>
          <a:p>
            <a:pPr lvl="1" algn="l">
              <a:lnSpc>
                <a:spcPct val="150000"/>
              </a:lnSpc>
              <a:buClrTx/>
              <a:buSzTx/>
            </a:pPr>
            <a:r>
              <a:rPr lang="zh-CN" altLang="en-US" sz="2400" dirty="0">
                <a:sym typeface="+mn-ea"/>
              </a:rPr>
              <a:t>BM算法时间复杂度为O(n*m)，但实际运行效果最快</a:t>
            </a:r>
            <a:endParaRPr lang="zh-CN" altLang="en-US" sz="2400" dirty="0"/>
          </a:p>
          <a:p>
            <a:pPr>
              <a:lnSpc>
                <a:spcPct val="150000"/>
              </a:lnSpc>
              <a:buNone/>
            </a:pPr>
            <a:endParaRPr lang="zh-CN" altLang="en-US" sz="2400" dirty="0"/>
          </a:p>
          <a:p>
            <a:pPr>
              <a:lnSpc>
                <a:spcPct val="150000"/>
              </a:lnSpc>
            </a:pPr>
            <a:r>
              <a:rPr lang="zh-CN" altLang="en-US" sz="2400" dirty="0">
                <a:solidFill>
                  <a:srgbClr val="C00000"/>
                </a:solidFill>
              </a:rPr>
              <a:t>作业（</a:t>
            </a:r>
            <a:r>
              <a:rPr lang="en-US" altLang="zh-CN" sz="2400" dirty="0">
                <a:solidFill>
                  <a:srgbClr val="C00000"/>
                </a:solidFill>
              </a:rPr>
              <a:t>3.19</a:t>
            </a:r>
            <a:r>
              <a:rPr lang="zh-CN" altLang="en-US" sz="2400" dirty="0">
                <a:solidFill>
                  <a:srgbClr val="C00000"/>
                </a:solidFill>
              </a:rPr>
              <a:t>前提交）</a:t>
            </a:r>
          </a:p>
          <a:p>
            <a:pPr marL="0" indent="0">
              <a:lnSpc>
                <a:spcPct val="150000"/>
              </a:lnSpc>
              <a:buNone/>
            </a:pPr>
            <a:r>
              <a:rPr lang="zh-CN" altLang="en-US" sz="2400" dirty="0">
                <a:solidFill>
                  <a:srgbClr val="C00000"/>
                </a:solidFill>
              </a:rPr>
              <a:t>   比较</a:t>
            </a:r>
            <a:r>
              <a:rPr lang="en-US" altLang="zh-CN" sz="2400" dirty="0">
                <a:solidFill>
                  <a:srgbClr val="C00000"/>
                </a:solidFill>
              </a:rPr>
              <a:t>KMP</a:t>
            </a:r>
            <a:r>
              <a:rPr lang="zh-CN" altLang="en-US" sz="2400" dirty="0">
                <a:solidFill>
                  <a:srgbClr val="C00000"/>
                </a:solidFill>
              </a:rPr>
              <a:t>和</a:t>
            </a:r>
            <a:r>
              <a:rPr lang="en-US" altLang="zh-CN" sz="2400" dirty="0">
                <a:solidFill>
                  <a:srgbClr val="C00000"/>
                </a:solidFill>
              </a:rPr>
              <a:t>BM</a:t>
            </a:r>
            <a:r>
              <a:rPr lang="zh-CN" altLang="en-US" sz="2400" dirty="0">
                <a:solidFill>
                  <a:srgbClr val="C00000"/>
                </a:solidFill>
              </a:rPr>
              <a:t>算法的核心思路，其提高匹配性能的本质是什么？</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67</a:t>
            </a:fld>
            <a:endParaRPr lang="en-US" altLang="zh-CN" sz="1400" dirty="0"/>
          </a:p>
        </p:txBody>
      </p:sp>
      <p:sp>
        <p:nvSpPr>
          <p:cNvPr id="252930"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多模式匹配算法</a:t>
            </a:r>
          </a:p>
        </p:txBody>
      </p:sp>
      <p:sp>
        <p:nvSpPr>
          <p:cNvPr id="138243" name="Rectangle 3"/>
          <p:cNvSpPr>
            <a:spLocks noGrp="1" noRot="1"/>
          </p:cNvSpPr>
          <p:nvPr>
            <p:ph idx="1"/>
          </p:nvPr>
        </p:nvSpPr>
        <p:spPr>
          <a:xfrm>
            <a:off x="485140" y="1243965"/>
            <a:ext cx="8324215" cy="4474845"/>
          </a:xfrm>
        </p:spPr>
        <p:txBody>
          <a:bodyPr vert="horz" wrap="square" lIns="91440" tIns="45720" rIns="91440" bIns="45720" anchor="t">
            <a:noAutofit/>
          </a:bodyPr>
          <a:lstStyle/>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多模式匹配问题在生物计算、信息检索及信号处理领域有着非常广泛的应用。</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最早也是最著名的以线性时间复杂度解决这个问题的算法是</a:t>
            </a:r>
            <a:r>
              <a:rPr lang="en-US" altLang="zh-CN" sz="2000" b="1" dirty="0">
                <a:latin typeface="宋体" panose="02010600030101010101" pitchFamily="2" charset="-122"/>
                <a:ea typeface="宋体" panose="02010600030101010101" pitchFamily="2" charset="-122"/>
                <a:cs typeface="宋体" panose="02010600030101010101" pitchFamily="2" charset="-122"/>
              </a:rPr>
              <a:t>1975</a:t>
            </a:r>
            <a:r>
              <a:rPr lang="zh-CN" altLang="en-US" sz="2000" b="1" dirty="0">
                <a:latin typeface="宋体" panose="02010600030101010101" pitchFamily="2" charset="-122"/>
                <a:ea typeface="宋体" panose="02010600030101010101" pitchFamily="2" charset="-122"/>
                <a:cs typeface="宋体" panose="02010600030101010101" pitchFamily="2" charset="-122"/>
              </a:rPr>
              <a:t>年</a:t>
            </a:r>
            <a:r>
              <a:rPr lang="en-US" altLang="zh-CN" sz="2000" b="1" dirty="0">
                <a:latin typeface="宋体" panose="02010600030101010101" pitchFamily="2" charset="-122"/>
                <a:ea typeface="宋体" panose="02010600030101010101" pitchFamily="2" charset="-122"/>
                <a:cs typeface="宋体" panose="02010600030101010101" pitchFamily="2" charset="-122"/>
              </a:rPr>
              <a:t>Aho-Corasick</a:t>
            </a:r>
            <a:r>
              <a:rPr lang="zh-CN" altLang="en-US" sz="2000" b="1" dirty="0">
                <a:latin typeface="宋体" panose="02010600030101010101" pitchFamily="2" charset="-122"/>
                <a:ea typeface="宋体" panose="02010600030101010101" pitchFamily="2" charset="-122"/>
                <a:cs typeface="宋体" panose="02010600030101010101" pitchFamily="2" charset="-122"/>
              </a:rPr>
              <a:t>提出的</a:t>
            </a:r>
            <a:r>
              <a:rPr lang="en-US" altLang="zh-CN" sz="2000" b="1" dirty="0">
                <a:latin typeface="宋体" panose="02010600030101010101" pitchFamily="2" charset="-122"/>
                <a:ea typeface="宋体" panose="02010600030101010101" pitchFamily="2" charset="-122"/>
                <a:cs typeface="宋体" panose="02010600030101010101" pitchFamily="2" charset="-122"/>
              </a:rPr>
              <a:t>AC75</a:t>
            </a:r>
            <a:r>
              <a:rPr lang="zh-CN" altLang="en-US" sz="2000" b="1" dirty="0">
                <a:latin typeface="宋体" panose="02010600030101010101" pitchFamily="2" charset="-122"/>
                <a:ea typeface="宋体" panose="02010600030101010101" pitchFamily="2" charset="-122"/>
                <a:cs typeface="宋体" panose="02010600030101010101" pitchFamily="2" charset="-122"/>
              </a:rPr>
              <a:t>；</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对于单模式还有非常好高效的算法</a:t>
            </a:r>
            <a:r>
              <a:rPr lang="en-US" altLang="zh-CN" sz="2000" b="1" dirty="0">
                <a:latin typeface="宋体" panose="02010600030101010101" pitchFamily="2" charset="-122"/>
                <a:ea typeface="宋体" panose="02010600030101010101" pitchFamily="2" charset="-122"/>
                <a:cs typeface="宋体" panose="02010600030101010101" pitchFamily="2" charset="-122"/>
              </a:rPr>
              <a:t>BM77,</a:t>
            </a:r>
            <a:r>
              <a:rPr lang="zh-CN" altLang="en-US" sz="2000" b="1" dirty="0">
                <a:latin typeface="宋体" panose="02010600030101010101" pitchFamily="2" charset="-122"/>
                <a:ea typeface="宋体" panose="02010600030101010101" pitchFamily="2" charset="-122"/>
                <a:cs typeface="宋体" panose="02010600030101010101" pitchFamily="2" charset="-122"/>
              </a:rPr>
              <a:t>由</a:t>
            </a:r>
            <a:r>
              <a:rPr lang="en-US" altLang="zh-CN" sz="2000" b="1" dirty="0">
                <a:latin typeface="宋体" panose="02010600030101010101" pitchFamily="2" charset="-122"/>
                <a:ea typeface="宋体" panose="02010600030101010101" pitchFamily="2" charset="-122"/>
                <a:cs typeface="宋体" panose="02010600030101010101" pitchFamily="2" charset="-122"/>
              </a:rPr>
              <a:t>BM</a:t>
            </a:r>
            <a:r>
              <a:rPr lang="zh-CN" altLang="en-US" sz="2000" b="1" dirty="0">
                <a:latin typeface="宋体" panose="02010600030101010101" pitchFamily="2" charset="-122"/>
                <a:ea typeface="宋体" panose="02010600030101010101" pitchFamily="2" charset="-122"/>
                <a:cs typeface="宋体" panose="02010600030101010101" pitchFamily="2" charset="-122"/>
              </a:rPr>
              <a:t>中的跳跃思想衍生出了许多变种，应用于单模式和多模式匹配中。</a:t>
            </a:r>
          </a:p>
          <a:p>
            <a:pPr eaLnBrk="1" hangingPunct="1">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Commentz-Walter</a:t>
            </a:r>
            <a:r>
              <a:rPr lang="zh-CN" altLang="en-US" sz="2000" b="1" dirty="0">
                <a:latin typeface="宋体" panose="02010600030101010101" pitchFamily="2" charset="-122"/>
                <a:ea typeface="宋体" panose="02010600030101010101" pitchFamily="2" charset="-122"/>
                <a:cs typeface="宋体" panose="02010600030101010101" pitchFamily="2" charset="-122"/>
              </a:rPr>
              <a:t>就是在结合</a:t>
            </a:r>
            <a:r>
              <a:rPr lang="en-US" altLang="zh-CN" sz="2000" b="1" dirty="0">
                <a:latin typeface="宋体" panose="02010600030101010101" pitchFamily="2" charset="-122"/>
                <a:ea typeface="宋体" panose="02010600030101010101" pitchFamily="2" charset="-122"/>
                <a:cs typeface="宋体" panose="02010600030101010101" pitchFamily="2" charset="-122"/>
              </a:rPr>
              <a:t>AC</a:t>
            </a:r>
            <a:r>
              <a:rPr lang="zh-CN" altLang="en-US" sz="2000" b="1" dirty="0">
                <a:latin typeface="宋体" panose="02010600030101010101" pitchFamily="2" charset="-122"/>
                <a:ea typeface="宋体" panose="02010600030101010101" pitchFamily="2" charset="-122"/>
                <a:cs typeface="宋体" panose="02010600030101010101" pitchFamily="2" charset="-122"/>
              </a:rPr>
              <a:t>和</a:t>
            </a:r>
            <a:r>
              <a:rPr lang="en-US" altLang="zh-CN" sz="2000" b="1" dirty="0">
                <a:latin typeface="宋体" panose="02010600030101010101" pitchFamily="2" charset="-122"/>
                <a:ea typeface="宋体" panose="02010600030101010101" pitchFamily="2" charset="-122"/>
                <a:cs typeface="宋体" panose="02010600030101010101" pitchFamily="2" charset="-122"/>
              </a:rPr>
              <a:t>BM</a:t>
            </a:r>
            <a:r>
              <a:rPr lang="zh-CN" altLang="en-US" sz="2000" b="1" dirty="0">
                <a:latin typeface="宋体" panose="02010600030101010101" pitchFamily="2" charset="-122"/>
                <a:ea typeface="宋体" panose="02010600030101010101" pitchFamily="2" charset="-122"/>
                <a:cs typeface="宋体" panose="02010600030101010101" pitchFamily="2" charset="-122"/>
              </a:rPr>
              <a:t>的思想产生的一种多模式匹配算法，</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另外，</a:t>
            </a:r>
            <a:r>
              <a:rPr lang="en-US" altLang="zh-CN" sz="2000" b="1" dirty="0">
                <a:latin typeface="宋体" panose="02010600030101010101" pitchFamily="2" charset="-122"/>
                <a:ea typeface="宋体" panose="02010600030101010101" pitchFamily="2" charset="-122"/>
                <a:cs typeface="宋体" panose="02010600030101010101" pitchFamily="2" charset="-122"/>
              </a:rPr>
              <a:t>1992</a:t>
            </a:r>
            <a:r>
              <a:rPr lang="zh-CN" altLang="en-US" sz="2000" b="1" dirty="0">
                <a:latin typeface="宋体" panose="02010600030101010101" pitchFamily="2" charset="-122"/>
                <a:ea typeface="宋体" panose="02010600030101010101" pitchFamily="2" charset="-122"/>
                <a:cs typeface="宋体" panose="02010600030101010101" pitchFamily="2" charset="-122"/>
              </a:rPr>
              <a:t>年</a:t>
            </a:r>
            <a:r>
              <a:rPr lang="en-US" altLang="zh-CN" sz="2000" b="1" dirty="0">
                <a:latin typeface="宋体" panose="02010600030101010101" pitchFamily="2" charset="-122"/>
                <a:ea typeface="宋体" panose="02010600030101010101" pitchFamily="2" charset="-122"/>
                <a:cs typeface="宋体" panose="02010600030101010101" pitchFamily="2" charset="-122"/>
              </a:rPr>
              <a:t>Wu.Sum</a:t>
            </a:r>
            <a:r>
              <a:rPr lang="zh-CN" altLang="en-US" sz="2000" b="1" dirty="0">
                <a:latin typeface="宋体" panose="02010600030101010101" pitchFamily="2" charset="-122"/>
                <a:ea typeface="宋体" panose="02010600030101010101" pitchFamily="2" charset="-122"/>
                <a:cs typeface="宋体" panose="02010600030101010101" pitchFamily="2" charset="-122"/>
              </a:rPr>
              <a:t>和</a:t>
            </a:r>
            <a:r>
              <a:rPr lang="en-US" altLang="zh-CN" sz="2000" b="1" dirty="0">
                <a:latin typeface="宋体" panose="02010600030101010101" pitchFamily="2" charset="-122"/>
                <a:ea typeface="宋体" panose="02010600030101010101" pitchFamily="2" charset="-122"/>
                <a:cs typeface="宋体" panose="02010600030101010101" pitchFamily="2" charset="-122"/>
              </a:rPr>
              <a:t>Udi.manber</a:t>
            </a:r>
            <a:r>
              <a:rPr lang="zh-CN" altLang="en-US" sz="2000" b="1" dirty="0">
                <a:latin typeface="宋体" panose="02010600030101010101" pitchFamily="2" charset="-122"/>
                <a:ea typeface="宋体" panose="02010600030101010101" pitchFamily="2" charset="-122"/>
                <a:cs typeface="宋体" panose="02010600030101010101" pitchFamily="2" charset="-122"/>
              </a:rPr>
              <a:t>提出的</a:t>
            </a:r>
            <a:r>
              <a:rPr lang="en-US" altLang="zh-CN" sz="2000" b="1" dirty="0">
                <a:latin typeface="宋体" panose="02010600030101010101" pitchFamily="2" charset="-122"/>
                <a:ea typeface="宋体" panose="02010600030101010101" pitchFamily="2" charset="-122"/>
                <a:cs typeface="宋体" panose="02010600030101010101" pitchFamily="2" charset="-122"/>
              </a:rPr>
              <a:t>agrep</a:t>
            </a:r>
            <a:r>
              <a:rPr lang="zh-CN" altLang="en-US" sz="2000" b="1" dirty="0">
                <a:latin typeface="宋体" panose="02010600030101010101" pitchFamily="2" charset="-122"/>
                <a:ea typeface="宋体" panose="02010600030101010101" pitchFamily="2" charset="-122"/>
                <a:cs typeface="宋体" panose="02010600030101010101" pitchFamily="2" charset="-122"/>
              </a:rPr>
              <a:t>是最好的多模算法之一。</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近年来，由于后缀树（</a:t>
            </a:r>
            <a:r>
              <a:rPr lang="en-US" altLang="zh-CN" sz="2000" b="1" dirty="0">
                <a:latin typeface="宋体" panose="02010600030101010101" pitchFamily="2" charset="-122"/>
                <a:ea typeface="宋体" panose="02010600030101010101" pitchFamily="2" charset="-122"/>
                <a:cs typeface="宋体" panose="02010600030101010101" pitchFamily="2" charset="-122"/>
              </a:rPr>
              <a:t>suffix tree</a:t>
            </a:r>
            <a:r>
              <a:rPr lang="zh-CN" altLang="en-US" sz="2000" b="1" dirty="0">
                <a:latin typeface="宋体" panose="02010600030101010101" pitchFamily="2" charset="-122"/>
                <a:ea typeface="宋体" panose="02010600030101010101" pitchFamily="2" charset="-122"/>
                <a:cs typeface="宋体" panose="02010600030101010101" pitchFamily="2" charset="-122"/>
              </a:rPr>
              <a:t>）和后缀自动机</a:t>
            </a:r>
            <a:r>
              <a:rPr lang="en-US" altLang="zh-CN" sz="2000" b="1" dirty="0">
                <a:latin typeface="宋体" panose="02010600030101010101" pitchFamily="2" charset="-122"/>
                <a:ea typeface="宋体" panose="02010600030101010101" pitchFamily="2" charset="-122"/>
                <a:cs typeface="宋体" panose="02010600030101010101" pitchFamily="2" charset="-122"/>
              </a:rPr>
              <a:t>(suffix auromaton)</a:t>
            </a:r>
            <a:r>
              <a:rPr lang="zh-CN" altLang="en-US" sz="2000" b="1" dirty="0">
                <a:latin typeface="宋体" panose="02010600030101010101" pitchFamily="2" charset="-122"/>
                <a:ea typeface="宋体" panose="02010600030101010101" pitchFamily="2" charset="-122"/>
                <a:cs typeface="宋体" panose="02010600030101010101" pitchFamily="2" charset="-122"/>
              </a:rPr>
              <a:t>的引入，又出现了</a:t>
            </a:r>
            <a:r>
              <a:rPr lang="en-US" altLang="zh-CN" sz="2000" b="1" dirty="0">
                <a:latin typeface="宋体" panose="02010600030101010101" pitchFamily="2" charset="-122"/>
                <a:ea typeface="宋体" panose="02010600030101010101" pitchFamily="2" charset="-122"/>
                <a:cs typeface="宋体" panose="02010600030101010101" pitchFamily="2" charset="-122"/>
              </a:rPr>
              <a:t>DAWG</a:t>
            </a:r>
            <a:r>
              <a:rPr lang="zh-CN" altLang="en-US" sz="2000" b="1" dirty="0">
                <a:latin typeface="宋体" panose="02010600030101010101" pitchFamily="2" charset="-122"/>
                <a:ea typeface="宋体" panose="02010600030101010101" pitchFamily="2" charset="-122"/>
                <a:cs typeface="宋体" panose="02010600030101010101" pitchFamily="2" charset="-122"/>
              </a:rPr>
              <a:t>－</a:t>
            </a:r>
            <a:r>
              <a:rPr lang="en-US" altLang="zh-CN" sz="2000" b="1" dirty="0">
                <a:latin typeface="宋体" panose="02010600030101010101" pitchFamily="2" charset="-122"/>
                <a:ea typeface="宋体" panose="02010600030101010101" pitchFamily="2" charset="-122"/>
                <a:cs typeface="宋体" panose="02010600030101010101" pitchFamily="2" charset="-122"/>
              </a:rPr>
              <a:t>MATCH</a:t>
            </a:r>
            <a:r>
              <a:rPr lang="zh-CN" altLang="en-US" sz="2000" b="1" dirty="0">
                <a:latin typeface="宋体" panose="02010600030101010101" pitchFamily="2" charset="-122"/>
                <a:ea typeface="宋体" panose="02010600030101010101" pitchFamily="2" charset="-122"/>
                <a:cs typeface="宋体" panose="02010600030101010101" pitchFamily="2" charset="-122"/>
              </a:rPr>
              <a:t>和</a:t>
            </a:r>
            <a:r>
              <a:rPr lang="en-US" altLang="zh-CN" sz="2000" b="1" dirty="0">
                <a:latin typeface="宋体" panose="02010600030101010101" pitchFamily="2" charset="-122"/>
                <a:ea typeface="宋体" panose="02010600030101010101" pitchFamily="2" charset="-122"/>
                <a:cs typeface="宋体" panose="02010600030101010101" pitchFamily="2" charset="-122"/>
              </a:rPr>
              <a:t>MultiBDM</a:t>
            </a:r>
            <a:r>
              <a:rPr lang="zh-CN" altLang="en-US" sz="2000" b="1" dirty="0">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68</a:t>
            </a:fld>
            <a:endParaRPr lang="en-US" altLang="zh-CN" sz="1400" dirty="0"/>
          </a:p>
        </p:txBody>
      </p:sp>
      <p:sp>
        <p:nvSpPr>
          <p:cNvPr id="87042" name="Rectangle 2"/>
          <p:cNvSpPr>
            <a:spLocks noGrp="1" noRot="1" noChangeArrowheads="1"/>
          </p:cNvSpPr>
          <p:nvPr>
            <p:ph type="title"/>
          </p:nvPr>
        </p:nvSpPr>
        <p:spPr>
          <a:xfrm>
            <a:off x="700405" y="-89535"/>
            <a:ext cx="7886700" cy="1325563"/>
          </a:xfrm>
        </p:spPr>
        <p:txBody>
          <a:bodyPr vert="horz" wrap="square" lIns="91440" tIns="45720" rIns="91440" bIns="45720" numCol="1" anchor="ctr" anchorCtr="0" compatLnSpc="1"/>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
        <p:nvSpPr>
          <p:cNvPr id="140291" name="Rectangle 3"/>
          <p:cNvSpPr>
            <a:spLocks noGrp="1" noRot="1"/>
          </p:cNvSpPr>
          <p:nvPr>
            <p:ph idx="1"/>
          </p:nvPr>
        </p:nvSpPr>
        <p:spPr>
          <a:xfrm>
            <a:off x="628650" y="1204595"/>
            <a:ext cx="7886700" cy="4972685"/>
          </a:xfrm>
        </p:spPr>
        <p:txBody>
          <a:bodyPr vert="horz" wrap="square" lIns="91440" tIns="45720" rIns="91440" bIns="45720" anchor="t">
            <a:normAutofit fontScale="92500"/>
          </a:bodyPr>
          <a:lstStyle/>
          <a:p>
            <a:pPr eaLnBrk="1" hangingPunct="1">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Aho-Corasick</a:t>
            </a:r>
            <a:r>
              <a:rPr lang="zh-CN" altLang="en-US" sz="2000" b="1" dirty="0">
                <a:latin typeface="宋体" panose="02010600030101010101" pitchFamily="2" charset="-122"/>
                <a:ea typeface="宋体" panose="02010600030101010101" pitchFamily="2" charset="-122"/>
                <a:cs typeface="宋体" panose="02010600030101010101" pitchFamily="2" charset="-122"/>
              </a:rPr>
              <a:t>自动机算法（简称</a:t>
            </a:r>
            <a:r>
              <a:rPr lang="en-US" altLang="zh-CN" sz="2000" b="1" dirty="0">
                <a:latin typeface="宋体" panose="02010600030101010101" pitchFamily="2" charset="-122"/>
                <a:ea typeface="宋体" panose="02010600030101010101" pitchFamily="2" charset="-122"/>
                <a:cs typeface="宋体" panose="02010600030101010101" pitchFamily="2" charset="-122"/>
              </a:rPr>
              <a:t>AC</a:t>
            </a:r>
            <a:r>
              <a:rPr lang="zh-CN" altLang="en-US" sz="2000" b="1" dirty="0">
                <a:latin typeface="宋体" panose="02010600030101010101" pitchFamily="2" charset="-122"/>
                <a:ea typeface="宋体" panose="02010600030101010101" pitchFamily="2" charset="-122"/>
                <a:cs typeface="宋体" panose="02010600030101010101" pitchFamily="2" charset="-122"/>
              </a:rPr>
              <a:t>自动机）</a:t>
            </a:r>
            <a:r>
              <a:rPr lang="en-US" altLang="zh-CN" sz="2000" b="1" dirty="0">
                <a:latin typeface="宋体" panose="02010600030101010101" pitchFamily="2" charset="-122"/>
                <a:ea typeface="宋体" panose="02010600030101010101" pitchFamily="2" charset="-122"/>
                <a:cs typeface="宋体" panose="02010600030101010101" pitchFamily="2" charset="-122"/>
              </a:rPr>
              <a:t>1975</a:t>
            </a:r>
            <a:r>
              <a:rPr lang="zh-CN" altLang="en-US" sz="2000" b="1" dirty="0">
                <a:latin typeface="宋体" panose="02010600030101010101" pitchFamily="2" charset="-122"/>
                <a:ea typeface="宋体" panose="02010600030101010101" pitchFamily="2" charset="-122"/>
                <a:cs typeface="宋体" panose="02010600030101010101" pitchFamily="2" charset="-122"/>
              </a:rPr>
              <a:t>年产生于贝尔实验室。该算法应用有限自动机巧妙地将字符比较转化为了状态转移。</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该算法的基本思想是这样的：</a:t>
            </a:r>
          </a:p>
          <a:p>
            <a:pPr lvl="1" algn="just"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在预处理阶段，</a:t>
            </a:r>
            <a:r>
              <a:rPr lang="en-US" altLang="zh-CN" sz="2000" b="1" dirty="0">
                <a:latin typeface="宋体" panose="02010600030101010101" pitchFamily="2" charset="-122"/>
                <a:ea typeface="宋体" panose="02010600030101010101" pitchFamily="2" charset="-122"/>
                <a:cs typeface="宋体" panose="02010600030101010101" pitchFamily="2" charset="-122"/>
              </a:rPr>
              <a:t>AC</a:t>
            </a:r>
            <a:r>
              <a:rPr lang="zh-CN" altLang="en-US" sz="2000" b="1" dirty="0">
                <a:latin typeface="宋体" panose="02010600030101010101" pitchFamily="2" charset="-122"/>
                <a:ea typeface="宋体" panose="02010600030101010101" pitchFamily="2" charset="-122"/>
                <a:cs typeface="宋体" panose="02010600030101010101" pitchFamily="2" charset="-122"/>
              </a:rPr>
              <a:t>自动机算法建立了三个函数，转向函数</a:t>
            </a:r>
            <a:r>
              <a:rPr lang="en-US" altLang="zh-CN" sz="2000" b="1" i="1" dirty="0">
                <a:latin typeface="宋体" panose="02010600030101010101" pitchFamily="2" charset="-122"/>
                <a:ea typeface="宋体" panose="02010600030101010101" pitchFamily="2" charset="-122"/>
                <a:cs typeface="宋体" panose="02010600030101010101" pitchFamily="2" charset="-122"/>
              </a:rPr>
              <a:t>goto</a:t>
            </a:r>
            <a:r>
              <a:rPr lang="zh-CN" altLang="en-US" sz="2000" b="1" dirty="0">
                <a:latin typeface="宋体" panose="02010600030101010101" pitchFamily="2" charset="-122"/>
                <a:ea typeface="宋体" panose="02010600030101010101" pitchFamily="2" charset="-122"/>
                <a:cs typeface="宋体" panose="02010600030101010101" pitchFamily="2" charset="-122"/>
              </a:rPr>
              <a:t>，失效函数</a:t>
            </a:r>
            <a:r>
              <a:rPr lang="en-US" altLang="zh-CN" sz="2000" b="1" i="1" dirty="0">
                <a:latin typeface="宋体" panose="02010600030101010101" pitchFamily="2" charset="-122"/>
                <a:ea typeface="宋体" panose="02010600030101010101" pitchFamily="2" charset="-122"/>
                <a:cs typeface="宋体" panose="02010600030101010101" pitchFamily="2" charset="-122"/>
              </a:rPr>
              <a:t>failure</a:t>
            </a:r>
            <a:r>
              <a:rPr lang="zh-CN" altLang="en-US" sz="2000" b="1" dirty="0">
                <a:latin typeface="宋体" panose="02010600030101010101" pitchFamily="2" charset="-122"/>
                <a:ea typeface="宋体" panose="02010600030101010101" pitchFamily="2" charset="-122"/>
                <a:cs typeface="宋体" panose="02010600030101010101" pitchFamily="2" charset="-122"/>
              </a:rPr>
              <a:t>和输出函数</a:t>
            </a:r>
            <a:r>
              <a:rPr lang="en-US" altLang="zh-CN" sz="2000" b="1" i="1" dirty="0">
                <a:latin typeface="宋体" panose="02010600030101010101" pitchFamily="2" charset="-122"/>
                <a:ea typeface="宋体" panose="02010600030101010101" pitchFamily="2" charset="-122"/>
                <a:cs typeface="宋体" panose="02010600030101010101" pitchFamily="2" charset="-122"/>
              </a:rPr>
              <a:t>output</a:t>
            </a:r>
            <a:r>
              <a:rPr lang="zh-CN" altLang="en-US" sz="2000" b="1" dirty="0">
                <a:latin typeface="宋体" panose="02010600030101010101" pitchFamily="2" charset="-122"/>
                <a:ea typeface="宋体" panose="02010600030101010101" pitchFamily="2" charset="-122"/>
                <a:cs typeface="宋体" panose="02010600030101010101" pitchFamily="2" charset="-122"/>
              </a:rPr>
              <a:t>，由此构造了一个树型有限自动机。</a:t>
            </a:r>
          </a:p>
          <a:p>
            <a:pPr lvl="1" algn="just"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在搜索查找阶段，则通过这三个函数的交叉使用扫描文本，定位出关键字在文本中的所有出现位置。</a:t>
            </a:r>
          </a:p>
          <a:p>
            <a:pPr eaLnBrk="1" hangingPunct="1">
              <a:lnSpc>
                <a:spcPct val="150000"/>
              </a:lnSpc>
            </a:pPr>
            <a:r>
              <a:rPr lang="zh-CN" altLang="en-US" sz="2000" b="1" dirty="0">
                <a:latin typeface="宋体" panose="02010600030101010101" pitchFamily="2" charset="-122"/>
                <a:ea typeface="宋体" panose="02010600030101010101" pitchFamily="2" charset="-122"/>
                <a:cs typeface="宋体" panose="02010600030101010101" pitchFamily="2" charset="-122"/>
              </a:rPr>
              <a:t>算法特点：</a:t>
            </a:r>
          </a:p>
          <a:p>
            <a:pPr lvl="1" eaLnBrk="1" hangingPunct="1">
              <a:lnSpc>
                <a:spcPct val="150000"/>
              </a:lnSpc>
            </a:pPr>
            <a:r>
              <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rPr>
              <a:t>扫描文本时完全不需要回溯</a:t>
            </a:r>
          </a:p>
          <a:p>
            <a:pPr lvl="1" eaLnBrk="1" hangingPunct="1">
              <a:lnSpc>
                <a:spcPct val="150000"/>
              </a:lnSpc>
            </a:pPr>
            <a:r>
              <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rPr>
              <a:t>时间复杂度为</a:t>
            </a:r>
            <a:r>
              <a:rPr lang="en-US" altLang="zh-CN" sz="2000" b="1" i="1" dirty="0">
                <a:solidFill>
                  <a:srgbClr val="FF0000"/>
                </a:solidFill>
                <a:latin typeface="宋体" panose="02010600030101010101" pitchFamily="2" charset="-122"/>
                <a:ea typeface="宋体" panose="02010600030101010101" pitchFamily="2" charset="-122"/>
                <a:cs typeface="宋体" panose="02010600030101010101" pitchFamily="2" charset="-122"/>
              </a:rPr>
              <a:t>O</a:t>
            </a:r>
            <a:r>
              <a:rPr lang="en-US" altLang="zh-CN" sz="2000"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000" b="1" i="1" dirty="0">
                <a:solidFill>
                  <a:srgbClr val="FF0000"/>
                </a:solidFill>
                <a:latin typeface="宋体" panose="02010600030101010101" pitchFamily="2" charset="-122"/>
                <a:ea typeface="宋体" panose="02010600030101010101" pitchFamily="2" charset="-122"/>
                <a:cs typeface="宋体" panose="02010600030101010101" pitchFamily="2" charset="-122"/>
              </a:rPr>
              <a:t>n</a:t>
            </a:r>
            <a:r>
              <a:rPr lang="en-US" altLang="zh-CN" sz="2000" b="1"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rPr>
              <a:t>，时间复杂度与关键字的数目和长度无关。</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69</a:t>
            </a:fld>
            <a:endParaRPr lang="en-US" altLang="zh-CN" sz="1400" dirty="0"/>
          </a:p>
        </p:txBody>
      </p:sp>
      <p:sp>
        <p:nvSpPr>
          <p:cNvPr id="142338" name="Text Box 6"/>
          <p:cNvSpPr txBox="1"/>
          <p:nvPr/>
        </p:nvSpPr>
        <p:spPr>
          <a:xfrm>
            <a:off x="468313" y="1266825"/>
            <a:ext cx="8135937" cy="4651375"/>
          </a:xfrm>
          <a:prstGeom prst="rect">
            <a:avLst/>
          </a:prstGeom>
          <a:noFill/>
          <a:ln w="9525">
            <a:noFill/>
          </a:ln>
        </p:spPr>
        <p:txBody>
          <a:bodyPr>
            <a:spAutoFit/>
          </a:bodyPr>
          <a:lstStyle/>
          <a:p>
            <a:pPr>
              <a:lnSpc>
                <a:spcPct val="170000"/>
              </a:lnSpc>
              <a:buClrTx/>
            </a:pPr>
            <a:r>
              <a:rPr lang="en-US" altLang="zh-CN" b="1" dirty="0">
                <a:latin typeface="宋体" panose="02010600030101010101" pitchFamily="2" charset="-122"/>
              </a:rPr>
              <a:t>2</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树型有限自动机：</a:t>
            </a:r>
          </a:p>
          <a:p>
            <a:pPr>
              <a:lnSpc>
                <a:spcPct val="170000"/>
              </a:lnSpc>
              <a:buClrTx/>
            </a:pPr>
            <a:r>
              <a:rPr lang="zh-CN" altLang="en-US" b="1" dirty="0">
                <a:solidFill>
                  <a:srgbClr val="000000"/>
                </a:solidFill>
                <a:latin typeface="宋体" panose="02010600030101010101" pitchFamily="2" charset="-122"/>
              </a:rPr>
              <a:t>    树型有限自动机包含一组状态，每个状态用一个数字代表。状态机读入文本串</a:t>
            </a:r>
            <a:r>
              <a:rPr lang="en-US" altLang="zh-CN" b="1" i="1" dirty="0">
                <a:solidFill>
                  <a:srgbClr val="000000"/>
                </a:solidFill>
                <a:latin typeface="Arial" panose="020B0604020202020204" pitchFamily="34" charset="0"/>
              </a:rPr>
              <a:t>y</a:t>
            </a:r>
            <a:r>
              <a:rPr lang="zh-CN" altLang="en-US" b="1" dirty="0">
                <a:solidFill>
                  <a:srgbClr val="000000"/>
                </a:solidFill>
                <a:latin typeface="宋体" panose="02010600030101010101" pitchFamily="2" charset="-122"/>
              </a:rPr>
              <a:t>中的字符，然后通过产生状态转移或者偶尔发送输出的方式来处理文本。树型有限自动机的行为通过三个函数来指示：转向函数</a:t>
            </a:r>
            <a:r>
              <a:rPr lang="en-US" altLang="zh-CN" b="1" i="1" dirty="0">
                <a:solidFill>
                  <a:srgbClr val="000000"/>
                </a:solidFill>
                <a:latin typeface="Arial" panose="020B0604020202020204" pitchFamily="34" charset="0"/>
              </a:rPr>
              <a:t>g</a:t>
            </a:r>
            <a:r>
              <a:rPr lang="zh-CN" altLang="en-US" b="1" dirty="0">
                <a:solidFill>
                  <a:srgbClr val="000000"/>
                </a:solidFill>
                <a:latin typeface="宋体" panose="02010600030101010101" pitchFamily="2" charset="-122"/>
              </a:rPr>
              <a:t>，失效函数</a:t>
            </a:r>
            <a:r>
              <a:rPr lang="en-US" altLang="zh-CN" b="1" i="1" dirty="0">
                <a:solidFill>
                  <a:srgbClr val="000000"/>
                </a:solidFill>
                <a:latin typeface="Arial" panose="020B0604020202020204" pitchFamily="34" charset="0"/>
              </a:rPr>
              <a:t>f</a:t>
            </a:r>
            <a:r>
              <a:rPr lang="zh-CN" altLang="en-US" b="1" dirty="0">
                <a:solidFill>
                  <a:srgbClr val="000000"/>
                </a:solidFill>
                <a:latin typeface="宋体" panose="02010600030101010101" pitchFamily="2" charset="-122"/>
              </a:rPr>
              <a:t>和输出函数</a:t>
            </a:r>
            <a:r>
              <a:rPr lang="en-US" altLang="zh-CN" b="1" i="1" dirty="0">
                <a:solidFill>
                  <a:srgbClr val="000000"/>
                </a:solidFill>
                <a:latin typeface="Arial" panose="020B0604020202020204" pitchFamily="34" charset="0"/>
              </a:rPr>
              <a:t>output</a:t>
            </a:r>
            <a:r>
              <a:rPr lang="zh-CN" altLang="en-US" b="1" dirty="0">
                <a:solidFill>
                  <a:srgbClr val="000000"/>
                </a:solidFill>
                <a:latin typeface="宋体" panose="02010600030101010101" pitchFamily="2" charset="-122"/>
              </a:rPr>
              <a:t>。</a:t>
            </a:r>
            <a:r>
              <a:rPr lang="zh-CN" altLang="en-US" dirty="0">
                <a:latin typeface="宋体" panose="02010600030101010101" pitchFamily="2" charset="-122"/>
              </a:rPr>
              <a:t> </a:t>
            </a:r>
          </a:p>
          <a:p>
            <a:pPr>
              <a:lnSpc>
                <a:spcPct val="170000"/>
              </a:lnSpc>
              <a:buClrTx/>
            </a:pPr>
            <a:endParaRPr lang="en-US" altLang="zh-CN" sz="1800" dirty="0">
              <a:latin typeface="Arial" panose="020B0604020202020204" pitchFamily="34" charset="0"/>
            </a:endParaRP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rcRect l="24157" t="26374" r="11603" b="53553"/>
          <a:stretch>
            <a:fillRect/>
          </a:stretch>
        </p:blipFill>
        <p:spPr>
          <a:xfrm>
            <a:off x="133350" y="1701165"/>
            <a:ext cx="8900795" cy="2121535"/>
          </a:xfrm>
          <a:prstGeom prst="rect">
            <a:avLst/>
          </a:prstGeom>
        </p:spPr>
      </p:pic>
      <p:sp>
        <p:nvSpPr>
          <p:cNvPr id="2" name="文本框 1"/>
          <p:cNvSpPr txBox="1"/>
          <p:nvPr/>
        </p:nvSpPr>
        <p:spPr>
          <a:xfrm>
            <a:off x="191135" y="2817495"/>
            <a:ext cx="708660" cy="460375"/>
          </a:xfrm>
          <a:prstGeom prst="rect">
            <a:avLst/>
          </a:prstGeom>
          <a:solidFill>
            <a:schemeClr val="bg1">
              <a:lumMod val="95000"/>
            </a:schemeClr>
          </a:solidFill>
        </p:spPr>
        <p:txBody>
          <a:bodyPr wrap="square" rtlCol="0">
            <a:spAutoFit/>
          </a:bodyPr>
          <a:lstStyle/>
          <a:p>
            <a:r>
              <a:rPr lang="en-US" altLang="zh-CN"/>
              <a:t>AC</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71</a:t>
            </a:fld>
            <a:endParaRPr lang="en-US" altLang="zh-CN" sz="1400" dirty="0"/>
          </a:p>
        </p:txBody>
      </p:sp>
      <p:sp>
        <p:nvSpPr>
          <p:cNvPr id="144386" name="Text Box 4"/>
          <p:cNvSpPr txBox="1"/>
          <p:nvPr/>
        </p:nvSpPr>
        <p:spPr>
          <a:xfrm>
            <a:off x="323850" y="836613"/>
            <a:ext cx="7993063" cy="457200"/>
          </a:xfrm>
          <a:prstGeom prst="rect">
            <a:avLst/>
          </a:prstGeom>
          <a:noFill/>
          <a:ln w="9525">
            <a:noFill/>
          </a:ln>
        </p:spPr>
        <p:txBody>
          <a:bodyPr>
            <a:spAutoFit/>
          </a:bodyPr>
          <a:lstStyle/>
          <a:p>
            <a:pPr>
              <a:buClrTx/>
            </a:pPr>
            <a:r>
              <a:rPr lang="zh-CN" altLang="en-US" b="1" dirty="0">
                <a:solidFill>
                  <a:srgbClr val="000000"/>
                </a:solidFill>
                <a:latin typeface="Arial" panose="020B0604020202020204" pitchFamily="34" charset="0"/>
              </a:rPr>
              <a:t>例如：对应模式集</a:t>
            </a:r>
            <a:r>
              <a:rPr lang="en-US" altLang="zh-CN" b="1" dirty="0">
                <a:solidFill>
                  <a:srgbClr val="000000"/>
                </a:solidFill>
                <a:latin typeface="Arial" panose="020B0604020202020204" pitchFamily="34" charset="0"/>
              </a:rPr>
              <a:t>{</a:t>
            </a:r>
            <a:r>
              <a:rPr lang="en-US" altLang="zh-CN" b="1" i="1" dirty="0">
                <a:solidFill>
                  <a:srgbClr val="000000"/>
                </a:solidFill>
                <a:latin typeface="Arial" panose="020B0604020202020204" pitchFamily="34" charset="0"/>
              </a:rPr>
              <a:t>he, she, his, hers</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的树型有限自动机</a:t>
            </a:r>
          </a:p>
        </p:txBody>
      </p:sp>
      <p:pic>
        <p:nvPicPr>
          <p:cNvPr id="144387" name="Picture 5"/>
          <p:cNvPicPr>
            <a:picLocks noChangeAspect="1"/>
          </p:cNvPicPr>
          <p:nvPr/>
        </p:nvPicPr>
        <p:blipFill>
          <a:blip r:embed="rId3"/>
          <a:stretch>
            <a:fillRect/>
          </a:stretch>
        </p:blipFill>
        <p:spPr>
          <a:xfrm>
            <a:off x="1835150" y="1412875"/>
            <a:ext cx="4321175" cy="1728788"/>
          </a:xfrm>
          <a:prstGeom prst="rect">
            <a:avLst/>
          </a:prstGeom>
          <a:noFill/>
          <a:ln w="9525">
            <a:noFill/>
          </a:ln>
        </p:spPr>
      </p:pic>
      <p:sp>
        <p:nvSpPr>
          <p:cNvPr id="144388" name="Text Box 6"/>
          <p:cNvSpPr txBox="1"/>
          <p:nvPr/>
        </p:nvSpPr>
        <p:spPr>
          <a:xfrm>
            <a:off x="2773363" y="3206750"/>
            <a:ext cx="2519362" cy="366713"/>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1</a:t>
            </a:r>
            <a:r>
              <a:rPr lang="en-US" altLang="zh-CN" sz="1800" b="1" dirty="0">
                <a:solidFill>
                  <a:srgbClr val="000000"/>
                </a:solidFill>
                <a:latin typeface="Arial" panose="020B0604020202020204" pitchFamily="34" charset="0"/>
              </a:rPr>
              <a:t>  a</a:t>
            </a:r>
            <a:r>
              <a:rPr lang="zh-CN" altLang="en-US" sz="1800" dirty="0">
                <a:solidFill>
                  <a:srgbClr val="000000"/>
                </a:solidFill>
                <a:latin typeface="Arial" panose="020B0604020202020204" pitchFamily="34" charset="0"/>
              </a:rPr>
              <a:t>） 转向函数</a:t>
            </a:r>
            <a:r>
              <a:rPr lang="en-US" altLang="zh-CN" sz="1800" i="1" dirty="0">
                <a:solidFill>
                  <a:srgbClr val="000000"/>
                </a:solidFill>
                <a:latin typeface="Arial" panose="020B0604020202020204" pitchFamily="34" charset="0"/>
              </a:rPr>
              <a:t>g</a:t>
            </a:r>
          </a:p>
        </p:txBody>
      </p:sp>
      <p:pic>
        <p:nvPicPr>
          <p:cNvPr id="144389" name="Picture 7"/>
          <p:cNvPicPr>
            <a:picLocks noChangeAspect="1"/>
          </p:cNvPicPr>
          <p:nvPr/>
        </p:nvPicPr>
        <p:blipFill>
          <a:blip r:embed="rId4"/>
          <a:stretch>
            <a:fillRect/>
          </a:stretch>
        </p:blipFill>
        <p:spPr>
          <a:xfrm>
            <a:off x="1835150" y="3717925"/>
            <a:ext cx="4321175" cy="503238"/>
          </a:xfrm>
          <a:prstGeom prst="rect">
            <a:avLst/>
          </a:prstGeom>
          <a:noFill/>
          <a:ln w="9525">
            <a:noFill/>
          </a:ln>
        </p:spPr>
      </p:pic>
      <p:sp>
        <p:nvSpPr>
          <p:cNvPr id="144390" name="Text Box 8"/>
          <p:cNvSpPr txBox="1"/>
          <p:nvPr/>
        </p:nvSpPr>
        <p:spPr>
          <a:xfrm>
            <a:off x="2843213" y="4286250"/>
            <a:ext cx="2376487" cy="366713"/>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1</a:t>
            </a:r>
            <a:r>
              <a:rPr lang="en-US" altLang="zh-CN" sz="1800" dirty="0">
                <a:latin typeface="Arial" panose="020B0604020202020204" pitchFamily="34" charset="0"/>
              </a:rPr>
              <a:t>  </a:t>
            </a:r>
            <a:r>
              <a:rPr lang="en-US" altLang="zh-CN" sz="1800" b="1" dirty="0">
                <a:solidFill>
                  <a:srgbClr val="000000"/>
                </a:solidFill>
                <a:latin typeface="Arial" panose="020B0604020202020204" pitchFamily="34" charset="0"/>
              </a:rPr>
              <a:t>b</a:t>
            </a:r>
            <a:r>
              <a:rPr lang="zh-CN" altLang="en-US" sz="1800" dirty="0">
                <a:solidFill>
                  <a:srgbClr val="000000"/>
                </a:solidFill>
                <a:latin typeface="Arial" panose="020B0604020202020204" pitchFamily="34" charset="0"/>
              </a:rPr>
              <a:t>） 失效函数</a:t>
            </a:r>
            <a:r>
              <a:rPr lang="en-US" altLang="zh-CN" sz="1800" i="1" dirty="0">
                <a:solidFill>
                  <a:srgbClr val="000000"/>
                </a:solidFill>
                <a:latin typeface="Arial" panose="020B0604020202020204" pitchFamily="34" charset="0"/>
              </a:rPr>
              <a:t>f</a:t>
            </a:r>
            <a:r>
              <a:rPr lang="en-US" altLang="zh-CN" sz="1800" dirty="0">
                <a:latin typeface="Arial" panose="020B0604020202020204" pitchFamily="34" charset="0"/>
              </a:rPr>
              <a:t> </a:t>
            </a:r>
          </a:p>
        </p:txBody>
      </p:sp>
      <p:pic>
        <p:nvPicPr>
          <p:cNvPr id="144391" name="Picture 9"/>
          <p:cNvPicPr>
            <a:picLocks noChangeAspect="1"/>
          </p:cNvPicPr>
          <p:nvPr/>
        </p:nvPicPr>
        <p:blipFill>
          <a:blip r:embed="rId5"/>
          <a:stretch>
            <a:fillRect/>
          </a:stretch>
        </p:blipFill>
        <p:spPr>
          <a:xfrm>
            <a:off x="2339975" y="4724400"/>
            <a:ext cx="3384550" cy="1512888"/>
          </a:xfrm>
          <a:prstGeom prst="rect">
            <a:avLst/>
          </a:prstGeom>
          <a:noFill/>
          <a:ln w="9525">
            <a:noFill/>
          </a:ln>
        </p:spPr>
      </p:pic>
      <p:sp>
        <p:nvSpPr>
          <p:cNvPr id="144392" name="Text Box 10"/>
          <p:cNvSpPr txBox="1"/>
          <p:nvPr/>
        </p:nvSpPr>
        <p:spPr>
          <a:xfrm>
            <a:off x="2771775" y="6158865"/>
            <a:ext cx="2736850" cy="366713"/>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1</a:t>
            </a:r>
            <a:r>
              <a:rPr lang="en-US" altLang="zh-CN" sz="1800" dirty="0">
                <a:latin typeface="Arial" panose="020B0604020202020204" pitchFamily="34" charset="0"/>
              </a:rPr>
              <a:t>  </a:t>
            </a:r>
            <a:r>
              <a:rPr lang="en-US" altLang="zh-CN" sz="1800" b="1" dirty="0">
                <a:solidFill>
                  <a:srgbClr val="000000"/>
                </a:solidFill>
                <a:latin typeface="Arial" panose="020B0604020202020204" pitchFamily="34" charset="0"/>
              </a:rPr>
              <a:t>c</a:t>
            </a:r>
            <a:r>
              <a:rPr lang="zh-CN" altLang="en-US" sz="1800" dirty="0">
                <a:solidFill>
                  <a:srgbClr val="000000"/>
                </a:solidFill>
                <a:latin typeface="Arial" panose="020B0604020202020204" pitchFamily="34" charset="0"/>
              </a:rPr>
              <a:t>） 输出函数</a:t>
            </a:r>
            <a:r>
              <a:rPr lang="en-US" altLang="zh-CN" sz="1800" i="1" dirty="0">
                <a:solidFill>
                  <a:srgbClr val="000000"/>
                </a:solidFill>
                <a:latin typeface="Arial" panose="020B0604020202020204" pitchFamily="34" charset="0"/>
              </a:rPr>
              <a:t>output  </a:t>
            </a:r>
          </a:p>
        </p:txBody>
      </p:sp>
      <p:sp>
        <p:nvSpPr>
          <p:cNvPr id="87042" name="Rectangle 2"/>
          <p:cNvSpPr>
            <a:spLocks noGrp="1" noRot="1" noChangeArrowheads="1"/>
          </p:cNvSpPr>
          <p:nvPr/>
        </p:nvSpPr>
        <p:spPr>
          <a:xfrm>
            <a:off x="700405" y="-16129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72</a:t>
            </a:fld>
            <a:endParaRPr lang="en-US" altLang="zh-CN" sz="1400" dirty="0"/>
          </a:p>
        </p:txBody>
      </p:sp>
      <p:sp>
        <p:nvSpPr>
          <p:cNvPr id="146434" name="Text Box 4"/>
          <p:cNvSpPr txBox="1"/>
          <p:nvPr/>
        </p:nvSpPr>
        <p:spPr>
          <a:xfrm>
            <a:off x="395288" y="1051878"/>
            <a:ext cx="8497887" cy="5367020"/>
          </a:xfrm>
          <a:prstGeom prst="rect">
            <a:avLst/>
          </a:prstGeom>
          <a:noFill/>
          <a:ln w="9525">
            <a:noFill/>
          </a:ln>
        </p:spPr>
        <p:txBody>
          <a:bodyPr>
            <a:spAutoFit/>
          </a:bodyPr>
          <a:lstStyle/>
          <a:p>
            <a:pPr>
              <a:lnSpc>
                <a:spcPct val="130000"/>
              </a:lnSpc>
              <a:buClrTx/>
            </a:pPr>
            <a:r>
              <a:rPr lang="en-US" altLang="zh-CN" sz="1800" b="1" dirty="0">
                <a:latin typeface="Arial" panose="020B0604020202020204" pitchFamily="34" charset="0"/>
              </a:rPr>
              <a:t> </a:t>
            </a:r>
            <a:r>
              <a:rPr lang="en-US" altLang="zh-CN" b="1" dirty="0">
                <a:solidFill>
                  <a:srgbClr val="000000"/>
                </a:solidFill>
                <a:latin typeface="宋体" panose="02010600030101010101" pitchFamily="2" charset="-122"/>
              </a:rPr>
              <a:t>3. </a:t>
            </a:r>
            <a:r>
              <a:rPr lang="zh-CN" altLang="en-US" b="1" dirty="0">
                <a:solidFill>
                  <a:srgbClr val="000000"/>
                </a:solidFill>
                <a:latin typeface="宋体" panose="02010600030101010101" pitchFamily="2" charset="-122"/>
              </a:rPr>
              <a:t>转向，失效和输出函数的构建 </a:t>
            </a:r>
          </a:p>
          <a:p>
            <a:pPr>
              <a:lnSpc>
                <a:spcPct val="130000"/>
              </a:lnSpc>
              <a:spcBef>
                <a:spcPct val="0"/>
              </a:spcBef>
              <a:buClrTx/>
            </a:pPr>
            <a:r>
              <a:rPr lang="zh-CN" altLang="en-US" b="1" dirty="0">
                <a:solidFill>
                  <a:srgbClr val="000000"/>
                </a:solidFill>
                <a:latin typeface="宋体" panose="02010600030101010101" pitchFamily="2" charset="-122"/>
              </a:rPr>
              <a:t>    现在说明如何根据一个关键字集建立正确的转向、失效和输出函数。整个构建包含两个部分，在第一部分确定状态和转向函数，在第二部分我们计算失效函数。输出函数的计算则是穿插在第一部分和第二部分中完成。</a:t>
            </a:r>
          </a:p>
          <a:p>
            <a:pPr>
              <a:lnSpc>
                <a:spcPct val="130000"/>
              </a:lnSpc>
              <a:spcBef>
                <a:spcPct val="0"/>
              </a:spcBef>
              <a:buClrTx/>
            </a:pPr>
            <a:r>
              <a:rPr lang="zh-CN" altLang="en-US" b="1" dirty="0">
                <a:solidFill>
                  <a:srgbClr val="000000"/>
                </a:solidFill>
                <a:latin typeface="宋体" panose="02010600030101010101" pitchFamily="2" charset="-122"/>
              </a:rPr>
              <a:t>  为了构建转向函数，我们需要建立一个状态转移图。开始，这个图只包含一个代表状态</a:t>
            </a:r>
            <a:r>
              <a:rPr lang="en-US" altLang="zh-CN" b="1" i="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。然后，通过添加一条从起始状态出发的路径的方式，依次向图中输入每个关键字</a:t>
            </a:r>
            <a:r>
              <a:rPr lang="en-US" altLang="zh-CN" b="1" i="1" dirty="0">
                <a:solidFill>
                  <a:srgbClr val="000000"/>
                </a:solidFill>
                <a:latin typeface="Arial" panose="020B0604020202020204" pitchFamily="34" charset="0"/>
              </a:rPr>
              <a:t>p</a:t>
            </a:r>
            <a:r>
              <a:rPr lang="zh-CN" altLang="en-US" b="1" dirty="0">
                <a:solidFill>
                  <a:srgbClr val="000000"/>
                </a:solidFill>
                <a:latin typeface="宋体" panose="02010600030101010101" pitchFamily="2" charset="-122"/>
              </a:rPr>
              <a:t>。新的顶点和边被加入到图表中，以致于产生了一条能拼写出关键字</a:t>
            </a:r>
            <a:r>
              <a:rPr lang="en-US" altLang="zh-CN" b="1" i="1" dirty="0">
                <a:solidFill>
                  <a:srgbClr val="000000"/>
                </a:solidFill>
                <a:latin typeface="Arial" panose="020B0604020202020204" pitchFamily="34" charset="0"/>
              </a:rPr>
              <a:t>p</a:t>
            </a:r>
            <a:r>
              <a:rPr lang="zh-CN" altLang="en-US" b="1" dirty="0">
                <a:solidFill>
                  <a:srgbClr val="000000"/>
                </a:solidFill>
                <a:latin typeface="宋体" panose="02010600030101010101" pitchFamily="2" charset="-122"/>
              </a:rPr>
              <a:t>的路径。关键字</a:t>
            </a:r>
            <a:r>
              <a:rPr lang="en-US" altLang="zh-CN" b="1" i="1" dirty="0">
                <a:solidFill>
                  <a:srgbClr val="000000"/>
                </a:solidFill>
                <a:latin typeface="Arial" panose="020B0604020202020204" pitchFamily="34" charset="0"/>
              </a:rPr>
              <a:t>p</a:t>
            </a:r>
            <a:r>
              <a:rPr lang="zh-CN" altLang="en-US" b="1" dirty="0">
                <a:solidFill>
                  <a:srgbClr val="000000"/>
                </a:solidFill>
                <a:latin typeface="宋体" panose="02010600030101010101" pitchFamily="2" charset="-122"/>
              </a:rPr>
              <a:t>会被添加到这条路径的终止状态的输出函数中。当然只有必要时才会在图表中增加新的边。</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73</a:t>
            </a:fld>
            <a:endParaRPr lang="en-US" altLang="zh-CN" sz="1400" dirty="0"/>
          </a:p>
        </p:txBody>
      </p:sp>
      <p:sp>
        <p:nvSpPr>
          <p:cNvPr id="148482" name="Text Box 4"/>
          <p:cNvSpPr txBox="1"/>
          <p:nvPr/>
        </p:nvSpPr>
        <p:spPr>
          <a:xfrm>
            <a:off x="395288" y="836613"/>
            <a:ext cx="8208962" cy="1004887"/>
          </a:xfrm>
          <a:prstGeom prst="rect">
            <a:avLst/>
          </a:prstGeom>
          <a:noFill/>
          <a:ln w="9525">
            <a:noFill/>
          </a:ln>
        </p:spPr>
        <p:txBody>
          <a:bodyPr>
            <a:spAutoFit/>
          </a:bodyPr>
          <a:lstStyle/>
          <a:p>
            <a:pPr>
              <a:buClrTx/>
            </a:pPr>
            <a:r>
              <a:rPr lang="zh-CN" altLang="en-US" b="1" dirty="0">
                <a:solidFill>
                  <a:srgbClr val="000000"/>
                </a:solidFill>
                <a:latin typeface="Arial" panose="020B0604020202020204" pitchFamily="34" charset="0"/>
              </a:rPr>
              <a:t>例如</a:t>
            </a:r>
            <a:r>
              <a:rPr lang="en-US" altLang="zh-CN" b="1" dirty="0">
                <a:solidFill>
                  <a:srgbClr val="000000"/>
                </a:solidFill>
                <a:latin typeface="Arial" panose="020B0604020202020204" pitchFamily="34" charset="0"/>
              </a:rPr>
              <a:t>: </a:t>
            </a:r>
            <a:r>
              <a:rPr lang="zh-CN" altLang="en-US" b="1" dirty="0">
                <a:solidFill>
                  <a:srgbClr val="000000"/>
                </a:solidFill>
                <a:latin typeface="Arial" panose="020B0604020202020204" pitchFamily="34" charset="0"/>
              </a:rPr>
              <a:t>对关键字集</a:t>
            </a:r>
            <a:r>
              <a:rPr lang="en-US" altLang="zh-CN" b="1" dirty="0">
                <a:solidFill>
                  <a:srgbClr val="000000"/>
                </a:solidFill>
                <a:latin typeface="Arial" panose="020B0604020202020204" pitchFamily="34" charset="0"/>
              </a:rPr>
              <a:t>{</a:t>
            </a:r>
            <a:r>
              <a:rPr lang="en-US" altLang="zh-CN" b="1" i="1" dirty="0">
                <a:solidFill>
                  <a:srgbClr val="000000"/>
                </a:solidFill>
                <a:latin typeface="Arial" panose="020B0604020202020204" pitchFamily="34" charset="0"/>
              </a:rPr>
              <a:t>he, she, his, hers</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建立转向函数。</a:t>
            </a:r>
          </a:p>
          <a:p>
            <a:pPr>
              <a:buClrTx/>
              <a:buFont typeface="Wingdings" panose="05000000000000000000" pitchFamily="2" charset="2"/>
              <a:buChar char="Ø"/>
            </a:pPr>
            <a:r>
              <a:rPr lang="zh-CN" altLang="en-US" b="1" dirty="0">
                <a:solidFill>
                  <a:srgbClr val="000000"/>
                </a:solidFill>
                <a:latin typeface="Arial" panose="020B0604020202020204" pitchFamily="34" charset="0"/>
              </a:rPr>
              <a:t> 向图表中添加第一个关键字，得到：</a:t>
            </a:r>
          </a:p>
        </p:txBody>
      </p:sp>
      <p:pic>
        <p:nvPicPr>
          <p:cNvPr id="148483" name="Picture 5"/>
          <p:cNvPicPr>
            <a:picLocks noChangeAspect="1"/>
          </p:cNvPicPr>
          <p:nvPr/>
        </p:nvPicPr>
        <p:blipFill>
          <a:blip r:embed="rId3"/>
          <a:stretch>
            <a:fillRect/>
          </a:stretch>
        </p:blipFill>
        <p:spPr>
          <a:xfrm>
            <a:off x="2339975" y="1844675"/>
            <a:ext cx="3959225" cy="792163"/>
          </a:xfrm>
          <a:prstGeom prst="rect">
            <a:avLst/>
          </a:prstGeom>
          <a:noFill/>
          <a:ln w="9525">
            <a:noFill/>
          </a:ln>
        </p:spPr>
      </p:pic>
      <p:sp>
        <p:nvSpPr>
          <p:cNvPr id="148484" name="Text Box 6"/>
          <p:cNvSpPr txBox="1"/>
          <p:nvPr/>
        </p:nvSpPr>
        <p:spPr>
          <a:xfrm>
            <a:off x="468313" y="2779713"/>
            <a:ext cx="8064500" cy="1370012"/>
          </a:xfrm>
          <a:prstGeom prst="rect">
            <a:avLst/>
          </a:prstGeom>
          <a:noFill/>
          <a:ln w="9525">
            <a:noFill/>
          </a:ln>
        </p:spPr>
        <p:txBody>
          <a:bodyPr>
            <a:spAutoFit/>
          </a:bodyPr>
          <a:lstStyle/>
          <a:p>
            <a:pPr>
              <a:buClrTx/>
            </a:pPr>
            <a:r>
              <a:rPr lang="en-US" altLang="zh-CN" b="1" dirty="0">
                <a:solidFill>
                  <a:srgbClr val="000000"/>
                </a:solidFill>
                <a:latin typeface="Arial" panose="020B0604020202020204" pitchFamily="34" charset="0"/>
              </a:rPr>
              <a:t> </a:t>
            </a:r>
            <a:r>
              <a:rPr lang="zh-CN" altLang="en-US" b="1" dirty="0">
                <a:solidFill>
                  <a:srgbClr val="000000"/>
                </a:solidFill>
                <a:latin typeface="Arial" panose="020B0604020202020204" pitchFamily="34" charset="0"/>
              </a:rPr>
              <a:t>从状态</a:t>
            </a:r>
            <a:r>
              <a:rPr lang="en-US" altLang="zh-CN" b="1" dirty="0">
                <a:solidFill>
                  <a:srgbClr val="000000"/>
                </a:solidFill>
                <a:latin typeface="Arial" panose="020B0604020202020204" pitchFamily="34" charset="0"/>
              </a:rPr>
              <a:t>0</a:t>
            </a:r>
            <a:r>
              <a:rPr lang="zh-CN" altLang="en-US" b="1" dirty="0">
                <a:solidFill>
                  <a:srgbClr val="000000"/>
                </a:solidFill>
                <a:latin typeface="Arial" panose="020B0604020202020204" pitchFamily="34" charset="0"/>
              </a:rPr>
              <a:t>到状态</a:t>
            </a:r>
            <a:r>
              <a:rPr lang="en-US" altLang="zh-CN" b="1" dirty="0">
                <a:solidFill>
                  <a:srgbClr val="000000"/>
                </a:solidFill>
                <a:latin typeface="Arial" panose="020B0604020202020204" pitchFamily="34" charset="0"/>
              </a:rPr>
              <a:t>2</a:t>
            </a:r>
            <a:r>
              <a:rPr lang="zh-CN" altLang="en-US" b="1" dirty="0">
                <a:solidFill>
                  <a:srgbClr val="000000"/>
                </a:solidFill>
                <a:latin typeface="Arial" panose="020B0604020202020204" pitchFamily="34" charset="0"/>
              </a:rPr>
              <a:t>的路径拼写出了关键字“</a:t>
            </a:r>
            <a:r>
              <a:rPr lang="en-US" altLang="zh-CN" b="1" i="1" dirty="0">
                <a:solidFill>
                  <a:srgbClr val="000000"/>
                </a:solidFill>
                <a:latin typeface="Arial" panose="020B0604020202020204" pitchFamily="34" charset="0"/>
              </a:rPr>
              <a:t>he</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，我们把输出“</a:t>
            </a:r>
            <a:r>
              <a:rPr lang="en-US" altLang="zh-CN" b="1" i="1" dirty="0">
                <a:solidFill>
                  <a:srgbClr val="000000"/>
                </a:solidFill>
                <a:latin typeface="Arial" panose="020B0604020202020204" pitchFamily="34" charset="0"/>
              </a:rPr>
              <a:t>he</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和状态</a:t>
            </a:r>
            <a:r>
              <a:rPr lang="en-US" altLang="zh-CN" b="1" dirty="0">
                <a:solidFill>
                  <a:srgbClr val="000000"/>
                </a:solidFill>
                <a:latin typeface="Arial" panose="020B0604020202020204" pitchFamily="34" charset="0"/>
              </a:rPr>
              <a:t>2</a:t>
            </a:r>
            <a:r>
              <a:rPr lang="zh-CN" altLang="en-US" b="1" dirty="0">
                <a:solidFill>
                  <a:srgbClr val="000000"/>
                </a:solidFill>
                <a:latin typeface="Arial" panose="020B0604020202020204" pitchFamily="34" charset="0"/>
              </a:rPr>
              <a:t>相关联。</a:t>
            </a:r>
          </a:p>
          <a:p>
            <a:pPr>
              <a:buClrTx/>
              <a:buFont typeface="Wingdings" panose="05000000000000000000" pitchFamily="2" charset="2"/>
              <a:buChar char="Ø"/>
            </a:pPr>
            <a:r>
              <a:rPr lang="zh-CN" altLang="en-US" b="1" dirty="0">
                <a:solidFill>
                  <a:srgbClr val="000000"/>
                </a:solidFill>
                <a:latin typeface="Arial" panose="020B0604020202020204" pitchFamily="34" charset="0"/>
              </a:rPr>
              <a:t> 添加第二个关键字“</a:t>
            </a:r>
            <a:r>
              <a:rPr lang="en-US" altLang="zh-CN" b="1" i="1" dirty="0">
                <a:solidFill>
                  <a:srgbClr val="000000"/>
                </a:solidFill>
                <a:latin typeface="Arial" panose="020B0604020202020204" pitchFamily="34" charset="0"/>
              </a:rPr>
              <a:t>she</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，得到：</a:t>
            </a:r>
          </a:p>
        </p:txBody>
      </p:sp>
      <p:pic>
        <p:nvPicPr>
          <p:cNvPr id="148485" name="Picture 7"/>
          <p:cNvPicPr>
            <a:picLocks noChangeAspect="1"/>
          </p:cNvPicPr>
          <p:nvPr/>
        </p:nvPicPr>
        <p:blipFill>
          <a:blip r:embed="rId4"/>
          <a:stretch>
            <a:fillRect/>
          </a:stretch>
        </p:blipFill>
        <p:spPr>
          <a:xfrm>
            <a:off x="2268538" y="4149725"/>
            <a:ext cx="3959225" cy="1706563"/>
          </a:xfrm>
          <a:prstGeom prst="rect">
            <a:avLst/>
          </a:prstGeom>
          <a:noFill/>
          <a:ln w="9525">
            <a:noFill/>
          </a:ln>
        </p:spPr>
      </p:pic>
      <p:sp>
        <p:nvSpPr>
          <p:cNvPr id="148486" name="Text Box 8"/>
          <p:cNvSpPr txBox="1"/>
          <p:nvPr/>
        </p:nvSpPr>
        <p:spPr>
          <a:xfrm>
            <a:off x="755650" y="6092825"/>
            <a:ext cx="4392613" cy="457200"/>
          </a:xfrm>
          <a:prstGeom prst="rect">
            <a:avLst/>
          </a:prstGeom>
          <a:noFill/>
          <a:ln w="9525">
            <a:noFill/>
          </a:ln>
        </p:spPr>
        <p:txBody>
          <a:bodyPr>
            <a:spAutoFit/>
          </a:bodyPr>
          <a:lstStyle/>
          <a:p>
            <a:pPr>
              <a:buClrTx/>
            </a:pPr>
            <a:r>
              <a:rPr lang="zh-CN" altLang="en-US" b="1" dirty="0">
                <a:solidFill>
                  <a:srgbClr val="000000"/>
                </a:solidFill>
                <a:latin typeface="Arial" panose="020B0604020202020204" pitchFamily="34" charset="0"/>
              </a:rPr>
              <a:t>输出“</a:t>
            </a:r>
            <a:r>
              <a:rPr lang="en-US" altLang="zh-CN" b="1" i="1" dirty="0">
                <a:solidFill>
                  <a:srgbClr val="000000"/>
                </a:solidFill>
                <a:latin typeface="Arial" panose="020B0604020202020204" pitchFamily="34" charset="0"/>
              </a:rPr>
              <a:t>she</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和状态</a:t>
            </a:r>
            <a:r>
              <a:rPr lang="en-US" altLang="zh-CN" b="1" i="1" dirty="0">
                <a:solidFill>
                  <a:srgbClr val="000000"/>
                </a:solidFill>
                <a:latin typeface="Arial" panose="020B0604020202020204" pitchFamily="34" charset="0"/>
              </a:rPr>
              <a:t>5</a:t>
            </a:r>
            <a:r>
              <a:rPr lang="zh-CN" altLang="en-US" b="1" dirty="0">
                <a:solidFill>
                  <a:srgbClr val="000000"/>
                </a:solidFill>
                <a:latin typeface="Arial" panose="020B0604020202020204" pitchFamily="34" charset="0"/>
              </a:rPr>
              <a:t>相关联。</a:t>
            </a:r>
          </a:p>
        </p:txBody>
      </p:sp>
      <p:sp>
        <p:nvSpPr>
          <p:cNvPr id="87042" name="Rectangle 2"/>
          <p:cNvSpPr>
            <a:spLocks noGrp="1" noRot="1" noChangeArrowheads="1"/>
          </p:cNvSpPr>
          <p:nvPr/>
        </p:nvSpPr>
        <p:spPr>
          <a:xfrm>
            <a:off x="700405" y="-16129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74</a:t>
            </a:fld>
            <a:endParaRPr lang="en-US" altLang="zh-CN" sz="1400" dirty="0"/>
          </a:p>
        </p:txBody>
      </p:sp>
      <p:sp>
        <p:nvSpPr>
          <p:cNvPr id="150530" name="Text Box 4"/>
          <p:cNvSpPr txBox="1"/>
          <p:nvPr/>
        </p:nvSpPr>
        <p:spPr>
          <a:xfrm>
            <a:off x="395288" y="1017588"/>
            <a:ext cx="8353425" cy="1552575"/>
          </a:xfrm>
          <a:prstGeom prst="rect">
            <a:avLst/>
          </a:prstGeom>
          <a:noFill/>
          <a:ln w="9525">
            <a:noFill/>
          </a:ln>
        </p:spPr>
        <p:txBody>
          <a:bodyPr>
            <a:spAutoFit/>
          </a:bodyPr>
          <a:lstStyle/>
          <a:p>
            <a:pPr>
              <a:buClrTx/>
              <a:buFont typeface="Wingdings" panose="05000000000000000000" pitchFamily="2" charset="2"/>
              <a:buChar char="Ø"/>
            </a:pP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增加第三个关键字“</a:t>
            </a:r>
            <a:r>
              <a:rPr lang="en-US" altLang="zh-CN" b="1" i="1" dirty="0">
                <a:solidFill>
                  <a:srgbClr val="000000"/>
                </a:solidFill>
                <a:latin typeface="Arial" panose="020B0604020202020204" pitchFamily="34" charset="0"/>
              </a:rPr>
              <a:t>his</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，我们得到了下面这个图。注意到当我们增加关键字“</a:t>
            </a:r>
            <a:r>
              <a:rPr lang="en-US" altLang="zh-CN" b="1" i="1" dirty="0">
                <a:solidFill>
                  <a:srgbClr val="000000"/>
                </a:solidFill>
                <a:latin typeface="Arial" panose="020B0604020202020204" pitchFamily="34" charset="0"/>
              </a:rPr>
              <a:t>his</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时，已经存在一条从状态</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到状态</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标记着</a:t>
            </a:r>
            <a:r>
              <a:rPr lang="en-US" altLang="zh-CN" b="1" i="1" dirty="0">
                <a:solidFill>
                  <a:srgbClr val="000000"/>
                </a:solidFill>
                <a:latin typeface="Arial" panose="020B0604020202020204" pitchFamily="34" charset="0"/>
              </a:rPr>
              <a:t>h</a:t>
            </a:r>
            <a:r>
              <a:rPr lang="zh-CN" altLang="en-US" b="1" dirty="0">
                <a:solidFill>
                  <a:srgbClr val="000000"/>
                </a:solidFill>
                <a:latin typeface="宋体" panose="02010600030101010101" pitchFamily="2" charset="-122"/>
              </a:rPr>
              <a:t>的边了，所以我们不必另外添加一条同样的边。</a:t>
            </a:r>
            <a:endParaRPr lang="zh-CN" altLang="en-US" sz="1800" b="1" dirty="0">
              <a:latin typeface="Arial" panose="020B0604020202020204" pitchFamily="34" charset="0"/>
            </a:endParaRPr>
          </a:p>
        </p:txBody>
      </p:sp>
      <p:pic>
        <p:nvPicPr>
          <p:cNvPr id="150531" name="Picture 5"/>
          <p:cNvPicPr>
            <a:picLocks noChangeAspect="1"/>
          </p:cNvPicPr>
          <p:nvPr/>
        </p:nvPicPr>
        <p:blipFill>
          <a:blip r:embed="rId3"/>
          <a:stretch>
            <a:fillRect/>
          </a:stretch>
        </p:blipFill>
        <p:spPr>
          <a:xfrm>
            <a:off x="2124075" y="2420938"/>
            <a:ext cx="5038725" cy="2592387"/>
          </a:xfrm>
          <a:prstGeom prst="rect">
            <a:avLst/>
          </a:prstGeom>
          <a:noFill/>
          <a:ln w="9525">
            <a:noFill/>
          </a:ln>
        </p:spPr>
      </p:pic>
      <p:sp>
        <p:nvSpPr>
          <p:cNvPr id="150532" name="Text Box 8"/>
          <p:cNvSpPr txBox="1"/>
          <p:nvPr/>
        </p:nvSpPr>
        <p:spPr>
          <a:xfrm>
            <a:off x="539750" y="5157788"/>
            <a:ext cx="7345363" cy="869950"/>
          </a:xfrm>
          <a:prstGeom prst="rect">
            <a:avLst/>
          </a:prstGeom>
          <a:noFill/>
          <a:ln w="9525">
            <a:noFill/>
          </a:ln>
        </p:spPr>
        <p:txBody>
          <a:bodyPr>
            <a:spAutoFit/>
          </a:bodyPr>
          <a:lstStyle/>
          <a:p>
            <a:pPr>
              <a:buClrTx/>
              <a:buFont typeface="Wingdings" panose="05000000000000000000" pitchFamily="2" charset="2"/>
              <a:buNone/>
            </a:pPr>
            <a:r>
              <a:rPr lang="zh-CN" altLang="en-US" b="1" dirty="0">
                <a:solidFill>
                  <a:srgbClr val="000000"/>
                </a:solidFill>
                <a:latin typeface="宋体" panose="02010600030101010101" pitchFamily="2" charset="-122"/>
              </a:rPr>
              <a:t>输出“</a:t>
            </a:r>
            <a:r>
              <a:rPr lang="en-US" altLang="zh-CN" b="1" i="1" dirty="0">
                <a:solidFill>
                  <a:srgbClr val="000000"/>
                </a:solidFill>
                <a:latin typeface="Arial" panose="020B0604020202020204" pitchFamily="34" charset="0"/>
              </a:rPr>
              <a:t>his</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是和状态</a:t>
            </a:r>
            <a:r>
              <a:rPr lang="en-US" altLang="zh-CN" b="1" dirty="0">
                <a:solidFill>
                  <a:srgbClr val="000000"/>
                </a:solidFill>
                <a:latin typeface="Arial" panose="020B0604020202020204" pitchFamily="34" charset="0"/>
              </a:rPr>
              <a:t>7</a:t>
            </a:r>
            <a:r>
              <a:rPr lang="zh-CN" altLang="en-US" b="1" dirty="0">
                <a:solidFill>
                  <a:srgbClr val="000000"/>
                </a:solidFill>
                <a:latin typeface="宋体" panose="02010600030101010101" pitchFamily="2" charset="-122"/>
              </a:rPr>
              <a:t>相关联的</a:t>
            </a:r>
            <a:endParaRPr lang="zh-CN" altLang="en-US" sz="1800" b="1" dirty="0">
              <a:latin typeface="Arial" panose="020B0604020202020204" pitchFamily="34" charset="0"/>
            </a:endParaRPr>
          </a:p>
          <a:p>
            <a:pPr>
              <a:buClrTx/>
            </a:pPr>
            <a:endParaRPr lang="en-US" altLang="zh-CN" sz="1800" b="1" dirty="0">
              <a:latin typeface="Arial" panose="020B0604020202020204" pitchFamily="34" charset="0"/>
            </a:endParaRP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75</a:t>
            </a:fld>
            <a:endParaRPr lang="en-US" altLang="zh-CN" sz="1400" dirty="0"/>
          </a:p>
        </p:txBody>
      </p:sp>
      <p:sp>
        <p:nvSpPr>
          <p:cNvPr id="152578" name="Text Box 4"/>
          <p:cNvSpPr txBox="1"/>
          <p:nvPr/>
        </p:nvSpPr>
        <p:spPr>
          <a:xfrm>
            <a:off x="395288" y="981075"/>
            <a:ext cx="6408737" cy="457200"/>
          </a:xfrm>
          <a:prstGeom prst="rect">
            <a:avLst/>
          </a:prstGeom>
          <a:noFill/>
          <a:ln w="9525">
            <a:noFill/>
          </a:ln>
        </p:spPr>
        <p:txBody>
          <a:bodyPr>
            <a:spAutoFit/>
          </a:bodyPr>
          <a:lstStyle/>
          <a:p>
            <a:pPr>
              <a:buClrTx/>
              <a:buFont typeface="Wingdings" panose="05000000000000000000" pitchFamily="2" charset="2"/>
              <a:buChar char="Ø"/>
            </a:pPr>
            <a:r>
              <a:rPr lang="en-US" altLang="zh-CN" dirty="0">
                <a:solidFill>
                  <a:srgbClr val="000000"/>
                </a:solidFill>
                <a:latin typeface="Arial" panose="020B0604020202020204" pitchFamily="34" charset="0"/>
              </a:rPr>
              <a:t> </a:t>
            </a:r>
            <a:r>
              <a:rPr lang="zh-CN" altLang="en-US" b="1" dirty="0">
                <a:solidFill>
                  <a:srgbClr val="000000"/>
                </a:solidFill>
                <a:latin typeface="Arial" panose="020B0604020202020204" pitchFamily="34" charset="0"/>
              </a:rPr>
              <a:t>添加第四个关键字“</a:t>
            </a:r>
            <a:r>
              <a:rPr lang="en-US" altLang="zh-CN" b="1" i="1" dirty="0">
                <a:solidFill>
                  <a:srgbClr val="000000"/>
                </a:solidFill>
                <a:latin typeface="Arial" panose="020B0604020202020204" pitchFamily="34" charset="0"/>
              </a:rPr>
              <a:t>hers</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，可以得到：</a:t>
            </a:r>
          </a:p>
        </p:txBody>
      </p:sp>
      <p:pic>
        <p:nvPicPr>
          <p:cNvPr id="152579" name="Picture 5"/>
          <p:cNvPicPr>
            <a:picLocks noChangeAspect="1"/>
          </p:cNvPicPr>
          <p:nvPr/>
        </p:nvPicPr>
        <p:blipFill>
          <a:blip r:embed="rId3"/>
          <a:stretch>
            <a:fillRect/>
          </a:stretch>
        </p:blipFill>
        <p:spPr>
          <a:xfrm>
            <a:off x="1476375" y="1555750"/>
            <a:ext cx="5543550" cy="2881313"/>
          </a:xfrm>
          <a:prstGeom prst="rect">
            <a:avLst/>
          </a:prstGeom>
          <a:noFill/>
          <a:ln w="9525">
            <a:noFill/>
          </a:ln>
        </p:spPr>
      </p:pic>
      <p:sp>
        <p:nvSpPr>
          <p:cNvPr id="152580" name="Text Box 6"/>
          <p:cNvSpPr txBox="1"/>
          <p:nvPr/>
        </p:nvSpPr>
        <p:spPr>
          <a:xfrm>
            <a:off x="611188" y="4618038"/>
            <a:ext cx="7777162" cy="1370012"/>
          </a:xfrm>
          <a:prstGeom prst="rect">
            <a:avLst/>
          </a:prstGeom>
          <a:noFill/>
          <a:ln w="9525">
            <a:noFill/>
          </a:ln>
        </p:spPr>
        <p:txBody>
          <a:bodyPr>
            <a:spAutoFit/>
          </a:bodyPr>
          <a:lstStyle/>
          <a:p>
            <a:pPr>
              <a:buClrTx/>
            </a:pPr>
            <a:r>
              <a:rPr lang="zh-CN" altLang="en-US" b="1" dirty="0">
                <a:solidFill>
                  <a:srgbClr val="000000"/>
                </a:solidFill>
                <a:latin typeface="宋体" panose="02010600030101010101" pitchFamily="2" charset="-122"/>
              </a:rPr>
              <a:t>输出“</a:t>
            </a:r>
            <a:r>
              <a:rPr lang="en-US" altLang="zh-CN" b="1" i="1" dirty="0">
                <a:solidFill>
                  <a:srgbClr val="000000"/>
                </a:solidFill>
                <a:latin typeface="Arial" panose="020B0604020202020204" pitchFamily="34" charset="0"/>
              </a:rPr>
              <a:t>hers</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和状态</a:t>
            </a:r>
            <a:r>
              <a:rPr lang="en-US" altLang="zh-CN" b="1" dirty="0">
                <a:solidFill>
                  <a:srgbClr val="000000"/>
                </a:solidFill>
                <a:latin typeface="Arial" panose="020B0604020202020204" pitchFamily="34" charset="0"/>
              </a:rPr>
              <a:t>9</a:t>
            </a:r>
            <a:r>
              <a:rPr lang="zh-CN" altLang="en-US" b="1" dirty="0">
                <a:solidFill>
                  <a:srgbClr val="000000"/>
                </a:solidFill>
                <a:latin typeface="宋体" panose="02010600030101010101" pitchFamily="2" charset="-122"/>
              </a:rPr>
              <a:t>相关联。</a:t>
            </a:r>
          </a:p>
          <a:p>
            <a:pPr>
              <a:buClrTx/>
            </a:pPr>
            <a:r>
              <a:rPr lang="zh-CN" altLang="en-US" b="1" dirty="0">
                <a:solidFill>
                  <a:srgbClr val="000000"/>
                </a:solidFill>
                <a:latin typeface="宋体" panose="02010600030101010101" pitchFamily="2" charset="-122"/>
              </a:rPr>
              <a:t>在这里，我们能够使用已有的两条边：一条是从状态</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到</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标记着</a:t>
            </a:r>
            <a:r>
              <a:rPr lang="en-US" altLang="zh-CN" b="1" i="1" dirty="0">
                <a:solidFill>
                  <a:srgbClr val="000000"/>
                </a:solidFill>
                <a:latin typeface="Arial" panose="020B0604020202020204" pitchFamily="34" charset="0"/>
              </a:rPr>
              <a:t>h</a:t>
            </a:r>
            <a:r>
              <a:rPr lang="zh-CN" altLang="en-US" b="1" dirty="0">
                <a:solidFill>
                  <a:srgbClr val="000000"/>
                </a:solidFill>
                <a:latin typeface="宋体" panose="02010600030101010101" pitchFamily="2" charset="-122"/>
              </a:rPr>
              <a:t>的边；一条是从状态</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到</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标记着</a:t>
            </a:r>
            <a:r>
              <a:rPr lang="en-US" altLang="zh-CN" b="1" i="1" dirty="0">
                <a:solidFill>
                  <a:srgbClr val="000000"/>
                </a:solidFill>
                <a:latin typeface="Arial" panose="020B0604020202020204" pitchFamily="34" charset="0"/>
              </a:rPr>
              <a:t>e</a:t>
            </a:r>
            <a:r>
              <a:rPr lang="zh-CN" altLang="en-US" b="1" dirty="0">
                <a:solidFill>
                  <a:srgbClr val="000000"/>
                </a:solidFill>
                <a:latin typeface="宋体" panose="02010600030101010101" pitchFamily="2" charset="-122"/>
              </a:rPr>
              <a:t>的边。</a:t>
            </a:r>
            <a:r>
              <a:rPr lang="zh-CN" altLang="en-US" sz="1800" dirty="0">
                <a:latin typeface="Arial" panose="020B0604020202020204" pitchFamily="34" charset="0"/>
              </a:rPr>
              <a:t> </a:t>
            </a:r>
          </a:p>
        </p:txBody>
      </p:sp>
      <p:sp>
        <p:nvSpPr>
          <p:cNvPr id="87042" name="Rectangle 2"/>
          <p:cNvSpPr>
            <a:spLocks noGrp="1" noRot="1" noChangeArrowheads="1"/>
          </p:cNvSpPr>
          <p:nvPr/>
        </p:nvSpPr>
        <p:spPr>
          <a:xfrm>
            <a:off x="700405" y="-16129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76</a:t>
            </a:fld>
            <a:endParaRPr lang="en-US" altLang="zh-CN" sz="1400" dirty="0"/>
          </a:p>
        </p:txBody>
      </p:sp>
      <p:sp>
        <p:nvSpPr>
          <p:cNvPr id="154626" name="Text Box 4"/>
          <p:cNvSpPr txBox="1"/>
          <p:nvPr/>
        </p:nvSpPr>
        <p:spPr>
          <a:xfrm>
            <a:off x="611188" y="1338580"/>
            <a:ext cx="7848600" cy="1552575"/>
          </a:xfrm>
          <a:prstGeom prst="rect">
            <a:avLst/>
          </a:prstGeom>
          <a:noFill/>
          <a:ln w="9525">
            <a:noFill/>
          </a:ln>
        </p:spPr>
        <p:txBody>
          <a:bodyPr>
            <a:spAutoFit/>
          </a:bodyPr>
          <a:lstStyle/>
          <a:p>
            <a:pPr>
              <a:buClrTx/>
            </a:pPr>
            <a:r>
              <a:rPr lang="en-US" altLang="zh-CN" sz="1800" b="1" dirty="0">
                <a:latin typeface="Arial" panose="020B0604020202020204" pitchFamily="34" charset="0"/>
              </a:rPr>
              <a:t>          </a:t>
            </a:r>
            <a:r>
              <a:rPr lang="zh-CN" altLang="en-US" b="1" dirty="0">
                <a:solidFill>
                  <a:srgbClr val="000000"/>
                </a:solidFill>
                <a:latin typeface="Arial" panose="020B0604020202020204" pitchFamily="34" charset="0"/>
              </a:rPr>
              <a:t>这样，图已经成为一棵带根的树。为了完成转向函数的构建，我们对除了</a:t>
            </a:r>
            <a:r>
              <a:rPr lang="en-US" altLang="zh-CN" b="1" dirty="0">
                <a:solidFill>
                  <a:srgbClr val="000000"/>
                </a:solidFill>
                <a:latin typeface="Arial" panose="020B0604020202020204" pitchFamily="34" charset="0"/>
              </a:rPr>
              <a:t>h</a:t>
            </a:r>
            <a:r>
              <a:rPr lang="zh-CN" altLang="en-US" b="1" dirty="0">
                <a:solidFill>
                  <a:srgbClr val="000000"/>
                </a:solidFill>
                <a:latin typeface="Arial" panose="020B0604020202020204" pitchFamily="34" charset="0"/>
              </a:rPr>
              <a:t>和</a:t>
            </a:r>
            <a:r>
              <a:rPr lang="en-US" altLang="zh-CN" b="1" dirty="0">
                <a:solidFill>
                  <a:srgbClr val="000000"/>
                </a:solidFill>
                <a:latin typeface="Arial" panose="020B0604020202020204" pitchFamily="34" charset="0"/>
              </a:rPr>
              <a:t>s</a:t>
            </a:r>
            <a:r>
              <a:rPr lang="zh-CN" altLang="en-US" b="1" dirty="0">
                <a:solidFill>
                  <a:srgbClr val="000000"/>
                </a:solidFill>
                <a:latin typeface="Arial" panose="020B0604020202020204" pitchFamily="34" charset="0"/>
              </a:rPr>
              <a:t>外的其他每个字符，都增加一个从状态</a:t>
            </a:r>
            <a:r>
              <a:rPr lang="en-US" altLang="zh-CN" b="1" dirty="0">
                <a:solidFill>
                  <a:srgbClr val="000000"/>
                </a:solidFill>
                <a:latin typeface="Arial" panose="020B0604020202020204" pitchFamily="34" charset="0"/>
              </a:rPr>
              <a:t>0</a:t>
            </a:r>
            <a:r>
              <a:rPr lang="zh-CN" altLang="en-US" b="1" dirty="0">
                <a:solidFill>
                  <a:srgbClr val="000000"/>
                </a:solidFill>
                <a:latin typeface="Arial" panose="020B0604020202020204" pitchFamily="34" charset="0"/>
              </a:rPr>
              <a:t>到状态</a:t>
            </a:r>
            <a:r>
              <a:rPr lang="en-US" altLang="zh-CN" b="1" dirty="0">
                <a:solidFill>
                  <a:srgbClr val="000000"/>
                </a:solidFill>
                <a:latin typeface="Arial" panose="020B0604020202020204" pitchFamily="34" charset="0"/>
              </a:rPr>
              <a:t>0</a:t>
            </a:r>
            <a:r>
              <a:rPr lang="zh-CN" altLang="en-US" b="1" dirty="0">
                <a:solidFill>
                  <a:srgbClr val="000000"/>
                </a:solidFill>
                <a:latin typeface="Arial" panose="020B0604020202020204" pitchFamily="34" charset="0"/>
              </a:rPr>
              <a:t>的循环。这样，我们得到了如图</a:t>
            </a:r>
            <a:r>
              <a:rPr lang="en-US" altLang="zh-CN" b="1" dirty="0">
                <a:solidFill>
                  <a:srgbClr val="000000"/>
                </a:solidFill>
                <a:latin typeface="Arial" panose="020B0604020202020204" pitchFamily="34" charset="0"/>
              </a:rPr>
              <a:t>1 a) </a:t>
            </a:r>
            <a:r>
              <a:rPr lang="zh-CN" altLang="en-US" b="1" dirty="0">
                <a:solidFill>
                  <a:srgbClr val="000000"/>
                </a:solidFill>
                <a:latin typeface="Arial" panose="020B0604020202020204" pitchFamily="34" charset="0"/>
              </a:rPr>
              <a:t>所示的状态转移图，这个图就代表转向函数。</a:t>
            </a:r>
          </a:p>
        </p:txBody>
      </p:sp>
      <p:pic>
        <p:nvPicPr>
          <p:cNvPr id="154627" name="Picture 5"/>
          <p:cNvPicPr>
            <a:picLocks noChangeAspect="1"/>
          </p:cNvPicPr>
          <p:nvPr/>
        </p:nvPicPr>
        <p:blipFill>
          <a:blip r:embed="rId3"/>
          <a:stretch>
            <a:fillRect/>
          </a:stretch>
        </p:blipFill>
        <p:spPr>
          <a:xfrm>
            <a:off x="1547813" y="3138805"/>
            <a:ext cx="5545137" cy="2808288"/>
          </a:xfrm>
          <a:prstGeom prst="rect">
            <a:avLst/>
          </a:prstGeom>
          <a:noFill/>
          <a:ln w="9525">
            <a:noFill/>
          </a:ln>
        </p:spPr>
      </p:pic>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77</a:t>
            </a:fld>
            <a:endParaRPr lang="en-US" altLang="zh-CN" sz="1400" dirty="0"/>
          </a:p>
        </p:txBody>
      </p:sp>
      <p:sp>
        <p:nvSpPr>
          <p:cNvPr id="156674" name="Rectangle 5"/>
          <p:cNvSpPr/>
          <p:nvPr/>
        </p:nvSpPr>
        <p:spPr>
          <a:xfrm>
            <a:off x="323215" y="142875"/>
            <a:ext cx="8486775" cy="631063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spcBef>
                <a:spcPct val="0"/>
              </a:spcBef>
              <a:buClrTx/>
            </a:pPr>
            <a:r>
              <a:rPr lang="zh-CN" altLang="en-US" sz="1800" b="1" dirty="0">
                <a:latin typeface="宋体" panose="02010600030101010101" pitchFamily="2" charset="-122"/>
              </a:rPr>
              <a:t>算法</a:t>
            </a:r>
            <a:r>
              <a:rPr lang="en-US" altLang="zh-CN" sz="1800" b="1" dirty="0">
                <a:latin typeface="宋体" panose="02010600030101010101" pitchFamily="2" charset="-122"/>
              </a:rPr>
              <a:t>1</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建立转向函数</a:t>
            </a:r>
            <a:r>
              <a:rPr lang="en-US" altLang="zh-CN" sz="1800" i="1" dirty="0">
                <a:latin typeface="宋体" panose="02010600030101010101" pitchFamily="2" charset="-122"/>
              </a:rPr>
              <a:t>g</a:t>
            </a:r>
            <a:r>
              <a:rPr lang="zh-CN" altLang="en-US" sz="1800" dirty="0">
                <a:latin typeface="宋体" panose="02010600030101010101" pitchFamily="2" charset="-122"/>
              </a:rPr>
              <a:t>。</a:t>
            </a:r>
          </a:p>
          <a:p>
            <a:pPr>
              <a:spcBef>
                <a:spcPct val="0"/>
              </a:spcBef>
              <a:buClrTx/>
            </a:pPr>
            <a:r>
              <a:rPr lang="zh-CN" altLang="en-US" sz="1800" b="1" dirty="0">
                <a:latin typeface="宋体" panose="02010600030101010101" pitchFamily="2" charset="-122"/>
              </a:rPr>
              <a:t>输入</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关键字集</a:t>
            </a:r>
            <a:r>
              <a:rPr lang="en-US" altLang="zh-CN" sz="1800" i="1" dirty="0">
                <a:latin typeface="Times New Roman" panose="02020603050405020304" charset="0"/>
              </a:rPr>
              <a:t>P</a:t>
            </a:r>
            <a:r>
              <a:rPr lang="en-US" altLang="zh-CN" sz="1800" dirty="0">
                <a:latin typeface="Times New Roman" panose="02020603050405020304" charset="0"/>
              </a:rPr>
              <a:t>={</a:t>
            </a:r>
            <a:r>
              <a:rPr lang="en-US" altLang="zh-CN" sz="1800" i="1" dirty="0">
                <a:latin typeface="Times New Roman" panose="02020603050405020304" charset="0"/>
              </a:rPr>
              <a:t>p</a:t>
            </a:r>
            <a:r>
              <a:rPr lang="en-US" altLang="zh-CN" sz="1800" i="1" baseline="30000" dirty="0">
                <a:latin typeface="Times New Roman" panose="02020603050405020304" charset="0"/>
              </a:rPr>
              <a:t>1</a:t>
            </a:r>
            <a:r>
              <a:rPr lang="en-US" altLang="zh-CN" sz="1800" i="1" dirty="0">
                <a:latin typeface="Times New Roman" panose="02020603050405020304" charset="0"/>
              </a:rPr>
              <a:t>,p</a:t>
            </a:r>
            <a:r>
              <a:rPr lang="en-US" altLang="zh-CN" sz="1800" i="1" baseline="30000" dirty="0">
                <a:latin typeface="Times New Roman" panose="02020603050405020304" charset="0"/>
              </a:rPr>
              <a:t>2</a:t>
            </a:r>
            <a:r>
              <a:rPr lang="en-US" altLang="zh-CN" sz="1800" i="1" dirty="0">
                <a:latin typeface="Times New Roman" panose="02020603050405020304" charset="0"/>
              </a:rPr>
              <a:t>,p</a:t>
            </a:r>
            <a:r>
              <a:rPr lang="en-US" altLang="zh-CN" sz="1800" i="1" baseline="30000" dirty="0">
                <a:latin typeface="Times New Roman" panose="02020603050405020304" charset="0"/>
              </a:rPr>
              <a:t>3</a:t>
            </a:r>
            <a:r>
              <a:rPr lang="en-US" altLang="zh-CN" sz="1800" i="1" dirty="0">
                <a:latin typeface="Times New Roman" panose="02020603050405020304" charset="0"/>
              </a:rPr>
              <a:t>,…,p</a:t>
            </a:r>
            <a:r>
              <a:rPr lang="en-US" altLang="zh-CN" sz="1800" i="1" baseline="30000" dirty="0">
                <a:latin typeface="Times New Roman" panose="02020603050405020304" charset="0"/>
              </a:rPr>
              <a:t>r</a:t>
            </a:r>
            <a:r>
              <a:rPr lang="en-US" altLang="zh-CN" sz="1800" dirty="0">
                <a:latin typeface="Times New Roman" panose="02020603050405020304" charset="0"/>
              </a:rPr>
              <a:t>}</a:t>
            </a:r>
            <a:r>
              <a:rPr lang="zh-CN" altLang="en-US" sz="1800" dirty="0">
                <a:latin typeface="宋体" panose="02010600030101010101" pitchFamily="2" charset="-122"/>
              </a:rPr>
              <a:t>。</a:t>
            </a:r>
          </a:p>
          <a:p>
            <a:pPr>
              <a:spcBef>
                <a:spcPct val="0"/>
              </a:spcBef>
              <a:buClrTx/>
            </a:pPr>
            <a:r>
              <a:rPr lang="zh-CN" altLang="en-US" sz="1800" b="1" dirty="0">
                <a:latin typeface="宋体" panose="02010600030101010101" pitchFamily="2" charset="-122"/>
              </a:rPr>
              <a:t>输出</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转向函数</a:t>
            </a:r>
            <a:r>
              <a:rPr lang="en-US" altLang="zh-CN" sz="1800" i="1" dirty="0">
                <a:latin typeface="Times New Roman" panose="02020603050405020304" charset="0"/>
                <a:ea typeface="楷体_GB2312" pitchFamily="49" charset="-122"/>
              </a:rPr>
              <a:t>g</a:t>
            </a:r>
            <a:r>
              <a:rPr lang="zh-CN" altLang="en-US" sz="1800" dirty="0">
                <a:latin typeface="楷体_GB2312" pitchFamily="49" charset="-122"/>
                <a:ea typeface="楷体_GB2312" pitchFamily="49" charset="-122"/>
              </a:rPr>
              <a:t>和部分的</a:t>
            </a:r>
            <a:r>
              <a:rPr lang="en-US" altLang="zh-CN" sz="1800" i="1" dirty="0">
                <a:latin typeface="Times New Roman" panose="02020603050405020304" charset="0"/>
                <a:ea typeface="楷体_GB2312" pitchFamily="49" charset="-122"/>
              </a:rPr>
              <a:t>output</a:t>
            </a:r>
            <a:r>
              <a:rPr lang="zh-CN" altLang="en-US" sz="1800" dirty="0">
                <a:latin typeface="楷体_GB2312" pitchFamily="49" charset="-122"/>
                <a:ea typeface="楷体_GB2312" pitchFamily="49" charset="-122"/>
              </a:rPr>
              <a:t>函数</a:t>
            </a:r>
            <a:r>
              <a:rPr lang="zh-CN" altLang="en-US" sz="1800" dirty="0">
                <a:latin typeface="宋体" panose="02010600030101010101" pitchFamily="2" charset="-122"/>
              </a:rPr>
              <a:t>。</a:t>
            </a:r>
          </a:p>
          <a:p>
            <a:pPr>
              <a:spcBef>
                <a:spcPct val="0"/>
              </a:spcBef>
              <a:buClrTx/>
            </a:pPr>
            <a:r>
              <a:rPr lang="zh-CN" altLang="en-US" sz="1800" b="1" dirty="0">
                <a:latin typeface="宋体" panose="02010600030101010101" pitchFamily="2" charset="-122"/>
              </a:rPr>
              <a:t>方法</a:t>
            </a:r>
            <a:r>
              <a:rPr lang="en-US" altLang="zh-CN" sz="1800" b="1" dirty="0">
                <a:latin typeface="宋体" panose="02010600030101010101" pitchFamily="2" charset="-122"/>
              </a:rPr>
              <a:t>:</a:t>
            </a:r>
          </a:p>
          <a:p>
            <a:pPr>
              <a:spcBef>
                <a:spcPct val="0"/>
              </a:spcBef>
              <a:buClrTx/>
            </a:pPr>
            <a:r>
              <a:rPr lang="en-US" altLang="zh-CN" sz="1000" dirty="0">
                <a:latin typeface="Times New Roman" panose="02020603050405020304" charset="0"/>
              </a:rPr>
              <a:t>     </a:t>
            </a:r>
          </a:p>
          <a:p>
            <a:pPr>
              <a:spcBef>
                <a:spcPct val="0"/>
              </a:spcBef>
              <a:buClrTx/>
            </a:pPr>
            <a:endParaRPr lang="en-US" altLang="zh-CN" sz="1800" dirty="0">
              <a:latin typeface="Arial" panose="020B0604020202020204" pitchFamily="34" charset="0"/>
            </a:endParaRPr>
          </a:p>
        </p:txBody>
      </p:sp>
      <p:pic>
        <p:nvPicPr>
          <p:cNvPr id="156675" name="Picture 6"/>
          <p:cNvPicPr>
            <a:picLocks noChangeAspect="1"/>
          </p:cNvPicPr>
          <p:nvPr/>
        </p:nvPicPr>
        <p:blipFill>
          <a:blip r:embed="rId3"/>
          <a:stretch>
            <a:fillRect/>
          </a:stretch>
        </p:blipFill>
        <p:spPr>
          <a:xfrm>
            <a:off x="2124075" y="1484313"/>
            <a:ext cx="5111750" cy="4824412"/>
          </a:xfrm>
          <a:prstGeom prst="rect">
            <a:avLst/>
          </a:prstGeom>
          <a:noFill/>
          <a:ln w="9525">
            <a:noFill/>
          </a:ln>
        </p:spPr>
      </p:pic>
      <p:sp>
        <p:nvSpPr>
          <p:cNvPr id="156676" name="Text Box 7"/>
          <p:cNvSpPr txBox="1"/>
          <p:nvPr/>
        </p:nvSpPr>
        <p:spPr>
          <a:xfrm>
            <a:off x="2268538" y="6453188"/>
            <a:ext cx="4248150" cy="366712"/>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2  </a:t>
            </a:r>
            <a:r>
              <a:rPr lang="zh-CN" altLang="en-US" sz="1800" dirty="0">
                <a:solidFill>
                  <a:srgbClr val="000000"/>
                </a:solidFill>
                <a:latin typeface="Arial" panose="020B0604020202020204" pitchFamily="34" charset="0"/>
              </a:rPr>
              <a:t>建立转向函数</a:t>
            </a:r>
            <a:r>
              <a:rPr lang="en-US" altLang="zh-CN" sz="1800" i="1" dirty="0">
                <a:solidFill>
                  <a:srgbClr val="000000"/>
                </a:solidFill>
                <a:latin typeface="Arial" panose="020B0604020202020204" pitchFamily="34" charset="0"/>
              </a:rPr>
              <a:t>g</a:t>
            </a:r>
            <a:r>
              <a:rPr lang="zh-CN" altLang="en-US" sz="1800" dirty="0">
                <a:solidFill>
                  <a:srgbClr val="000000"/>
                </a:solidFill>
                <a:latin typeface="Arial" panose="020B0604020202020204" pitchFamily="34" charset="0"/>
              </a:rPr>
              <a:t>的伪代码</a:t>
            </a: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78</a:t>
            </a:fld>
            <a:endParaRPr lang="en-US" altLang="zh-CN" sz="1400" dirty="0"/>
          </a:p>
        </p:txBody>
      </p:sp>
      <p:sp>
        <p:nvSpPr>
          <p:cNvPr id="158722" name="Text Box 4"/>
          <p:cNvSpPr txBox="1"/>
          <p:nvPr/>
        </p:nvSpPr>
        <p:spPr>
          <a:xfrm>
            <a:off x="539750" y="980440"/>
            <a:ext cx="8064500" cy="1552575"/>
          </a:xfrm>
          <a:prstGeom prst="rect">
            <a:avLst/>
          </a:prstGeom>
          <a:noFill/>
          <a:ln w="9525">
            <a:noFill/>
          </a:ln>
        </p:spPr>
        <p:txBody>
          <a:bodyPr>
            <a:spAutoFit/>
          </a:bodyPr>
          <a:lstStyle/>
          <a:p>
            <a:pPr>
              <a:spcBef>
                <a:spcPct val="0"/>
              </a:spcBef>
              <a:buClrTx/>
            </a:pPr>
            <a:r>
              <a:rPr lang="en-US" altLang="zh-CN" b="1" dirty="0">
                <a:solidFill>
                  <a:srgbClr val="000000"/>
                </a:solidFill>
                <a:latin typeface="宋体" panose="02010600030101010101" pitchFamily="2" charset="-122"/>
              </a:rPr>
              <a:t>    </a:t>
            </a:r>
            <a:r>
              <a:rPr lang="zh-CN" altLang="en-US" b="1" dirty="0">
                <a:solidFill>
                  <a:srgbClr val="FF0000"/>
                </a:solidFill>
                <a:latin typeface="宋体" panose="02010600030101010101" pitchFamily="2" charset="-122"/>
              </a:rPr>
              <a:t>失效函数是根据转向函数建立的。</a:t>
            </a:r>
            <a:r>
              <a:rPr lang="zh-CN" altLang="en-US" b="1" dirty="0">
                <a:solidFill>
                  <a:srgbClr val="000000"/>
                </a:solidFill>
                <a:latin typeface="宋体" panose="02010600030101010101" pitchFamily="2" charset="-122"/>
              </a:rPr>
              <a:t>首先，我们定义状态转移图中状态</a:t>
            </a:r>
            <a:r>
              <a:rPr lang="en-US" altLang="zh-CN" b="1" dirty="0">
                <a:solidFill>
                  <a:srgbClr val="000000"/>
                </a:solidFill>
                <a:latin typeface="Arial" panose="020B0604020202020204" pitchFamily="34" charset="0"/>
              </a:rPr>
              <a:t>s</a:t>
            </a:r>
            <a:r>
              <a:rPr lang="zh-CN" altLang="en-US" b="1" dirty="0">
                <a:solidFill>
                  <a:srgbClr val="000000"/>
                </a:solidFill>
                <a:latin typeface="宋体" panose="02010600030101010101" pitchFamily="2" charset="-122"/>
              </a:rPr>
              <a:t>的深度为从状态</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到状态</a:t>
            </a:r>
            <a:r>
              <a:rPr lang="en-US" altLang="zh-CN" b="1" dirty="0">
                <a:solidFill>
                  <a:srgbClr val="000000"/>
                </a:solidFill>
                <a:latin typeface="Arial" panose="020B0604020202020204" pitchFamily="34" charset="0"/>
              </a:rPr>
              <a:t>s</a:t>
            </a:r>
            <a:r>
              <a:rPr lang="zh-CN" altLang="en-US" b="1" dirty="0">
                <a:solidFill>
                  <a:srgbClr val="000000"/>
                </a:solidFill>
                <a:latin typeface="宋体" panose="02010600030101010101" pitchFamily="2" charset="-122"/>
              </a:rPr>
              <a:t>的最短路径。</a:t>
            </a:r>
          </a:p>
          <a:p>
            <a:pPr>
              <a:spcBef>
                <a:spcPct val="0"/>
              </a:spcBef>
              <a:buClrTx/>
            </a:pPr>
            <a:r>
              <a:rPr lang="zh-CN" altLang="en-US" b="1" dirty="0">
                <a:solidFill>
                  <a:srgbClr val="000000"/>
                </a:solidFill>
                <a:latin typeface="宋体" panose="02010600030101010101" pitchFamily="2" charset="-122"/>
              </a:rPr>
              <a:t>例如图</a:t>
            </a:r>
            <a:r>
              <a:rPr lang="en-US" altLang="zh-CN" b="1" dirty="0">
                <a:solidFill>
                  <a:srgbClr val="000000"/>
                </a:solidFill>
                <a:latin typeface="Arial" panose="020B0604020202020204" pitchFamily="34" charset="0"/>
              </a:rPr>
              <a:t>1 a)</a:t>
            </a:r>
            <a:r>
              <a:rPr lang="zh-CN" altLang="en-US" b="1" dirty="0">
                <a:solidFill>
                  <a:srgbClr val="000000"/>
                </a:solidFill>
                <a:latin typeface="宋体" panose="02010600030101010101" pitchFamily="2" charset="-122"/>
              </a:rPr>
              <a:t>起始状态的深度是</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，状态</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和</a:t>
            </a:r>
            <a:r>
              <a:rPr lang="en-US" altLang="zh-CN" b="1" dirty="0">
                <a:solidFill>
                  <a:srgbClr val="000000"/>
                </a:solidFill>
                <a:latin typeface="Arial" panose="020B0604020202020204" pitchFamily="34" charset="0"/>
              </a:rPr>
              <a:t>3</a:t>
            </a:r>
            <a:r>
              <a:rPr lang="zh-CN" altLang="en-US" b="1" dirty="0">
                <a:solidFill>
                  <a:srgbClr val="000000"/>
                </a:solidFill>
                <a:latin typeface="宋体" panose="02010600030101010101" pitchFamily="2" charset="-122"/>
              </a:rPr>
              <a:t>的深度是</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，状态</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4</a:t>
            </a:r>
            <a:r>
              <a:rPr lang="zh-CN" altLang="en-US" b="1" dirty="0">
                <a:solidFill>
                  <a:srgbClr val="000000"/>
                </a:solidFill>
                <a:latin typeface="宋体" panose="02010600030101010101" pitchFamily="2" charset="-122"/>
              </a:rPr>
              <a:t>，和</a:t>
            </a:r>
            <a:r>
              <a:rPr lang="en-US" altLang="zh-CN" b="1" dirty="0">
                <a:solidFill>
                  <a:srgbClr val="000000"/>
                </a:solidFill>
                <a:latin typeface="Arial" panose="020B0604020202020204" pitchFamily="34" charset="0"/>
              </a:rPr>
              <a:t>6</a:t>
            </a:r>
            <a:r>
              <a:rPr lang="zh-CN" altLang="en-US" b="1" dirty="0">
                <a:solidFill>
                  <a:srgbClr val="000000"/>
                </a:solidFill>
                <a:latin typeface="宋体" panose="02010600030101010101" pitchFamily="2" charset="-122"/>
              </a:rPr>
              <a:t>的深度是</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，等等。</a:t>
            </a:r>
            <a:r>
              <a:rPr lang="zh-CN" altLang="en-US" dirty="0">
                <a:solidFill>
                  <a:srgbClr val="000000"/>
                </a:solidFill>
                <a:latin typeface="宋体" panose="02010600030101010101" pitchFamily="2" charset="-122"/>
              </a:rPr>
              <a:t> </a:t>
            </a:r>
            <a:endParaRPr lang="zh-CN" altLang="en-US" sz="1800" dirty="0">
              <a:latin typeface="Arial" panose="020B0604020202020204" pitchFamily="34" charset="0"/>
            </a:endParaRPr>
          </a:p>
        </p:txBody>
      </p:sp>
      <p:pic>
        <p:nvPicPr>
          <p:cNvPr id="158723" name="Picture 5"/>
          <p:cNvPicPr>
            <a:picLocks noChangeAspect="1"/>
          </p:cNvPicPr>
          <p:nvPr/>
        </p:nvPicPr>
        <p:blipFill>
          <a:blip r:embed="rId3"/>
          <a:stretch>
            <a:fillRect/>
          </a:stretch>
        </p:blipFill>
        <p:spPr>
          <a:xfrm>
            <a:off x="1476375" y="2419985"/>
            <a:ext cx="5545138" cy="2808288"/>
          </a:xfrm>
          <a:prstGeom prst="rect">
            <a:avLst/>
          </a:prstGeom>
          <a:noFill/>
          <a:ln w="9525">
            <a:noFill/>
          </a:ln>
        </p:spPr>
      </p:pic>
      <p:sp>
        <p:nvSpPr>
          <p:cNvPr id="158724" name="Text Box 7"/>
          <p:cNvSpPr txBox="1"/>
          <p:nvPr/>
        </p:nvSpPr>
        <p:spPr>
          <a:xfrm>
            <a:off x="611188" y="5300028"/>
            <a:ext cx="7705725" cy="1014730"/>
          </a:xfrm>
          <a:prstGeom prst="rect">
            <a:avLst/>
          </a:prstGeom>
          <a:noFill/>
          <a:ln w="9525">
            <a:noFill/>
          </a:ln>
        </p:spPr>
        <p:txBody>
          <a:bodyPr>
            <a:spAutoFit/>
          </a:bodyPr>
          <a:lstStyle/>
          <a:p>
            <a:pPr>
              <a:buClrTx/>
            </a:pPr>
            <a:r>
              <a:rPr lang="en-US" altLang="zh-CN" b="1" dirty="0">
                <a:solidFill>
                  <a:srgbClr val="000000"/>
                </a:solidFill>
                <a:latin typeface="Arial" panose="020B0604020202020204" pitchFamily="34" charset="0"/>
              </a:rPr>
              <a:t>d(0) = 0;        d(1) =</a:t>
            </a:r>
            <a:r>
              <a:rPr lang="en-US" altLang="zh-CN" sz="1800" b="1" dirty="0">
                <a:latin typeface="Arial" panose="020B0604020202020204" pitchFamily="34" charset="0"/>
              </a:rPr>
              <a:t> </a:t>
            </a:r>
            <a:r>
              <a:rPr lang="en-US" altLang="zh-CN" b="1" dirty="0">
                <a:solidFill>
                  <a:srgbClr val="000000"/>
                </a:solidFill>
                <a:latin typeface="Arial" panose="020B0604020202020204" pitchFamily="34" charset="0"/>
              </a:rPr>
              <a:t>d(3) = 1;      d(2) = d(6) = d(4) = 2</a:t>
            </a:r>
          </a:p>
          <a:p>
            <a:pPr>
              <a:buClrTx/>
            </a:pPr>
            <a:r>
              <a:rPr lang="en-US" altLang="zh-CN" b="1" dirty="0">
                <a:solidFill>
                  <a:srgbClr val="000000"/>
                </a:solidFill>
                <a:latin typeface="Arial" panose="020B0604020202020204" pitchFamily="34" charset="0"/>
              </a:rPr>
              <a:t>              d(8) = d(7) = d(5) = 3;      d(9) = 4</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79</a:t>
            </a:fld>
            <a:endParaRPr lang="en-US" altLang="zh-CN" sz="1400" dirty="0"/>
          </a:p>
        </p:txBody>
      </p:sp>
      <p:sp>
        <p:nvSpPr>
          <p:cNvPr id="160770" name="Text Box 4"/>
          <p:cNvSpPr txBox="1"/>
          <p:nvPr/>
        </p:nvSpPr>
        <p:spPr>
          <a:xfrm>
            <a:off x="323850" y="938213"/>
            <a:ext cx="8351838" cy="5077460"/>
          </a:xfrm>
          <a:prstGeom prst="rect">
            <a:avLst/>
          </a:prstGeom>
          <a:noFill/>
          <a:ln w="9525">
            <a:noFill/>
          </a:ln>
        </p:spPr>
        <p:txBody>
          <a:bodyPr>
            <a:spAutoFit/>
          </a:bodyPr>
          <a:lstStyle/>
          <a:p>
            <a:pPr>
              <a:spcBef>
                <a:spcPct val="0"/>
              </a:spcBef>
              <a:buClrTx/>
              <a:buFont typeface="Wingdings" panose="05000000000000000000" pitchFamily="2" charset="2"/>
              <a:buChar char="Ø"/>
            </a:pP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计算思路：先计算所有深度是</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的状态的失效函数值，然后计算所有深度为</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的状态，以此类推，直到所有状态（除了状态</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，因为它的深度没有定义）的失效函数值都被计算出。</a:t>
            </a:r>
          </a:p>
          <a:p>
            <a:pPr>
              <a:spcBef>
                <a:spcPct val="0"/>
              </a:spcBef>
              <a:buClrTx/>
              <a:buFont typeface="Wingdings" panose="05000000000000000000" pitchFamily="2" charset="2"/>
              <a:buChar char="Ø"/>
            </a:pPr>
            <a:endParaRPr lang="zh-CN" altLang="en-US" b="1" dirty="0">
              <a:solidFill>
                <a:srgbClr val="000000"/>
              </a:solidFill>
              <a:latin typeface="宋体" panose="02010600030101010101" pitchFamily="2" charset="-122"/>
            </a:endParaRPr>
          </a:p>
          <a:p>
            <a:pPr>
              <a:spcBef>
                <a:spcPct val="0"/>
              </a:spcBef>
              <a:buClrTx/>
              <a:buFont typeface="Wingdings" panose="05000000000000000000" pitchFamily="2" charset="2"/>
              <a:buChar char="Ø"/>
            </a:pPr>
            <a:r>
              <a:rPr lang="zh-CN" altLang="en-US" b="1" dirty="0">
                <a:solidFill>
                  <a:srgbClr val="000000"/>
                </a:solidFill>
                <a:latin typeface="宋体" panose="02010600030101010101" pitchFamily="2" charset="-122"/>
              </a:rPr>
              <a:t> 计算方法：用于计算某个状态失效函数值的算法在概念上是非常简单的。首先，令所有深度为</a:t>
            </a: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的状态</a:t>
            </a:r>
            <a:r>
              <a:rPr lang="en-US" altLang="zh-CN" b="1" dirty="0">
                <a:solidFill>
                  <a:srgbClr val="000000"/>
                </a:solidFill>
                <a:latin typeface="宋体" panose="02010600030101010101" pitchFamily="2" charset="-122"/>
              </a:rPr>
              <a:t>s</a:t>
            </a:r>
            <a:r>
              <a:rPr lang="zh-CN" altLang="en-US" b="1" dirty="0">
                <a:solidFill>
                  <a:srgbClr val="000000"/>
                </a:solidFill>
                <a:latin typeface="宋体" panose="02010600030101010101" pitchFamily="2" charset="-122"/>
              </a:rPr>
              <a:t>的函数值为</a:t>
            </a:r>
            <a:r>
              <a:rPr lang="en-US" altLang="zh-CN" b="1" dirty="0">
                <a:solidFill>
                  <a:srgbClr val="000000"/>
                </a:solidFill>
                <a:latin typeface="Arial" panose="020B0604020202020204" pitchFamily="34" charset="0"/>
              </a:rPr>
              <a:t>f(s) = 0</a:t>
            </a:r>
            <a:r>
              <a:rPr lang="zh-CN" altLang="en-US" b="1" dirty="0">
                <a:solidFill>
                  <a:srgbClr val="000000"/>
                </a:solidFill>
                <a:latin typeface="宋体" panose="02010600030101010101" pitchFamily="2" charset="-122"/>
              </a:rPr>
              <a:t>。假设所有深度小于</a:t>
            </a:r>
            <a:r>
              <a:rPr lang="en-US" altLang="zh-CN" b="1" dirty="0">
                <a:solidFill>
                  <a:srgbClr val="000000"/>
                </a:solidFill>
                <a:latin typeface="Arial" panose="020B0604020202020204" pitchFamily="34" charset="0"/>
              </a:rPr>
              <a:t>d</a:t>
            </a:r>
            <a:r>
              <a:rPr lang="zh-CN" altLang="en-US" b="1" dirty="0">
                <a:solidFill>
                  <a:srgbClr val="000000"/>
                </a:solidFill>
                <a:latin typeface="宋体" panose="02010600030101010101" pitchFamily="2" charset="-122"/>
              </a:rPr>
              <a:t>的状态的</a:t>
            </a:r>
            <a:r>
              <a:rPr lang="en-US" altLang="zh-CN" b="1" dirty="0">
                <a:solidFill>
                  <a:srgbClr val="000000"/>
                </a:solidFill>
                <a:latin typeface="宋体" panose="02010600030101010101" pitchFamily="2" charset="-122"/>
              </a:rPr>
              <a:t>f</a:t>
            </a:r>
            <a:r>
              <a:rPr lang="zh-CN" altLang="en-US" b="1" dirty="0">
                <a:solidFill>
                  <a:srgbClr val="000000"/>
                </a:solidFill>
                <a:latin typeface="宋体" panose="02010600030101010101" pitchFamily="2" charset="-122"/>
              </a:rPr>
              <a:t>值都已经被算出了，那么深度为</a:t>
            </a:r>
            <a:r>
              <a:rPr lang="en-US" altLang="zh-CN" b="1" dirty="0">
                <a:solidFill>
                  <a:srgbClr val="000000"/>
                </a:solidFill>
                <a:latin typeface="Arial" panose="020B0604020202020204" pitchFamily="34" charset="0"/>
              </a:rPr>
              <a:t>d</a:t>
            </a:r>
            <a:r>
              <a:rPr lang="zh-CN" altLang="en-US" b="1" dirty="0">
                <a:solidFill>
                  <a:srgbClr val="000000"/>
                </a:solidFill>
                <a:latin typeface="宋体" panose="02010600030101010101" pitchFamily="2" charset="-122"/>
              </a:rPr>
              <a:t>的状态的失效函数值将根据深度小于</a:t>
            </a:r>
            <a:r>
              <a:rPr lang="en-US" altLang="zh-CN" b="1" dirty="0">
                <a:solidFill>
                  <a:srgbClr val="000000"/>
                </a:solidFill>
                <a:latin typeface="Arial" panose="020B0604020202020204" pitchFamily="34" charset="0"/>
              </a:rPr>
              <a:t>d</a:t>
            </a:r>
            <a:r>
              <a:rPr lang="zh-CN" altLang="en-US" b="1" dirty="0">
                <a:solidFill>
                  <a:srgbClr val="000000"/>
                </a:solidFill>
                <a:latin typeface="宋体" panose="02010600030101010101" pitchFamily="2" charset="-122"/>
              </a:rPr>
              <a:t>的状态的失效函数值来计算。</a:t>
            </a:r>
            <a:r>
              <a:rPr lang="zh-CN" altLang="en-US" dirty="0">
                <a:solidFill>
                  <a:srgbClr val="000000"/>
                </a:solidFill>
                <a:latin typeface="宋体" panose="02010600030101010101" pitchFamily="2" charset="-122"/>
              </a:rPr>
              <a:t> </a:t>
            </a:r>
          </a:p>
          <a:p>
            <a:pPr>
              <a:spcBef>
                <a:spcPct val="0"/>
              </a:spcBef>
              <a:buClrTx/>
              <a:buFont typeface="Wingdings" panose="05000000000000000000" pitchFamily="2" charset="2"/>
              <a:buChar char="Ø"/>
            </a:pPr>
            <a:endParaRPr lang="zh-CN" altLang="en-US" dirty="0">
              <a:solidFill>
                <a:srgbClr val="000000"/>
              </a:solidFill>
              <a:latin typeface="宋体" panose="02010600030101010101" pitchFamily="2" charset="-122"/>
            </a:endParaRPr>
          </a:p>
          <a:p>
            <a:pPr>
              <a:spcBef>
                <a:spcPct val="0"/>
              </a:spcBef>
              <a:buClrTx/>
              <a:buFont typeface="Wingdings" panose="05000000000000000000" pitchFamily="2" charset="2"/>
              <a:buChar char="Ø"/>
            </a:pPr>
            <a:r>
              <a:rPr lang="zh-CN" altLang="en-US" b="1" dirty="0">
                <a:solidFill>
                  <a:srgbClr val="FF0000"/>
                </a:solidFill>
                <a:latin typeface="宋体" panose="02010600030101010101" pitchFamily="2" charset="-122"/>
              </a:rPr>
              <a:t>失效函数，体现了</a:t>
            </a:r>
            <a:r>
              <a:rPr lang="en-US" altLang="zh-CN" b="1" dirty="0">
                <a:solidFill>
                  <a:srgbClr val="FF0000"/>
                </a:solidFill>
                <a:latin typeface="宋体" panose="02010600030101010101" pitchFamily="2" charset="-122"/>
              </a:rPr>
              <a:t>KMP</a:t>
            </a:r>
            <a:r>
              <a:rPr lang="zh-CN" altLang="en-US" b="1" dirty="0">
                <a:solidFill>
                  <a:srgbClr val="FF0000"/>
                </a:solidFill>
                <a:latin typeface="宋体" panose="02010600030101010101" pitchFamily="2" charset="-122"/>
              </a:rPr>
              <a:t>算法中利用重复出现前缀的思想，且保证了部分串的前缀包含于其他串时，串匹配算法的正确性。</a:t>
            </a:r>
            <a:endParaRPr lang="zh-CN" altLang="en-US" dirty="0">
              <a:solidFill>
                <a:srgbClr val="000000"/>
              </a:solidFill>
              <a:latin typeface="宋体" panose="02010600030101010101" pitchFamily="2" charset="-122"/>
            </a:endParaRPr>
          </a:p>
          <a:p>
            <a:pPr>
              <a:buClrTx/>
            </a:pPr>
            <a:endParaRPr lang="en-US" altLang="zh-CN" dirty="0">
              <a:solidFill>
                <a:srgbClr val="000000"/>
              </a:solidFill>
              <a:latin typeface="宋体" panose="02010600030101010101" pitchFamily="2" charset="-122"/>
            </a:endParaRP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80</a:t>
            </a:fld>
            <a:endParaRPr lang="en-US" altLang="zh-CN" sz="1400" dirty="0"/>
          </a:p>
        </p:txBody>
      </p:sp>
      <p:sp>
        <p:nvSpPr>
          <p:cNvPr id="162818" name="Text Box 4"/>
          <p:cNvSpPr txBox="1"/>
          <p:nvPr/>
        </p:nvSpPr>
        <p:spPr>
          <a:xfrm>
            <a:off x="323850" y="908050"/>
            <a:ext cx="8496300" cy="4473575"/>
          </a:xfrm>
          <a:prstGeom prst="rect">
            <a:avLst/>
          </a:prstGeom>
          <a:noFill/>
          <a:ln w="9525">
            <a:noFill/>
          </a:ln>
        </p:spPr>
        <p:txBody>
          <a:bodyPr>
            <a:spAutoFit/>
          </a:bodyPr>
          <a:lstStyle/>
          <a:p>
            <a:pPr marL="342900" indent="-342900">
              <a:spcBef>
                <a:spcPct val="0"/>
              </a:spcBef>
              <a:buClrTx/>
            </a:pP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为了计算深度为</a:t>
            </a:r>
            <a:r>
              <a:rPr lang="en-US" altLang="zh-CN" b="1" dirty="0">
                <a:solidFill>
                  <a:srgbClr val="000000"/>
                </a:solidFill>
                <a:latin typeface="Arial" panose="020B0604020202020204" pitchFamily="34" charset="0"/>
              </a:rPr>
              <a:t>d</a:t>
            </a:r>
            <a:r>
              <a:rPr lang="zh-CN" altLang="en-US" b="1" dirty="0">
                <a:solidFill>
                  <a:srgbClr val="000000"/>
                </a:solidFill>
                <a:latin typeface="宋体" panose="02010600030101010101" pitchFamily="2" charset="-122"/>
              </a:rPr>
              <a:t>状态的失效函数值，我们考虑每个深度为</a:t>
            </a:r>
            <a:r>
              <a:rPr lang="en-US" altLang="zh-CN" b="1" dirty="0">
                <a:solidFill>
                  <a:srgbClr val="000000"/>
                </a:solidFill>
                <a:latin typeface="Arial" panose="020B0604020202020204" pitchFamily="34" charset="0"/>
              </a:rPr>
              <a:t>d-1</a:t>
            </a:r>
            <a:r>
              <a:rPr lang="zh-CN" altLang="en-US" b="1" dirty="0">
                <a:solidFill>
                  <a:srgbClr val="000000"/>
                </a:solidFill>
                <a:latin typeface="宋体" panose="02010600030101010101" pitchFamily="2" charset="-122"/>
              </a:rPr>
              <a:t>的状态</a:t>
            </a:r>
            <a:r>
              <a:rPr lang="en-US" altLang="zh-CN" b="1" dirty="0">
                <a:solidFill>
                  <a:srgbClr val="000000"/>
                </a:solidFill>
                <a:latin typeface="Arial" panose="020B0604020202020204" pitchFamily="34" charset="0"/>
              </a:rPr>
              <a:t>r</a:t>
            </a:r>
            <a:r>
              <a:rPr lang="zh-CN" altLang="en-US" b="1" dirty="0">
                <a:solidFill>
                  <a:srgbClr val="000000"/>
                </a:solidFill>
                <a:latin typeface="宋体" panose="02010600030101010101" pitchFamily="2" charset="-122"/>
              </a:rPr>
              <a:t>，执行以下步骤：</a:t>
            </a:r>
          </a:p>
          <a:p>
            <a:pPr marL="342900" indent="-342900">
              <a:spcBef>
                <a:spcPct val="0"/>
              </a:spcBef>
              <a:buClrTx/>
              <a:buFont typeface="Wingdings" panose="05000000000000000000" pitchFamily="2" charset="2"/>
              <a:buChar char="Ø"/>
            </a:pPr>
            <a:r>
              <a:rPr lang="en-US" altLang="zh-CN" b="1" dirty="0">
                <a:solidFill>
                  <a:srgbClr val="000000"/>
                </a:solidFill>
                <a:latin typeface="Arial" panose="020B0604020202020204" pitchFamily="34" charset="0"/>
              </a:rPr>
              <a:t>Step1</a:t>
            </a:r>
            <a:r>
              <a:rPr lang="zh-CN" altLang="en-US" b="1" dirty="0">
                <a:solidFill>
                  <a:srgbClr val="000000"/>
                </a:solidFill>
                <a:latin typeface="宋体" panose="02010600030101010101" pitchFamily="2" charset="-122"/>
              </a:rPr>
              <a:t>：如果对所有状态</a:t>
            </a:r>
            <a:r>
              <a:rPr lang="en-US" altLang="zh-CN" b="1" dirty="0">
                <a:solidFill>
                  <a:srgbClr val="000000"/>
                </a:solidFill>
                <a:latin typeface="Arial" panose="020B0604020202020204" pitchFamily="34" charset="0"/>
              </a:rPr>
              <a:t>a</a:t>
            </a:r>
            <a:r>
              <a:rPr lang="zh-CN" altLang="en-US" b="1" dirty="0">
                <a:solidFill>
                  <a:srgbClr val="000000"/>
                </a:solidFill>
                <a:latin typeface="宋体" panose="02010600030101010101" pitchFamily="2" charset="-122"/>
              </a:rPr>
              <a:t>的</a:t>
            </a:r>
            <a:r>
              <a:rPr lang="en-US" altLang="zh-CN" b="1" dirty="0">
                <a:solidFill>
                  <a:srgbClr val="000000"/>
                </a:solidFill>
                <a:latin typeface="Arial" panose="020B0604020202020204" pitchFamily="34" charset="0"/>
              </a:rPr>
              <a:t>g(r, a) = fail</a:t>
            </a:r>
            <a:r>
              <a:rPr lang="zh-CN" altLang="en-US" b="1" dirty="0">
                <a:solidFill>
                  <a:srgbClr val="000000"/>
                </a:solidFill>
                <a:latin typeface="宋体" panose="02010600030101010101" pitchFamily="2" charset="-122"/>
              </a:rPr>
              <a:t>，那么什么都不做</a:t>
            </a:r>
          </a:p>
          <a:p>
            <a:pPr marL="342900" indent="-342900">
              <a:spcBef>
                <a:spcPct val="0"/>
              </a:spcBef>
              <a:buClrTx/>
              <a:buFont typeface="Wingdings" panose="05000000000000000000" pitchFamily="2" charset="2"/>
              <a:buChar char="Ø"/>
            </a:pPr>
            <a:endParaRPr lang="zh-CN" altLang="en-US" b="1" dirty="0">
              <a:solidFill>
                <a:srgbClr val="000000"/>
              </a:solidFill>
              <a:latin typeface="宋体" panose="02010600030101010101" pitchFamily="2" charset="-122"/>
            </a:endParaRPr>
          </a:p>
          <a:p>
            <a:pPr marL="342900" indent="-342900">
              <a:spcBef>
                <a:spcPct val="0"/>
              </a:spcBef>
              <a:buClrTx/>
              <a:buFont typeface="Wingdings" panose="05000000000000000000" pitchFamily="2" charset="2"/>
              <a:buChar char="Ø"/>
            </a:pPr>
            <a:r>
              <a:rPr lang="en-US" altLang="zh-CN" b="1" dirty="0">
                <a:solidFill>
                  <a:srgbClr val="000000"/>
                </a:solidFill>
                <a:latin typeface="Arial" panose="020B0604020202020204" pitchFamily="34" charset="0"/>
              </a:rPr>
              <a:t>Step2</a:t>
            </a:r>
            <a:r>
              <a:rPr lang="zh-CN" altLang="en-US" b="1" dirty="0">
                <a:solidFill>
                  <a:srgbClr val="000000"/>
                </a:solidFill>
                <a:latin typeface="宋体" panose="02010600030101010101" pitchFamily="2" charset="-122"/>
              </a:rPr>
              <a:t>：否则，对每个使得</a:t>
            </a:r>
            <a:r>
              <a:rPr lang="en-US" altLang="zh-CN" b="1" dirty="0">
                <a:solidFill>
                  <a:srgbClr val="000000"/>
                </a:solidFill>
                <a:latin typeface="Arial" panose="020B0604020202020204" pitchFamily="34" charset="0"/>
              </a:rPr>
              <a:t>g(r, a) = s</a:t>
            </a:r>
            <a:r>
              <a:rPr lang="zh-CN" altLang="en-US" b="1" dirty="0">
                <a:solidFill>
                  <a:srgbClr val="000000"/>
                </a:solidFill>
                <a:latin typeface="宋体" panose="02010600030101010101" pitchFamily="2" charset="-122"/>
              </a:rPr>
              <a:t>存在的状态</a:t>
            </a:r>
            <a:r>
              <a:rPr lang="en-US" altLang="zh-CN" b="1" dirty="0">
                <a:solidFill>
                  <a:srgbClr val="000000"/>
                </a:solidFill>
                <a:latin typeface="Arial" panose="020B0604020202020204" pitchFamily="34" charset="0"/>
              </a:rPr>
              <a:t>s</a:t>
            </a:r>
            <a:r>
              <a:rPr lang="zh-CN" altLang="en-US" b="1" dirty="0">
                <a:solidFill>
                  <a:srgbClr val="000000"/>
                </a:solidFill>
                <a:latin typeface="宋体" panose="02010600030101010101" pitchFamily="2" charset="-122"/>
              </a:rPr>
              <a:t>，执行以下操作</a:t>
            </a:r>
          </a:p>
          <a:p>
            <a:pPr marL="800100" lvl="1" indent="-342900">
              <a:spcBef>
                <a:spcPct val="0"/>
              </a:spcBef>
              <a:buClrTx/>
            </a:pPr>
            <a:r>
              <a:rPr lang="zh-CN" altLang="en-US" b="1" dirty="0">
                <a:solidFill>
                  <a:srgbClr val="000000"/>
                </a:solidFill>
                <a:latin typeface="宋体" panose="02010600030101010101" pitchFamily="2" charset="-122"/>
              </a:rPr>
              <a:t>记</a:t>
            </a:r>
            <a:r>
              <a:rPr lang="en-US" altLang="zh-CN" b="1" dirty="0">
                <a:solidFill>
                  <a:srgbClr val="000000"/>
                </a:solidFill>
                <a:latin typeface="Arial" panose="020B0604020202020204" pitchFamily="34" charset="0"/>
              </a:rPr>
              <a:t>state = f(r)</a:t>
            </a:r>
            <a:r>
              <a:rPr lang="zh-CN" altLang="en-US" b="1" dirty="0">
                <a:solidFill>
                  <a:srgbClr val="000000"/>
                </a:solidFill>
                <a:latin typeface="宋体" panose="02010600030101010101" pitchFamily="2" charset="-122"/>
              </a:rPr>
              <a:t>。</a:t>
            </a:r>
          </a:p>
          <a:p>
            <a:pPr marL="800100" lvl="1" indent="-342900">
              <a:spcBef>
                <a:spcPct val="0"/>
              </a:spcBef>
              <a:buClrTx/>
            </a:pPr>
            <a:r>
              <a:rPr lang="zh-CN" altLang="en-US" b="1" dirty="0">
                <a:solidFill>
                  <a:srgbClr val="000000"/>
                </a:solidFill>
                <a:latin typeface="宋体" panose="02010600030101010101" pitchFamily="2" charset="-122"/>
              </a:rPr>
              <a:t>零次或者多次令</a:t>
            </a:r>
            <a:r>
              <a:rPr lang="en-US" altLang="zh-CN" b="1" dirty="0">
                <a:solidFill>
                  <a:srgbClr val="000000"/>
                </a:solidFill>
                <a:latin typeface="Arial" panose="020B0604020202020204" pitchFamily="34" charset="0"/>
              </a:rPr>
              <a:t>state = f(state)</a:t>
            </a:r>
            <a:r>
              <a:rPr lang="zh-CN" altLang="en-US" b="1" dirty="0">
                <a:solidFill>
                  <a:srgbClr val="000000"/>
                </a:solidFill>
                <a:latin typeface="宋体" panose="02010600030101010101" pitchFamily="2" charset="-122"/>
              </a:rPr>
              <a:t>，直到出现一个状态使得</a:t>
            </a:r>
            <a:r>
              <a:rPr lang="en-US" altLang="zh-CN" b="1" dirty="0">
                <a:solidFill>
                  <a:srgbClr val="000000"/>
                </a:solidFill>
                <a:latin typeface="Arial" panose="020B0604020202020204" pitchFamily="34" charset="0"/>
              </a:rPr>
              <a:t>g(state, a) != fail</a:t>
            </a:r>
            <a:r>
              <a:rPr lang="zh-CN" altLang="en-US" b="1" dirty="0">
                <a:solidFill>
                  <a:srgbClr val="000000"/>
                </a:solidFill>
                <a:latin typeface="宋体" panose="02010600030101010101" pitchFamily="2" charset="-122"/>
              </a:rPr>
              <a:t>（注意到，因为对任意字符</a:t>
            </a:r>
            <a:r>
              <a:rPr lang="en-US" altLang="zh-CN" b="1" dirty="0">
                <a:solidFill>
                  <a:srgbClr val="000000"/>
                </a:solidFill>
                <a:latin typeface="Arial" panose="020B0604020202020204" pitchFamily="34" charset="0"/>
              </a:rPr>
              <a:t>a</a:t>
            </a:r>
            <a:r>
              <a:rPr lang="zh-CN" altLang="en-US"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g(0, a) != fail</a:t>
            </a:r>
            <a:r>
              <a:rPr lang="zh-CN" altLang="en-US" b="1" dirty="0">
                <a:solidFill>
                  <a:srgbClr val="000000"/>
                </a:solidFill>
                <a:latin typeface="宋体" panose="02010600030101010101" pitchFamily="2" charset="-122"/>
              </a:rPr>
              <a:t>，所以这种状态一定能够找到）</a:t>
            </a:r>
          </a:p>
          <a:p>
            <a:pPr marL="800100" lvl="1" indent="-342900">
              <a:spcBef>
                <a:spcPct val="0"/>
              </a:spcBef>
              <a:buClrTx/>
            </a:pPr>
            <a:endParaRPr lang="zh-CN" altLang="en-US" b="1" dirty="0">
              <a:solidFill>
                <a:srgbClr val="000000"/>
              </a:solidFill>
              <a:latin typeface="宋体" panose="02010600030101010101" pitchFamily="2" charset="-122"/>
            </a:endParaRPr>
          </a:p>
          <a:p>
            <a:pPr marL="342900" indent="-342900">
              <a:spcBef>
                <a:spcPct val="0"/>
              </a:spcBef>
              <a:buClrTx/>
              <a:buFont typeface="Wingdings" panose="05000000000000000000" pitchFamily="2" charset="2"/>
              <a:buChar char="Ø"/>
            </a:pPr>
            <a:r>
              <a:rPr lang="en-US" altLang="zh-CN" b="1" dirty="0">
                <a:solidFill>
                  <a:srgbClr val="000000"/>
                </a:solidFill>
                <a:latin typeface="Arial" panose="020B0604020202020204" pitchFamily="34" charset="0"/>
              </a:rPr>
              <a:t>Step2</a:t>
            </a:r>
            <a:r>
              <a:rPr lang="zh-CN" altLang="en-US" b="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记</a:t>
            </a:r>
            <a:r>
              <a:rPr lang="en-US" altLang="zh-CN" b="1" dirty="0">
                <a:solidFill>
                  <a:srgbClr val="000000"/>
                </a:solidFill>
                <a:latin typeface="Arial" panose="020B0604020202020204" pitchFamily="34" charset="0"/>
              </a:rPr>
              <a:t>f(s) = g(state, a)</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81</a:t>
            </a:fld>
            <a:endParaRPr lang="en-US" altLang="zh-CN" sz="1400" dirty="0"/>
          </a:p>
        </p:txBody>
      </p:sp>
      <p:sp>
        <p:nvSpPr>
          <p:cNvPr id="164866" name="Text Box 4"/>
          <p:cNvSpPr txBox="1"/>
          <p:nvPr/>
        </p:nvSpPr>
        <p:spPr>
          <a:xfrm>
            <a:off x="250825" y="908050"/>
            <a:ext cx="8785225" cy="5130800"/>
          </a:xfrm>
          <a:prstGeom prst="rect">
            <a:avLst/>
          </a:prstGeom>
          <a:noFill/>
          <a:ln w="9525">
            <a:noFill/>
          </a:ln>
        </p:spPr>
        <p:txBody>
          <a:bodyPr lIns="18000" rIns="18000">
            <a:spAutoFit/>
          </a:bodyPr>
          <a:lstStyle/>
          <a:p>
            <a:pPr marL="342900" indent="-342900">
              <a:buClrTx/>
            </a:pPr>
            <a:r>
              <a:rPr lang="en-US" altLang="zh-CN"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以图</a:t>
            </a:r>
            <a:r>
              <a:rPr lang="en-US" altLang="zh-CN" b="1" dirty="0">
                <a:solidFill>
                  <a:srgbClr val="000000"/>
                </a:solidFill>
                <a:latin typeface="Arial" panose="020B0604020202020204" pitchFamily="34" charset="0"/>
              </a:rPr>
              <a:t>1 a)</a:t>
            </a:r>
            <a:r>
              <a:rPr lang="zh-CN" altLang="en-US" b="1" dirty="0">
                <a:solidFill>
                  <a:srgbClr val="000000"/>
                </a:solidFill>
                <a:latin typeface="Arial" panose="020B0604020202020204" pitchFamily="34" charset="0"/>
              </a:rPr>
              <a:t>为例说明计算</a:t>
            </a:r>
            <a:r>
              <a:rPr lang="zh-CN" altLang="en-US" b="1" dirty="0">
                <a:solidFill>
                  <a:srgbClr val="000000"/>
                </a:solidFill>
                <a:latin typeface="宋体" panose="02010600030101010101" pitchFamily="2" charset="-122"/>
              </a:rPr>
              <a:t>的失效函数</a:t>
            </a:r>
            <a:r>
              <a:rPr lang="en-US" altLang="zh-CN" b="1" dirty="0">
                <a:solidFill>
                  <a:srgbClr val="000000"/>
                </a:solidFill>
                <a:latin typeface="Arial" panose="020B0604020202020204" pitchFamily="34" charset="0"/>
              </a:rPr>
              <a:t>f</a:t>
            </a:r>
            <a:r>
              <a:rPr lang="zh-CN" altLang="en-US" b="1" dirty="0">
                <a:solidFill>
                  <a:srgbClr val="000000"/>
                </a:solidFill>
                <a:latin typeface="宋体" panose="02010600030101010101" pitchFamily="2" charset="-122"/>
              </a:rPr>
              <a:t>；</a:t>
            </a:r>
          </a:p>
          <a:p>
            <a:pPr marL="342900" indent="-342900">
              <a:spcBef>
                <a:spcPct val="10000"/>
              </a:spcBef>
              <a:buClrTx/>
              <a:buAutoNum type="circleNumDbPlain"/>
            </a:pPr>
            <a:r>
              <a:rPr lang="zh-CN" altLang="en-US" b="1" dirty="0">
                <a:solidFill>
                  <a:srgbClr val="000000"/>
                </a:solidFill>
                <a:latin typeface="宋体" panose="02010600030101010101" pitchFamily="2" charset="-122"/>
              </a:rPr>
              <a:t>先令</a:t>
            </a:r>
            <a:r>
              <a:rPr lang="en-US" altLang="zh-CN" b="1" dirty="0">
                <a:solidFill>
                  <a:srgbClr val="000000"/>
                </a:solidFill>
                <a:latin typeface="Arial" panose="020B0604020202020204" pitchFamily="34" charset="0"/>
              </a:rPr>
              <a:t>f(1) = f(3) = 0</a:t>
            </a:r>
            <a:r>
              <a:rPr lang="zh-CN" altLang="en-US" b="1" dirty="0">
                <a:solidFill>
                  <a:srgbClr val="000000"/>
                </a:solidFill>
                <a:latin typeface="宋体" panose="02010600030101010101" pitchFamily="2" charset="-122"/>
              </a:rPr>
              <a:t>，因为</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和</a:t>
            </a:r>
            <a:r>
              <a:rPr lang="en-US" altLang="zh-CN" b="1" dirty="0">
                <a:solidFill>
                  <a:srgbClr val="000000"/>
                </a:solidFill>
                <a:latin typeface="Arial" panose="020B0604020202020204" pitchFamily="34" charset="0"/>
              </a:rPr>
              <a:t>3</a:t>
            </a:r>
            <a:r>
              <a:rPr lang="zh-CN" altLang="en-US" b="1" dirty="0">
                <a:solidFill>
                  <a:srgbClr val="000000"/>
                </a:solidFill>
                <a:latin typeface="宋体" panose="02010600030101010101" pitchFamily="2" charset="-122"/>
              </a:rPr>
              <a:t>是深度为</a:t>
            </a: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的状态。</a:t>
            </a:r>
          </a:p>
          <a:p>
            <a:pPr marL="342900" indent="-342900">
              <a:spcBef>
                <a:spcPct val="10000"/>
              </a:spcBef>
              <a:buClrTx/>
              <a:buAutoNum type="circleNumDbPlain"/>
            </a:pPr>
            <a:r>
              <a:rPr lang="zh-CN" altLang="en-US" b="1" dirty="0">
                <a:solidFill>
                  <a:srgbClr val="000000"/>
                </a:solidFill>
                <a:latin typeface="宋体" panose="02010600030101010101" pitchFamily="2" charset="-122"/>
              </a:rPr>
              <a:t>计算深度为</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的状态</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6</a:t>
            </a:r>
            <a:r>
              <a:rPr lang="zh-CN" altLang="en-US" b="1" dirty="0">
                <a:solidFill>
                  <a:srgbClr val="000000"/>
                </a:solidFill>
                <a:latin typeface="宋体" panose="02010600030101010101" pitchFamily="2" charset="-122"/>
              </a:rPr>
              <a:t>和</a:t>
            </a:r>
            <a:r>
              <a:rPr lang="en-US" altLang="zh-CN" b="1" dirty="0">
                <a:solidFill>
                  <a:srgbClr val="000000"/>
                </a:solidFill>
                <a:latin typeface="Arial" panose="020B0604020202020204" pitchFamily="34" charset="0"/>
              </a:rPr>
              <a:t>4</a:t>
            </a:r>
            <a:r>
              <a:rPr lang="zh-CN" altLang="en-US" b="1" dirty="0">
                <a:solidFill>
                  <a:srgbClr val="000000"/>
                </a:solidFill>
                <a:latin typeface="宋体" panose="02010600030101010101" pitchFamily="2" charset="-122"/>
              </a:rPr>
              <a:t>的失效函数。</a:t>
            </a:r>
            <a:r>
              <a:rPr lang="zh-CN" altLang="en-US"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计算</a:t>
            </a:r>
            <a:r>
              <a:rPr lang="en-US" altLang="zh-CN" b="1" dirty="0">
                <a:solidFill>
                  <a:srgbClr val="000000"/>
                </a:solidFill>
                <a:latin typeface="Arial" panose="020B0604020202020204" pitchFamily="34" charset="0"/>
              </a:rPr>
              <a:t>f(2)</a:t>
            </a:r>
            <a:r>
              <a:rPr lang="zh-CN" altLang="en-US" b="1" dirty="0">
                <a:solidFill>
                  <a:srgbClr val="000000"/>
                </a:solidFill>
                <a:latin typeface="宋体" panose="02010600030101010101" pitchFamily="2" charset="-122"/>
              </a:rPr>
              <a:t>，令</a:t>
            </a:r>
            <a:r>
              <a:rPr lang="en-US" altLang="zh-CN" b="1" dirty="0">
                <a:solidFill>
                  <a:srgbClr val="000000"/>
                </a:solidFill>
                <a:latin typeface="Arial" panose="020B0604020202020204" pitchFamily="34" charset="0"/>
              </a:rPr>
              <a:t>state = f(1) = 0</a:t>
            </a:r>
            <a:r>
              <a:rPr lang="zh-CN" altLang="en-US" b="1" dirty="0">
                <a:solidFill>
                  <a:srgbClr val="000000"/>
                </a:solidFill>
                <a:latin typeface="宋体" panose="02010600030101010101" pitchFamily="2" charset="-122"/>
              </a:rPr>
              <a:t>；由于</a:t>
            </a:r>
            <a:r>
              <a:rPr lang="en-US" altLang="zh-CN" b="1" dirty="0">
                <a:solidFill>
                  <a:srgbClr val="000000"/>
                </a:solidFill>
                <a:latin typeface="Arial" panose="020B0604020202020204" pitchFamily="34" charset="0"/>
              </a:rPr>
              <a:t>g(0, a) = 0</a:t>
            </a:r>
            <a:r>
              <a:rPr lang="zh-CN" altLang="en-US" b="1" dirty="0">
                <a:solidFill>
                  <a:srgbClr val="000000"/>
                </a:solidFill>
                <a:latin typeface="宋体" panose="02010600030101010101" pitchFamily="2" charset="-122"/>
              </a:rPr>
              <a:t>，得到</a:t>
            </a:r>
            <a:r>
              <a:rPr lang="en-US" altLang="zh-CN" b="1" dirty="0">
                <a:solidFill>
                  <a:srgbClr val="000000"/>
                </a:solidFill>
                <a:latin typeface="Arial" panose="020B0604020202020204" pitchFamily="34" charset="0"/>
              </a:rPr>
              <a:t>f(2) = 0</a:t>
            </a:r>
            <a:r>
              <a:rPr lang="zh-CN" altLang="en-US" b="1" dirty="0">
                <a:solidFill>
                  <a:srgbClr val="000000"/>
                </a:solidFill>
                <a:latin typeface="宋体" panose="02010600030101010101" pitchFamily="2" charset="-122"/>
              </a:rPr>
              <a:t>。                  计算</a:t>
            </a:r>
            <a:r>
              <a:rPr lang="en-US" altLang="zh-CN" b="1" dirty="0">
                <a:solidFill>
                  <a:srgbClr val="000000"/>
                </a:solidFill>
                <a:latin typeface="Arial" panose="020B0604020202020204" pitchFamily="34" charset="0"/>
              </a:rPr>
              <a:t>f(6)</a:t>
            </a:r>
            <a:r>
              <a:rPr lang="zh-CN" altLang="en-US" b="1" dirty="0">
                <a:solidFill>
                  <a:srgbClr val="000000"/>
                </a:solidFill>
                <a:latin typeface="宋体" panose="02010600030101010101" pitchFamily="2" charset="-122"/>
              </a:rPr>
              <a:t>，令</a:t>
            </a:r>
            <a:r>
              <a:rPr lang="en-US" altLang="zh-CN" b="1" dirty="0">
                <a:solidFill>
                  <a:srgbClr val="000000"/>
                </a:solidFill>
                <a:latin typeface="Arial" panose="020B0604020202020204" pitchFamily="34" charset="0"/>
              </a:rPr>
              <a:t>state = f(1) = 0</a:t>
            </a:r>
            <a:r>
              <a:rPr lang="zh-CN" altLang="en-US" b="1" dirty="0">
                <a:solidFill>
                  <a:srgbClr val="000000"/>
                </a:solidFill>
                <a:latin typeface="宋体" panose="02010600030101010101" pitchFamily="2" charset="-122"/>
              </a:rPr>
              <a:t>；</a:t>
            </a:r>
            <a:r>
              <a:rPr lang="zh-CN" altLang="en-US" b="1" dirty="0">
                <a:solidFill>
                  <a:srgbClr val="000000"/>
                </a:solidFill>
                <a:latin typeface="Arial" panose="020B0604020202020204" pitchFamily="34" charset="0"/>
              </a:rPr>
              <a:t>由于</a:t>
            </a:r>
            <a:r>
              <a:rPr lang="en-US" altLang="zh-CN" b="1" dirty="0">
                <a:solidFill>
                  <a:srgbClr val="000000"/>
                </a:solidFill>
                <a:latin typeface="Arial" panose="020B0604020202020204" pitchFamily="34" charset="0"/>
              </a:rPr>
              <a:t>g(0, i) = 0</a:t>
            </a:r>
            <a:r>
              <a:rPr lang="zh-CN" altLang="en-US" b="1" dirty="0">
                <a:solidFill>
                  <a:srgbClr val="000000"/>
                </a:solidFill>
                <a:latin typeface="Arial" panose="020B0604020202020204" pitchFamily="34" charset="0"/>
              </a:rPr>
              <a:t>，得到</a:t>
            </a:r>
            <a:r>
              <a:rPr lang="en-US" altLang="zh-CN" b="1" dirty="0">
                <a:solidFill>
                  <a:srgbClr val="000000"/>
                </a:solidFill>
                <a:latin typeface="Arial" panose="020B0604020202020204" pitchFamily="34" charset="0"/>
              </a:rPr>
              <a:t>f(6) = 0 </a:t>
            </a:r>
            <a:r>
              <a:rPr lang="zh-CN" altLang="en-US" b="1"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 计算</a:t>
            </a:r>
            <a:r>
              <a:rPr lang="en-US" altLang="zh-CN" b="1" dirty="0">
                <a:solidFill>
                  <a:srgbClr val="000000"/>
                </a:solidFill>
                <a:latin typeface="Arial" panose="020B0604020202020204" pitchFamily="34" charset="0"/>
              </a:rPr>
              <a:t>f(4)</a:t>
            </a:r>
            <a:r>
              <a:rPr lang="zh-CN" altLang="en-US" b="1" dirty="0">
                <a:solidFill>
                  <a:srgbClr val="000000"/>
                </a:solidFill>
                <a:latin typeface="宋体" panose="02010600030101010101" pitchFamily="2" charset="-122"/>
              </a:rPr>
              <a:t>，令</a:t>
            </a:r>
            <a:r>
              <a:rPr lang="en-US" altLang="zh-CN" b="1" dirty="0">
                <a:solidFill>
                  <a:srgbClr val="000000"/>
                </a:solidFill>
                <a:latin typeface="Arial" panose="020B0604020202020204" pitchFamily="34" charset="0"/>
              </a:rPr>
              <a:t>state = f(3) = 0</a:t>
            </a:r>
            <a:r>
              <a:rPr lang="zh-CN" altLang="en-US" sz="1800" b="1" dirty="0">
                <a:solidFill>
                  <a:srgbClr val="000000"/>
                </a:solidFill>
                <a:latin typeface="Arial" panose="020B0604020202020204" pitchFamily="34" charset="0"/>
              </a:rPr>
              <a:t>； </a:t>
            </a:r>
            <a:r>
              <a:rPr lang="zh-CN" altLang="en-US" b="1" dirty="0">
                <a:solidFill>
                  <a:srgbClr val="000000"/>
                </a:solidFill>
                <a:latin typeface="宋体" panose="02010600030101010101" pitchFamily="2" charset="-122"/>
              </a:rPr>
              <a:t>由于</a:t>
            </a:r>
            <a:r>
              <a:rPr lang="en-US" altLang="zh-CN" b="1" dirty="0">
                <a:solidFill>
                  <a:srgbClr val="000000"/>
                </a:solidFill>
                <a:latin typeface="Arial" panose="020B0604020202020204" pitchFamily="34" charset="0"/>
              </a:rPr>
              <a:t>g(0, h) = 1</a:t>
            </a:r>
            <a:r>
              <a:rPr lang="zh-CN" altLang="en-US" b="1" dirty="0">
                <a:solidFill>
                  <a:srgbClr val="000000"/>
                </a:solidFill>
                <a:latin typeface="宋体" panose="02010600030101010101" pitchFamily="2" charset="-122"/>
              </a:rPr>
              <a:t>，得到</a:t>
            </a:r>
            <a:r>
              <a:rPr lang="en-US" altLang="zh-CN" b="1" dirty="0">
                <a:solidFill>
                  <a:srgbClr val="000000"/>
                </a:solidFill>
                <a:latin typeface="Arial" panose="020B0604020202020204" pitchFamily="34" charset="0"/>
              </a:rPr>
              <a:t>f(4) = 1</a:t>
            </a:r>
            <a:r>
              <a:rPr lang="zh-CN" altLang="en-US" b="1" dirty="0">
                <a:solidFill>
                  <a:srgbClr val="000000"/>
                </a:solidFill>
                <a:latin typeface="宋体" panose="02010600030101010101" pitchFamily="2" charset="-122"/>
              </a:rPr>
              <a:t>。</a:t>
            </a:r>
          </a:p>
          <a:p>
            <a:pPr marL="342900" indent="-342900">
              <a:spcBef>
                <a:spcPct val="10000"/>
              </a:spcBef>
              <a:buClrTx/>
              <a:buAutoNum type="circleNumDbPlain"/>
            </a:pPr>
            <a:r>
              <a:rPr lang="zh-CN" altLang="en-US" b="1" dirty="0">
                <a:solidFill>
                  <a:srgbClr val="000000"/>
                </a:solidFill>
                <a:latin typeface="宋体" panose="02010600030101010101" pitchFamily="2" charset="-122"/>
              </a:rPr>
              <a:t>按这种方式继续，最终得到了如图</a:t>
            </a:r>
            <a:r>
              <a:rPr lang="en-US" altLang="zh-CN" b="1" dirty="0">
                <a:solidFill>
                  <a:srgbClr val="000000"/>
                </a:solidFill>
                <a:latin typeface="Arial" panose="020B0604020202020204" pitchFamily="34" charset="0"/>
              </a:rPr>
              <a:t>1 b)</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所示的失效函数</a:t>
            </a:r>
            <a:r>
              <a:rPr lang="en-US" altLang="zh-CN" b="1" dirty="0">
                <a:solidFill>
                  <a:srgbClr val="000000"/>
                </a:solidFill>
                <a:latin typeface="Arial" panose="020B0604020202020204" pitchFamily="34" charset="0"/>
              </a:rPr>
              <a:t>f</a:t>
            </a:r>
            <a:r>
              <a:rPr lang="zh-CN" altLang="en-US" b="1" dirty="0">
                <a:solidFill>
                  <a:srgbClr val="000000"/>
                </a:solidFill>
                <a:latin typeface="宋体" panose="02010600030101010101" pitchFamily="2" charset="-122"/>
              </a:rPr>
              <a:t>。</a:t>
            </a:r>
          </a:p>
          <a:p>
            <a:pPr marL="342900" indent="-342900">
              <a:buClrTx/>
            </a:pPr>
            <a:r>
              <a:rPr lang="zh-CN" altLang="en-US" sz="1800" b="1" dirty="0">
                <a:latin typeface="Arial" panose="020B0604020202020204" pitchFamily="34" charset="0"/>
              </a:rPr>
              <a:t>           </a:t>
            </a:r>
            <a:r>
              <a:rPr lang="zh-CN" altLang="en-US" b="1" dirty="0">
                <a:solidFill>
                  <a:srgbClr val="000000"/>
                </a:solidFill>
                <a:latin typeface="宋体" panose="02010600030101010101" pitchFamily="2" charset="-122"/>
              </a:rPr>
              <a:t>在计算失效函数的过程中，也更新了输出函数。当求出</a:t>
            </a:r>
            <a:r>
              <a:rPr lang="en-US" altLang="zh-CN" b="1" dirty="0">
                <a:solidFill>
                  <a:srgbClr val="000000"/>
                </a:solidFill>
                <a:latin typeface="Arial" panose="020B0604020202020204" pitchFamily="34" charset="0"/>
              </a:rPr>
              <a:t>f(s) =</a:t>
            </a:r>
            <a:r>
              <a:rPr lang="en-US" altLang="zh-CN" b="1" dirty="0">
                <a:solidFill>
                  <a:srgbClr val="000000"/>
                </a:solidFill>
                <a:latin typeface="宋体" panose="02010600030101010101" pitchFamily="2" charset="-122"/>
              </a:rPr>
              <a:t> </a:t>
            </a:r>
            <a:r>
              <a:rPr lang="en-US" altLang="zh-CN" b="1" i="1" dirty="0">
                <a:solidFill>
                  <a:srgbClr val="000000"/>
                </a:solidFill>
                <a:latin typeface="Arial" panose="020B0604020202020204" pitchFamily="34" charset="0"/>
              </a:rPr>
              <a:t>s</a:t>
            </a:r>
            <a:r>
              <a:rPr lang="zh-CN" altLang="en-US" b="1" i="1" baseline="30000"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时，我们把状态</a:t>
            </a:r>
            <a:r>
              <a:rPr lang="en-US" altLang="zh-CN" b="1" dirty="0">
                <a:solidFill>
                  <a:srgbClr val="000000"/>
                </a:solidFill>
                <a:latin typeface="Arial" panose="020B0604020202020204" pitchFamily="34" charset="0"/>
              </a:rPr>
              <a:t>s</a:t>
            </a:r>
            <a:r>
              <a:rPr lang="zh-CN" altLang="en-US" b="1" dirty="0">
                <a:solidFill>
                  <a:srgbClr val="000000"/>
                </a:solidFill>
                <a:latin typeface="宋体" panose="02010600030101010101" pitchFamily="2" charset="-122"/>
              </a:rPr>
              <a:t>的输出和状态</a:t>
            </a:r>
            <a:r>
              <a:rPr lang="en-US" altLang="zh-CN" b="1" i="1" dirty="0">
                <a:solidFill>
                  <a:srgbClr val="000000"/>
                </a:solidFill>
                <a:latin typeface="Arial" panose="020B0604020202020204" pitchFamily="34" charset="0"/>
              </a:rPr>
              <a:t>s</a:t>
            </a:r>
            <a:r>
              <a:rPr lang="zh-CN" altLang="en-US" b="1" i="1" baseline="30000" dirty="0">
                <a:solidFill>
                  <a:srgbClr val="000000"/>
                </a:solidFill>
                <a:latin typeface="Arial" panose="020B0604020202020204" pitchFamily="34" charset="0"/>
              </a:rPr>
              <a:t>，</a:t>
            </a:r>
            <a:r>
              <a:rPr lang="zh-CN" altLang="en-US" b="1" dirty="0">
                <a:solidFill>
                  <a:srgbClr val="000000"/>
                </a:solidFill>
                <a:latin typeface="宋体" panose="02010600030101010101" pitchFamily="2" charset="-122"/>
              </a:rPr>
              <a:t>的输出合并到一起。对于上文中的例子，从图</a:t>
            </a:r>
            <a:r>
              <a:rPr lang="en-US" altLang="zh-CN" b="1" dirty="0">
                <a:solidFill>
                  <a:srgbClr val="000000"/>
                </a:solidFill>
                <a:latin typeface="Arial" panose="020B0604020202020204" pitchFamily="34" charset="0"/>
              </a:rPr>
              <a:t>1 a)</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我们求出</a:t>
            </a:r>
            <a:r>
              <a:rPr lang="en-US" altLang="zh-CN" b="1" dirty="0">
                <a:solidFill>
                  <a:srgbClr val="000000"/>
                </a:solidFill>
                <a:latin typeface="Arial" panose="020B0604020202020204" pitchFamily="34" charset="0"/>
              </a:rPr>
              <a:t>f(5) = 2</a:t>
            </a:r>
            <a:r>
              <a:rPr lang="zh-CN" altLang="en-US" b="1" dirty="0">
                <a:solidFill>
                  <a:srgbClr val="000000"/>
                </a:solidFill>
                <a:latin typeface="宋体" panose="02010600030101010101" pitchFamily="2" charset="-122"/>
              </a:rPr>
              <a:t>。这时，把状态</a:t>
            </a:r>
            <a:r>
              <a:rPr lang="en-US" altLang="zh-CN" b="1" dirty="0">
                <a:solidFill>
                  <a:srgbClr val="000000"/>
                </a:solidFill>
                <a:latin typeface="Arial" panose="020B0604020202020204" pitchFamily="34" charset="0"/>
              </a:rPr>
              <a:t>2</a:t>
            </a:r>
            <a:r>
              <a:rPr lang="zh-CN" altLang="en-US" b="1" dirty="0">
                <a:solidFill>
                  <a:srgbClr val="000000"/>
                </a:solidFill>
                <a:latin typeface="宋体" panose="02010600030101010101" pitchFamily="2" charset="-122"/>
              </a:rPr>
              <a:t>的输出集，也就是</a:t>
            </a:r>
            <a:r>
              <a:rPr lang="en-US" altLang="zh-CN"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he</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，增加到状态</a:t>
            </a:r>
            <a:r>
              <a:rPr lang="en-US" altLang="zh-CN" b="1" dirty="0">
                <a:solidFill>
                  <a:srgbClr val="000000"/>
                </a:solidFill>
                <a:latin typeface="宋体" panose="02010600030101010101" pitchFamily="2" charset="-122"/>
              </a:rPr>
              <a:t>5</a:t>
            </a:r>
            <a:r>
              <a:rPr lang="zh-CN" altLang="en-US" b="1" dirty="0">
                <a:solidFill>
                  <a:srgbClr val="000000"/>
                </a:solidFill>
                <a:latin typeface="宋体" panose="02010600030101010101" pitchFamily="2" charset="-122"/>
              </a:rPr>
              <a:t>的输出集中，这样就得到了新的输出集合</a:t>
            </a:r>
            <a:r>
              <a:rPr lang="en-US" altLang="zh-CN"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he</a:t>
            </a:r>
            <a:r>
              <a:rPr lang="en-US" altLang="zh-CN" b="1" dirty="0">
                <a:solidFill>
                  <a:srgbClr val="000000"/>
                </a:solidFill>
                <a:latin typeface="宋体" panose="02010600030101010101" pitchFamily="2" charset="-122"/>
              </a:rPr>
              <a:t>, </a:t>
            </a:r>
            <a:r>
              <a:rPr lang="en-US" altLang="zh-CN" b="1" dirty="0">
                <a:solidFill>
                  <a:srgbClr val="000000"/>
                </a:solidFill>
                <a:latin typeface="Arial" panose="020B0604020202020204" pitchFamily="34" charset="0"/>
              </a:rPr>
              <a:t>she</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。最终各状态的非空输出集如图</a:t>
            </a:r>
            <a:r>
              <a:rPr lang="en-US" altLang="zh-CN" b="1" dirty="0">
                <a:solidFill>
                  <a:srgbClr val="000000"/>
                </a:solidFill>
                <a:latin typeface="Arial" panose="020B0604020202020204" pitchFamily="34" charset="0"/>
              </a:rPr>
              <a:t>1 c)</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所示。</a:t>
            </a:r>
            <a:r>
              <a:rPr lang="zh-CN" altLang="en-US" sz="1800" dirty="0">
                <a:latin typeface="Arial" panose="020B0604020202020204" pitchFamily="34" charset="0"/>
              </a:rPr>
              <a:t> </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pic>
        <p:nvPicPr>
          <p:cNvPr id="2" name="Picture 5">
            <a:extLst>
              <a:ext uri="{FF2B5EF4-FFF2-40B4-BE49-F238E27FC236}">
                <a16:creationId xmlns:a16="http://schemas.microsoft.com/office/drawing/2014/main" id="{5EED35B8-11ED-6B79-7CBA-346D2A680E2C}"/>
              </a:ext>
            </a:extLst>
          </p:cNvPr>
          <p:cNvPicPr>
            <a:picLocks noChangeAspect="1"/>
          </p:cNvPicPr>
          <p:nvPr/>
        </p:nvPicPr>
        <p:blipFill>
          <a:blip r:embed="rId3"/>
          <a:stretch>
            <a:fillRect/>
          </a:stretch>
        </p:blipFill>
        <p:spPr>
          <a:xfrm>
            <a:off x="2483768" y="-633140"/>
            <a:ext cx="5545138" cy="2808288"/>
          </a:xfrm>
          <a:prstGeom prst="rect">
            <a:avLst/>
          </a:prstGeom>
          <a:noFill/>
          <a:ln w="9525">
            <a:noFill/>
          </a:ln>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82</a:t>
            </a:fld>
            <a:endParaRPr lang="en-US" altLang="zh-CN" sz="1400" dirty="0"/>
          </a:p>
        </p:txBody>
      </p:sp>
      <p:sp>
        <p:nvSpPr>
          <p:cNvPr id="166914" name="Rectangle 4"/>
          <p:cNvSpPr/>
          <p:nvPr/>
        </p:nvSpPr>
        <p:spPr>
          <a:xfrm>
            <a:off x="231775" y="264795"/>
            <a:ext cx="8771255" cy="6259830"/>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spcBef>
                <a:spcPct val="0"/>
              </a:spcBef>
              <a:buClrTx/>
            </a:pPr>
            <a:r>
              <a:rPr lang="zh-CN" altLang="en-US" sz="1800" b="1" dirty="0">
                <a:latin typeface="宋体" panose="02010600030101010101" pitchFamily="2" charset="-122"/>
              </a:rPr>
              <a:t>算法</a:t>
            </a:r>
            <a:r>
              <a:rPr lang="en-US" altLang="zh-CN" sz="1800" b="1" dirty="0">
                <a:latin typeface="宋体" panose="02010600030101010101" pitchFamily="2" charset="-122"/>
              </a:rPr>
              <a:t>2</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建立</a:t>
            </a:r>
            <a:r>
              <a:rPr lang="zh-CN" altLang="en-US" sz="1800" dirty="0">
                <a:latin typeface="Times New Roman" panose="02020603050405020304" charset="0"/>
                <a:ea typeface="楷体_GB2312" pitchFamily="49" charset="-122"/>
              </a:rPr>
              <a:t>失效函数</a:t>
            </a:r>
            <a:r>
              <a:rPr lang="en-US" altLang="zh-CN" sz="1800" i="1" dirty="0">
                <a:latin typeface="Times New Roman" panose="02020603050405020304" charset="0"/>
              </a:rPr>
              <a:t>f</a:t>
            </a:r>
            <a:r>
              <a:rPr lang="zh-CN" altLang="en-US" sz="1800" dirty="0">
                <a:latin typeface="宋体" panose="02010600030101010101" pitchFamily="2" charset="-122"/>
              </a:rPr>
              <a:t>。</a:t>
            </a:r>
          </a:p>
          <a:p>
            <a:pPr>
              <a:spcBef>
                <a:spcPct val="0"/>
              </a:spcBef>
              <a:buClrTx/>
            </a:pPr>
            <a:r>
              <a:rPr lang="zh-CN" altLang="en-US" sz="1800" b="1" dirty="0">
                <a:latin typeface="宋体" panose="02010600030101010101" pitchFamily="2" charset="-122"/>
              </a:rPr>
              <a:t>输入</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转向函数</a:t>
            </a:r>
            <a:r>
              <a:rPr lang="en-US" altLang="zh-CN" sz="1800" i="1" dirty="0">
                <a:latin typeface="Times New Roman" panose="02020603050405020304" charset="0"/>
                <a:ea typeface="楷体_GB2312" pitchFamily="49" charset="-122"/>
              </a:rPr>
              <a:t>g</a:t>
            </a:r>
            <a:r>
              <a:rPr lang="zh-CN" altLang="en-US" sz="1800" dirty="0">
                <a:latin typeface="楷体_GB2312" pitchFamily="49" charset="-122"/>
                <a:ea typeface="楷体_GB2312" pitchFamily="49" charset="-122"/>
              </a:rPr>
              <a:t>和部分的输出函数</a:t>
            </a:r>
            <a:r>
              <a:rPr lang="en-US" altLang="zh-CN" sz="1800" i="1" dirty="0">
                <a:latin typeface="Times New Roman" panose="02020603050405020304" charset="0"/>
                <a:ea typeface="楷体_GB2312" pitchFamily="49" charset="-122"/>
              </a:rPr>
              <a:t>output</a:t>
            </a:r>
            <a:r>
              <a:rPr lang="zh-CN" altLang="en-US" sz="1800" dirty="0">
                <a:latin typeface="宋体" panose="02010600030101010101" pitchFamily="2" charset="-122"/>
              </a:rPr>
              <a:t>。</a:t>
            </a:r>
          </a:p>
          <a:p>
            <a:pPr algn="just">
              <a:spcBef>
                <a:spcPct val="0"/>
              </a:spcBef>
              <a:buClrTx/>
            </a:pPr>
            <a:r>
              <a:rPr lang="zh-CN" altLang="en-US" sz="1800" b="1" dirty="0">
                <a:latin typeface="宋体" panose="02010600030101010101" pitchFamily="2" charset="-122"/>
              </a:rPr>
              <a:t>输出</a:t>
            </a:r>
            <a:r>
              <a:rPr lang="zh-CN" altLang="en-US" sz="1800" dirty="0">
                <a:latin typeface="宋体" panose="02010600030101010101" pitchFamily="2" charset="-122"/>
              </a:rPr>
              <a:t>：</a:t>
            </a:r>
            <a:r>
              <a:rPr lang="zh-CN" altLang="en-US" sz="1800" dirty="0">
                <a:latin typeface="Times New Roman" panose="02020603050405020304" charset="0"/>
                <a:ea typeface="楷体_GB2312" pitchFamily="49" charset="-122"/>
              </a:rPr>
              <a:t>失效函数</a:t>
            </a:r>
            <a:r>
              <a:rPr lang="en-US" altLang="zh-CN" sz="1800" i="1" dirty="0">
                <a:latin typeface="Times New Roman" panose="02020603050405020304" charset="0"/>
              </a:rPr>
              <a:t>f</a:t>
            </a:r>
            <a:r>
              <a:rPr lang="zh-CN" altLang="en-US" sz="1800" dirty="0">
                <a:latin typeface="Times New Roman" panose="02020603050405020304" charset="0"/>
                <a:ea typeface="楷体_GB2312" pitchFamily="49" charset="-122"/>
              </a:rPr>
              <a:t>和完整</a:t>
            </a:r>
            <a:r>
              <a:rPr lang="zh-CN" altLang="en-US" sz="1800" dirty="0">
                <a:latin typeface="Times New Roman" panose="02020603050405020304" charset="0"/>
              </a:rPr>
              <a:t>的</a:t>
            </a:r>
            <a:r>
              <a:rPr lang="zh-CN" altLang="en-US" sz="1800" dirty="0">
                <a:latin typeface="楷体_GB2312" pitchFamily="49" charset="-122"/>
                <a:ea typeface="楷体_GB2312" pitchFamily="49" charset="-122"/>
              </a:rPr>
              <a:t>输出函数</a:t>
            </a:r>
            <a:r>
              <a:rPr lang="en-US" altLang="zh-CN" sz="1800" i="1" dirty="0">
                <a:latin typeface="Times New Roman" panose="02020603050405020304" charset="0"/>
                <a:ea typeface="楷体_GB2312" pitchFamily="49" charset="-122"/>
              </a:rPr>
              <a:t>output</a:t>
            </a:r>
            <a:r>
              <a:rPr lang="zh-CN" altLang="en-US" sz="1800" dirty="0">
                <a:latin typeface="宋体" panose="02010600030101010101" pitchFamily="2" charset="-122"/>
              </a:rPr>
              <a:t>。</a:t>
            </a:r>
          </a:p>
          <a:p>
            <a:pPr>
              <a:spcBef>
                <a:spcPct val="0"/>
              </a:spcBef>
              <a:buClrTx/>
            </a:pPr>
            <a:r>
              <a:rPr lang="zh-CN" altLang="en-US" sz="1800" b="1" dirty="0">
                <a:latin typeface="Arial" panose="020B0604020202020204" pitchFamily="34" charset="0"/>
              </a:rPr>
              <a:t>方法</a:t>
            </a:r>
            <a:r>
              <a:rPr lang="en-US" altLang="zh-CN" sz="1800" b="1" dirty="0">
                <a:latin typeface="Arial" panose="020B0604020202020204" pitchFamily="34" charset="0"/>
              </a:rPr>
              <a:t>:</a:t>
            </a:r>
          </a:p>
          <a:p>
            <a:pPr>
              <a:spcBef>
                <a:spcPct val="0"/>
              </a:spcBef>
              <a:buClrTx/>
            </a:pPr>
            <a:endParaRPr lang="en-US" altLang="zh-CN" sz="1800" dirty="0">
              <a:latin typeface="Arial" panose="020B0604020202020204" pitchFamily="34" charset="0"/>
            </a:endParaRPr>
          </a:p>
        </p:txBody>
      </p:sp>
      <p:pic>
        <p:nvPicPr>
          <p:cNvPr id="166915" name="Picture 5"/>
          <p:cNvPicPr>
            <a:picLocks noChangeAspect="1"/>
          </p:cNvPicPr>
          <p:nvPr/>
        </p:nvPicPr>
        <p:blipFill>
          <a:blip r:embed="rId3"/>
          <a:stretch>
            <a:fillRect/>
          </a:stretch>
        </p:blipFill>
        <p:spPr>
          <a:xfrm>
            <a:off x="1979613" y="1557338"/>
            <a:ext cx="4321175" cy="4895850"/>
          </a:xfrm>
          <a:prstGeom prst="rect">
            <a:avLst/>
          </a:prstGeom>
          <a:noFill/>
          <a:ln w="9525">
            <a:noFill/>
          </a:ln>
        </p:spPr>
      </p:pic>
      <p:sp>
        <p:nvSpPr>
          <p:cNvPr id="166916" name="Text Box 6"/>
          <p:cNvSpPr txBox="1"/>
          <p:nvPr/>
        </p:nvSpPr>
        <p:spPr>
          <a:xfrm>
            <a:off x="2484438" y="6518275"/>
            <a:ext cx="5113337" cy="366713"/>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3  </a:t>
            </a:r>
            <a:r>
              <a:rPr lang="zh-CN" altLang="en-US" sz="1800" dirty="0">
                <a:solidFill>
                  <a:srgbClr val="000000"/>
                </a:solidFill>
                <a:latin typeface="Arial" panose="020B0604020202020204" pitchFamily="34" charset="0"/>
              </a:rPr>
              <a:t>建立失效函数</a:t>
            </a:r>
            <a:r>
              <a:rPr lang="en-US" altLang="zh-CN" sz="1800" i="1" dirty="0">
                <a:solidFill>
                  <a:srgbClr val="000000"/>
                </a:solidFill>
                <a:latin typeface="Arial" panose="020B0604020202020204" pitchFamily="34" charset="0"/>
              </a:rPr>
              <a:t>f</a:t>
            </a:r>
            <a:r>
              <a:rPr lang="zh-CN" altLang="en-US" sz="1800" dirty="0">
                <a:solidFill>
                  <a:srgbClr val="000000"/>
                </a:solidFill>
                <a:latin typeface="Arial" panose="020B0604020202020204" pitchFamily="34" charset="0"/>
              </a:rPr>
              <a:t>的伪代码</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83</a:t>
            </a:fld>
            <a:endParaRPr lang="en-US" altLang="zh-CN" sz="1400" dirty="0"/>
          </a:p>
        </p:txBody>
      </p:sp>
      <p:sp>
        <p:nvSpPr>
          <p:cNvPr id="168962" name="Text Box 5"/>
          <p:cNvSpPr txBox="1"/>
          <p:nvPr/>
        </p:nvSpPr>
        <p:spPr>
          <a:xfrm>
            <a:off x="323850" y="1051878"/>
            <a:ext cx="8496300" cy="4327525"/>
          </a:xfrm>
          <a:prstGeom prst="rect">
            <a:avLst/>
          </a:prstGeom>
          <a:noFill/>
          <a:ln w="9525">
            <a:noFill/>
          </a:ln>
        </p:spPr>
        <p:txBody>
          <a:bodyPr>
            <a:spAutoFit/>
          </a:bodyPr>
          <a:lstStyle/>
          <a:p>
            <a:pPr>
              <a:spcBef>
                <a:spcPct val="20000"/>
              </a:spcBef>
              <a:buClrTx/>
            </a:pPr>
            <a:r>
              <a:rPr lang="en-US" altLang="zh-CN" dirty="0">
                <a:solidFill>
                  <a:srgbClr val="000000"/>
                </a:solidFill>
                <a:latin typeface="宋体" panose="02010600030101010101" pitchFamily="2" charset="-122"/>
              </a:rPr>
              <a:t> 4. </a:t>
            </a:r>
            <a:r>
              <a:rPr lang="zh-CN" altLang="en-US" b="1" dirty="0">
                <a:solidFill>
                  <a:srgbClr val="000000"/>
                </a:solidFill>
                <a:latin typeface="宋体" panose="02010600030101010101" pitchFamily="2" charset="-122"/>
              </a:rPr>
              <a:t>转向函数的构建 </a:t>
            </a:r>
          </a:p>
          <a:p>
            <a:pPr>
              <a:spcBef>
                <a:spcPct val="20000"/>
              </a:spcBef>
              <a:buClrTx/>
            </a:pPr>
            <a:r>
              <a:rPr lang="zh-CN" altLang="en-US" b="1" dirty="0">
                <a:solidFill>
                  <a:srgbClr val="000000"/>
                </a:solidFill>
                <a:latin typeface="宋体" panose="02010600030101010101" pitchFamily="2" charset="-122"/>
              </a:rPr>
              <a:t>    图</a:t>
            </a: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中树型自动机的状态有</a:t>
            </a:r>
            <a:r>
              <a:rPr lang="en-US" altLang="zh-CN" b="1" dirty="0">
                <a:solidFill>
                  <a:srgbClr val="000000"/>
                </a:solidFill>
                <a:latin typeface="Arial" panose="020B0604020202020204" pitchFamily="34" charset="0"/>
              </a:rPr>
              <a:t>0</a:t>
            </a:r>
            <a:r>
              <a:rPr lang="en-US" altLang="zh-CN" b="1" dirty="0">
                <a:solidFill>
                  <a:srgbClr val="000000"/>
                </a:solidFill>
                <a:latin typeface="宋体" panose="02010600030101010101" pitchFamily="2" charset="-122"/>
              </a:rPr>
              <a:t>, </a:t>
            </a:r>
            <a:r>
              <a:rPr lang="en-US" altLang="zh-CN" b="1" dirty="0">
                <a:solidFill>
                  <a:srgbClr val="000000"/>
                </a:solidFill>
                <a:latin typeface="Arial" panose="020B0604020202020204" pitchFamily="34" charset="0"/>
              </a:rPr>
              <a:t>1</a:t>
            </a:r>
            <a:r>
              <a:rPr lang="en-US" altLang="zh-CN" b="1" dirty="0">
                <a:solidFill>
                  <a:srgbClr val="000000"/>
                </a:solidFill>
                <a:latin typeface="宋体" panose="02010600030101010101" pitchFamily="2" charset="-122"/>
              </a:rPr>
              <a:t>, </a:t>
            </a:r>
            <a:r>
              <a:rPr lang="en-US" altLang="zh-CN" b="1" dirty="0">
                <a:solidFill>
                  <a:srgbClr val="000000"/>
                </a:solidFill>
                <a:latin typeface="Arial" panose="020B0604020202020204" pitchFamily="34" charset="0"/>
              </a:rPr>
              <a:t>…</a:t>
            </a:r>
            <a:r>
              <a:rPr lang="en-US" altLang="zh-CN" b="1" dirty="0">
                <a:solidFill>
                  <a:srgbClr val="000000"/>
                </a:solidFill>
                <a:latin typeface="宋体" panose="02010600030101010101" pitchFamily="2" charset="-122"/>
              </a:rPr>
              <a:t>,</a:t>
            </a:r>
            <a:r>
              <a:rPr lang="en-US" altLang="zh-CN" b="1" dirty="0">
                <a:solidFill>
                  <a:srgbClr val="000000"/>
                </a:solidFill>
                <a:latin typeface="Arial" panose="020B0604020202020204" pitchFamily="34" charset="0"/>
              </a:rPr>
              <a:t> 9</a:t>
            </a:r>
            <a:r>
              <a:rPr lang="zh-CN" altLang="en-US" b="1" dirty="0">
                <a:solidFill>
                  <a:srgbClr val="000000"/>
                </a:solidFill>
                <a:latin typeface="宋体" panose="02010600030101010101" pitchFamily="2" charset="-122"/>
              </a:rPr>
              <a:t>。某个状态（通常是</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状态）被指定为起始状态。</a:t>
            </a:r>
          </a:p>
          <a:p>
            <a:pPr>
              <a:spcBef>
                <a:spcPct val="20000"/>
              </a:spcBef>
              <a:buClrTx/>
            </a:pPr>
            <a:r>
              <a:rPr lang="zh-CN" altLang="en-US" b="1" dirty="0">
                <a:solidFill>
                  <a:srgbClr val="000000"/>
                </a:solidFill>
                <a:latin typeface="宋体" panose="02010600030101010101" pitchFamily="2" charset="-122"/>
              </a:rPr>
              <a:t>    转向函数把一个由状态和输入字符组成的二元组映射成另一个状态或者一条失败消息。</a:t>
            </a:r>
          </a:p>
          <a:p>
            <a:pPr>
              <a:spcBef>
                <a:spcPct val="20000"/>
              </a:spcBef>
              <a:buClrTx/>
            </a:pPr>
            <a:r>
              <a:rPr lang="zh-CN" altLang="en-US" b="1" dirty="0">
                <a:solidFill>
                  <a:srgbClr val="000000"/>
                </a:solidFill>
                <a:latin typeface="宋体" panose="02010600030101010101" pitchFamily="2" charset="-122"/>
              </a:rPr>
              <a:t>    图</a:t>
            </a:r>
            <a:r>
              <a:rPr lang="en-US" altLang="zh-CN" b="1" dirty="0">
                <a:solidFill>
                  <a:srgbClr val="000000"/>
                </a:solidFill>
                <a:latin typeface="Arial" panose="020B0604020202020204" pitchFamily="34" charset="0"/>
              </a:rPr>
              <a:t>1 a)</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的状态图代表转向函数</a:t>
            </a:r>
            <a:r>
              <a:rPr lang="en-US" altLang="zh-CN" b="1" dirty="0">
                <a:solidFill>
                  <a:srgbClr val="000000"/>
                </a:solidFill>
                <a:latin typeface="宋体" panose="02010600030101010101" pitchFamily="2" charset="-122"/>
              </a:rPr>
              <a:t>g</a:t>
            </a:r>
            <a:r>
              <a:rPr lang="zh-CN" altLang="en-US" b="1" dirty="0">
                <a:solidFill>
                  <a:srgbClr val="000000"/>
                </a:solidFill>
                <a:latin typeface="宋体" panose="02010600030101010101" pitchFamily="2" charset="-122"/>
              </a:rPr>
              <a:t>。比如</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从</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到</a:t>
            </a:r>
            <a:r>
              <a:rPr lang="en-US" altLang="zh-CN" b="1" dirty="0">
                <a:solidFill>
                  <a:srgbClr val="000000"/>
                </a:solidFill>
                <a:latin typeface="Arial" panose="020B0604020202020204" pitchFamily="34" charset="0"/>
              </a:rPr>
              <a:t>1</a:t>
            </a:r>
            <a:r>
              <a:rPr lang="zh-CN" altLang="en-US" b="1" dirty="0">
                <a:solidFill>
                  <a:srgbClr val="000000"/>
                </a:solidFill>
                <a:latin typeface="宋体" panose="02010600030101010101" pitchFamily="2" charset="-122"/>
              </a:rPr>
              <a:t>标记着</a:t>
            </a:r>
            <a:r>
              <a:rPr lang="en-US" altLang="zh-CN" b="1" dirty="0">
                <a:solidFill>
                  <a:srgbClr val="000000"/>
                </a:solidFill>
                <a:latin typeface="Arial" panose="020B0604020202020204" pitchFamily="34" charset="0"/>
              </a:rPr>
              <a:t>h</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的边表示</a:t>
            </a:r>
            <a:r>
              <a:rPr lang="en-US" altLang="zh-CN" b="1" dirty="0">
                <a:solidFill>
                  <a:srgbClr val="000000"/>
                </a:solidFill>
                <a:latin typeface="Arial" panose="020B0604020202020204" pitchFamily="34" charset="0"/>
              </a:rPr>
              <a:t>g(0, h) = 1</a:t>
            </a:r>
            <a:r>
              <a:rPr lang="zh-CN" altLang="en-US" b="1" dirty="0">
                <a:solidFill>
                  <a:srgbClr val="000000"/>
                </a:solidFill>
                <a:latin typeface="宋体" panose="02010600030101010101" pitchFamily="2" charset="-122"/>
              </a:rPr>
              <a:t>，如果缺省箭头则表示失败。可见，对除</a:t>
            </a:r>
            <a:r>
              <a:rPr lang="en-US" altLang="zh-CN" b="1" dirty="0">
                <a:solidFill>
                  <a:srgbClr val="000000"/>
                </a:solidFill>
                <a:latin typeface="Arial" panose="020B0604020202020204" pitchFamily="34" charset="0"/>
              </a:rPr>
              <a:t>e</a:t>
            </a:r>
            <a:r>
              <a:rPr lang="zh-CN" altLang="en-US" b="1" dirty="0">
                <a:solidFill>
                  <a:srgbClr val="000000"/>
                </a:solidFill>
                <a:latin typeface="宋体" panose="02010600030101010101" pitchFamily="2" charset="-122"/>
              </a:rPr>
              <a:t>和</a:t>
            </a:r>
            <a:r>
              <a:rPr lang="en-US" altLang="zh-CN" b="1" dirty="0">
                <a:solidFill>
                  <a:srgbClr val="000000"/>
                </a:solidFill>
                <a:latin typeface="Arial" panose="020B0604020202020204" pitchFamily="34" charset="0"/>
              </a:rPr>
              <a:t>i</a:t>
            </a:r>
            <a:r>
              <a:rPr lang="zh-CN" altLang="en-US" b="1" dirty="0">
                <a:solidFill>
                  <a:srgbClr val="000000"/>
                </a:solidFill>
                <a:latin typeface="宋体" panose="02010600030101010101" pitchFamily="2" charset="-122"/>
              </a:rPr>
              <a:t>之外的其他输入字符，都有</a:t>
            </a:r>
            <a:r>
              <a:rPr lang="en-US" altLang="zh-CN" b="1" dirty="0">
                <a:solidFill>
                  <a:srgbClr val="000000"/>
                </a:solidFill>
                <a:latin typeface="Arial" panose="020B0604020202020204" pitchFamily="34" charset="0"/>
              </a:rPr>
              <a:t>g(1, h) = fail</a:t>
            </a:r>
            <a:r>
              <a:rPr lang="zh-CN" altLang="en-US" b="1" dirty="0">
                <a:solidFill>
                  <a:srgbClr val="000000"/>
                </a:solidFill>
                <a:latin typeface="宋体" panose="02010600030101010101" pitchFamily="2" charset="-122"/>
              </a:rPr>
              <a:t>。所有的树型有限自动机都有一个共同的特点，即对任何输入字符</a:t>
            </a:r>
            <a:r>
              <a:rPr lang="en-US" altLang="zh-CN" b="1" dirty="0">
                <a:solidFill>
                  <a:srgbClr val="000000"/>
                </a:solidFill>
                <a:latin typeface="Arial" panose="020B0604020202020204" pitchFamily="34" charset="0"/>
              </a:rPr>
              <a:t>a</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都有</a:t>
            </a:r>
            <a:r>
              <a:rPr lang="en-US" altLang="zh-CN" b="1" dirty="0">
                <a:solidFill>
                  <a:srgbClr val="000000"/>
                </a:solidFill>
                <a:latin typeface="Arial" panose="020B0604020202020204" pitchFamily="34" charset="0"/>
              </a:rPr>
              <a:t>g(0, a) != fail</a:t>
            </a:r>
            <a:r>
              <a:rPr lang="zh-CN" altLang="en-US" b="1" dirty="0">
                <a:solidFill>
                  <a:srgbClr val="000000"/>
                </a:solidFill>
                <a:latin typeface="宋体" panose="02010600030101010101" pitchFamily="2" charset="-122"/>
              </a:rPr>
              <a:t>。我们将看到，转向函数在</a:t>
            </a:r>
            <a:r>
              <a:rPr lang="en-US" altLang="zh-CN" b="1" dirty="0">
                <a:solidFill>
                  <a:srgbClr val="000000"/>
                </a:solidFill>
                <a:latin typeface="Arial" panose="020B0604020202020204" pitchFamily="34" charset="0"/>
              </a:rPr>
              <a:t>0</a:t>
            </a:r>
            <a:r>
              <a:rPr lang="zh-CN" altLang="en-US" b="1" dirty="0">
                <a:solidFill>
                  <a:srgbClr val="000000"/>
                </a:solidFill>
                <a:latin typeface="宋体" panose="02010600030101010101" pitchFamily="2" charset="-122"/>
              </a:rPr>
              <a:t>状态上的这种性质确保每个输入字符都可以在状态机的一个操作循环内被处理。</a:t>
            </a:r>
            <a:r>
              <a:rPr lang="zh-CN" altLang="en-US" dirty="0">
                <a:solidFill>
                  <a:srgbClr val="000000"/>
                </a:solidFill>
                <a:latin typeface="宋体" panose="02010600030101010101" pitchFamily="2" charset="-122"/>
              </a:rPr>
              <a:t>    </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84</a:t>
            </a:fld>
            <a:endParaRPr lang="en-US" altLang="zh-CN" sz="1400" dirty="0"/>
          </a:p>
        </p:txBody>
      </p:sp>
      <p:sp>
        <p:nvSpPr>
          <p:cNvPr id="171010" name="Text Box 4"/>
          <p:cNvSpPr txBox="1"/>
          <p:nvPr/>
        </p:nvSpPr>
        <p:spPr>
          <a:xfrm>
            <a:off x="250825" y="908685"/>
            <a:ext cx="8424863" cy="1187450"/>
          </a:xfrm>
          <a:prstGeom prst="rect">
            <a:avLst/>
          </a:prstGeom>
          <a:noFill/>
          <a:ln w="9525">
            <a:noFill/>
          </a:ln>
        </p:spPr>
        <p:txBody>
          <a:bodyPr>
            <a:spAutoFit/>
          </a:bodyPr>
          <a:lstStyle/>
          <a:p>
            <a:pPr>
              <a:spcBef>
                <a:spcPct val="0"/>
              </a:spcBef>
              <a:buClrTx/>
            </a:pPr>
            <a:r>
              <a:rPr lang="zh-CN" altLang="en-US" b="1" dirty="0">
                <a:solidFill>
                  <a:srgbClr val="000000"/>
                </a:solidFill>
                <a:latin typeface="宋体" panose="02010600030101010101" pitchFamily="2" charset="-122"/>
              </a:rPr>
              <a:t>举个例子，记树型有限自动机为状态机</a:t>
            </a:r>
            <a:r>
              <a:rPr lang="en-US" altLang="zh-CN" b="1" i="1" dirty="0">
                <a:solidFill>
                  <a:srgbClr val="000000"/>
                </a:solidFill>
                <a:latin typeface="宋体" panose="02010600030101010101" pitchFamily="2" charset="-122"/>
              </a:rPr>
              <a:t>M</a:t>
            </a:r>
            <a:r>
              <a:rPr lang="zh-CN" altLang="en-US" b="1" dirty="0">
                <a:solidFill>
                  <a:srgbClr val="000000"/>
                </a:solidFill>
                <a:latin typeface="宋体" panose="02010600030101010101" pitchFamily="2" charset="-122"/>
              </a:rPr>
              <a:t>。状态机</a:t>
            </a:r>
            <a:r>
              <a:rPr lang="en-US" altLang="zh-CN" b="1" i="1" dirty="0">
                <a:solidFill>
                  <a:srgbClr val="000000"/>
                </a:solidFill>
                <a:latin typeface="宋体" panose="02010600030101010101" pitchFamily="2" charset="-122"/>
              </a:rPr>
              <a:t>M</a:t>
            </a:r>
            <a:r>
              <a:rPr lang="zh-CN" altLang="en-US" b="1" dirty="0">
                <a:solidFill>
                  <a:srgbClr val="000000"/>
                </a:solidFill>
                <a:latin typeface="宋体" panose="02010600030101010101" pitchFamily="2" charset="-122"/>
              </a:rPr>
              <a:t>利用图</a:t>
            </a: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的函数去处理输入文本“</a:t>
            </a:r>
            <a:r>
              <a:rPr lang="en-US" altLang="zh-CN" b="1" i="1" dirty="0">
                <a:solidFill>
                  <a:srgbClr val="000000"/>
                </a:solidFill>
                <a:latin typeface="宋体" panose="02010600030101010101" pitchFamily="2" charset="-122"/>
              </a:rPr>
              <a:t>ushers</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，图</a:t>
            </a:r>
            <a:r>
              <a:rPr lang="en-US" altLang="zh-CN" b="1" dirty="0">
                <a:solidFill>
                  <a:srgbClr val="000000"/>
                </a:solidFill>
                <a:latin typeface="宋体" panose="02010600030101010101" pitchFamily="2" charset="-122"/>
              </a:rPr>
              <a:t>4</a:t>
            </a:r>
            <a:r>
              <a:rPr lang="zh-CN" altLang="en-US" b="1" dirty="0">
                <a:solidFill>
                  <a:srgbClr val="000000"/>
                </a:solidFill>
                <a:latin typeface="宋体" panose="02010600030101010101" pitchFamily="2" charset="-122"/>
              </a:rPr>
              <a:t>显示了</a:t>
            </a:r>
            <a:r>
              <a:rPr lang="en-US" altLang="zh-CN" b="1" i="1" dirty="0">
                <a:solidFill>
                  <a:srgbClr val="000000"/>
                </a:solidFill>
                <a:latin typeface="宋体" panose="02010600030101010101" pitchFamily="2" charset="-122"/>
              </a:rPr>
              <a:t>M</a:t>
            </a:r>
            <a:r>
              <a:rPr lang="zh-CN" altLang="en-US" b="1" dirty="0">
                <a:solidFill>
                  <a:srgbClr val="000000"/>
                </a:solidFill>
                <a:latin typeface="宋体" panose="02010600030101010101" pitchFamily="2" charset="-122"/>
              </a:rPr>
              <a:t>在处理文本串时产生的状态转移情况。</a:t>
            </a:r>
            <a:endParaRPr lang="zh-CN" altLang="en-US" sz="1800" b="1" dirty="0">
              <a:latin typeface="Arial" panose="020B0604020202020204" pitchFamily="34" charset="0"/>
            </a:endParaRPr>
          </a:p>
        </p:txBody>
      </p:sp>
      <p:sp>
        <p:nvSpPr>
          <p:cNvPr id="171011" name="Text Box 5"/>
          <p:cNvSpPr txBox="1"/>
          <p:nvPr/>
        </p:nvSpPr>
        <p:spPr>
          <a:xfrm>
            <a:off x="395288" y="3644900"/>
            <a:ext cx="8424862" cy="3013075"/>
          </a:xfrm>
          <a:prstGeom prst="rect">
            <a:avLst/>
          </a:prstGeom>
          <a:noFill/>
          <a:ln w="9525">
            <a:noFill/>
          </a:ln>
        </p:spPr>
        <p:txBody>
          <a:bodyPr>
            <a:spAutoFit/>
          </a:bodyPr>
          <a:lstStyle/>
          <a:p>
            <a:pPr>
              <a:spcBef>
                <a:spcPct val="0"/>
              </a:spcBef>
              <a:buClrTx/>
            </a:pPr>
            <a:r>
              <a:rPr lang="zh-CN" altLang="en-US" b="1" dirty="0">
                <a:solidFill>
                  <a:srgbClr val="000000"/>
                </a:solidFill>
                <a:latin typeface="Arial" panose="020B0604020202020204" pitchFamily="34" charset="0"/>
              </a:rPr>
              <a:t>考虑</a:t>
            </a:r>
            <a:r>
              <a:rPr lang="en-US" altLang="zh-CN" b="1" dirty="0">
                <a:solidFill>
                  <a:srgbClr val="000000"/>
                </a:solidFill>
                <a:latin typeface="Arial" panose="020B0604020202020204" pitchFamily="34" charset="0"/>
              </a:rPr>
              <a:t>M</a:t>
            </a:r>
            <a:r>
              <a:rPr lang="zh-CN" altLang="en-US" b="1" dirty="0">
                <a:solidFill>
                  <a:srgbClr val="000000"/>
                </a:solidFill>
                <a:latin typeface="Arial" panose="020B0604020202020204" pitchFamily="34" charset="0"/>
              </a:rPr>
              <a:t>在状态</a:t>
            </a:r>
            <a:r>
              <a:rPr lang="en-US" altLang="zh-CN" b="1" dirty="0">
                <a:solidFill>
                  <a:srgbClr val="000000"/>
                </a:solidFill>
                <a:latin typeface="Arial" panose="020B0604020202020204" pitchFamily="34" charset="0"/>
              </a:rPr>
              <a:t>4</a:t>
            </a:r>
            <a:r>
              <a:rPr lang="zh-CN" altLang="en-US" b="1" dirty="0">
                <a:solidFill>
                  <a:srgbClr val="000000"/>
                </a:solidFill>
                <a:latin typeface="Arial" panose="020B0604020202020204" pitchFamily="34" charset="0"/>
              </a:rPr>
              <a:t>，且当前输入字符为</a:t>
            </a:r>
            <a:r>
              <a:rPr lang="en-US" altLang="zh-CN" b="1" dirty="0">
                <a:solidFill>
                  <a:srgbClr val="000000"/>
                </a:solidFill>
                <a:latin typeface="Arial" panose="020B0604020202020204" pitchFamily="34" charset="0"/>
              </a:rPr>
              <a:t>e</a:t>
            </a:r>
            <a:r>
              <a:rPr lang="zh-CN" altLang="en-US" b="1" dirty="0">
                <a:solidFill>
                  <a:srgbClr val="000000"/>
                </a:solidFill>
                <a:latin typeface="Arial" panose="020B0604020202020204" pitchFamily="34" charset="0"/>
              </a:rPr>
              <a:t>时的操作循环。由于</a:t>
            </a:r>
            <a:r>
              <a:rPr lang="en-US" altLang="zh-CN" b="1" dirty="0">
                <a:solidFill>
                  <a:srgbClr val="000000"/>
                </a:solidFill>
                <a:latin typeface="Arial" panose="020B0604020202020204" pitchFamily="34" charset="0"/>
              </a:rPr>
              <a:t>g(4, e) = 5</a:t>
            </a:r>
            <a:r>
              <a:rPr lang="zh-CN" altLang="en-US" b="1" dirty="0">
                <a:solidFill>
                  <a:srgbClr val="000000"/>
                </a:solidFill>
                <a:latin typeface="Arial" panose="020B0604020202020204" pitchFamily="34" charset="0"/>
              </a:rPr>
              <a:t>，状态机进入状态</a:t>
            </a:r>
            <a:r>
              <a:rPr lang="en-US" altLang="zh-CN" b="1" dirty="0">
                <a:solidFill>
                  <a:srgbClr val="000000"/>
                </a:solidFill>
                <a:latin typeface="Arial" panose="020B0604020202020204" pitchFamily="34" charset="0"/>
              </a:rPr>
              <a:t>5</a:t>
            </a:r>
            <a:r>
              <a:rPr lang="zh-CN" altLang="en-US" b="1" dirty="0">
                <a:solidFill>
                  <a:srgbClr val="000000"/>
                </a:solidFill>
                <a:latin typeface="Arial" panose="020B0604020202020204" pitchFamily="34" charset="0"/>
              </a:rPr>
              <a:t>，文本指针将前进到下一个输入字符，并且输出</a:t>
            </a:r>
            <a:r>
              <a:rPr lang="en-US" altLang="zh-CN" b="1" dirty="0">
                <a:solidFill>
                  <a:srgbClr val="000000"/>
                </a:solidFill>
                <a:latin typeface="Arial" panose="020B0604020202020204" pitchFamily="34" charset="0"/>
              </a:rPr>
              <a:t>output(5)</a:t>
            </a:r>
            <a:r>
              <a:rPr lang="zh-CN" altLang="en-US" b="1" dirty="0">
                <a:solidFill>
                  <a:srgbClr val="000000"/>
                </a:solidFill>
                <a:latin typeface="Arial" panose="020B0604020202020204" pitchFamily="34" charset="0"/>
              </a:rPr>
              <a:t>。这个输出表明状态机已经发现输入文本的第四个位置是“</a:t>
            </a:r>
            <a:r>
              <a:rPr lang="en-US" altLang="zh-CN" b="1" dirty="0">
                <a:solidFill>
                  <a:srgbClr val="000000"/>
                </a:solidFill>
                <a:latin typeface="Arial" panose="020B0604020202020204" pitchFamily="34" charset="0"/>
              </a:rPr>
              <a:t>she”</a:t>
            </a:r>
            <a:r>
              <a:rPr lang="zh-CN" altLang="en-US" b="1" dirty="0">
                <a:solidFill>
                  <a:srgbClr val="000000"/>
                </a:solidFill>
                <a:latin typeface="Arial" panose="020B0604020202020204" pitchFamily="34" charset="0"/>
              </a:rPr>
              <a:t>和“</a:t>
            </a:r>
            <a:r>
              <a:rPr lang="en-US" altLang="zh-CN" b="1" dirty="0">
                <a:solidFill>
                  <a:srgbClr val="000000"/>
                </a:solidFill>
                <a:latin typeface="Arial" panose="020B0604020202020204" pitchFamily="34" charset="0"/>
              </a:rPr>
              <a:t>he”</a:t>
            </a:r>
            <a:r>
              <a:rPr lang="zh-CN" altLang="en-US" b="1" dirty="0">
                <a:solidFill>
                  <a:srgbClr val="000000"/>
                </a:solidFill>
                <a:latin typeface="Arial" panose="020B0604020202020204" pitchFamily="34" charset="0"/>
              </a:rPr>
              <a:t>出现的结束位置。在状态</a:t>
            </a:r>
            <a:r>
              <a:rPr lang="en-US" altLang="zh-CN" b="1" dirty="0">
                <a:solidFill>
                  <a:srgbClr val="000000"/>
                </a:solidFill>
                <a:latin typeface="Arial" panose="020B0604020202020204" pitchFamily="34" charset="0"/>
              </a:rPr>
              <a:t>5</a:t>
            </a:r>
            <a:r>
              <a:rPr lang="zh-CN" altLang="en-US" b="1" dirty="0">
                <a:solidFill>
                  <a:srgbClr val="000000"/>
                </a:solidFill>
                <a:latin typeface="Arial" panose="020B0604020202020204" pitchFamily="34" charset="0"/>
              </a:rPr>
              <a:t>上输入字符</a:t>
            </a:r>
            <a:r>
              <a:rPr lang="en-US" altLang="zh-CN" b="1" dirty="0">
                <a:solidFill>
                  <a:srgbClr val="000000"/>
                </a:solidFill>
                <a:latin typeface="Arial" panose="020B0604020202020204" pitchFamily="34" charset="0"/>
              </a:rPr>
              <a:t>r</a:t>
            </a:r>
            <a:r>
              <a:rPr lang="zh-CN" altLang="en-US" b="1" dirty="0">
                <a:solidFill>
                  <a:srgbClr val="000000"/>
                </a:solidFill>
                <a:latin typeface="Arial" panose="020B0604020202020204" pitchFamily="34" charset="0"/>
              </a:rPr>
              <a:t>，状态机</a:t>
            </a:r>
            <a:r>
              <a:rPr lang="en-US" altLang="zh-CN" b="1" dirty="0">
                <a:solidFill>
                  <a:srgbClr val="000000"/>
                </a:solidFill>
                <a:latin typeface="Arial" panose="020B0604020202020204" pitchFamily="34" charset="0"/>
              </a:rPr>
              <a:t>M</a:t>
            </a:r>
            <a:r>
              <a:rPr lang="zh-CN" altLang="en-US" b="1" dirty="0">
                <a:solidFill>
                  <a:srgbClr val="000000"/>
                </a:solidFill>
                <a:latin typeface="Arial" panose="020B0604020202020204" pitchFamily="34" charset="0"/>
              </a:rPr>
              <a:t>在此次操作循环中将产生两次状态转移。</a:t>
            </a:r>
            <a:r>
              <a:rPr lang="zh-CN" altLang="en-US" b="1" dirty="0">
                <a:solidFill>
                  <a:srgbClr val="FF0000"/>
                </a:solidFill>
                <a:latin typeface="Arial" panose="020B0604020202020204" pitchFamily="34" charset="0"/>
              </a:rPr>
              <a:t>由于</a:t>
            </a:r>
            <a:r>
              <a:rPr lang="en-US" altLang="zh-CN" b="1" dirty="0">
                <a:solidFill>
                  <a:srgbClr val="FF0000"/>
                </a:solidFill>
                <a:latin typeface="Arial" panose="020B0604020202020204" pitchFamily="34" charset="0"/>
              </a:rPr>
              <a:t>g(5, r) = fail</a:t>
            </a:r>
            <a:r>
              <a:rPr lang="zh-CN" altLang="en-US" b="1" dirty="0">
                <a:solidFill>
                  <a:srgbClr val="FF0000"/>
                </a:solidFill>
                <a:latin typeface="Arial" panose="020B0604020202020204" pitchFamily="34" charset="0"/>
              </a:rPr>
              <a:t>，</a:t>
            </a:r>
            <a:r>
              <a:rPr lang="en-US" altLang="zh-CN" b="1" dirty="0">
                <a:solidFill>
                  <a:srgbClr val="FF0000"/>
                </a:solidFill>
                <a:latin typeface="Arial" panose="020B0604020202020204" pitchFamily="34" charset="0"/>
              </a:rPr>
              <a:t>M</a:t>
            </a:r>
            <a:r>
              <a:rPr lang="zh-CN" altLang="en-US" b="1" dirty="0">
                <a:solidFill>
                  <a:srgbClr val="FF0000"/>
                </a:solidFill>
                <a:latin typeface="Arial" panose="020B0604020202020204" pitchFamily="34" charset="0"/>
              </a:rPr>
              <a:t>进入状态</a:t>
            </a:r>
            <a:r>
              <a:rPr lang="en-US" altLang="zh-CN" b="1" dirty="0">
                <a:solidFill>
                  <a:srgbClr val="FF0000"/>
                </a:solidFill>
                <a:latin typeface="Arial" panose="020B0604020202020204" pitchFamily="34" charset="0"/>
              </a:rPr>
              <a:t>2 = f(5)</a:t>
            </a:r>
            <a:r>
              <a:rPr lang="zh-CN" altLang="en-US" b="1" dirty="0">
                <a:solidFill>
                  <a:srgbClr val="FF0000"/>
                </a:solidFill>
                <a:latin typeface="Arial" panose="020B0604020202020204" pitchFamily="34" charset="0"/>
              </a:rPr>
              <a:t>。</a:t>
            </a:r>
            <a:r>
              <a:rPr lang="zh-CN" altLang="en-US" b="1" dirty="0">
                <a:solidFill>
                  <a:srgbClr val="000000"/>
                </a:solidFill>
                <a:latin typeface="Arial" panose="020B0604020202020204" pitchFamily="34" charset="0"/>
              </a:rPr>
              <a:t>然后因为</a:t>
            </a:r>
            <a:r>
              <a:rPr lang="en-US" altLang="zh-CN" b="1" dirty="0">
                <a:solidFill>
                  <a:srgbClr val="000000"/>
                </a:solidFill>
                <a:latin typeface="Arial" panose="020B0604020202020204" pitchFamily="34" charset="0"/>
              </a:rPr>
              <a:t>g(2, r) = 8</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M</a:t>
            </a:r>
            <a:r>
              <a:rPr lang="zh-CN" altLang="en-US" b="1" dirty="0">
                <a:solidFill>
                  <a:srgbClr val="000000"/>
                </a:solidFill>
                <a:latin typeface="Arial" panose="020B0604020202020204" pitchFamily="34" charset="0"/>
              </a:rPr>
              <a:t>进入状态</a:t>
            </a:r>
            <a:r>
              <a:rPr lang="en-US" altLang="zh-CN" b="1" dirty="0">
                <a:solidFill>
                  <a:srgbClr val="000000"/>
                </a:solidFill>
                <a:latin typeface="Arial" panose="020B0604020202020204" pitchFamily="34" charset="0"/>
              </a:rPr>
              <a:t>8</a:t>
            </a:r>
            <a:r>
              <a:rPr lang="zh-CN" altLang="en-US" b="1" dirty="0">
                <a:solidFill>
                  <a:srgbClr val="000000"/>
                </a:solidFill>
                <a:latin typeface="Arial" panose="020B0604020202020204" pitchFamily="34" charset="0"/>
              </a:rPr>
              <a:t>，同时前进到下一个输入字符。在这次操作循环中没有输出产生。</a:t>
            </a:r>
          </a:p>
        </p:txBody>
      </p:sp>
      <p:pic>
        <p:nvPicPr>
          <p:cNvPr id="171012" name="Picture 6"/>
          <p:cNvPicPr>
            <a:picLocks noChangeAspect="1"/>
          </p:cNvPicPr>
          <p:nvPr/>
        </p:nvPicPr>
        <p:blipFill>
          <a:blip r:embed="rId3"/>
          <a:stretch>
            <a:fillRect/>
          </a:stretch>
        </p:blipFill>
        <p:spPr>
          <a:xfrm>
            <a:off x="1979613" y="2060575"/>
            <a:ext cx="4679950" cy="1008063"/>
          </a:xfrm>
          <a:prstGeom prst="rect">
            <a:avLst/>
          </a:prstGeom>
          <a:noFill/>
          <a:ln w="9525">
            <a:noFill/>
          </a:ln>
        </p:spPr>
      </p:pic>
      <p:sp>
        <p:nvSpPr>
          <p:cNvPr id="171013" name="Text Box 7"/>
          <p:cNvSpPr txBox="1"/>
          <p:nvPr/>
        </p:nvSpPr>
        <p:spPr>
          <a:xfrm>
            <a:off x="2413000" y="3206750"/>
            <a:ext cx="4103688" cy="366713"/>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4 </a:t>
            </a:r>
            <a:r>
              <a:rPr lang="zh-CN" altLang="en-US" sz="1800" dirty="0">
                <a:solidFill>
                  <a:srgbClr val="000000"/>
                </a:solidFill>
                <a:latin typeface="Arial" panose="020B0604020202020204" pitchFamily="34" charset="0"/>
              </a:rPr>
              <a:t>扫描“</a:t>
            </a:r>
            <a:r>
              <a:rPr lang="en-US" altLang="zh-CN" sz="1800" i="1" dirty="0">
                <a:solidFill>
                  <a:srgbClr val="000000"/>
                </a:solidFill>
                <a:latin typeface="Arial" panose="020B0604020202020204" pitchFamily="34" charset="0"/>
              </a:rPr>
              <a:t>ushers</a:t>
            </a:r>
            <a:r>
              <a:rPr lang="en-US" altLang="zh-CN" sz="1800" dirty="0">
                <a:solidFill>
                  <a:srgbClr val="000000"/>
                </a:solidFill>
                <a:latin typeface="Arial" panose="020B0604020202020204" pitchFamily="34" charset="0"/>
              </a:rPr>
              <a:t>”</a:t>
            </a:r>
            <a:r>
              <a:rPr lang="zh-CN" altLang="en-US" sz="1800" dirty="0">
                <a:solidFill>
                  <a:srgbClr val="000000"/>
                </a:solidFill>
                <a:latin typeface="Arial" panose="020B0604020202020204" pitchFamily="34" charset="0"/>
              </a:rPr>
              <a:t>时的状态转换序列</a:t>
            </a:r>
            <a:r>
              <a:rPr lang="zh-CN" altLang="en-US" sz="1800" dirty="0">
                <a:latin typeface="Arial" panose="020B0604020202020204" pitchFamily="34" charset="0"/>
              </a:rPr>
              <a:t> </a:t>
            </a:r>
          </a:p>
        </p:txBody>
      </p:sp>
      <p:sp>
        <p:nvSpPr>
          <p:cNvPr id="87042" name="Rectangle 2"/>
          <p:cNvSpPr>
            <a:spLocks noGrp="1" noRot="1" noChangeArrowheads="1"/>
          </p:cNvSpPr>
          <p:nvPr/>
        </p:nvSpPr>
        <p:spPr>
          <a:xfrm>
            <a:off x="700405" y="-16129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85</a:t>
            </a:fld>
            <a:endParaRPr lang="en-US" altLang="zh-CN" sz="1400" dirty="0"/>
          </a:p>
        </p:txBody>
      </p:sp>
      <p:sp>
        <p:nvSpPr>
          <p:cNvPr id="173058" name="Text Box 4"/>
          <p:cNvSpPr txBox="1"/>
          <p:nvPr/>
        </p:nvSpPr>
        <p:spPr>
          <a:xfrm>
            <a:off x="395288" y="1267143"/>
            <a:ext cx="8137525" cy="3743325"/>
          </a:xfrm>
          <a:prstGeom prst="rect">
            <a:avLst/>
          </a:prstGeom>
          <a:noFill/>
          <a:ln w="9525">
            <a:noFill/>
          </a:ln>
        </p:spPr>
        <p:txBody>
          <a:bodyPr>
            <a:spAutoFit/>
          </a:bodyPr>
          <a:lstStyle/>
          <a:p>
            <a:pPr marL="342900" indent="-342900">
              <a:spcBef>
                <a:spcPct val="0"/>
              </a:spcBef>
              <a:buClrTx/>
            </a:pPr>
            <a:r>
              <a:rPr lang="en-US" altLang="zh-CN" dirty="0">
                <a:solidFill>
                  <a:srgbClr val="000000"/>
                </a:solidFill>
                <a:latin typeface="Arial" panose="020B0604020202020204" pitchFamily="34" charset="0"/>
              </a:rPr>
              <a:t>      </a:t>
            </a:r>
            <a:r>
              <a:rPr lang="zh-CN" altLang="en-US" b="1" dirty="0">
                <a:solidFill>
                  <a:srgbClr val="000000"/>
                </a:solidFill>
                <a:latin typeface="Arial" panose="020B0604020202020204" pitchFamily="34" charset="0"/>
              </a:rPr>
              <a:t>记</a:t>
            </a:r>
            <a:r>
              <a:rPr lang="en-US" altLang="zh-CN" b="1" dirty="0">
                <a:solidFill>
                  <a:srgbClr val="000000"/>
                </a:solidFill>
                <a:latin typeface="Arial" panose="020B0604020202020204" pitchFamily="34" charset="0"/>
              </a:rPr>
              <a:t>s</a:t>
            </a:r>
            <a:r>
              <a:rPr lang="zh-CN" altLang="en-US" b="1" dirty="0">
                <a:solidFill>
                  <a:srgbClr val="000000"/>
                </a:solidFill>
                <a:latin typeface="Arial" panose="020B0604020202020204" pitchFamily="34" charset="0"/>
              </a:rPr>
              <a:t>为状态机的当前状态，</a:t>
            </a:r>
            <a:r>
              <a:rPr lang="en-US" altLang="zh-CN" b="1" dirty="0">
                <a:solidFill>
                  <a:srgbClr val="000000"/>
                </a:solidFill>
                <a:latin typeface="Arial" panose="020B0604020202020204" pitchFamily="34" charset="0"/>
              </a:rPr>
              <a:t>a</a:t>
            </a:r>
            <a:r>
              <a:rPr lang="zh-CN" altLang="en-US" b="1" dirty="0">
                <a:solidFill>
                  <a:srgbClr val="000000"/>
                </a:solidFill>
                <a:latin typeface="Arial" panose="020B0604020202020204" pitchFamily="34" charset="0"/>
              </a:rPr>
              <a:t>为输入文本</a:t>
            </a:r>
            <a:r>
              <a:rPr lang="en-US" altLang="zh-CN" b="1" dirty="0">
                <a:solidFill>
                  <a:srgbClr val="000000"/>
                </a:solidFill>
                <a:latin typeface="Arial" panose="020B0604020202020204" pitchFamily="34" charset="0"/>
              </a:rPr>
              <a:t>y</a:t>
            </a:r>
            <a:r>
              <a:rPr lang="zh-CN" altLang="en-US" b="1" dirty="0">
                <a:solidFill>
                  <a:srgbClr val="000000"/>
                </a:solidFill>
                <a:latin typeface="Arial" panose="020B0604020202020204" pitchFamily="34" charset="0"/>
              </a:rPr>
              <a:t>的当前输入字符。树型有限自动机的一次操作循环可以定义如下： </a:t>
            </a:r>
          </a:p>
          <a:p>
            <a:pPr marL="342900" indent="-342900">
              <a:spcBef>
                <a:spcPct val="0"/>
              </a:spcBef>
              <a:buClrTx/>
              <a:buAutoNum type="arabicPeriod"/>
            </a:pPr>
            <a:r>
              <a:rPr lang="zh-CN" altLang="en-US" b="1" dirty="0">
                <a:solidFill>
                  <a:srgbClr val="000000"/>
                </a:solidFill>
                <a:latin typeface="Arial" panose="020B0604020202020204" pitchFamily="34" charset="0"/>
              </a:rPr>
              <a:t> 如果</a:t>
            </a:r>
            <a:r>
              <a:rPr lang="en-US" altLang="zh-CN" b="1" dirty="0">
                <a:solidFill>
                  <a:srgbClr val="000000"/>
                </a:solidFill>
                <a:latin typeface="Arial" panose="020B0604020202020204" pitchFamily="34" charset="0"/>
              </a:rPr>
              <a:t>g(s, a) = s</a:t>
            </a:r>
            <a:r>
              <a:rPr lang="zh-CN" altLang="en-US" b="1" dirty="0">
                <a:solidFill>
                  <a:srgbClr val="000000"/>
                </a:solidFill>
                <a:latin typeface="Arial" panose="020B0604020202020204" pitchFamily="34" charset="0"/>
              </a:rPr>
              <a:t>，，那么树型有限自动机将做一个转向动作。自动机进入状态</a:t>
            </a:r>
            <a:r>
              <a:rPr lang="en-US" altLang="zh-CN" b="1" dirty="0">
                <a:solidFill>
                  <a:srgbClr val="000000"/>
                </a:solidFill>
                <a:latin typeface="Arial" panose="020B0604020202020204" pitchFamily="34" charset="0"/>
              </a:rPr>
              <a:t>s</a:t>
            </a:r>
            <a:r>
              <a:rPr lang="zh-CN" altLang="en-US" b="1" dirty="0">
                <a:solidFill>
                  <a:srgbClr val="000000"/>
                </a:solidFill>
                <a:latin typeface="Arial" panose="020B0604020202020204" pitchFamily="34" charset="0"/>
              </a:rPr>
              <a:t>，而且</a:t>
            </a:r>
            <a:r>
              <a:rPr lang="en-US" altLang="zh-CN" b="1" dirty="0">
                <a:solidFill>
                  <a:srgbClr val="000000"/>
                </a:solidFill>
                <a:latin typeface="Arial" panose="020B0604020202020204" pitchFamily="34" charset="0"/>
              </a:rPr>
              <a:t>y</a:t>
            </a:r>
            <a:r>
              <a:rPr lang="zh-CN" altLang="en-US" b="1" dirty="0">
                <a:solidFill>
                  <a:srgbClr val="000000"/>
                </a:solidFill>
                <a:latin typeface="Arial" panose="020B0604020202020204" pitchFamily="34" charset="0"/>
              </a:rPr>
              <a:t>的下一个字符变成当前的输入字符。另外，如果</a:t>
            </a:r>
            <a:r>
              <a:rPr lang="en-US" altLang="zh-CN" b="1" dirty="0">
                <a:solidFill>
                  <a:srgbClr val="000000"/>
                </a:solidFill>
                <a:latin typeface="Arial" panose="020B0604020202020204" pitchFamily="34" charset="0"/>
              </a:rPr>
              <a:t>output( s</a:t>
            </a:r>
            <a:r>
              <a:rPr lang="zh-CN" altLang="en-US" b="1" dirty="0">
                <a:solidFill>
                  <a:srgbClr val="000000"/>
                </a:solidFill>
                <a:latin typeface="Arial" panose="020B0604020202020204" pitchFamily="34" charset="0"/>
              </a:rPr>
              <a:t>，</a:t>
            </a:r>
            <a:r>
              <a:rPr lang="en-US" altLang="zh-CN" b="1" dirty="0">
                <a:solidFill>
                  <a:srgbClr val="000000"/>
                </a:solidFill>
                <a:latin typeface="Arial" panose="020B0604020202020204" pitchFamily="34" charset="0"/>
              </a:rPr>
              <a:t>)</a:t>
            </a:r>
            <a:r>
              <a:rPr lang="zh-CN" altLang="en-US" b="1" dirty="0">
                <a:solidFill>
                  <a:srgbClr val="000000"/>
                </a:solidFill>
                <a:latin typeface="Arial" panose="020B0604020202020204" pitchFamily="34" charset="0"/>
              </a:rPr>
              <a:t>不为空，那么状态机将输出与当前输入字符位置相对应的一组关键字。</a:t>
            </a:r>
          </a:p>
          <a:p>
            <a:pPr marL="342900" indent="-342900">
              <a:spcBef>
                <a:spcPct val="0"/>
              </a:spcBef>
              <a:buClrTx/>
              <a:buAutoNum type="arabicPeriod"/>
            </a:pPr>
            <a:endParaRPr lang="zh-CN" altLang="en-US" b="1" dirty="0">
              <a:solidFill>
                <a:srgbClr val="000000"/>
              </a:solidFill>
              <a:latin typeface="Arial" panose="020B0604020202020204" pitchFamily="34" charset="0"/>
            </a:endParaRPr>
          </a:p>
          <a:p>
            <a:pPr marL="342900" indent="-342900">
              <a:spcBef>
                <a:spcPct val="0"/>
              </a:spcBef>
              <a:buClrTx/>
              <a:buAutoNum type="arabicPeriod"/>
            </a:pPr>
            <a:r>
              <a:rPr lang="zh-CN" altLang="en-US" b="1" dirty="0">
                <a:solidFill>
                  <a:srgbClr val="000000"/>
                </a:solidFill>
                <a:latin typeface="Arial" panose="020B0604020202020204" pitchFamily="34" charset="0"/>
              </a:rPr>
              <a:t> 如果</a:t>
            </a:r>
            <a:r>
              <a:rPr lang="en-US" altLang="zh-CN" b="1" dirty="0">
                <a:solidFill>
                  <a:srgbClr val="000000"/>
                </a:solidFill>
                <a:latin typeface="Arial" panose="020B0604020202020204" pitchFamily="34" charset="0"/>
              </a:rPr>
              <a:t>g(s, a) = fail</a:t>
            </a:r>
            <a:r>
              <a:rPr lang="zh-CN" altLang="en-US" b="1" dirty="0">
                <a:solidFill>
                  <a:srgbClr val="000000"/>
                </a:solidFill>
                <a:latin typeface="Arial" panose="020B0604020202020204" pitchFamily="34" charset="0"/>
              </a:rPr>
              <a:t>，状态机将询问失效函数</a:t>
            </a:r>
            <a:r>
              <a:rPr lang="en-US" altLang="zh-CN" b="1" dirty="0">
                <a:solidFill>
                  <a:srgbClr val="000000"/>
                </a:solidFill>
                <a:latin typeface="Arial" panose="020B0604020202020204" pitchFamily="34" charset="0"/>
              </a:rPr>
              <a:t>f</a:t>
            </a:r>
            <a:r>
              <a:rPr lang="zh-CN" altLang="en-US" b="1" dirty="0">
                <a:solidFill>
                  <a:srgbClr val="000000"/>
                </a:solidFill>
                <a:latin typeface="Arial" panose="020B0604020202020204" pitchFamily="34" charset="0"/>
              </a:rPr>
              <a:t>并且进行失效转移。如果 </a:t>
            </a:r>
            <a:r>
              <a:rPr lang="en-US" altLang="zh-CN" b="1" dirty="0">
                <a:solidFill>
                  <a:srgbClr val="000000"/>
                </a:solidFill>
                <a:latin typeface="Arial" panose="020B0604020202020204" pitchFamily="34" charset="0"/>
              </a:rPr>
              <a:t>f(s) = s</a:t>
            </a:r>
            <a:r>
              <a:rPr lang="zh-CN" altLang="en-US" b="1" dirty="0">
                <a:solidFill>
                  <a:srgbClr val="000000"/>
                </a:solidFill>
                <a:latin typeface="Arial" panose="020B0604020202020204" pitchFamily="34" charset="0"/>
              </a:rPr>
              <a:t>，，那么状态机将以</a:t>
            </a:r>
            <a:r>
              <a:rPr lang="en-US" altLang="zh-CN" b="1" dirty="0">
                <a:solidFill>
                  <a:srgbClr val="000000"/>
                </a:solidFill>
                <a:latin typeface="Arial" panose="020B0604020202020204" pitchFamily="34" charset="0"/>
              </a:rPr>
              <a:t>s</a:t>
            </a:r>
            <a:r>
              <a:rPr lang="zh-CN" altLang="en-US" b="1" dirty="0">
                <a:solidFill>
                  <a:srgbClr val="000000"/>
                </a:solidFill>
                <a:latin typeface="Arial" panose="020B0604020202020204" pitchFamily="34" charset="0"/>
              </a:rPr>
              <a:t>，作为当前状态，</a:t>
            </a:r>
            <a:r>
              <a:rPr lang="en-US" altLang="zh-CN" b="1" dirty="0">
                <a:solidFill>
                  <a:srgbClr val="000000"/>
                </a:solidFill>
                <a:latin typeface="Arial" panose="020B0604020202020204" pitchFamily="34" charset="0"/>
              </a:rPr>
              <a:t>a</a:t>
            </a:r>
            <a:r>
              <a:rPr lang="zh-CN" altLang="en-US" b="1" dirty="0">
                <a:solidFill>
                  <a:srgbClr val="000000"/>
                </a:solidFill>
                <a:latin typeface="Arial" panose="020B0604020202020204" pitchFamily="34" charset="0"/>
              </a:rPr>
              <a:t>为当前输入字符重复这个操作循环。</a:t>
            </a:r>
            <a:r>
              <a:rPr lang="zh-CN" altLang="en-US" sz="1800" dirty="0">
                <a:latin typeface="Arial" panose="020B0604020202020204" pitchFamily="34" charset="0"/>
              </a:rPr>
              <a:t> </a:t>
            </a:r>
          </a:p>
        </p:txBody>
      </p:sp>
      <p:sp>
        <p:nvSpPr>
          <p:cNvPr id="87042" name="Rectangle 2"/>
          <p:cNvSpPr>
            <a:spLocks noGrp="1" noRot="1" noChangeArrowheads="1"/>
          </p:cNvSpPr>
          <p:nvPr/>
        </p:nvSpPr>
        <p:spPr>
          <a:xfrm>
            <a:off x="700405"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86</a:t>
            </a:fld>
            <a:endParaRPr lang="en-US" altLang="zh-CN" sz="1400" dirty="0"/>
          </a:p>
        </p:txBody>
      </p:sp>
      <p:sp>
        <p:nvSpPr>
          <p:cNvPr id="175106" name="Rectangle 5"/>
          <p:cNvSpPr/>
          <p:nvPr/>
        </p:nvSpPr>
        <p:spPr>
          <a:xfrm>
            <a:off x="280035" y="298450"/>
            <a:ext cx="8584565" cy="6193155"/>
          </a:xfrm>
          <a:prstGeom prst="rect">
            <a:avLst/>
          </a:prstGeom>
          <a:solidFill>
            <a:srgbClr val="FFFFFF"/>
          </a:solidFill>
          <a:ln w="9525" cap="flat" cmpd="sng">
            <a:solidFill>
              <a:srgbClr val="000000"/>
            </a:solidFill>
            <a:prstDash val="solid"/>
            <a:miter/>
            <a:headEnd type="none" w="med" len="med"/>
            <a:tailEnd type="none" w="med" len="med"/>
          </a:ln>
        </p:spPr>
        <p:txBody>
          <a:bodyPr/>
          <a:lstStyle/>
          <a:p>
            <a:pPr>
              <a:spcBef>
                <a:spcPct val="0"/>
              </a:spcBef>
              <a:buClrTx/>
            </a:pPr>
            <a:r>
              <a:rPr lang="zh-CN" altLang="en-US" sz="1800" b="1" dirty="0">
                <a:latin typeface="宋体" panose="02010600030101010101" pitchFamily="2" charset="-122"/>
              </a:rPr>
              <a:t>算法</a:t>
            </a:r>
            <a:r>
              <a:rPr lang="en-US" altLang="zh-CN" sz="1800" b="1" dirty="0">
                <a:latin typeface="宋体" panose="02010600030101010101" pitchFamily="2" charset="-122"/>
              </a:rPr>
              <a:t>3</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树型有限状态机</a:t>
            </a:r>
            <a:r>
              <a:rPr lang="zh-CN" altLang="en-US" sz="1800" dirty="0">
                <a:latin typeface="宋体" panose="02010600030101010101" pitchFamily="2" charset="-122"/>
              </a:rPr>
              <a:t>。</a:t>
            </a:r>
          </a:p>
          <a:p>
            <a:pPr>
              <a:spcBef>
                <a:spcPct val="0"/>
              </a:spcBef>
              <a:buClrTx/>
            </a:pPr>
            <a:r>
              <a:rPr lang="zh-CN" altLang="en-US" sz="1800" b="1" dirty="0">
                <a:latin typeface="宋体" panose="02010600030101010101" pitchFamily="2" charset="-122"/>
              </a:rPr>
              <a:t>输入</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一个字符串</a:t>
            </a:r>
            <a:r>
              <a:rPr lang="en-US" altLang="zh-CN" sz="1800" i="1" dirty="0">
                <a:latin typeface="Times New Roman" panose="02020603050405020304" charset="0"/>
                <a:ea typeface="楷体_GB2312" pitchFamily="49" charset="-122"/>
              </a:rPr>
              <a:t>y</a:t>
            </a:r>
            <a:r>
              <a:rPr lang="en-US" altLang="zh-CN" sz="1800" dirty="0">
                <a:latin typeface="Times New Roman" panose="02020603050405020304" charset="0"/>
                <a:ea typeface="楷体_GB2312" pitchFamily="49" charset="-122"/>
              </a:rPr>
              <a:t>={</a:t>
            </a:r>
            <a:r>
              <a:rPr lang="en-US" altLang="zh-CN" sz="1800" i="1" dirty="0">
                <a:latin typeface="Times New Roman" panose="02020603050405020304" charset="0"/>
                <a:ea typeface="楷体_GB2312" pitchFamily="49" charset="-122"/>
              </a:rPr>
              <a:t>y</a:t>
            </a:r>
            <a:r>
              <a:rPr lang="en-US" altLang="zh-CN" sz="1800" i="1" baseline="-25000" dirty="0">
                <a:latin typeface="Times New Roman" panose="02020603050405020304" charset="0"/>
                <a:ea typeface="楷体_GB2312" pitchFamily="49" charset="-122"/>
              </a:rPr>
              <a:t>1</a:t>
            </a:r>
            <a:r>
              <a:rPr lang="en-US" altLang="zh-CN" sz="1800" i="1" dirty="0">
                <a:latin typeface="Times New Roman" panose="02020603050405020304" charset="0"/>
                <a:ea typeface="楷体_GB2312" pitchFamily="49" charset="-122"/>
              </a:rPr>
              <a:t>y</a:t>
            </a:r>
            <a:r>
              <a:rPr lang="en-US" altLang="zh-CN" sz="1800" i="1" baseline="-25000" dirty="0">
                <a:latin typeface="Times New Roman" panose="02020603050405020304" charset="0"/>
                <a:ea typeface="楷体_GB2312" pitchFamily="49" charset="-122"/>
              </a:rPr>
              <a:t>2</a:t>
            </a:r>
            <a:r>
              <a:rPr lang="en-US" altLang="zh-CN" sz="1800" i="1" dirty="0">
                <a:latin typeface="Times New Roman" panose="02020603050405020304" charset="0"/>
                <a:ea typeface="楷体_GB2312" pitchFamily="49" charset="-122"/>
              </a:rPr>
              <a:t>y</a:t>
            </a:r>
            <a:r>
              <a:rPr lang="en-US" altLang="zh-CN" sz="1800" i="1" baseline="-25000" dirty="0">
                <a:latin typeface="Times New Roman" panose="02020603050405020304" charset="0"/>
                <a:ea typeface="楷体_GB2312" pitchFamily="49" charset="-122"/>
              </a:rPr>
              <a:t>3</a:t>
            </a:r>
            <a:r>
              <a:rPr lang="en-US" altLang="zh-CN" sz="1800" i="1" dirty="0">
                <a:latin typeface="Times New Roman" panose="02020603050405020304" charset="0"/>
                <a:ea typeface="楷体_GB2312" pitchFamily="49" charset="-122"/>
              </a:rPr>
              <a:t>…y</a:t>
            </a:r>
            <a:r>
              <a:rPr lang="en-US" altLang="zh-CN" sz="1800" i="1" baseline="-25000" dirty="0">
                <a:latin typeface="Times New Roman" panose="02020603050405020304" charset="0"/>
                <a:ea typeface="楷体_GB2312" pitchFamily="49" charset="-122"/>
              </a:rPr>
              <a:t>n</a:t>
            </a:r>
            <a:r>
              <a:rPr lang="en-US" altLang="zh-CN" sz="1800" dirty="0">
                <a:latin typeface="Times New Roman" panose="02020603050405020304" charset="0"/>
                <a:ea typeface="楷体_GB2312" pitchFamily="49" charset="-122"/>
              </a:rPr>
              <a:t>}</a:t>
            </a:r>
            <a:r>
              <a:rPr lang="zh-CN" altLang="en-US" sz="1800" dirty="0">
                <a:latin typeface="楷体_GB2312" pitchFamily="49" charset="-122"/>
                <a:ea typeface="楷体_GB2312" pitchFamily="49" charset="-122"/>
              </a:rPr>
              <a:t>（其中</a:t>
            </a:r>
            <a:r>
              <a:rPr lang="en-US" altLang="zh-CN" sz="1800" i="1" dirty="0">
                <a:latin typeface="Times New Roman" panose="02020603050405020304" charset="0"/>
                <a:ea typeface="楷体_GB2312" pitchFamily="49" charset="-122"/>
              </a:rPr>
              <a:t>y</a:t>
            </a:r>
            <a:r>
              <a:rPr lang="en-US" altLang="zh-CN" sz="1800" i="1" baseline="-25000" dirty="0">
                <a:latin typeface="楷体_GB2312" pitchFamily="49" charset="-122"/>
                <a:ea typeface="楷体_GB2312" pitchFamily="49" charset="-122"/>
              </a:rPr>
              <a:t>i</a:t>
            </a:r>
            <a:r>
              <a:rPr lang="zh-CN" altLang="en-US" sz="1800" dirty="0">
                <a:latin typeface="楷体_GB2312" pitchFamily="49" charset="-122"/>
                <a:ea typeface="楷体_GB2312" pitchFamily="49" charset="-122"/>
              </a:rPr>
              <a:t>是一个输入字符）；一台 包含上述转向函数</a:t>
            </a:r>
            <a:r>
              <a:rPr lang="en-US" altLang="zh-CN" sz="1800" i="1" dirty="0">
                <a:latin typeface="Times New Roman" panose="02020603050405020304" charset="0"/>
                <a:ea typeface="楷体_GB2312" pitchFamily="49" charset="-122"/>
              </a:rPr>
              <a:t>g</a:t>
            </a:r>
            <a:r>
              <a:rPr lang="zh-CN" altLang="en-US" sz="1800" dirty="0">
                <a:latin typeface="楷体_GB2312" pitchFamily="49" charset="-122"/>
                <a:ea typeface="楷体_GB2312" pitchFamily="49" charset="-122"/>
              </a:rPr>
              <a:t>，失效函数</a:t>
            </a:r>
            <a:r>
              <a:rPr lang="en-US" altLang="zh-CN" sz="1800" i="1" dirty="0">
                <a:latin typeface="楷体_GB2312" pitchFamily="49" charset="-122"/>
                <a:ea typeface="楷体_GB2312" pitchFamily="49" charset="-122"/>
              </a:rPr>
              <a:t>f</a:t>
            </a:r>
            <a:r>
              <a:rPr lang="zh-CN" altLang="en-US" sz="1800" dirty="0">
                <a:latin typeface="楷体_GB2312" pitchFamily="49" charset="-122"/>
                <a:ea typeface="楷体_GB2312" pitchFamily="49" charset="-122"/>
              </a:rPr>
              <a:t>和输出函数</a:t>
            </a:r>
            <a:r>
              <a:rPr lang="en-US" altLang="zh-CN" sz="1800" i="1" dirty="0">
                <a:latin typeface="Times New Roman" panose="02020603050405020304" charset="0"/>
                <a:ea typeface="楷体_GB2312" pitchFamily="49" charset="-122"/>
              </a:rPr>
              <a:t>output</a:t>
            </a:r>
            <a:r>
              <a:rPr lang="zh-CN" altLang="en-US" sz="1800" dirty="0">
                <a:latin typeface="楷体_GB2312" pitchFamily="49" charset="-122"/>
                <a:ea typeface="楷体_GB2312" pitchFamily="49" charset="-122"/>
              </a:rPr>
              <a:t>的树型有限自动机。</a:t>
            </a:r>
            <a:endParaRPr lang="zh-CN" altLang="en-US" sz="1800" dirty="0">
              <a:latin typeface="宋体" panose="02010600030101010101" pitchFamily="2" charset="-122"/>
            </a:endParaRPr>
          </a:p>
          <a:p>
            <a:pPr>
              <a:spcBef>
                <a:spcPct val="0"/>
              </a:spcBef>
              <a:buClrTx/>
            </a:pPr>
            <a:r>
              <a:rPr lang="zh-CN" altLang="en-US" sz="1800" b="1" dirty="0">
                <a:latin typeface="宋体" panose="02010600030101010101" pitchFamily="2" charset="-122"/>
              </a:rPr>
              <a:t>输出</a:t>
            </a:r>
            <a:r>
              <a:rPr lang="zh-CN" altLang="en-US" sz="1800" dirty="0">
                <a:latin typeface="宋体" panose="02010600030101010101" pitchFamily="2" charset="-122"/>
              </a:rPr>
              <a:t>：</a:t>
            </a:r>
            <a:r>
              <a:rPr lang="zh-CN" altLang="en-US" sz="1800" dirty="0">
                <a:latin typeface="楷体_GB2312" pitchFamily="49" charset="-122"/>
                <a:ea typeface="楷体_GB2312" pitchFamily="49" charset="-122"/>
              </a:rPr>
              <a:t>关键字在</a:t>
            </a:r>
            <a:r>
              <a:rPr lang="en-US" altLang="zh-CN" sz="1800" i="1" dirty="0">
                <a:latin typeface="Times New Roman" panose="02020603050405020304" charset="0"/>
                <a:ea typeface="楷体_GB2312" pitchFamily="49" charset="-122"/>
              </a:rPr>
              <a:t>y</a:t>
            </a:r>
            <a:r>
              <a:rPr lang="zh-CN" altLang="en-US" sz="1800" dirty="0">
                <a:latin typeface="楷体_GB2312" pitchFamily="49" charset="-122"/>
                <a:ea typeface="楷体_GB2312" pitchFamily="49" charset="-122"/>
              </a:rPr>
              <a:t>中出现的位置</a:t>
            </a:r>
            <a:r>
              <a:rPr lang="zh-CN" altLang="en-US" sz="1800" dirty="0">
                <a:latin typeface="宋体" panose="02010600030101010101" pitchFamily="2" charset="-122"/>
              </a:rPr>
              <a:t>。</a:t>
            </a:r>
          </a:p>
          <a:p>
            <a:pPr>
              <a:spcBef>
                <a:spcPct val="0"/>
              </a:spcBef>
              <a:buClrTx/>
            </a:pPr>
            <a:r>
              <a:rPr lang="zh-CN" altLang="en-US" sz="1000" dirty="0">
                <a:latin typeface="Times New Roman" panose="02020603050405020304" charset="0"/>
              </a:rPr>
              <a:t>     </a:t>
            </a:r>
          </a:p>
          <a:p>
            <a:pPr>
              <a:spcBef>
                <a:spcPct val="0"/>
              </a:spcBef>
              <a:buClrTx/>
            </a:pPr>
            <a:endParaRPr lang="en-US" altLang="zh-CN" sz="1800" dirty="0">
              <a:latin typeface="Arial" panose="020B0604020202020204" pitchFamily="34" charset="0"/>
            </a:endParaRPr>
          </a:p>
        </p:txBody>
      </p:sp>
      <p:pic>
        <p:nvPicPr>
          <p:cNvPr id="175107" name="Picture 6"/>
          <p:cNvPicPr>
            <a:picLocks noChangeAspect="1"/>
          </p:cNvPicPr>
          <p:nvPr/>
        </p:nvPicPr>
        <p:blipFill>
          <a:blip r:embed="rId3"/>
          <a:stretch>
            <a:fillRect/>
          </a:stretch>
        </p:blipFill>
        <p:spPr>
          <a:xfrm>
            <a:off x="2411413" y="2349500"/>
            <a:ext cx="4608512" cy="3455988"/>
          </a:xfrm>
          <a:prstGeom prst="rect">
            <a:avLst/>
          </a:prstGeom>
          <a:noFill/>
          <a:ln w="9525">
            <a:noFill/>
          </a:ln>
        </p:spPr>
      </p:pic>
      <p:sp>
        <p:nvSpPr>
          <p:cNvPr id="175108" name="Text Box 7"/>
          <p:cNvSpPr txBox="1"/>
          <p:nvPr/>
        </p:nvSpPr>
        <p:spPr>
          <a:xfrm>
            <a:off x="2020253" y="6491288"/>
            <a:ext cx="5832475" cy="366712"/>
          </a:xfrm>
          <a:prstGeom prst="rect">
            <a:avLst/>
          </a:prstGeom>
          <a:noFill/>
          <a:ln w="9525">
            <a:noFill/>
          </a:ln>
        </p:spPr>
        <p:txBody>
          <a:bodyPr>
            <a:spAutoFit/>
          </a:bodyPr>
          <a:lstStyle/>
          <a:p>
            <a:pPr>
              <a:buClrTx/>
            </a:pPr>
            <a:r>
              <a:rPr lang="zh-CN" altLang="en-US" sz="1800" dirty="0">
                <a:solidFill>
                  <a:srgbClr val="000000"/>
                </a:solidFill>
                <a:latin typeface="Arial" panose="020B0604020202020204" pitchFamily="34" charset="0"/>
              </a:rPr>
              <a:t>图</a:t>
            </a:r>
            <a:r>
              <a:rPr lang="en-US" altLang="zh-CN" sz="1800" dirty="0">
                <a:solidFill>
                  <a:srgbClr val="000000"/>
                </a:solidFill>
                <a:latin typeface="Arial" panose="020B0604020202020204" pitchFamily="34" charset="0"/>
              </a:rPr>
              <a:t>5  </a:t>
            </a:r>
            <a:r>
              <a:rPr lang="zh-CN" altLang="en-US" sz="1800" dirty="0">
                <a:solidFill>
                  <a:srgbClr val="000000"/>
                </a:solidFill>
                <a:latin typeface="Arial" panose="020B0604020202020204" pitchFamily="34" charset="0"/>
              </a:rPr>
              <a:t>建立树型有限自动机的算法伪代码</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87</a:t>
            </a:fld>
            <a:endParaRPr lang="en-US" altLang="zh-CN" sz="1400" dirty="0"/>
          </a:p>
        </p:txBody>
      </p:sp>
      <p:sp>
        <p:nvSpPr>
          <p:cNvPr id="177154" name="Text Box 4"/>
          <p:cNvSpPr txBox="1"/>
          <p:nvPr/>
        </p:nvSpPr>
        <p:spPr>
          <a:xfrm>
            <a:off x="468313" y="912495"/>
            <a:ext cx="8207375" cy="5641975"/>
          </a:xfrm>
          <a:prstGeom prst="rect">
            <a:avLst/>
          </a:prstGeom>
          <a:noFill/>
          <a:ln w="9525">
            <a:noFill/>
          </a:ln>
        </p:spPr>
        <p:txBody>
          <a:bodyPr>
            <a:spAutoFit/>
          </a:bodyPr>
          <a:lstStyle/>
          <a:p>
            <a:pPr>
              <a:spcBef>
                <a:spcPct val="20000"/>
              </a:spcBef>
              <a:buClrTx/>
            </a:pPr>
            <a:r>
              <a:rPr lang="en-US" altLang="zh-CN" dirty="0">
                <a:solidFill>
                  <a:srgbClr val="000000"/>
                </a:solidFill>
                <a:latin typeface="Arial" panose="020B0604020202020204" pitchFamily="34" charset="0"/>
              </a:rPr>
              <a:t> </a:t>
            </a:r>
            <a:r>
              <a:rPr lang="en-US" altLang="zh-CN" b="1" dirty="0">
                <a:solidFill>
                  <a:srgbClr val="000000"/>
                </a:solidFill>
                <a:latin typeface="Arial" panose="020B0604020202020204" pitchFamily="34" charset="0"/>
              </a:rPr>
              <a:t>5. AC</a:t>
            </a:r>
            <a:r>
              <a:rPr lang="zh-CN" altLang="en-US" b="1" dirty="0">
                <a:solidFill>
                  <a:srgbClr val="000000"/>
                </a:solidFill>
                <a:latin typeface="宋体" panose="02010600030101010101" pitchFamily="2" charset="-122"/>
              </a:rPr>
              <a:t>自动机</a:t>
            </a:r>
          </a:p>
          <a:p>
            <a:pPr>
              <a:spcBef>
                <a:spcPct val="20000"/>
              </a:spcBef>
              <a:buClrTx/>
              <a:buFont typeface="Wingdings" panose="05000000000000000000" pitchFamily="2" charset="2"/>
              <a:buChar char="Ø"/>
            </a:pPr>
            <a:r>
              <a:rPr lang="zh-CN" altLang="en-US" b="1" dirty="0">
                <a:solidFill>
                  <a:srgbClr val="000000"/>
                </a:solidFill>
                <a:latin typeface="Arial" panose="020B0604020202020204" pitchFamily="34" charset="0"/>
              </a:rPr>
              <a:t> 预处理阶段：</a:t>
            </a:r>
          </a:p>
          <a:p>
            <a:pPr>
              <a:spcBef>
                <a:spcPct val="20000"/>
              </a:spcBef>
              <a:buClrTx/>
            </a:pPr>
            <a:r>
              <a:rPr lang="zh-CN" altLang="en-US" b="1" dirty="0">
                <a:solidFill>
                  <a:srgbClr val="000000"/>
                </a:solidFill>
                <a:latin typeface="Arial" panose="020B0604020202020204" pitchFamily="34" charset="0"/>
              </a:rPr>
              <a:t>     转向函数把一个由状态和输入字符组成的二元组映射成另一个状态或者一条失败消息。</a:t>
            </a:r>
          </a:p>
          <a:p>
            <a:pPr>
              <a:spcBef>
                <a:spcPct val="20000"/>
              </a:spcBef>
              <a:buClrTx/>
            </a:pPr>
            <a:r>
              <a:rPr lang="zh-CN" altLang="en-US" b="1" dirty="0">
                <a:solidFill>
                  <a:srgbClr val="000000"/>
                </a:solidFill>
                <a:latin typeface="Arial" panose="020B0604020202020204" pitchFamily="34" charset="0"/>
              </a:rPr>
              <a:t>      失效函数把一个状态映射成另一个状态。当转向函数报告失效时，失效函数就会被询问。</a:t>
            </a:r>
          </a:p>
          <a:p>
            <a:pPr>
              <a:spcBef>
                <a:spcPct val="20000"/>
              </a:spcBef>
              <a:buClrTx/>
            </a:pPr>
            <a:r>
              <a:rPr lang="zh-CN" altLang="en-US" b="1" dirty="0">
                <a:solidFill>
                  <a:srgbClr val="000000"/>
                </a:solidFill>
                <a:latin typeface="Arial" panose="020B0604020202020204" pitchFamily="34" charset="0"/>
              </a:rPr>
              <a:t>       输出状态，它们表示已经有一组关键字被发现。输出函数通过把一组关键字集（可能是空集）和每个状态相联系的方法，使得这种输出状态的概念形式化。</a:t>
            </a:r>
          </a:p>
          <a:p>
            <a:pPr>
              <a:spcBef>
                <a:spcPct val="20000"/>
              </a:spcBef>
              <a:buClrTx/>
              <a:buFont typeface="Wingdings" panose="05000000000000000000" pitchFamily="2" charset="2"/>
              <a:buChar char="Ø"/>
            </a:pPr>
            <a:r>
              <a:rPr lang="zh-CN" altLang="en-US" b="1" dirty="0">
                <a:solidFill>
                  <a:srgbClr val="000000"/>
                </a:solidFill>
                <a:latin typeface="Arial" panose="020B0604020202020204" pitchFamily="34" charset="0"/>
              </a:rPr>
              <a:t> 搜索查找阶段：</a:t>
            </a:r>
          </a:p>
          <a:p>
            <a:pPr>
              <a:spcBef>
                <a:spcPct val="20000"/>
              </a:spcBef>
              <a:buClrTx/>
            </a:pPr>
            <a:r>
              <a:rPr lang="zh-CN" altLang="en-US" b="1" dirty="0">
                <a:solidFill>
                  <a:srgbClr val="000000"/>
                </a:solidFill>
                <a:latin typeface="宋体" panose="02010600030101010101" pitchFamily="2" charset="-122"/>
              </a:rPr>
              <a:t>    文本扫描开始时，初始状态置为状态机的当前状态，而输入文本</a:t>
            </a:r>
            <a:r>
              <a:rPr lang="en-US" altLang="zh-CN" b="1" i="1" dirty="0">
                <a:solidFill>
                  <a:srgbClr val="000000"/>
                </a:solidFill>
                <a:latin typeface="宋体" panose="02010600030101010101" pitchFamily="2" charset="-122"/>
              </a:rPr>
              <a:t>y</a:t>
            </a:r>
            <a:r>
              <a:rPr lang="zh-CN" altLang="en-US" b="1" dirty="0">
                <a:solidFill>
                  <a:srgbClr val="000000"/>
                </a:solidFill>
                <a:latin typeface="宋体" panose="02010600030101010101" pitchFamily="2" charset="-122"/>
              </a:rPr>
              <a:t>的首字符作为当前输入字符。然后，树型有限自动机通过对每个文本串的字符都做一次操作循环的方式来处理文本。</a:t>
            </a:r>
            <a:r>
              <a:rPr lang="zh-CN" altLang="en-US" sz="1800" b="1" dirty="0">
                <a:latin typeface="Arial" panose="020B0604020202020204" pitchFamily="34" charset="0"/>
              </a:rPr>
              <a:t> </a:t>
            </a:r>
          </a:p>
        </p:txBody>
      </p:sp>
      <p:sp>
        <p:nvSpPr>
          <p:cNvPr id="87042" name="Rectangle 2"/>
          <p:cNvSpPr>
            <a:spLocks noGrp="1" noRot="1" noChangeArrowheads="1"/>
          </p:cNvSpPr>
          <p:nvPr/>
        </p:nvSpPr>
        <p:spPr>
          <a:xfrm>
            <a:off x="700405"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88</a:t>
            </a:fld>
            <a:endParaRPr lang="en-US" altLang="zh-CN" sz="1400" dirty="0"/>
          </a:p>
        </p:txBody>
      </p:sp>
      <p:sp>
        <p:nvSpPr>
          <p:cNvPr id="179202" name="Text Box 4"/>
          <p:cNvSpPr txBox="1"/>
          <p:nvPr/>
        </p:nvSpPr>
        <p:spPr>
          <a:xfrm>
            <a:off x="395288" y="908050"/>
            <a:ext cx="8353425" cy="3925888"/>
          </a:xfrm>
          <a:prstGeom prst="rect">
            <a:avLst/>
          </a:prstGeom>
          <a:noFill/>
          <a:ln w="9525">
            <a:noFill/>
          </a:ln>
        </p:spPr>
        <p:txBody>
          <a:bodyPr>
            <a:spAutoFit/>
          </a:bodyPr>
          <a:lstStyle/>
          <a:p>
            <a:pPr>
              <a:buClrTx/>
            </a:pPr>
            <a:r>
              <a:rPr lang="zh-CN" altLang="en-US" b="1" dirty="0">
                <a:solidFill>
                  <a:srgbClr val="030301"/>
                </a:solidFill>
                <a:latin typeface="宋体" panose="02010600030101010101" pitchFamily="2" charset="-122"/>
              </a:rPr>
              <a:t>经典的多模式匹配算法</a:t>
            </a:r>
            <a:r>
              <a:rPr lang="en-US" altLang="zh-CN" b="1" dirty="0">
                <a:solidFill>
                  <a:srgbClr val="030301"/>
                </a:solidFill>
                <a:latin typeface="宋体" panose="02010600030101010101" pitchFamily="2" charset="-122"/>
              </a:rPr>
              <a:t>-- AC</a:t>
            </a:r>
            <a:r>
              <a:rPr lang="zh-CN" altLang="en-US" b="1" dirty="0">
                <a:solidFill>
                  <a:srgbClr val="030301"/>
                </a:solidFill>
                <a:latin typeface="宋体" panose="02010600030101010101" pitchFamily="2" charset="-122"/>
              </a:rPr>
              <a:t>自动机。</a:t>
            </a:r>
          </a:p>
          <a:p>
            <a:pPr>
              <a:buClrTx/>
            </a:pPr>
            <a:r>
              <a:rPr lang="zh-CN" altLang="en-US" b="1" dirty="0">
                <a:solidFill>
                  <a:srgbClr val="030301"/>
                </a:solidFill>
                <a:latin typeface="宋体" panose="02010600030101010101" pitchFamily="2" charset="-122"/>
              </a:rPr>
              <a:t>    在预处理阶段，</a:t>
            </a:r>
            <a:r>
              <a:rPr lang="en-US" altLang="zh-CN" b="1" dirty="0">
                <a:solidFill>
                  <a:srgbClr val="030301"/>
                </a:solidFill>
                <a:latin typeface="宋体" panose="02010600030101010101" pitchFamily="2" charset="-122"/>
              </a:rPr>
              <a:t>AC</a:t>
            </a:r>
            <a:r>
              <a:rPr lang="zh-CN" altLang="en-US" b="1" dirty="0">
                <a:solidFill>
                  <a:srgbClr val="030301"/>
                </a:solidFill>
                <a:latin typeface="宋体" panose="02010600030101010101" pitchFamily="2" charset="-122"/>
              </a:rPr>
              <a:t>自动机算法建立了三个函数，转向函数</a:t>
            </a:r>
            <a:r>
              <a:rPr lang="en-US" altLang="zh-CN" b="1" i="1" dirty="0">
                <a:solidFill>
                  <a:srgbClr val="030301"/>
                </a:solidFill>
                <a:latin typeface="宋体" panose="02010600030101010101" pitchFamily="2" charset="-122"/>
              </a:rPr>
              <a:t>goto</a:t>
            </a:r>
            <a:r>
              <a:rPr lang="zh-CN" altLang="en-US" b="1" dirty="0">
                <a:solidFill>
                  <a:srgbClr val="030301"/>
                </a:solidFill>
                <a:latin typeface="宋体" panose="02010600030101010101" pitchFamily="2" charset="-122"/>
              </a:rPr>
              <a:t>，失效函数</a:t>
            </a:r>
            <a:r>
              <a:rPr lang="en-US" altLang="zh-CN" b="1" i="1" dirty="0">
                <a:solidFill>
                  <a:srgbClr val="030301"/>
                </a:solidFill>
                <a:latin typeface="宋体" panose="02010600030101010101" pitchFamily="2" charset="-122"/>
              </a:rPr>
              <a:t>failure</a:t>
            </a:r>
            <a:r>
              <a:rPr lang="zh-CN" altLang="en-US" b="1" dirty="0">
                <a:solidFill>
                  <a:srgbClr val="030301"/>
                </a:solidFill>
                <a:latin typeface="宋体" panose="02010600030101010101" pitchFamily="2" charset="-122"/>
              </a:rPr>
              <a:t>和输出函数</a:t>
            </a:r>
            <a:r>
              <a:rPr lang="en-US" altLang="zh-CN" b="1" i="1" dirty="0">
                <a:solidFill>
                  <a:srgbClr val="030301"/>
                </a:solidFill>
                <a:latin typeface="宋体" panose="02010600030101010101" pitchFamily="2" charset="-122"/>
              </a:rPr>
              <a:t>output</a:t>
            </a:r>
            <a:r>
              <a:rPr lang="zh-CN" altLang="en-US" b="1" dirty="0">
                <a:solidFill>
                  <a:srgbClr val="030301"/>
                </a:solidFill>
                <a:latin typeface="宋体" panose="02010600030101010101" pitchFamily="2" charset="-122"/>
              </a:rPr>
              <a:t>，由此构造了一个树型有限自动机。</a:t>
            </a:r>
          </a:p>
          <a:p>
            <a:pPr lvl="1">
              <a:spcBef>
                <a:spcPct val="0"/>
              </a:spcBef>
              <a:buClrTx/>
            </a:pPr>
            <a:r>
              <a:rPr lang="zh-CN" altLang="en-US" b="1" dirty="0">
                <a:solidFill>
                  <a:srgbClr val="030301"/>
                </a:solidFill>
                <a:latin typeface="宋体" panose="02010600030101010101" pitchFamily="2" charset="-122"/>
              </a:rPr>
              <a:t>    在搜索查找阶段，则通过这三个函数的交叉使用扫描文本，定位出关键字在文本中的所有出现位置。</a:t>
            </a:r>
          </a:p>
          <a:p>
            <a:pPr lvl="1">
              <a:spcBef>
                <a:spcPct val="0"/>
              </a:spcBef>
              <a:buClrTx/>
            </a:pPr>
            <a:endParaRPr lang="zh-CN" altLang="en-US" b="1" dirty="0">
              <a:solidFill>
                <a:srgbClr val="030301"/>
              </a:solidFill>
              <a:latin typeface="宋体" panose="02010600030101010101" pitchFamily="2" charset="-122"/>
            </a:endParaRPr>
          </a:p>
          <a:p>
            <a:pPr lvl="1">
              <a:spcBef>
                <a:spcPct val="0"/>
              </a:spcBef>
              <a:buClrTx/>
            </a:pPr>
            <a:r>
              <a:rPr lang="zh-CN" altLang="en-US" b="1" dirty="0">
                <a:solidFill>
                  <a:srgbClr val="030301"/>
                </a:solidFill>
                <a:latin typeface="宋体" panose="02010600030101010101" pitchFamily="2" charset="-122"/>
              </a:rPr>
              <a:t>    此算法有两个特点，一个是扫描文本时完全不需要回溯，另一个是时间复杂度为</a:t>
            </a:r>
            <a:r>
              <a:rPr lang="en-US" altLang="zh-CN" b="1" i="1" dirty="0">
                <a:solidFill>
                  <a:srgbClr val="030301"/>
                </a:solidFill>
                <a:latin typeface="宋体" panose="02010600030101010101" pitchFamily="2" charset="-122"/>
              </a:rPr>
              <a:t>O</a:t>
            </a:r>
            <a:r>
              <a:rPr lang="en-US" altLang="zh-CN" b="1" dirty="0">
                <a:solidFill>
                  <a:srgbClr val="030301"/>
                </a:solidFill>
                <a:latin typeface="宋体" panose="02010600030101010101" pitchFamily="2" charset="-122"/>
              </a:rPr>
              <a:t>(</a:t>
            </a:r>
            <a:r>
              <a:rPr lang="en-US" altLang="zh-CN" b="1" i="1" dirty="0">
                <a:solidFill>
                  <a:srgbClr val="030301"/>
                </a:solidFill>
                <a:latin typeface="宋体" panose="02010600030101010101" pitchFamily="2" charset="-122"/>
              </a:rPr>
              <a:t>n</a:t>
            </a:r>
            <a:r>
              <a:rPr lang="en-US" altLang="zh-CN" b="1" dirty="0">
                <a:solidFill>
                  <a:srgbClr val="030301"/>
                </a:solidFill>
                <a:latin typeface="宋体" panose="02010600030101010101" pitchFamily="2" charset="-122"/>
              </a:rPr>
              <a:t>)</a:t>
            </a:r>
            <a:r>
              <a:rPr lang="zh-CN" altLang="en-US" b="1" dirty="0">
                <a:solidFill>
                  <a:srgbClr val="030301"/>
                </a:solidFill>
                <a:latin typeface="宋体" panose="02010600030101010101" pitchFamily="2" charset="-122"/>
              </a:rPr>
              <a:t>，时间复杂度与关键字的数目和长度无关。</a:t>
            </a:r>
          </a:p>
        </p:txBody>
      </p:sp>
      <p:sp>
        <p:nvSpPr>
          <p:cNvPr id="87042" name="Rectangle 2"/>
          <p:cNvSpPr>
            <a:spLocks noGrp="1" noRot="1" noChangeArrowheads="1"/>
          </p:cNvSpPr>
          <p:nvPr/>
        </p:nvSpPr>
        <p:spPr>
          <a:xfrm>
            <a:off x="700405"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2800" dirty="0">
                <a:effectLst>
                  <a:outerShdw blurRad="38100" dist="38100" dir="2700000">
                    <a:srgbClr val="000000"/>
                  </a:outerShdw>
                </a:effectLst>
              </a:rPr>
              <a:t>AC</a:t>
            </a:r>
            <a:r>
              <a:rPr lang="zh-CN" altLang="en-US" sz="2800" dirty="0">
                <a:effectLst>
                  <a:outerShdw blurRad="38100" dist="38100" dir="2700000">
                    <a:srgbClr val="000000"/>
                  </a:outerShdw>
                </a:effectLst>
              </a:rPr>
              <a:t>算法</a:t>
            </a:r>
            <a:r>
              <a:rPr lang="en-US" altLang="zh-CN" sz="2800" dirty="0">
                <a:effectLst>
                  <a:outerShdw blurRad="38100" dist="38100" dir="2700000">
                    <a:srgbClr val="000000"/>
                  </a:outerShdw>
                </a:effectLst>
              </a:rPr>
              <a:t>----</a:t>
            </a:r>
            <a:r>
              <a:rPr lang="zh-CN" altLang="en-US" sz="2800" dirty="0">
                <a:effectLst>
                  <a:outerShdw blurRad="38100" dist="38100" dir="2700000">
                    <a:srgbClr val="000000"/>
                  </a:outerShdw>
                </a:effectLst>
              </a:rPr>
              <a:t>有限自动机的多模式匹配算法</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89</a:t>
            </a:fld>
            <a:endParaRPr lang="en-US" altLang="zh-CN" sz="1400" dirty="0"/>
          </a:p>
        </p:txBody>
      </p:sp>
      <p:sp>
        <p:nvSpPr>
          <p:cNvPr id="79875" name="TextBox 2"/>
          <p:cNvSpPr txBox="1"/>
          <p:nvPr/>
        </p:nvSpPr>
        <p:spPr>
          <a:xfrm>
            <a:off x="448945" y="362585"/>
            <a:ext cx="8733790" cy="5631180"/>
          </a:xfrm>
          <a:prstGeom prst="rect">
            <a:avLst/>
          </a:prstGeom>
          <a:noFill/>
          <a:ln w="9525">
            <a:noFill/>
          </a:ln>
        </p:spPr>
        <p:txBody>
          <a:bodyPr wrap="square">
            <a:spAutoFit/>
          </a:bodyPr>
          <a:lstStyle/>
          <a:p>
            <a:pPr>
              <a:spcBef>
                <a:spcPct val="0"/>
              </a:spcBef>
              <a:buClrTx/>
            </a:pPr>
            <a:r>
              <a:rPr lang="zh-CN" altLang="en-US" dirty="0">
                <a:latin typeface="Arial" panose="020B0604020202020204" pitchFamily="34" charset="0"/>
              </a:rPr>
              <a:t>练习</a:t>
            </a:r>
            <a:endParaRPr lang="en-US" altLang="zh-CN" dirty="0">
              <a:latin typeface="Arial" panose="020B0604020202020204" pitchFamily="34" charset="0"/>
            </a:endParaRPr>
          </a:p>
          <a:p>
            <a:pPr>
              <a:spcBef>
                <a:spcPct val="0"/>
              </a:spcBef>
              <a:buClrTx/>
            </a:pPr>
            <a:endParaRPr lang="en-US" altLang="zh-CN" dirty="0">
              <a:latin typeface="Arial" panose="020B0604020202020204" pitchFamily="34" charset="0"/>
            </a:endParaRPr>
          </a:p>
          <a:p>
            <a:pPr>
              <a:spcBef>
                <a:spcPct val="0"/>
              </a:spcBef>
              <a:buClrTx/>
            </a:pPr>
            <a:endParaRPr lang="zh-CN" altLang="en-US" b="1" dirty="0">
              <a:solidFill>
                <a:srgbClr val="000000"/>
              </a:solidFill>
              <a:latin typeface="Arial" panose="020B0604020202020204" pitchFamily="34" charset="0"/>
            </a:endParaRPr>
          </a:p>
          <a:p>
            <a:pPr>
              <a:spcBef>
                <a:spcPct val="0"/>
              </a:spcBef>
              <a:buClrTx/>
            </a:pPr>
            <a:r>
              <a:rPr lang="en-US" altLang="zh-CN" b="1" dirty="0">
                <a:solidFill>
                  <a:srgbClr val="000000"/>
                </a:solidFill>
                <a:sym typeface="+mn-ea"/>
              </a:rPr>
              <a:t>1</a:t>
            </a:r>
            <a:r>
              <a:rPr lang="zh-CN" altLang="en-US" b="1" dirty="0">
                <a:solidFill>
                  <a:srgbClr val="000000"/>
                </a:solidFill>
                <a:sym typeface="+mn-ea"/>
              </a:rPr>
              <a:t>、知模式集</a:t>
            </a:r>
            <a:r>
              <a:rPr lang="en-US" altLang="zh-CN" b="1" dirty="0">
                <a:solidFill>
                  <a:srgbClr val="000000"/>
                </a:solidFill>
                <a:sym typeface="+mn-ea"/>
              </a:rPr>
              <a:t>{t</a:t>
            </a:r>
            <a:r>
              <a:rPr lang="en-US" altLang="zh-CN" b="1" i="1" dirty="0">
                <a:solidFill>
                  <a:srgbClr val="000000"/>
                </a:solidFill>
                <a:sym typeface="+mn-ea"/>
              </a:rPr>
              <a:t>hinner, shining, church, touching, thinking</a:t>
            </a:r>
            <a:r>
              <a:rPr lang="en-US" altLang="zh-CN" b="1" dirty="0">
                <a:solidFill>
                  <a:srgbClr val="000000"/>
                </a:solidFill>
                <a:sym typeface="+mn-ea"/>
              </a:rPr>
              <a:t>}</a:t>
            </a:r>
            <a:r>
              <a:rPr lang="zh-CN" altLang="en-US" b="1" dirty="0">
                <a:solidFill>
                  <a:srgbClr val="000000"/>
                </a:solidFill>
                <a:sym typeface="+mn-ea"/>
              </a:rPr>
              <a:t>，建立转移函数、失效函数。</a:t>
            </a:r>
            <a:endParaRPr lang="en-US" altLang="zh-CN" b="1" dirty="0">
              <a:solidFill>
                <a:srgbClr val="000000"/>
              </a:solidFill>
              <a:latin typeface="Arial" panose="020B0604020202020204" pitchFamily="34" charset="0"/>
            </a:endParaRPr>
          </a:p>
          <a:p>
            <a:pPr>
              <a:spcBef>
                <a:spcPct val="0"/>
              </a:spcBef>
              <a:buClrTx/>
            </a:pPr>
            <a:endParaRPr lang="zh-CN" altLang="en-US" b="1" dirty="0">
              <a:solidFill>
                <a:srgbClr val="000000"/>
              </a:solidFill>
              <a:latin typeface="Arial" panose="020B0604020202020204" pitchFamily="34" charset="0"/>
            </a:endParaRPr>
          </a:p>
          <a:p>
            <a:pPr>
              <a:spcBef>
                <a:spcPct val="0"/>
              </a:spcBef>
              <a:buClrTx/>
            </a:pPr>
            <a:r>
              <a:rPr lang="zh-CN" altLang="en-US" b="1" dirty="0">
                <a:solidFill>
                  <a:srgbClr val="000000"/>
                </a:solidFill>
                <a:latin typeface="Arial" panose="020B0604020202020204" pitchFamily="34" charset="0"/>
              </a:rPr>
              <a:t>问题？如何改进？</a:t>
            </a:r>
          </a:p>
          <a:p>
            <a:pPr marL="285750" indent="-285750">
              <a:spcBef>
                <a:spcPct val="0"/>
              </a:spcBef>
              <a:buClrTx/>
              <a:buFont typeface="Arial" panose="020B0604020202020204" pitchFamily="34" charset="0"/>
              <a:buChar char="•"/>
            </a:pPr>
            <a:r>
              <a:rPr lang="zh-CN" altLang="en-US" b="1" dirty="0">
                <a:solidFill>
                  <a:srgbClr val="000000"/>
                </a:solidFill>
                <a:latin typeface="Arial" panose="020B0604020202020204" pitchFamily="34" charset="0"/>
              </a:rPr>
              <a:t>倒序自动机</a:t>
            </a:r>
          </a:p>
          <a:p>
            <a:pPr marL="285750" indent="-285750">
              <a:spcBef>
                <a:spcPct val="0"/>
              </a:spcBef>
              <a:buClrTx/>
              <a:buFont typeface="Arial" panose="020B0604020202020204" pitchFamily="34" charset="0"/>
              <a:buChar char="•"/>
            </a:pPr>
            <a:r>
              <a:rPr lang="zh-CN" altLang="en-US" b="1" dirty="0">
                <a:solidFill>
                  <a:srgbClr val="000000"/>
                </a:solidFill>
                <a:latin typeface="Arial" panose="020B0604020202020204" pitchFamily="34" charset="0"/>
              </a:rPr>
              <a:t>哈希</a:t>
            </a:r>
          </a:p>
          <a:p>
            <a:pPr marL="285750" indent="-285750">
              <a:spcBef>
                <a:spcPct val="0"/>
              </a:spcBef>
              <a:buClrTx/>
              <a:buFont typeface="Arial" panose="020B0604020202020204" pitchFamily="34" charset="0"/>
              <a:buChar char="•"/>
            </a:pPr>
            <a:r>
              <a:rPr lang="zh-CN" altLang="en-US" b="1" dirty="0">
                <a:solidFill>
                  <a:srgbClr val="000000"/>
                </a:solidFill>
                <a:latin typeface="Arial" panose="020B0604020202020204" pitchFamily="34" charset="0"/>
              </a:rPr>
              <a:t>状态合并？</a:t>
            </a:r>
            <a:endParaRPr lang="en-US" altLang="zh-CN" b="1" dirty="0">
              <a:solidFill>
                <a:srgbClr val="000000"/>
              </a:solidFill>
              <a:latin typeface="Arial" panose="020B0604020202020204" pitchFamily="34" charset="0"/>
            </a:endParaRPr>
          </a:p>
          <a:p>
            <a:pPr marL="285750" indent="-285750">
              <a:spcBef>
                <a:spcPct val="0"/>
              </a:spcBef>
              <a:buClrTx/>
              <a:buFont typeface="Arial" panose="020B0604020202020204" pitchFamily="34" charset="0"/>
              <a:buChar char="•"/>
            </a:pPr>
            <a:r>
              <a:rPr lang="zh-CN" altLang="en-US" b="1" dirty="0">
                <a:solidFill>
                  <a:srgbClr val="000000"/>
                </a:solidFill>
                <a:latin typeface="Arial" panose="020B0604020202020204" pitchFamily="34" charset="0"/>
              </a:rPr>
              <a:t>加速的方法？</a:t>
            </a:r>
            <a:endParaRPr lang="en-US" altLang="zh-CN" b="1" dirty="0">
              <a:solidFill>
                <a:srgbClr val="000000"/>
              </a:solidFill>
              <a:latin typeface="Arial" panose="020B0604020202020204" pitchFamily="34" charset="0"/>
            </a:endParaRPr>
          </a:p>
          <a:p>
            <a:pPr marL="285750" indent="-285750">
              <a:spcBef>
                <a:spcPct val="0"/>
              </a:spcBef>
              <a:buClrTx/>
              <a:buFont typeface="Arial" panose="020B0604020202020204" pitchFamily="34" charset="0"/>
              <a:buChar char="•"/>
            </a:pPr>
            <a:endParaRPr lang="zh-CN" altLang="en-US" b="1" dirty="0">
              <a:solidFill>
                <a:srgbClr val="000000"/>
              </a:solidFill>
              <a:latin typeface="Arial" panose="020B0604020202020204" pitchFamily="34" charset="0"/>
            </a:endParaRPr>
          </a:p>
          <a:p>
            <a:pPr marL="285750" indent="-285750">
              <a:spcBef>
                <a:spcPct val="0"/>
              </a:spcBef>
              <a:buClrTx/>
              <a:buFont typeface="Arial" panose="020B0604020202020204" pitchFamily="34" charset="0"/>
              <a:buChar char="•"/>
            </a:pPr>
            <a:endParaRPr lang="zh-CN" altLang="en-US" b="1" dirty="0">
              <a:solidFill>
                <a:srgbClr val="000000"/>
              </a:solidFill>
              <a:latin typeface="Arial" panose="020B0604020202020204" pitchFamily="34" charset="0"/>
            </a:endParaRPr>
          </a:p>
          <a:p>
            <a:pPr marL="285750" indent="-285750">
              <a:spcBef>
                <a:spcPct val="0"/>
              </a:spcBef>
              <a:buClrTx/>
              <a:buFont typeface="Arial" panose="020B0604020202020204" pitchFamily="34" charset="0"/>
              <a:buChar char="•"/>
            </a:pPr>
            <a:endParaRPr lang="en-US" altLang="zh-CN" dirty="0">
              <a:latin typeface="Arial" panose="020B0604020202020204" pitchFamily="34" charset="0"/>
            </a:endParaRPr>
          </a:p>
          <a:p>
            <a:pPr>
              <a:spcBef>
                <a:spcPct val="0"/>
              </a:spcBef>
              <a:buClrTx/>
            </a:pPr>
            <a:endParaRPr lang="en-US" altLang="zh-CN" dirty="0">
              <a:latin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79875">
                                            <p:txEl>
                                              <p:pRg st="5" end="5"/>
                                            </p:txEl>
                                          </p:spTgt>
                                        </p:tgtEl>
                                        <p:attrNameLst>
                                          <p:attrName>style.visibility</p:attrName>
                                        </p:attrNameLst>
                                      </p:cBhvr>
                                      <p:to>
                                        <p:strVal val="visible"/>
                                      </p:to>
                                    </p:set>
                                    <p:animEffect transition="in" filter="blinds(horizontal)">
                                      <p:cBhvr>
                                        <p:cTn id="11" dur="500"/>
                                        <p:tgtEl>
                                          <p:spTgt spid="79875">
                                            <p:txEl>
                                              <p:pRg st="5" end="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9875">
                                            <p:txEl>
                                              <p:pRg st="6" end="6"/>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9875">
                                            <p:txEl>
                                              <p:pRg st="7" end="7"/>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9875">
                                            <p:txEl>
                                              <p:pRg st="8" end="8"/>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98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rcRect l="24157" t="26374" r="11603" b="53553"/>
          <a:stretch>
            <a:fillRect/>
          </a:stretch>
        </p:blipFill>
        <p:spPr>
          <a:xfrm>
            <a:off x="133350" y="1701165"/>
            <a:ext cx="8900795" cy="2121535"/>
          </a:xfrm>
          <a:prstGeom prst="rect">
            <a:avLst/>
          </a:prstGeom>
        </p:spPr>
      </p:pic>
      <p:sp>
        <p:nvSpPr>
          <p:cNvPr id="2" name="文本框 1"/>
          <p:cNvSpPr txBox="1"/>
          <p:nvPr/>
        </p:nvSpPr>
        <p:spPr>
          <a:xfrm>
            <a:off x="191135" y="2817495"/>
            <a:ext cx="708660" cy="460375"/>
          </a:xfrm>
          <a:prstGeom prst="rect">
            <a:avLst/>
          </a:prstGeom>
          <a:solidFill>
            <a:schemeClr val="bg1">
              <a:lumMod val="95000"/>
            </a:schemeClr>
          </a:solidFill>
        </p:spPr>
        <p:txBody>
          <a:bodyPr wrap="square" rtlCol="0">
            <a:spAutoFit/>
          </a:bodyPr>
          <a:lstStyle/>
          <a:p>
            <a:r>
              <a:rPr lang="en-US" altLang="zh-CN"/>
              <a:t>AC</a:t>
            </a:r>
          </a:p>
        </p:txBody>
      </p:sp>
      <p:sp>
        <p:nvSpPr>
          <p:cNvPr id="4" name="文本框 3"/>
          <p:cNvSpPr txBox="1"/>
          <p:nvPr/>
        </p:nvSpPr>
        <p:spPr>
          <a:xfrm>
            <a:off x="755650" y="4293235"/>
            <a:ext cx="5977890" cy="829945"/>
          </a:xfrm>
          <a:prstGeom prst="rect">
            <a:avLst/>
          </a:prstGeom>
          <a:noFill/>
        </p:spPr>
        <p:txBody>
          <a:bodyPr wrap="none" rtlCol="0" anchor="t">
            <a:spAutoFit/>
          </a:bodyPr>
          <a:lstStyle/>
          <a:p>
            <a:pPr marL="285750" indent="-285750">
              <a:spcBef>
                <a:spcPct val="0"/>
              </a:spcBef>
              <a:buClrTx/>
              <a:buFont typeface="Arial" panose="020B0604020202020204" pitchFamily="34" charset="0"/>
              <a:buChar char="•"/>
            </a:pPr>
            <a:r>
              <a:rPr lang="zh-CN" altLang="en-US" b="1" dirty="0">
                <a:solidFill>
                  <a:srgbClr val="000000"/>
                </a:solidFill>
                <a:sym typeface="+mn-ea"/>
              </a:rPr>
              <a:t>针对千万量级的模式集，如何并行加速？</a:t>
            </a:r>
          </a:p>
          <a:p>
            <a:pPr marL="285750" indent="-285750">
              <a:spcBef>
                <a:spcPct val="0"/>
              </a:spcBef>
              <a:buClrTx/>
              <a:buFont typeface="Arial" panose="020B0604020202020204" pitchFamily="34" charset="0"/>
              <a:buChar char="•"/>
            </a:pPr>
            <a:endParaRPr lang="zh-CN" altLang="en-US"/>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3" name="Picture 5"/>
          <p:cNvPicPr>
            <a:picLocks noChangeAspect="1"/>
          </p:cNvPicPr>
          <p:nvPr/>
        </p:nvPicPr>
        <p:blipFill>
          <a:blip r:embed="rId3"/>
          <a:stretch>
            <a:fillRect/>
          </a:stretch>
        </p:blipFill>
        <p:spPr>
          <a:xfrm>
            <a:off x="4864735" y="295910"/>
            <a:ext cx="3983990" cy="2018030"/>
          </a:xfrm>
          <a:prstGeom prst="rect">
            <a:avLst/>
          </a:prstGeom>
          <a:noFill/>
          <a:ln w="9525">
            <a:noFill/>
          </a:ln>
        </p:spPr>
      </p:pic>
      <p:graphicFrame>
        <p:nvGraphicFramePr>
          <p:cNvPr id="3" name="表格 2"/>
          <p:cNvGraphicFramePr/>
          <p:nvPr>
            <p:custDataLst>
              <p:tags r:id="rId1"/>
            </p:custDataLst>
          </p:nvPr>
        </p:nvGraphicFramePr>
        <p:xfrm>
          <a:off x="368935" y="177800"/>
          <a:ext cx="4495800" cy="5280660"/>
        </p:xfrm>
        <a:graphic>
          <a:graphicData uri="http://schemas.openxmlformats.org/drawingml/2006/table">
            <a:tbl>
              <a:tblPr firstRow="1" bandRow="1">
                <a:tableStyleId>{5C22544A-7EE6-4342-B048-85BDC9FD1C3A}</a:tableStyleId>
              </a:tblPr>
              <a:tblGrid>
                <a:gridCol w="345815">
                  <a:extLst>
                    <a:ext uri="{9D8B030D-6E8A-4147-A177-3AD203B41FA5}">
                      <a16:colId xmlns:a16="http://schemas.microsoft.com/office/drawing/2014/main" val="20000"/>
                    </a:ext>
                  </a:extLst>
                </a:gridCol>
                <a:gridCol w="345817">
                  <a:extLst>
                    <a:ext uri="{9D8B030D-6E8A-4147-A177-3AD203B41FA5}">
                      <a16:colId xmlns:a16="http://schemas.microsoft.com/office/drawing/2014/main" val="20001"/>
                    </a:ext>
                  </a:extLst>
                </a:gridCol>
                <a:gridCol w="345815">
                  <a:extLst>
                    <a:ext uri="{9D8B030D-6E8A-4147-A177-3AD203B41FA5}">
                      <a16:colId xmlns:a16="http://schemas.microsoft.com/office/drawing/2014/main" val="20002"/>
                    </a:ext>
                  </a:extLst>
                </a:gridCol>
                <a:gridCol w="317292">
                  <a:extLst>
                    <a:ext uri="{9D8B030D-6E8A-4147-A177-3AD203B41FA5}">
                      <a16:colId xmlns:a16="http://schemas.microsoft.com/office/drawing/2014/main" val="20003"/>
                    </a:ext>
                  </a:extLst>
                </a:gridCol>
                <a:gridCol w="374339">
                  <a:extLst>
                    <a:ext uri="{9D8B030D-6E8A-4147-A177-3AD203B41FA5}">
                      <a16:colId xmlns:a16="http://schemas.microsoft.com/office/drawing/2014/main" val="20004"/>
                    </a:ext>
                  </a:extLst>
                </a:gridCol>
                <a:gridCol w="345817">
                  <a:extLst>
                    <a:ext uri="{9D8B030D-6E8A-4147-A177-3AD203B41FA5}">
                      <a16:colId xmlns:a16="http://schemas.microsoft.com/office/drawing/2014/main" val="20005"/>
                    </a:ext>
                  </a:extLst>
                </a:gridCol>
                <a:gridCol w="345816">
                  <a:extLst>
                    <a:ext uri="{9D8B030D-6E8A-4147-A177-3AD203B41FA5}">
                      <a16:colId xmlns:a16="http://schemas.microsoft.com/office/drawing/2014/main" val="20006"/>
                    </a:ext>
                  </a:extLst>
                </a:gridCol>
                <a:gridCol w="345816">
                  <a:extLst>
                    <a:ext uri="{9D8B030D-6E8A-4147-A177-3AD203B41FA5}">
                      <a16:colId xmlns:a16="http://schemas.microsoft.com/office/drawing/2014/main" val="20007"/>
                    </a:ext>
                  </a:extLst>
                </a:gridCol>
                <a:gridCol w="346011">
                  <a:extLst>
                    <a:ext uri="{9D8B030D-6E8A-4147-A177-3AD203B41FA5}">
                      <a16:colId xmlns:a16="http://schemas.microsoft.com/office/drawing/2014/main" val="20008"/>
                    </a:ext>
                  </a:extLst>
                </a:gridCol>
                <a:gridCol w="346011">
                  <a:extLst>
                    <a:ext uri="{9D8B030D-6E8A-4147-A177-3AD203B41FA5}">
                      <a16:colId xmlns:a16="http://schemas.microsoft.com/office/drawing/2014/main" val="20009"/>
                    </a:ext>
                  </a:extLst>
                </a:gridCol>
                <a:gridCol w="345620">
                  <a:extLst>
                    <a:ext uri="{9D8B030D-6E8A-4147-A177-3AD203B41FA5}">
                      <a16:colId xmlns:a16="http://schemas.microsoft.com/office/drawing/2014/main" val="20010"/>
                    </a:ext>
                  </a:extLst>
                </a:gridCol>
                <a:gridCol w="345440">
                  <a:extLst>
                    <a:ext uri="{9D8B030D-6E8A-4147-A177-3AD203B41FA5}">
                      <a16:colId xmlns:a16="http://schemas.microsoft.com/office/drawing/2014/main" val="20011"/>
                    </a:ext>
                  </a:extLst>
                </a:gridCol>
                <a:gridCol w="346191">
                  <a:extLst>
                    <a:ext uri="{9D8B030D-6E8A-4147-A177-3AD203B41FA5}">
                      <a16:colId xmlns:a16="http://schemas.microsoft.com/office/drawing/2014/main" val="20012"/>
                    </a:ext>
                  </a:extLst>
                </a:gridCol>
              </a:tblGrid>
              <a:tr h="480060">
                <a:tc>
                  <a:txBody>
                    <a:bodyPr/>
                    <a:lstStyle/>
                    <a:p>
                      <a:pPr>
                        <a:buNone/>
                      </a:pPr>
                      <a:endParaRPr lang="zh-CN" altLang="en-US"/>
                    </a:p>
                  </a:txBody>
                  <a:tcPr/>
                </a:tc>
                <a:tc>
                  <a:txBody>
                    <a:bodyPr/>
                    <a:lstStyle/>
                    <a:p>
                      <a:pPr>
                        <a:buNone/>
                      </a:pPr>
                      <a:r>
                        <a:rPr lang="en-US" altLang="zh-CN"/>
                        <a:t>a</a:t>
                      </a:r>
                    </a:p>
                  </a:txBody>
                  <a:tcPr/>
                </a:tc>
                <a:tc>
                  <a:txBody>
                    <a:bodyPr/>
                    <a:lstStyle/>
                    <a:p>
                      <a:pPr>
                        <a:buNone/>
                      </a:pPr>
                      <a:r>
                        <a:rPr lang="en-US" altLang="zh-CN"/>
                        <a:t>b</a:t>
                      </a:r>
                    </a:p>
                  </a:txBody>
                  <a:tcPr/>
                </a:tc>
                <a:tc>
                  <a:txBody>
                    <a:bodyPr/>
                    <a:lstStyle/>
                    <a:p>
                      <a:pPr>
                        <a:buNone/>
                      </a:pPr>
                      <a:r>
                        <a:rPr lang="en-US" altLang="zh-CN"/>
                        <a:t>c</a:t>
                      </a:r>
                    </a:p>
                  </a:txBody>
                  <a:tcPr/>
                </a:tc>
                <a:tc>
                  <a:txBody>
                    <a:bodyPr/>
                    <a:lstStyle/>
                    <a:p>
                      <a:pPr>
                        <a:buNone/>
                      </a:pPr>
                      <a:r>
                        <a:rPr lang="en-US" altLang="zh-CN"/>
                        <a:t>d</a:t>
                      </a:r>
                    </a:p>
                  </a:txBody>
                  <a:tcPr/>
                </a:tc>
                <a:tc>
                  <a:txBody>
                    <a:bodyPr/>
                    <a:lstStyle/>
                    <a:p>
                      <a:pPr>
                        <a:buNone/>
                      </a:pPr>
                      <a:r>
                        <a:rPr lang="en-US" altLang="zh-CN"/>
                        <a:t>e</a:t>
                      </a:r>
                    </a:p>
                  </a:txBody>
                  <a:tcPr/>
                </a:tc>
                <a:tc>
                  <a:txBody>
                    <a:bodyPr/>
                    <a:lstStyle/>
                    <a:p>
                      <a:pPr>
                        <a:buNone/>
                      </a:pPr>
                      <a:r>
                        <a:rPr lang="en-US" altLang="zh-CN"/>
                        <a:t>f</a:t>
                      </a:r>
                    </a:p>
                  </a:txBody>
                  <a:tcPr/>
                </a:tc>
                <a:tc>
                  <a:txBody>
                    <a:bodyPr/>
                    <a:lstStyle/>
                    <a:p>
                      <a:pPr>
                        <a:buNone/>
                      </a:pPr>
                      <a:r>
                        <a:rPr lang="en-US" altLang="zh-CN"/>
                        <a:t>g</a:t>
                      </a:r>
                    </a:p>
                  </a:txBody>
                  <a:tcPr/>
                </a:tc>
                <a:tc>
                  <a:txBody>
                    <a:bodyPr/>
                    <a:lstStyle/>
                    <a:p>
                      <a:pPr>
                        <a:buNone/>
                      </a:pPr>
                      <a:r>
                        <a:rPr lang="en-US" altLang="zh-CN"/>
                        <a:t>h</a:t>
                      </a:r>
                    </a:p>
                  </a:txBody>
                  <a:tcPr/>
                </a:tc>
                <a:tc>
                  <a:txBody>
                    <a:bodyPr/>
                    <a:lstStyle/>
                    <a:p>
                      <a:pPr>
                        <a:buNone/>
                      </a:pPr>
                      <a:r>
                        <a:rPr lang="en-US" altLang="zh-CN"/>
                        <a:t>i</a:t>
                      </a:r>
                    </a:p>
                  </a:txBody>
                  <a:tcPr/>
                </a:tc>
                <a:tc>
                  <a:txBody>
                    <a:bodyPr/>
                    <a:lstStyle/>
                    <a:p>
                      <a:pPr>
                        <a:buNone/>
                      </a:pPr>
                      <a:r>
                        <a:rPr lang="en-US" altLang="zh-CN"/>
                        <a:t>....</a:t>
                      </a:r>
                    </a:p>
                  </a:txBody>
                  <a:tcPr/>
                </a:tc>
                <a:tc>
                  <a:txBody>
                    <a:bodyPr/>
                    <a:lstStyle/>
                    <a:p>
                      <a:pPr>
                        <a:buNone/>
                      </a:pPr>
                      <a:r>
                        <a:rPr lang="en-US" altLang="zh-CN"/>
                        <a:t>r</a:t>
                      </a:r>
                    </a:p>
                  </a:txBody>
                  <a:tcPr/>
                </a:tc>
                <a:tc>
                  <a:txBody>
                    <a:bodyPr/>
                    <a:lstStyle/>
                    <a:p>
                      <a:pPr>
                        <a:buNone/>
                      </a:pPr>
                      <a:r>
                        <a:rPr lang="en-US" altLang="zh-CN"/>
                        <a:t>s</a:t>
                      </a:r>
                    </a:p>
                  </a:txBody>
                  <a:tcPr/>
                </a:tc>
                <a:extLst>
                  <a:ext uri="{0D108BD9-81ED-4DB2-BD59-A6C34878D82A}">
                    <a16:rowId xmlns:a16="http://schemas.microsoft.com/office/drawing/2014/main" val="10000"/>
                  </a:ext>
                </a:extLst>
              </a:tr>
              <a:tr h="480060">
                <a:tc>
                  <a:txBody>
                    <a:bodyPr/>
                    <a:lstStyle/>
                    <a:p>
                      <a:pPr>
                        <a:buNone/>
                      </a:pPr>
                      <a:r>
                        <a:rPr lang="en-US" altLang="zh-CN"/>
                        <a:t>0</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1</a:t>
                      </a:r>
                    </a:p>
                  </a:txBody>
                  <a:tcPr/>
                </a:tc>
                <a:tc>
                  <a:txBody>
                    <a:bodyPr/>
                    <a:lstStyle/>
                    <a:p>
                      <a:pPr>
                        <a:buNone/>
                      </a:pPr>
                      <a:endParaRPr lang="en-US" altLang="zh-CN"/>
                    </a:p>
                  </a:txBody>
                  <a:tcPr/>
                </a:tc>
                <a:tc>
                  <a:txBody>
                    <a:bodyPr/>
                    <a:lstStyle/>
                    <a:p>
                      <a:pPr>
                        <a:buNone/>
                      </a:pPr>
                      <a:endParaRPr lang="zh-CN" altLang="en-US"/>
                    </a:p>
                  </a:txBody>
                  <a:tcPr/>
                </a:tc>
                <a:tc>
                  <a:txBody>
                    <a:bodyPr/>
                    <a:lstStyle/>
                    <a:p>
                      <a:pPr>
                        <a:buNone/>
                      </a:pPr>
                      <a:endParaRPr lang="en-US" altLang="zh-CN"/>
                    </a:p>
                  </a:txBody>
                  <a:tcPr/>
                </a:tc>
                <a:tc>
                  <a:txBody>
                    <a:bodyPr/>
                    <a:lstStyle/>
                    <a:p>
                      <a:pPr>
                        <a:buNone/>
                      </a:pPr>
                      <a:r>
                        <a:rPr lang="en-US" altLang="zh-CN"/>
                        <a:t>3</a:t>
                      </a:r>
                    </a:p>
                  </a:txBody>
                  <a:tcPr/>
                </a:tc>
                <a:extLst>
                  <a:ext uri="{0D108BD9-81ED-4DB2-BD59-A6C34878D82A}">
                    <a16:rowId xmlns:a16="http://schemas.microsoft.com/office/drawing/2014/main" val="10001"/>
                  </a:ext>
                </a:extLst>
              </a:tr>
              <a:tr h="480060">
                <a:tc>
                  <a:txBody>
                    <a:bodyPr/>
                    <a:lstStyle/>
                    <a:p>
                      <a:pPr>
                        <a:buNone/>
                      </a:pPr>
                      <a:r>
                        <a:rPr lang="en-US" altLang="zh-CN"/>
                        <a:t>1</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2</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6</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extLst>
                  <a:ext uri="{0D108BD9-81ED-4DB2-BD59-A6C34878D82A}">
                    <a16:rowId xmlns:a16="http://schemas.microsoft.com/office/drawing/2014/main" val="10002"/>
                  </a:ext>
                </a:extLst>
              </a:tr>
              <a:tr h="480060">
                <a:tc>
                  <a:txBody>
                    <a:bodyPr/>
                    <a:lstStyle/>
                    <a:p>
                      <a:pPr>
                        <a:buNone/>
                      </a:pPr>
                      <a:r>
                        <a:rPr lang="en-US" altLang="zh-CN"/>
                        <a:t>2</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8</a:t>
                      </a:r>
                    </a:p>
                  </a:txBody>
                  <a:tcPr/>
                </a:tc>
                <a:tc>
                  <a:txBody>
                    <a:bodyPr/>
                    <a:lstStyle/>
                    <a:p>
                      <a:pPr>
                        <a:buNone/>
                      </a:pPr>
                      <a:endParaRPr lang="zh-CN" altLang="en-US"/>
                    </a:p>
                  </a:txBody>
                  <a:tcPr/>
                </a:tc>
                <a:extLst>
                  <a:ext uri="{0D108BD9-81ED-4DB2-BD59-A6C34878D82A}">
                    <a16:rowId xmlns:a16="http://schemas.microsoft.com/office/drawing/2014/main" val="10003"/>
                  </a:ext>
                </a:extLst>
              </a:tr>
              <a:tr h="480060">
                <a:tc>
                  <a:txBody>
                    <a:bodyPr/>
                    <a:lstStyle/>
                    <a:p>
                      <a:pPr>
                        <a:buNone/>
                      </a:pPr>
                      <a:r>
                        <a:rPr lang="en-US" altLang="zh-CN"/>
                        <a:t>3</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4</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extLst>
                  <a:ext uri="{0D108BD9-81ED-4DB2-BD59-A6C34878D82A}">
                    <a16:rowId xmlns:a16="http://schemas.microsoft.com/office/drawing/2014/main" val="10004"/>
                  </a:ext>
                </a:extLst>
              </a:tr>
              <a:tr h="480060">
                <a:tc>
                  <a:txBody>
                    <a:bodyPr/>
                    <a:lstStyle/>
                    <a:p>
                      <a:pPr>
                        <a:buNone/>
                      </a:pPr>
                      <a:r>
                        <a:rPr lang="en-US" altLang="zh-CN"/>
                        <a:t>4</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r>
                        <a:rPr lang="en-US" altLang="zh-CN"/>
                        <a:t>5</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extLst>
                  <a:ext uri="{0D108BD9-81ED-4DB2-BD59-A6C34878D82A}">
                    <a16:rowId xmlns:a16="http://schemas.microsoft.com/office/drawing/2014/main" val="10005"/>
                  </a:ext>
                </a:extLst>
              </a:tr>
              <a:tr h="480060">
                <a:tc>
                  <a:txBody>
                    <a:bodyPr/>
                    <a:lstStyle/>
                    <a:p>
                      <a:pPr>
                        <a:buNone/>
                      </a:pPr>
                      <a:r>
                        <a:rPr lang="en-US" altLang="zh-CN"/>
                        <a:t>5</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extLst>
                  <a:ext uri="{0D108BD9-81ED-4DB2-BD59-A6C34878D82A}">
                    <a16:rowId xmlns:a16="http://schemas.microsoft.com/office/drawing/2014/main" val="10006"/>
                  </a:ext>
                </a:extLst>
              </a:tr>
              <a:tr h="480060">
                <a:tc>
                  <a:txBody>
                    <a:bodyPr/>
                    <a:lstStyle/>
                    <a:p>
                      <a:pPr>
                        <a:buNone/>
                      </a:pPr>
                      <a:r>
                        <a:rPr lang="en-US" altLang="zh-CN"/>
                        <a:t>6</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en-US" altLang="zh-CN"/>
                    </a:p>
                  </a:txBody>
                  <a:tcPr/>
                </a:tc>
                <a:tc>
                  <a:txBody>
                    <a:bodyPr/>
                    <a:lstStyle/>
                    <a:p>
                      <a:pPr>
                        <a:buNone/>
                      </a:pPr>
                      <a:r>
                        <a:rPr lang="en-US" altLang="zh-CN"/>
                        <a:t>7</a:t>
                      </a:r>
                    </a:p>
                  </a:txBody>
                  <a:tcPr/>
                </a:tc>
                <a:extLst>
                  <a:ext uri="{0D108BD9-81ED-4DB2-BD59-A6C34878D82A}">
                    <a16:rowId xmlns:a16="http://schemas.microsoft.com/office/drawing/2014/main" val="10007"/>
                  </a:ext>
                </a:extLst>
              </a:tr>
              <a:tr h="480060">
                <a:tc>
                  <a:txBody>
                    <a:bodyPr/>
                    <a:lstStyle/>
                    <a:p>
                      <a:pPr>
                        <a:buNone/>
                      </a:pPr>
                      <a:r>
                        <a:rPr lang="en-US" altLang="zh-CN"/>
                        <a:t>7</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en-US" altLang="zh-CN"/>
                    </a:p>
                  </a:txBody>
                  <a:tcPr/>
                </a:tc>
                <a:tc>
                  <a:txBody>
                    <a:bodyPr/>
                    <a:lstStyle/>
                    <a:p>
                      <a:pPr>
                        <a:buNone/>
                      </a:pPr>
                      <a:endParaRPr lang="en-US" altLang="zh-CN"/>
                    </a:p>
                  </a:txBody>
                  <a:tcPr/>
                </a:tc>
                <a:extLst>
                  <a:ext uri="{0D108BD9-81ED-4DB2-BD59-A6C34878D82A}">
                    <a16:rowId xmlns:a16="http://schemas.microsoft.com/office/drawing/2014/main" val="10008"/>
                  </a:ext>
                </a:extLst>
              </a:tr>
              <a:tr h="480060">
                <a:tc>
                  <a:txBody>
                    <a:bodyPr/>
                    <a:lstStyle/>
                    <a:p>
                      <a:pPr>
                        <a:buNone/>
                      </a:pPr>
                      <a:r>
                        <a:rPr lang="en-US" altLang="zh-CN"/>
                        <a:t>8</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en-US" altLang="zh-CN"/>
                    </a:p>
                  </a:txBody>
                  <a:tcPr/>
                </a:tc>
                <a:tc>
                  <a:txBody>
                    <a:bodyPr/>
                    <a:lstStyle/>
                    <a:p>
                      <a:pPr>
                        <a:buNone/>
                      </a:pPr>
                      <a:r>
                        <a:rPr lang="en-US" altLang="zh-CN"/>
                        <a:t>9</a:t>
                      </a:r>
                    </a:p>
                  </a:txBody>
                  <a:tcPr/>
                </a:tc>
                <a:extLst>
                  <a:ext uri="{0D108BD9-81ED-4DB2-BD59-A6C34878D82A}">
                    <a16:rowId xmlns:a16="http://schemas.microsoft.com/office/drawing/2014/main" val="10009"/>
                  </a:ext>
                </a:extLst>
              </a:tr>
              <a:tr h="480060">
                <a:tc>
                  <a:txBody>
                    <a:bodyPr/>
                    <a:lstStyle/>
                    <a:p>
                      <a:pPr>
                        <a:buNone/>
                      </a:pPr>
                      <a:r>
                        <a:rPr lang="en-US" altLang="zh-CN"/>
                        <a:t>9</a:t>
                      </a:r>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zh-CN" altLang="en-US"/>
                    </a:p>
                  </a:txBody>
                  <a:tcPr/>
                </a:tc>
                <a:tc>
                  <a:txBody>
                    <a:bodyPr/>
                    <a:lstStyle/>
                    <a:p>
                      <a:pPr>
                        <a:buNone/>
                      </a:pPr>
                      <a:endParaRPr lang="en-US" altLang="zh-CN"/>
                    </a:p>
                  </a:txBody>
                  <a:tcPr/>
                </a:tc>
                <a:tc>
                  <a:txBody>
                    <a:bodyPr/>
                    <a:lstStyle/>
                    <a:p>
                      <a:pPr>
                        <a:buNone/>
                      </a:pPr>
                      <a:endParaRPr lang="en-US" altLang="zh-CN"/>
                    </a:p>
                  </a:txBody>
                  <a:tcPr/>
                </a:tc>
                <a:extLst>
                  <a:ext uri="{0D108BD9-81ED-4DB2-BD59-A6C34878D82A}">
                    <a16:rowId xmlns:a16="http://schemas.microsoft.com/office/drawing/2014/main" val="10010"/>
                  </a:ext>
                </a:extLst>
              </a:tr>
            </a:tbl>
          </a:graphicData>
        </a:graphic>
      </p:graphicFrame>
      <p:sp>
        <p:nvSpPr>
          <p:cNvPr id="4" name="文本框 3"/>
          <p:cNvSpPr txBox="1"/>
          <p:nvPr/>
        </p:nvSpPr>
        <p:spPr>
          <a:xfrm>
            <a:off x="5113020" y="2886710"/>
            <a:ext cx="3635375" cy="1014730"/>
          </a:xfrm>
          <a:prstGeom prst="rect">
            <a:avLst/>
          </a:prstGeom>
          <a:noFill/>
        </p:spPr>
        <p:txBody>
          <a:bodyPr wrap="square" rtlCol="0">
            <a:spAutoFit/>
          </a:bodyPr>
          <a:lstStyle/>
          <a:p>
            <a:r>
              <a:rPr lang="zh-CN" altLang="en-US"/>
              <a:t>内存：｜</a:t>
            </a:r>
            <a:r>
              <a:rPr lang="en-US" altLang="zh-CN" b="1" i="1" dirty="0">
                <a:solidFill>
                  <a:srgbClr val="000000"/>
                </a:solidFill>
                <a:sym typeface="+mn-ea"/>
              </a:rPr>
              <a:t>Σ</a:t>
            </a:r>
            <a:r>
              <a:rPr lang="zh-CN" altLang="en-US"/>
              <a:t>｜</a:t>
            </a:r>
            <a:r>
              <a:rPr lang="en-US" altLang="zh-CN"/>
              <a:t>* </a:t>
            </a:r>
            <a:r>
              <a:rPr lang="zh-CN" altLang="en-US"/>
              <a:t>｜｛</a:t>
            </a:r>
            <a:r>
              <a:rPr lang="en-US" altLang="zh-CN"/>
              <a:t>P</a:t>
            </a:r>
            <a:r>
              <a:rPr lang="zh-CN" altLang="en-US"/>
              <a:t>｝｜</a:t>
            </a:r>
          </a:p>
          <a:p>
            <a:r>
              <a:rPr lang="zh-CN" altLang="en-US"/>
              <a:t>优化压缩内存？</a:t>
            </a:r>
          </a:p>
        </p:txBody>
      </p:sp>
      <p:sp>
        <p:nvSpPr>
          <p:cNvPr id="2" name="文本框 1"/>
          <p:cNvSpPr txBox="1"/>
          <p:nvPr/>
        </p:nvSpPr>
        <p:spPr>
          <a:xfrm>
            <a:off x="414020" y="5629910"/>
            <a:ext cx="8168005" cy="829945"/>
          </a:xfrm>
          <a:prstGeom prst="rect">
            <a:avLst/>
          </a:prstGeom>
          <a:noFill/>
        </p:spPr>
        <p:txBody>
          <a:bodyPr wrap="none" rtlCol="0" anchor="t">
            <a:spAutoFit/>
          </a:bodyPr>
          <a:lstStyle/>
          <a:p>
            <a:pPr marL="285750" indent="-285750">
              <a:spcBef>
                <a:spcPct val="0"/>
              </a:spcBef>
              <a:buClrTx/>
              <a:buFont typeface="Arial" panose="020B0604020202020204" pitchFamily="34" charset="0"/>
              <a:buChar char="•"/>
            </a:pPr>
            <a:r>
              <a:rPr lang="zh-CN" altLang="en-US" b="1" dirty="0">
                <a:solidFill>
                  <a:srgbClr val="000000"/>
                </a:solidFill>
                <a:sym typeface="+mn-ea"/>
              </a:rPr>
              <a:t>因为失配的概率更高，所以试图提高</a:t>
            </a:r>
            <a:r>
              <a:rPr lang="en-US" altLang="zh-CN" b="1" dirty="0">
                <a:solidFill>
                  <a:srgbClr val="000000"/>
                </a:solidFill>
                <a:sym typeface="+mn-ea"/>
              </a:rPr>
              <a:t>goto</a:t>
            </a:r>
            <a:r>
              <a:rPr lang="zh-CN" altLang="en-US" b="1" dirty="0">
                <a:solidFill>
                  <a:srgbClr val="000000"/>
                </a:solidFill>
                <a:sym typeface="+mn-ea"/>
              </a:rPr>
              <a:t>函数的查找效率</a:t>
            </a:r>
          </a:p>
          <a:p>
            <a:pPr marL="285750" indent="-285750">
              <a:spcBef>
                <a:spcPct val="0"/>
              </a:spcBef>
              <a:buClrTx/>
              <a:buFont typeface="Arial" panose="020B0604020202020204" pitchFamily="34" charset="0"/>
              <a:buChar char="•"/>
            </a:pPr>
            <a:r>
              <a:rPr lang="zh-CN" altLang="en-US" b="1" dirty="0">
                <a:solidFill>
                  <a:srgbClr val="000000"/>
                </a:solidFill>
                <a:sym typeface="+mn-ea"/>
              </a:rPr>
              <a:t>引入位图</a:t>
            </a:r>
            <a:r>
              <a:rPr lang="en-US" altLang="zh-CN" b="1" dirty="0">
                <a:solidFill>
                  <a:srgbClr val="000000"/>
                </a:solidFill>
                <a:sym typeface="+mn-ea"/>
              </a:rPr>
              <a:t>bitmap</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 grpId="0"/>
      <p:bldP spid="2" grpId="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4"/>
          <p:cNvSpPr txBox="1"/>
          <p:nvPr/>
        </p:nvSpPr>
        <p:spPr>
          <a:xfrm>
            <a:off x="611505" y="908050"/>
            <a:ext cx="8223885" cy="6692900"/>
          </a:xfrm>
          <a:prstGeom prst="rect">
            <a:avLst/>
          </a:prstGeom>
          <a:noFill/>
          <a:ln w="9525">
            <a:noFill/>
          </a:ln>
        </p:spPr>
        <p:txBody>
          <a:bodyPr wrap="square">
            <a:spAutoFit/>
          </a:bodyPr>
          <a:lstStyle/>
          <a:p>
            <a:pPr>
              <a:buClrTx/>
            </a:pPr>
            <a:r>
              <a:rPr lang="en-US" altLang="zh-CN" b="1">
                <a:solidFill>
                  <a:srgbClr val="030301"/>
                </a:solidFill>
                <a:latin typeface="Arial" panose="020B0604020202020204" pitchFamily="34" charset="0"/>
              </a:rPr>
              <a:t>       </a:t>
            </a:r>
            <a:r>
              <a:rPr lang="zh-CN" altLang="en-US" b="1">
                <a:solidFill>
                  <a:srgbClr val="030301"/>
                </a:solidFill>
                <a:latin typeface="Arial" panose="020B0604020202020204" pitchFamily="34" charset="0"/>
              </a:rPr>
              <a:t>总结分析：如何提高匹配效率？</a:t>
            </a:r>
          </a:p>
          <a:p>
            <a:pPr lvl="1">
              <a:buClrTx/>
              <a:buChar char="•"/>
            </a:pP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以史为鉴</a:t>
            </a: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：从历史过程吸取经验，找相同之处</a:t>
            </a:r>
          </a:p>
          <a:p>
            <a:pPr lvl="1">
              <a:buClrTx/>
              <a:buChar char="•"/>
            </a:pPr>
            <a:endParaRPr lang="zh-CN" altLang="en-US" b="1">
              <a:solidFill>
                <a:srgbClr val="030301"/>
              </a:solidFill>
              <a:latin typeface="Arial" panose="020B0604020202020204" pitchFamily="34" charset="0"/>
            </a:endParaRPr>
          </a:p>
          <a:p>
            <a:pPr lvl="1">
              <a:buClrTx/>
              <a:buChar char="•"/>
            </a:pPr>
            <a:endParaRPr lang="zh-CN" altLang="en-US" sz="3600" b="1">
              <a:solidFill>
                <a:srgbClr val="030301"/>
              </a:solidFill>
              <a:latin typeface="Arial" panose="020B0604020202020204" pitchFamily="34" charset="0"/>
            </a:endParaRPr>
          </a:p>
          <a:p>
            <a:pPr lvl="1">
              <a:buClrTx/>
              <a:buChar char="•"/>
            </a:pP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关注当前</a:t>
            </a: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：着眼现在，发现不同之处</a:t>
            </a:r>
          </a:p>
          <a:p>
            <a:pPr lvl="1">
              <a:buClrTx/>
              <a:buChar char="•"/>
            </a:pPr>
            <a:endParaRPr lang="zh-CN" altLang="en-US" b="1">
              <a:solidFill>
                <a:srgbClr val="030301"/>
              </a:solidFill>
              <a:latin typeface="Arial" panose="020B0604020202020204" pitchFamily="34" charset="0"/>
            </a:endParaRPr>
          </a:p>
          <a:p>
            <a:pPr lvl="1">
              <a:buClrTx/>
              <a:buChar char="•"/>
            </a:pPr>
            <a:endParaRPr lang="zh-CN" altLang="en-US" b="1">
              <a:solidFill>
                <a:srgbClr val="030301"/>
              </a:solidFill>
              <a:latin typeface="Arial" panose="020B0604020202020204" pitchFamily="34" charset="0"/>
            </a:endParaRPr>
          </a:p>
          <a:p>
            <a:pPr lvl="1">
              <a:buClrTx/>
              <a:buChar char="•"/>
            </a:pPr>
            <a:endParaRPr lang="zh-CN" altLang="en-US" b="1">
              <a:solidFill>
                <a:srgbClr val="030301"/>
              </a:solidFill>
              <a:latin typeface="Arial" panose="020B0604020202020204" pitchFamily="34" charset="0"/>
            </a:endParaRPr>
          </a:p>
          <a:p>
            <a:pPr lvl="1">
              <a:buClrTx/>
              <a:buChar char="•"/>
            </a:pP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预测未来</a:t>
            </a: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：失配概率高，优化空间</a:t>
            </a:r>
          </a:p>
          <a:p>
            <a:pPr lvl="1">
              <a:buClrTx/>
              <a:buChar char="•"/>
            </a:pP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早做准备</a:t>
            </a:r>
            <a:r>
              <a:rPr lang="en-US" altLang="zh-CN" b="1">
                <a:solidFill>
                  <a:srgbClr val="030301"/>
                </a:solidFill>
                <a:latin typeface="Arial" panose="020B0604020202020204" pitchFamily="34" charset="0"/>
              </a:rPr>
              <a:t>”</a:t>
            </a:r>
            <a:r>
              <a:rPr lang="zh-CN" altLang="en-US" b="1">
                <a:solidFill>
                  <a:srgbClr val="030301"/>
                </a:solidFill>
                <a:latin typeface="Arial" panose="020B0604020202020204" pitchFamily="34" charset="0"/>
              </a:rPr>
              <a:t>：提前总结知识，确保运行最快</a:t>
            </a:r>
          </a:p>
          <a:p>
            <a:pPr lvl="1">
              <a:buClrTx/>
              <a:buChar char="•"/>
            </a:pPr>
            <a:endParaRPr lang="zh-CN" altLang="en-US" b="1">
              <a:solidFill>
                <a:srgbClr val="030301"/>
              </a:solidFill>
              <a:latin typeface="Arial" panose="020B0604020202020204" pitchFamily="34" charset="0"/>
            </a:endParaRPr>
          </a:p>
          <a:p>
            <a:pPr>
              <a:buClrTx/>
            </a:pPr>
            <a:endParaRPr lang="en-US" altLang="zh-CN" sz="1800">
              <a:latin typeface="Arial" panose="020B0604020202020204" pitchFamily="34" charset="0"/>
            </a:endParaRPr>
          </a:p>
        </p:txBody>
      </p:sp>
      <p:grpSp>
        <p:nvGrpSpPr>
          <p:cNvPr id="16" name="组合 15"/>
          <p:cNvGrpSpPr/>
          <p:nvPr/>
        </p:nvGrpSpPr>
        <p:grpSpPr>
          <a:xfrm>
            <a:off x="1417320" y="1846580"/>
            <a:ext cx="7051040" cy="1438221"/>
            <a:chOff x="2232" y="2908"/>
            <a:chExt cx="11104" cy="2639"/>
          </a:xfrm>
        </p:grpSpPr>
        <p:sp>
          <p:nvSpPr>
            <p:cNvPr id="2" name="矩形 1"/>
            <p:cNvSpPr/>
            <p:nvPr/>
          </p:nvSpPr>
          <p:spPr>
            <a:xfrm>
              <a:off x="2232" y="3359"/>
              <a:ext cx="5171" cy="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矩形 2"/>
            <p:cNvSpPr/>
            <p:nvPr/>
          </p:nvSpPr>
          <p:spPr>
            <a:xfrm>
              <a:off x="7404" y="3333"/>
              <a:ext cx="5932" cy="68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矩形 5"/>
            <p:cNvSpPr/>
            <p:nvPr/>
          </p:nvSpPr>
          <p:spPr>
            <a:xfrm>
              <a:off x="5024" y="4397"/>
              <a:ext cx="3609" cy="68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p:nvSpPr>
          <p:spPr>
            <a:xfrm>
              <a:off x="4998" y="3354"/>
              <a:ext cx="2381" cy="68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9" name="直接连接符 8"/>
            <p:cNvCxnSpPr/>
            <p:nvPr/>
          </p:nvCxnSpPr>
          <p:spPr>
            <a:xfrm>
              <a:off x="7370" y="2908"/>
              <a:ext cx="57" cy="2639"/>
            </a:xfrm>
            <a:prstGeom prst="line">
              <a:avLst/>
            </a:prstGeom>
            <a:ln w="28575" cmpd="sng">
              <a:solidFill>
                <a:srgbClr val="FF0000"/>
              </a:solidFill>
              <a:prstDash val="sysDash"/>
            </a:ln>
          </p:spPr>
          <p:style>
            <a:lnRef idx="2">
              <a:schemeClr val="accent4"/>
            </a:lnRef>
            <a:fillRef idx="0">
              <a:schemeClr val="accent4"/>
            </a:fillRef>
            <a:effectRef idx="1">
              <a:schemeClr val="accent4"/>
            </a:effectRef>
            <a:fontRef idx="minor">
              <a:schemeClr val="tx1"/>
            </a:fontRef>
          </p:style>
        </p:cxnSp>
      </p:grpSp>
      <p:grpSp>
        <p:nvGrpSpPr>
          <p:cNvPr id="15" name="组合 14"/>
          <p:cNvGrpSpPr/>
          <p:nvPr/>
        </p:nvGrpSpPr>
        <p:grpSpPr>
          <a:xfrm>
            <a:off x="1400810" y="4109085"/>
            <a:ext cx="7051040" cy="934085"/>
            <a:chOff x="2206" y="7036"/>
            <a:chExt cx="11104" cy="1744"/>
          </a:xfrm>
        </p:grpSpPr>
        <p:sp>
          <p:nvSpPr>
            <p:cNvPr id="4" name="矩形 3"/>
            <p:cNvSpPr/>
            <p:nvPr/>
          </p:nvSpPr>
          <p:spPr>
            <a:xfrm>
              <a:off x="2206" y="7062"/>
              <a:ext cx="5932" cy="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矩形 4"/>
            <p:cNvSpPr/>
            <p:nvPr/>
          </p:nvSpPr>
          <p:spPr>
            <a:xfrm>
              <a:off x="7378" y="7036"/>
              <a:ext cx="5932" cy="68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 name="矩形 9"/>
            <p:cNvSpPr/>
            <p:nvPr/>
          </p:nvSpPr>
          <p:spPr>
            <a:xfrm>
              <a:off x="4998" y="8100"/>
              <a:ext cx="3609" cy="68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p:nvSpPr>
          <p:spPr>
            <a:xfrm>
              <a:off x="4972" y="7057"/>
              <a:ext cx="2381" cy="68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3" name="矩形 12"/>
            <p:cNvSpPr/>
            <p:nvPr/>
          </p:nvSpPr>
          <p:spPr>
            <a:xfrm>
              <a:off x="7345" y="7057"/>
              <a:ext cx="221" cy="681"/>
            </a:xfrm>
            <a:prstGeom prst="rect">
              <a:avLst/>
            </a:prstGeom>
            <a:gradFill>
              <a:gsLst>
                <a:gs pos="0">
                  <a:srgbClr val="E30000"/>
                </a:gs>
                <a:gs pos="100000">
                  <a:srgbClr val="760303"/>
                </a:gs>
              </a:gsLst>
              <a:lin ang="5400000" scaled="0"/>
            </a:gra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pSp>
      <p:sp>
        <p:nvSpPr>
          <p:cNvPr id="14" name="文本框 13"/>
          <p:cNvSpPr txBox="1"/>
          <p:nvPr/>
        </p:nvSpPr>
        <p:spPr>
          <a:xfrm>
            <a:off x="247650" y="2078355"/>
            <a:ext cx="1286510" cy="1129665"/>
          </a:xfrm>
          <a:prstGeom prst="rect">
            <a:avLst/>
          </a:prstGeom>
          <a:noFill/>
        </p:spPr>
        <p:txBody>
          <a:bodyPr wrap="square" rtlCol="0">
            <a:spAutoFit/>
          </a:bodyPr>
          <a:lstStyle/>
          <a:p>
            <a:r>
              <a:rPr lang="en-US" altLang="zh-CN"/>
              <a:t>“</a:t>
            </a:r>
            <a:r>
              <a:rPr lang="zh-CN" altLang="en-US"/>
              <a:t>我</a:t>
            </a:r>
            <a:r>
              <a:rPr lang="en-US" altLang="zh-CN"/>
              <a:t>”</a:t>
            </a:r>
          </a:p>
          <a:p>
            <a:endParaRPr lang="en-US" altLang="zh-CN" sz="500"/>
          </a:p>
          <a:p>
            <a:r>
              <a:rPr lang="en-US" altLang="zh-CN"/>
              <a:t>“</a:t>
            </a:r>
            <a:r>
              <a:rPr lang="zh-CN" altLang="en-US"/>
              <a:t>尺子</a:t>
            </a:r>
            <a:r>
              <a:rPr lang="en-US" altLang="zh-CN"/>
              <a:t>”</a:t>
            </a:r>
          </a:p>
        </p:txBody>
      </p:sp>
      <p:cxnSp>
        <p:nvCxnSpPr>
          <p:cNvPr id="12" name="直接连接符 11"/>
          <p:cNvCxnSpPr/>
          <p:nvPr/>
        </p:nvCxnSpPr>
        <p:spPr>
          <a:xfrm>
            <a:off x="4663440" y="3839210"/>
            <a:ext cx="52705" cy="1605915"/>
          </a:xfrm>
          <a:prstGeom prst="line">
            <a:avLst/>
          </a:prstGeom>
          <a:ln w="28575" cmpd="sng">
            <a:solidFill>
              <a:srgbClr val="FF0000"/>
            </a:solidFill>
            <a:prstDash val="sysDash"/>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93</a:t>
            </a:fld>
            <a:endParaRPr lang="en-US" altLang="zh-CN" sz="1400" dirty="0"/>
          </a:p>
        </p:txBody>
      </p:sp>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
        <p:nvSpPr>
          <p:cNvPr id="184323" name="Rectangle 3"/>
          <p:cNvSpPr>
            <a:spLocks noGrp="1" noRot="1"/>
          </p:cNvSpPr>
          <p:nvPr>
            <p:ph idx="1"/>
          </p:nvPr>
        </p:nvSpPr>
        <p:spPr/>
        <p:txBody>
          <a:bodyPr vert="horz" wrap="square" lIns="91440" tIns="45720" rIns="91440" bIns="45720" anchor="t"/>
          <a:lstStyle/>
          <a:p>
            <a:pPr eaLnBrk="1" hangingPunct="1">
              <a:lnSpc>
                <a:spcPct val="120000"/>
              </a:lnSpc>
            </a:pPr>
            <a:r>
              <a:rPr lang="en-US" altLang="zh-CN" sz="2400" b="1" dirty="0"/>
              <a:t>Wu-Manber</a:t>
            </a:r>
            <a:r>
              <a:rPr lang="zh-CN" altLang="en-US" sz="2400" b="1" dirty="0"/>
              <a:t>算法是</a:t>
            </a:r>
            <a:r>
              <a:rPr lang="en-US" altLang="zh-CN" sz="2400" b="1" dirty="0">
                <a:solidFill>
                  <a:srgbClr val="C00000"/>
                </a:solidFill>
              </a:rPr>
              <a:t>1992</a:t>
            </a:r>
            <a:r>
              <a:rPr lang="zh-CN" altLang="en-US" sz="2400" b="1" dirty="0">
                <a:solidFill>
                  <a:srgbClr val="C00000"/>
                </a:solidFill>
              </a:rPr>
              <a:t>年</a:t>
            </a:r>
            <a:r>
              <a:rPr lang="zh-CN" altLang="en-US" sz="2400" b="1" dirty="0"/>
              <a:t>台湾学者</a:t>
            </a:r>
            <a:r>
              <a:rPr lang="zh-CN" altLang="en-US" sz="2400" b="1" dirty="0">
                <a:solidFill>
                  <a:srgbClr val="C00000"/>
                </a:solidFill>
              </a:rPr>
              <a:t>吴升</a:t>
            </a:r>
            <a:r>
              <a:rPr lang="zh-CN" altLang="en-US" sz="2400" b="1" dirty="0"/>
              <a:t>发明，是模式中最为著名的快速匹配算法之一，采用了跳跃不可能匹配的字符策略和</a:t>
            </a:r>
            <a:r>
              <a:rPr lang="en-US" altLang="zh-CN" sz="2400" b="1" dirty="0"/>
              <a:t>hash</a:t>
            </a:r>
            <a:r>
              <a:rPr lang="zh-CN" altLang="en-US" sz="2400" b="1" dirty="0"/>
              <a:t>散列的方法，对处理大规模的多关键字匹配问题有很好的效果。</a:t>
            </a:r>
          </a:p>
          <a:p>
            <a:pPr eaLnBrk="1" hangingPunct="1">
              <a:lnSpc>
                <a:spcPct val="120000"/>
              </a:lnSpc>
            </a:pPr>
            <a:r>
              <a:rPr lang="zh-CN" altLang="en-US" sz="2400" b="1" dirty="0">
                <a:solidFill>
                  <a:srgbClr val="000000"/>
                </a:solidFill>
                <a:latin typeface="宋体" panose="02010600030101010101" pitchFamily="2" charset="-122"/>
                <a:sym typeface="+mn-ea"/>
              </a:rPr>
              <a:t>利用哈希（</a:t>
            </a:r>
            <a:r>
              <a:rPr lang="en-US" altLang="zh-CN" sz="2400" b="1" dirty="0">
                <a:solidFill>
                  <a:srgbClr val="000000"/>
                </a:solidFill>
                <a:latin typeface="宋体" panose="02010600030101010101" pitchFamily="2" charset="-122"/>
                <a:sym typeface="+mn-ea"/>
              </a:rPr>
              <a:t>Hashing</a:t>
            </a:r>
            <a:r>
              <a:rPr lang="zh-CN" altLang="en-US" sz="2400" b="1" dirty="0">
                <a:solidFill>
                  <a:srgbClr val="000000"/>
                </a:solidFill>
                <a:latin typeface="宋体" panose="02010600030101010101" pitchFamily="2" charset="-122"/>
                <a:sym typeface="+mn-ea"/>
              </a:rPr>
              <a:t>）方法进行串查找，最早是在</a:t>
            </a:r>
            <a:r>
              <a:rPr lang="en-US" altLang="zh-CN" sz="2400" b="1" dirty="0">
                <a:solidFill>
                  <a:srgbClr val="000000"/>
                </a:solidFill>
                <a:latin typeface="宋体" panose="02010600030101010101" pitchFamily="2" charset="-122"/>
                <a:sym typeface="+mn-ea"/>
              </a:rPr>
              <a:t>1971</a:t>
            </a:r>
            <a:r>
              <a:rPr lang="zh-CN" altLang="en-US" sz="2400" b="1" dirty="0">
                <a:solidFill>
                  <a:srgbClr val="000000"/>
                </a:solidFill>
                <a:latin typeface="宋体" panose="02010600030101010101" pitchFamily="2" charset="-122"/>
                <a:sym typeface="+mn-ea"/>
              </a:rPr>
              <a:t>年被</a:t>
            </a:r>
            <a:r>
              <a:rPr lang="en-US" altLang="zh-CN" sz="2400" b="1" dirty="0">
                <a:solidFill>
                  <a:srgbClr val="000000"/>
                </a:solidFill>
                <a:latin typeface="宋体" panose="02010600030101010101" pitchFamily="2" charset="-122"/>
                <a:sym typeface="+mn-ea"/>
              </a:rPr>
              <a:t>Harrison</a:t>
            </a:r>
            <a:r>
              <a:rPr lang="zh-CN" altLang="en-US" sz="2400" b="1" dirty="0">
                <a:solidFill>
                  <a:srgbClr val="000000"/>
                </a:solidFill>
                <a:latin typeface="宋体" panose="02010600030101010101" pitchFamily="2" charset="-122"/>
                <a:sym typeface="+mn-ea"/>
              </a:rPr>
              <a:t>介绍，之后得到了充分的分析。</a:t>
            </a:r>
            <a:r>
              <a:rPr lang="en-US" altLang="zh-CN" sz="2400" b="1" dirty="0">
                <a:solidFill>
                  <a:srgbClr val="000000"/>
                </a:solidFill>
                <a:latin typeface="宋体" panose="02010600030101010101" pitchFamily="2" charset="-122"/>
                <a:sym typeface="+mn-ea"/>
              </a:rPr>
              <a:t>1992</a:t>
            </a:r>
            <a:r>
              <a:rPr lang="zh-CN" altLang="en-US" sz="2400" b="1" dirty="0">
                <a:solidFill>
                  <a:srgbClr val="000000"/>
                </a:solidFill>
                <a:latin typeface="宋体" panose="02010600030101010101" pitchFamily="2" charset="-122"/>
                <a:sym typeface="+mn-ea"/>
              </a:rPr>
              <a:t>年到</a:t>
            </a:r>
            <a:r>
              <a:rPr lang="en-US" altLang="zh-CN" sz="2400" b="1" dirty="0">
                <a:solidFill>
                  <a:srgbClr val="000000"/>
                </a:solidFill>
                <a:latin typeface="宋体" panose="02010600030101010101" pitchFamily="2" charset="-122"/>
                <a:sym typeface="+mn-ea"/>
              </a:rPr>
              <a:t>1996</a:t>
            </a:r>
            <a:r>
              <a:rPr lang="zh-CN" altLang="en-US" sz="2400" b="1" dirty="0">
                <a:solidFill>
                  <a:srgbClr val="000000"/>
                </a:solidFill>
                <a:latin typeface="宋体" panose="02010600030101010101" pitchFamily="2" charset="-122"/>
                <a:sym typeface="+mn-ea"/>
              </a:rPr>
              <a:t>年，台湾人</a:t>
            </a:r>
            <a:r>
              <a:rPr lang="en-US" altLang="zh-CN" sz="2400" b="1" dirty="0">
                <a:solidFill>
                  <a:srgbClr val="000000"/>
                </a:solidFill>
                <a:latin typeface="宋体" panose="02010600030101010101" pitchFamily="2" charset="-122"/>
                <a:sym typeface="+mn-ea"/>
              </a:rPr>
              <a:t>Sun </a:t>
            </a:r>
            <a:r>
              <a:rPr lang="en-US" altLang="zh-CN" sz="2400" b="1" dirty="0">
                <a:solidFill>
                  <a:srgbClr val="C00000"/>
                </a:solidFill>
                <a:latin typeface="宋体" panose="02010600030101010101" pitchFamily="2" charset="-122"/>
                <a:sym typeface="+mn-ea"/>
              </a:rPr>
              <a:t>Wu</a:t>
            </a:r>
            <a:r>
              <a:rPr lang="zh-CN" altLang="en-US" sz="2400" b="1" dirty="0">
                <a:solidFill>
                  <a:srgbClr val="000000"/>
                </a:solidFill>
                <a:latin typeface="宋体" panose="02010600030101010101" pitchFamily="2" charset="-122"/>
                <a:sym typeface="+mn-ea"/>
              </a:rPr>
              <a:t>和他的导师</a:t>
            </a:r>
            <a:r>
              <a:rPr lang="en-US" altLang="zh-CN" sz="2400" b="1" dirty="0">
                <a:solidFill>
                  <a:srgbClr val="000000"/>
                </a:solidFill>
                <a:latin typeface="宋体" panose="02010600030101010101" pitchFamily="2" charset="-122"/>
                <a:sym typeface="+mn-ea"/>
              </a:rPr>
              <a:t>Udi </a:t>
            </a:r>
            <a:r>
              <a:rPr lang="en-US" altLang="zh-CN" sz="2400" b="1" dirty="0">
                <a:solidFill>
                  <a:srgbClr val="C00000"/>
                </a:solidFill>
                <a:latin typeface="宋体" panose="02010600030101010101" pitchFamily="2" charset="-122"/>
                <a:sym typeface="+mn-ea"/>
              </a:rPr>
              <a:t>Manber</a:t>
            </a:r>
            <a:r>
              <a:rPr lang="zh-CN" altLang="en-US" sz="2400" b="1" dirty="0">
                <a:solidFill>
                  <a:srgbClr val="000000"/>
                </a:solidFill>
                <a:latin typeface="宋体" panose="02010600030101010101" pitchFamily="2" charset="-122"/>
                <a:sym typeface="+mn-ea"/>
              </a:rPr>
              <a:t>发表了一系列的论文 ，详细地介绍了他们设计的匹配算法，并用此算法实现了一个</a:t>
            </a:r>
            <a:r>
              <a:rPr lang="en-US" altLang="zh-CN" sz="2400" b="1" dirty="0">
                <a:solidFill>
                  <a:srgbClr val="000000"/>
                </a:solidFill>
                <a:latin typeface="宋体" panose="02010600030101010101" pitchFamily="2" charset="-122"/>
                <a:sym typeface="+mn-ea"/>
              </a:rPr>
              <a:t>Unix</a:t>
            </a:r>
            <a:r>
              <a:rPr lang="zh-CN" altLang="en-US" sz="2400" b="1" dirty="0">
                <a:solidFill>
                  <a:srgbClr val="000000"/>
                </a:solidFill>
                <a:latin typeface="宋体" panose="02010600030101010101" pitchFamily="2" charset="-122"/>
                <a:sym typeface="+mn-ea"/>
              </a:rPr>
              <a:t>下类似</a:t>
            </a:r>
            <a:r>
              <a:rPr lang="en-US" altLang="zh-CN" sz="2400" b="1" dirty="0">
                <a:solidFill>
                  <a:srgbClr val="000000"/>
                </a:solidFill>
                <a:latin typeface="宋体" panose="02010600030101010101" pitchFamily="2" charset="-122"/>
                <a:sym typeface="+mn-ea"/>
              </a:rPr>
              <a:t>fgrep</a:t>
            </a:r>
            <a:r>
              <a:rPr lang="zh-CN" altLang="en-US" sz="2400" b="1" dirty="0">
                <a:solidFill>
                  <a:srgbClr val="000000"/>
                </a:solidFill>
                <a:latin typeface="宋体" panose="02010600030101010101" pitchFamily="2" charset="-122"/>
                <a:sym typeface="+mn-ea"/>
              </a:rPr>
              <a:t>的工具：</a:t>
            </a:r>
            <a:r>
              <a:rPr lang="en-US" altLang="zh-CN" sz="2400" b="1" dirty="0">
                <a:solidFill>
                  <a:srgbClr val="000000"/>
                </a:solidFill>
                <a:latin typeface="宋体" panose="02010600030101010101" pitchFamily="2" charset="-122"/>
                <a:sym typeface="+mn-ea"/>
              </a:rPr>
              <a:t>agrep</a:t>
            </a:r>
            <a:r>
              <a:rPr lang="zh-CN" altLang="en-US" sz="2400" b="1" dirty="0">
                <a:solidFill>
                  <a:srgbClr val="000000"/>
                </a:solidFill>
                <a:latin typeface="宋体" panose="02010600030101010101" pitchFamily="2" charset="-122"/>
                <a:sym typeface="+mn-ea"/>
              </a:rPr>
              <a:t>。        </a:t>
            </a:r>
            <a:endParaRPr lang="zh-CN" altLang="en-US" sz="2400" b="1" dirty="0">
              <a:solidFill>
                <a:srgbClr val="000000"/>
              </a:solidFill>
              <a:latin typeface="宋体" panose="02010600030101010101" pitchFamily="2" charset="-122"/>
            </a:endParaRPr>
          </a:p>
          <a:p>
            <a:pPr eaLnBrk="1" hangingPunct="1">
              <a:lnSpc>
                <a:spcPct val="120000"/>
              </a:lnSpc>
            </a:pPr>
            <a:endParaRPr lang="zh-CN" altLang="en-US" sz="2400" b="1" dirty="0"/>
          </a:p>
          <a:p>
            <a:pPr eaLnBrk="1" hangingPunct="1">
              <a:buNone/>
            </a:pPr>
            <a:endParaRPr lang="en-US" altLang="zh-CN" b="1" dirty="0"/>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94</a:t>
            </a:fld>
            <a:endParaRPr lang="en-US" altLang="zh-CN" sz="1400" dirty="0"/>
          </a:p>
        </p:txBody>
      </p:sp>
      <p:sp>
        <p:nvSpPr>
          <p:cNvPr id="186370" name="Rectangle 4"/>
          <p:cNvSpPr>
            <a:spLocks noGrp="1" noRot="1"/>
          </p:cNvSpPr>
          <p:nvPr>
            <p:ph idx="1"/>
          </p:nvPr>
        </p:nvSpPr>
        <p:spPr>
          <a:xfrm>
            <a:off x="628650" y="1308100"/>
            <a:ext cx="7886700" cy="5156200"/>
          </a:xfrm>
        </p:spPr>
        <p:txBody>
          <a:bodyPr vert="horz" wrap="square" lIns="91440" tIns="45720" rIns="91440" bIns="45720" anchor="t">
            <a:noAutofit/>
          </a:bodyPr>
          <a:lstStyle/>
          <a:p>
            <a:pPr eaLnBrk="1" hangingPunct="1">
              <a:lnSpc>
                <a:spcPct val="150000"/>
              </a:lnSpc>
            </a:pPr>
            <a:r>
              <a:rPr lang="zh-CN" altLang="en-US" sz="2000" b="1" dirty="0"/>
              <a:t>前面我们曾提到，</a:t>
            </a:r>
            <a:r>
              <a:rPr lang="en-US" altLang="zh-CN" sz="2000" b="1" dirty="0"/>
              <a:t>mgrep</a:t>
            </a:r>
            <a:r>
              <a:rPr lang="zh-CN" altLang="en-US" sz="2000" b="1" dirty="0"/>
              <a:t>算法是</a:t>
            </a:r>
            <a:r>
              <a:rPr lang="en-US" altLang="zh-CN" sz="2000" b="1" dirty="0"/>
              <a:t>BM</a:t>
            </a:r>
            <a:r>
              <a:rPr lang="zh-CN" altLang="en-US" sz="2000" b="1" dirty="0"/>
              <a:t>算法思想在多模式匹配问题中的推广。首先回顾一下</a:t>
            </a:r>
            <a:r>
              <a:rPr lang="en-US" altLang="zh-CN" sz="2000" b="1" dirty="0"/>
              <a:t>BM</a:t>
            </a:r>
            <a:r>
              <a:rPr lang="zh-CN" altLang="en-US" sz="2000" b="1" dirty="0"/>
              <a:t>算法的基本思想。</a:t>
            </a:r>
          </a:p>
          <a:p>
            <a:pPr eaLnBrk="1" hangingPunct="1">
              <a:lnSpc>
                <a:spcPct val="150000"/>
              </a:lnSpc>
            </a:pPr>
            <a:r>
              <a:rPr lang="zh-CN" altLang="en-US" sz="2000" b="1" dirty="0"/>
              <a:t>假定模式长度为</a:t>
            </a:r>
            <a:r>
              <a:rPr lang="en-US" altLang="zh-CN" sz="2000" b="1" dirty="0"/>
              <a:t>m</a:t>
            </a:r>
            <a:r>
              <a:rPr lang="zh-CN" altLang="en-US" sz="2000" b="1" dirty="0"/>
              <a:t>，我们开始时先比较模式最后一个字符和文本中第</a:t>
            </a:r>
            <a:r>
              <a:rPr lang="en-US" altLang="zh-CN" sz="2000" b="1" dirty="0"/>
              <a:t>m</a:t>
            </a:r>
            <a:r>
              <a:rPr lang="zh-CN" altLang="en-US" sz="2000" b="1" dirty="0"/>
              <a:t>个字符</a:t>
            </a:r>
            <a:r>
              <a:rPr lang="en-US" altLang="zh-CN" sz="2000" b="1" dirty="0"/>
              <a:t>y</a:t>
            </a:r>
            <a:r>
              <a:rPr lang="en-US" altLang="zh-CN" sz="2000" b="1" i="1" baseline="-25000" dirty="0"/>
              <a:t>m</a:t>
            </a:r>
            <a:r>
              <a:rPr lang="zh-CN" altLang="en-US" sz="2000" b="1" dirty="0"/>
              <a:t>。如果不匹配（在大多数文本中不匹配的可能性要比匹配的可能性大得多），则我们就可以根据</a:t>
            </a:r>
            <a:r>
              <a:rPr lang="en-US" altLang="zh-CN" sz="2000" b="1" dirty="0"/>
              <a:t>y</a:t>
            </a:r>
            <a:r>
              <a:rPr lang="en-US" altLang="zh-CN" sz="2000" b="1" i="1" baseline="-25000" dirty="0"/>
              <a:t>m</a:t>
            </a:r>
            <a:r>
              <a:rPr lang="zh-CN" altLang="en-US" sz="2000" b="1" dirty="0"/>
              <a:t>在模式中出现的最右位置来移动模式。例如，如果</a:t>
            </a:r>
            <a:r>
              <a:rPr lang="en-US" altLang="zh-CN" sz="2000" b="1" dirty="0"/>
              <a:t>y</a:t>
            </a:r>
            <a:r>
              <a:rPr lang="en-US" altLang="zh-CN" sz="2000" b="1" i="1" baseline="-25000" dirty="0"/>
              <a:t>m</a:t>
            </a:r>
            <a:r>
              <a:rPr lang="zh-CN" altLang="en-US" sz="2000" b="1" dirty="0"/>
              <a:t>未在模式中出现，我们可以安全将文本指针向前移动</a:t>
            </a:r>
            <a:r>
              <a:rPr lang="en-US" altLang="zh-CN" sz="2000" b="1" dirty="0"/>
              <a:t>m</a:t>
            </a:r>
            <a:r>
              <a:rPr lang="zh-CN" altLang="en-US" sz="2000" b="1" dirty="0"/>
              <a:t>个字符位置，下一次看</a:t>
            </a:r>
            <a:r>
              <a:rPr lang="en-US" altLang="zh-CN" sz="2000" b="1" dirty="0"/>
              <a:t>y</a:t>
            </a:r>
            <a:r>
              <a:rPr lang="en-US" altLang="zh-CN" sz="2000" b="1" i="1" baseline="-25000" dirty="0"/>
              <a:t>2m</a:t>
            </a:r>
            <a:r>
              <a:rPr lang="zh-CN" altLang="en-US" sz="2000" b="1" dirty="0"/>
              <a:t>；如果</a:t>
            </a:r>
            <a:r>
              <a:rPr lang="en-US" altLang="zh-CN" sz="2000" b="1" dirty="0"/>
              <a:t>y</a:t>
            </a:r>
            <a:r>
              <a:rPr lang="en-US" altLang="zh-CN" sz="2000" b="1" i="1" baseline="-25000" dirty="0"/>
              <a:t>m</a:t>
            </a:r>
            <a:r>
              <a:rPr lang="zh-CN" altLang="en-US" sz="2000" b="1" dirty="0"/>
              <a:t>仅匹配模式中第</a:t>
            </a:r>
            <a:r>
              <a:rPr lang="en-US" altLang="zh-CN" sz="2000" b="1" dirty="0"/>
              <a:t>4</a:t>
            </a:r>
            <a:r>
              <a:rPr lang="zh-CN" altLang="en-US" sz="2000" b="1" dirty="0"/>
              <a:t>个子符，则我们可以向前移动</a:t>
            </a:r>
            <a:r>
              <a:rPr lang="en-US" altLang="zh-CN" sz="2000" b="1" dirty="0"/>
              <a:t>m-4</a:t>
            </a:r>
            <a:r>
              <a:rPr lang="zh-CN" altLang="en-US" sz="2000" b="1" dirty="0"/>
              <a:t>个字符等等。在自然语言文本中，大多数时间都可以移动</a:t>
            </a:r>
            <a:r>
              <a:rPr lang="en-US" altLang="zh-CN" sz="2000" b="1" dirty="0"/>
              <a:t>m</a:t>
            </a:r>
            <a:r>
              <a:rPr lang="zh-CN" altLang="en-US" sz="2000" b="1" dirty="0"/>
              <a:t>或接近</a:t>
            </a:r>
            <a:r>
              <a:rPr lang="en-US" altLang="zh-CN" sz="2000" b="1" dirty="0"/>
              <a:t>m</a:t>
            </a:r>
            <a:r>
              <a:rPr lang="zh-CN" altLang="en-US" sz="2000" b="1" dirty="0"/>
              <a:t>个字符，因此算法的速度非常快。</a:t>
            </a:r>
            <a:r>
              <a:rPr lang="zh-CN" altLang="en-US" sz="1800" b="1" dirty="0"/>
              <a:t> </a:t>
            </a:r>
          </a:p>
        </p:txBody>
      </p:sp>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95</a:t>
            </a:fld>
            <a:endParaRPr lang="en-US" altLang="zh-CN" sz="1400" dirty="0"/>
          </a:p>
        </p:txBody>
      </p:sp>
      <p:sp>
        <p:nvSpPr>
          <p:cNvPr id="188418" name="Rectangle 3"/>
          <p:cNvSpPr>
            <a:spLocks noGrp="1" noRot="1"/>
          </p:cNvSpPr>
          <p:nvPr>
            <p:ph idx="1"/>
          </p:nvPr>
        </p:nvSpPr>
        <p:spPr>
          <a:xfrm>
            <a:off x="628650" y="1416050"/>
            <a:ext cx="7886700" cy="4761230"/>
          </a:xfrm>
        </p:spPr>
        <p:txBody>
          <a:bodyPr vert="horz" wrap="square" lIns="91440" tIns="45720" rIns="91440" bIns="45720" anchor="t">
            <a:normAutofit/>
          </a:bodyPr>
          <a:lstStyle/>
          <a:p>
            <a:pPr eaLnBrk="1" hangingPunct="1">
              <a:lnSpc>
                <a:spcPct val="140000"/>
              </a:lnSpc>
            </a:pPr>
            <a:r>
              <a:rPr lang="zh-CN" altLang="en-US" sz="2000" b="1" dirty="0"/>
              <a:t>现在我们要把这种思想应用到多模式匹配问题中。但是，如果有多个模式，例如可能要支持成千上万个模式，则可能文本中大多数字符与某些模式最后一个字符相匹配，那么这种移动的几率就很小。</a:t>
            </a:r>
          </a:p>
          <a:p>
            <a:pPr eaLnBrk="1" hangingPunct="1">
              <a:lnSpc>
                <a:spcPct val="140000"/>
              </a:lnSpc>
            </a:pPr>
            <a:r>
              <a:rPr lang="zh-CN" altLang="en-US" sz="2000" b="1" dirty="0"/>
              <a:t>解决的方法是</a:t>
            </a:r>
            <a:r>
              <a:rPr lang="zh-CN" altLang="en-US" sz="2000" b="1" dirty="0">
                <a:solidFill>
                  <a:srgbClr val="FF0000"/>
                </a:solidFill>
              </a:rPr>
              <a:t>将多个模式“合并”为一个模式考虑，换言之，即要求所有的模式长度相同</a:t>
            </a:r>
            <a:r>
              <a:rPr lang="zh-CN" altLang="en-US" sz="2000" b="1" dirty="0"/>
              <a:t>，并且不再一个字符一个字符地看，</a:t>
            </a:r>
            <a:r>
              <a:rPr lang="zh-CN" altLang="en-US" sz="2000" b="1" dirty="0">
                <a:solidFill>
                  <a:srgbClr val="FF0000"/>
                </a:solidFill>
              </a:rPr>
              <a:t>而是按块，每次看</a:t>
            </a:r>
            <a:r>
              <a:rPr lang="en-US" altLang="zh-CN" sz="2000" b="1" dirty="0">
                <a:solidFill>
                  <a:srgbClr val="FF0000"/>
                </a:solidFill>
              </a:rPr>
              <a:t>B</a:t>
            </a:r>
            <a:r>
              <a:rPr lang="zh-CN" altLang="en-US" sz="2000" b="1" dirty="0">
                <a:solidFill>
                  <a:srgbClr val="FF0000"/>
                </a:solidFill>
              </a:rPr>
              <a:t>个字符</a:t>
            </a:r>
            <a:r>
              <a:rPr lang="zh-CN" altLang="en-US" sz="2000" b="1" dirty="0"/>
              <a:t>。具体的办法是首先计算模式集</a:t>
            </a:r>
            <a:r>
              <a:rPr lang="en-US" altLang="zh-CN" sz="2000" b="1" i="1" dirty="0"/>
              <a:t>X</a:t>
            </a:r>
            <a:r>
              <a:rPr lang="zh-CN" altLang="en-US" sz="2000" b="1" dirty="0"/>
              <a:t>的最小模式长度</a:t>
            </a:r>
            <a:r>
              <a:rPr lang="en-US" altLang="zh-CN" sz="2000" b="1" dirty="0"/>
              <a:t>m</a:t>
            </a:r>
            <a:r>
              <a:rPr lang="zh-CN" altLang="en-US" sz="2000" b="1" dirty="0"/>
              <a:t>，以后对模式集处理时只看每个模式的前</a:t>
            </a:r>
            <a:r>
              <a:rPr lang="en-US" altLang="zh-CN" sz="2000" b="1" dirty="0"/>
              <a:t>m</a:t>
            </a:r>
            <a:r>
              <a:rPr lang="zh-CN" altLang="en-US" sz="2000" b="1" dirty="0"/>
              <a:t>个字符。 </a:t>
            </a:r>
          </a:p>
        </p:txBody>
      </p:sp>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96</a:t>
            </a:fld>
            <a:endParaRPr lang="en-US" altLang="zh-CN" sz="1400" dirty="0"/>
          </a:p>
        </p:txBody>
      </p:sp>
      <p:sp>
        <p:nvSpPr>
          <p:cNvPr id="190466" name="Rectangle 3"/>
          <p:cNvSpPr>
            <a:spLocks noGrp="1" noRot="1"/>
          </p:cNvSpPr>
          <p:nvPr>
            <p:ph idx="1"/>
          </p:nvPr>
        </p:nvSpPr>
        <p:spPr>
          <a:xfrm>
            <a:off x="628650" y="1487171"/>
            <a:ext cx="7886700" cy="4474845"/>
          </a:xfrm>
        </p:spPr>
        <p:txBody>
          <a:bodyPr vert="horz" wrap="square" lIns="91440" tIns="45720" rIns="91440" bIns="45720" anchor="t">
            <a:normAutofit fontScale="90000" lnSpcReduction="10000"/>
          </a:bodyPr>
          <a:lstStyle/>
          <a:p>
            <a:pPr algn="just" eaLnBrk="1" hangingPunct="1">
              <a:lnSpc>
                <a:spcPct val="170000"/>
              </a:lnSpc>
              <a:spcBef>
                <a:spcPct val="0"/>
              </a:spcBef>
            </a:pPr>
            <a:r>
              <a:rPr lang="zh-CN" altLang="en-US" sz="2400" b="1" dirty="0"/>
              <a:t>假设模式集合</a:t>
            </a:r>
            <a:r>
              <a:rPr lang="en-US" altLang="zh-CN" sz="2400" b="1" dirty="0"/>
              <a:t>P</a:t>
            </a:r>
            <a:r>
              <a:rPr lang="zh-CN" altLang="en-US" sz="2400" b="1" dirty="0"/>
              <a:t>中最短的模式长度为</a:t>
            </a:r>
            <a:r>
              <a:rPr lang="en-US" altLang="zh-CN" sz="2400" b="1" dirty="0"/>
              <a:t>m</a:t>
            </a:r>
            <a:r>
              <a:rPr lang="zh-CN" altLang="en-US" sz="2400" b="1" dirty="0"/>
              <a:t>，那么，后续讨论仅仅考虑所有模式的前</a:t>
            </a:r>
            <a:r>
              <a:rPr lang="en-US" altLang="zh-CN" sz="2400" b="1" dirty="0"/>
              <a:t>m</a:t>
            </a:r>
            <a:r>
              <a:rPr lang="zh-CN" altLang="en-US" sz="2400" b="1" dirty="0"/>
              <a:t>个字符组成的模式串，即要求所有匹配的模式长度相等。</a:t>
            </a:r>
          </a:p>
          <a:p>
            <a:pPr algn="just" eaLnBrk="1" hangingPunct="1">
              <a:lnSpc>
                <a:spcPct val="170000"/>
              </a:lnSpc>
              <a:spcBef>
                <a:spcPct val="0"/>
              </a:spcBef>
            </a:pPr>
            <a:r>
              <a:rPr lang="zh-CN" altLang="en-US" sz="2400" b="1" dirty="0"/>
              <a:t>为了加快比较速度</a:t>
            </a:r>
            <a:r>
              <a:rPr lang="en-US" altLang="zh-CN" sz="2400" b="1" dirty="0"/>
              <a:t>,</a:t>
            </a:r>
            <a:r>
              <a:rPr lang="zh-CN" altLang="en-US" sz="2400" b="1" dirty="0"/>
              <a:t>对长为</a:t>
            </a:r>
            <a:r>
              <a:rPr lang="en-US" altLang="zh-CN" sz="2400" b="1" dirty="0"/>
              <a:t>m</a:t>
            </a:r>
            <a:r>
              <a:rPr lang="zh-CN" altLang="en-US" sz="2400" b="1" dirty="0"/>
              <a:t>的串进行分组，以</a:t>
            </a:r>
            <a:r>
              <a:rPr lang="en-US" altLang="zh-CN" sz="2400" b="1" dirty="0"/>
              <a:t>B</a:t>
            </a:r>
            <a:r>
              <a:rPr lang="zh-CN" altLang="en-US" sz="2400" b="1" dirty="0"/>
              <a:t>个长度的字符串为基本单位</a:t>
            </a:r>
            <a:r>
              <a:rPr lang="en-US" altLang="zh-CN" sz="2400" b="1" dirty="0"/>
              <a:t>,</a:t>
            </a:r>
            <a:r>
              <a:rPr lang="zh-CN" altLang="en-US" sz="2400" b="1" dirty="0"/>
              <a:t>每</a:t>
            </a:r>
            <a:r>
              <a:rPr lang="zh-CN" altLang="en-US" sz="2400" b="1" dirty="0">
                <a:solidFill>
                  <a:schemeClr val="tx1"/>
                </a:solidFill>
              </a:rPr>
              <a:t>次比较长度为</a:t>
            </a:r>
            <a:r>
              <a:rPr lang="en-US" altLang="zh-CN" sz="2400" b="1" dirty="0">
                <a:solidFill>
                  <a:schemeClr val="tx1"/>
                </a:solidFill>
              </a:rPr>
              <a:t>B</a:t>
            </a:r>
            <a:r>
              <a:rPr lang="zh-CN" altLang="en-US" sz="2400" b="1" dirty="0">
                <a:solidFill>
                  <a:schemeClr val="tx1"/>
                </a:solidFill>
              </a:rPr>
              <a:t>的子串</a:t>
            </a:r>
            <a:r>
              <a:rPr lang="en-US" altLang="zh-CN" sz="2400" b="1" dirty="0">
                <a:solidFill>
                  <a:schemeClr val="tx1"/>
                </a:solidFill>
              </a:rPr>
              <a:t>.</a:t>
            </a:r>
            <a:r>
              <a:rPr lang="zh-CN" altLang="en-US" sz="2400" b="1" dirty="0">
                <a:solidFill>
                  <a:schemeClr val="tx1"/>
                </a:solidFill>
              </a:rPr>
              <a:t>对于</a:t>
            </a:r>
            <a:r>
              <a:rPr lang="en-US" altLang="zh-CN" sz="2400" b="1" dirty="0">
                <a:solidFill>
                  <a:schemeClr val="tx1"/>
                </a:solidFill>
              </a:rPr>
              <a:t>B</a:t>
            </a:r>
            <a:r>
              <a:rPr lang="zh-CN" altLang="en-US" sz="2400" b="1" dirty="0">
                <a:solidFill>
                  <a:schemeClr val="tx1"/>
                </a:solidFill>
              </a:rPr>
              <a:t>的选取，原文给出了指导公式计算出一个合适的</a:t>
            </a:r>
            <a:r>
              <a:rPr lang="en-US" altLang="zh-CN" sz="2400" b="1" dirty="0">
                <a:solidFill>
                  <a:schemeClr val="tx1"/>
                </a:solidFill>
              </a:rPr>
              <a:t>B</a:t>
            </a:r>
            <a:r>
              <a:rPr lang="zh-CN" altLang="en-US" sz="2400" b="1" dirty="0">
                <a:solidFill>
                  <a:schemeClr val="tx1"/>
                </a:solidFill>
              </a:rPr>
              <a:t>值：</a:t>
            </a:r>
            <a:r>
              <a:rPr lang="en-US" altLang="zh-CN" sz="2400" b="1" dirty="0">
                <a:solidFill>
                  <a:schemeClr val="tx1"/>
                </a:solidFill>
              </a:rPr>
              <a:t>B=logc2M</a:t>
            </a:r>
            <a:r>
              <a:rPr lang="zh-CN" altLang="en-US" sz="2400" b="1" dirty="0">
                <a:solidFill>
                  <a:schemeClr val="tx1"/>
                </a:solidFill>
              </a:rPr>
              <a:t>。这里，</a:t>
            </a:r>
            <a:r>
              <a:rPr lang="en-US" altLang="zh-CN" sz="2400" b="1" dirty="0">
                <a:solidFill>
                  <a:schemeClr val="tx1"/>
                </a:solidFill>
              </a:rPr>
              <a:t>M=k×m</a:t>
            </a:r>
            <a:r>
              <a:rPr lang="zh-CN" altLang="en-US" sz="2400" b="1" dirty="0">
                <a:solidFill>
                  <a:schemeClr val="tx1"/>
                </a:solidFill>
              </a:rPr>
              <a:t>，</a:t>
            </a:r>
            <a:r>
              <a:rPr lang="en-US" altLang="zh-CN" sz="2400" b="1" dirty="0">
                <a:solidFill>
                  <a:schemeClr val="tx1"/>
                </a:solidFill>
              </a:rPr>
              <a:t>k</a:t>
            </a:r>
            <a:r>
              <a:rPr lang="zh-CN" altLang="en-US" sz="2400" b="1" dirty="0">
                <a:solidFill>
                  <a:schemeClr val="tx1"/>
                </a:solidFill>
              </a:rPr>
              <a:t>是模式的数目；而</a:t>
            </a:r>
            <a:r>
              <a:rPr lang="en-US" altLang="zh-CN" sz="2400" b="1" dirty="0"/>
              <a:t>c</a:t>
            </a:r>
            <a:r>
              <a:rPr lang="zh-CN" altLang="en-US" sz="2400" b="1" dirty="0"/>
              <a:t>表示字符集的大小即</a:t>
            </a:r>
            <a:r>
              <a:rPr lang="en-US" altLang="zh-CN" sz="2400" b="1" dirty="0"/>
              <a:t>c=|Σ|</a:t>
            </a:r>
            <a:r>
              <a:rPr lang="zh-CN" altLang="en-US" sz="2400" b="1" dirty="0"/>
              <a:t>。</a:t>
            </a:r>
            <a:r>
              <a:rPr lang="zh-CN" altLang="en-US" sz="2400" b="1" dirty="0">
                <a:solidFill>
                  <a:srgbClr val="C00000"/>
                </a:solidFill>
              </a:rPr>
              <a:t>实际上取值为</a:t>
            </a:r>
            <a:r>
              <a:rPr lang="en-US" altLang="zh-CN" sz="2400" b="1" dirty="0">
                <a:solidFill>
                  <a:srgbClr val="C00000"/>
                </a:solidFill>
              </a:rPr>
              <a:t>B=2</a:t>
            </a:r>
            <a:r>
              <a:rPr lang="zh-CN" altLang="en-US" sz="2400" b="1" dirty="0">
                <a:solidFill>
                  <a:srgbClr val="C00000"/>
                </a:solidFill>
              </a:rPr>
              <a:t>或</a:t>
            </a:r>
            <a:r>
              <a:rPr lang="en-US" altLang="zh-CN" sz="2400" b="1" dirty="0">
                <a:solidFill>
                  <a:srgbClr val="C00000"/>
                </a:solidFill>
              </a:rPr>
              <a:t>B=3</a:t>
            </a:r>
            <a:r>
              <a:rPr lang="zh-CN" altLang="en-US" sz="2400" b="1" dirty="0"/>
              <a:t>。</a:t>
            </a:r>
            <a:r>
              <a:rPr lang="zh-CN" altLang="en-US" b="1" dirty="0"/>
              <a:t> </a:t>
            </a:r>
            <a:endParaRPr lang="zh-CN" altLang="en-US" sz="2400" b="1" dirty="0"/>
          </a:p>
          <a:p>
            <a:pPr eaLnBrk="1" hangingPunct="1">
              <a:lnSpc>
                <a:spcPct val="170000"/>
              </a:lnSpc>
              <a:buNone/>
            </a:pPr>
            <a:endParaRPr lang="en-US" altLang="zh-CN" b="1" dirty="0"/>
          </a:p>
        </p:txBody>
      </p:sp>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灯片编号占位符 1"/>
          <p:cNvSpPr txBox="1">
            <a:spLocks noGrp="1"/>
          </p:cNvSpPr>
          <p:nvPr/>
        </p:nvSpPr>
        <p:spPr>
          <a:xfrm>
            <a:off x="8316913" y="188913"/>
            <a:ext cx="560387" cy="476250"/>
          </a:xfrm>
          <a:prstGeom prst="rect">
            <a:avLst/>
          </a:prstGeom>
          <a:noFill/>
          <a:ln w="9525">
            <a:noFill/>
          </a:ln>
        </p:spPr>
        <p:txBody>
          <a:bodyPr/>
          <a:lstStyle/>
          <a:p>
            <a:pPr algn="r">
              <a:spcBef>
                <a:spcPct val="0"/>
              </a:spcBef>
              <a:buClrTx/>
            </a:pPr>
            <a:fld id="{9A0DB2DC-4C9A-4742-B13C-FB6460FD3503}" type="slidenum">
              <a:rPr lang="en-US" altLang="zh-CN" sz="1400" dirty="0">
                <a:latin typeface="Arial" panose="020B0604020202020204" pitchFamily="34" charset="0"/>
              </a:rPr>
              <a:t>97</a:t>
            </a:fld>
            <a:endParaRPr lang="en-US" altLang="zh-CN" sz="1400" dirty="0">
              <a:latin typeface="Arial" panose="020B0604020202020204" pitchFamily="34" charset="0"/>
            </a:endParaRPr>
          </a:p>
        </p:txBody>
      </p:sp>
      <p:sp>
        <p:nvSpPr>
          <p:cNvPr id="192514" name="TextBox 2"/>
          <p:cNvSpPr txBox="1"/>
          <p:nvPr/>
        </p:nvSpPr>
        <p:spPr>
          <a:xfrm>
            <a:off x="971550" y="478155"/>
            <a:ext cx="6858000" cy="5939155"/>
          </a:xfrm>
          <a:prstGeom prst="rect">
            <a:avLst/>
          </a:prstGeom>
          <a:noFill/>
          <a:ln w="9525">
            <a:noFill/>
          </a:ln>
        </p:spPr>
        <p:txBody>
          <a:bodyPr>
            <a:spAutoFit/>
          </a:bodyPr>
          <a:lstStyle/>
          <a:p>
            <a:pPr>
              <a:spcBef>
                <a:spcPct val="0"/>
              </a:spcBef>
              <a:buClrTx/>
            </a:pPr>
            <a:r>
              <a:rPr lang="zh-CN" altLang="en-US" sz="2000" dirty="0">
                <a:latin typeface="Arial" panose="020B0604020202020204" pitchFamily="34" charset="0"/>
              </a:rPr>
              <a:t>练习</a:t>
            </a: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r>
              <a:rPr lang="zh-CN" altLang="en-US" sz="2000" b="1" dirty="0">
                <a:solidFill>
                  <a:srgbClr val="000000"/>
                </a:solidFill>
                <a:latin typeface="Arial" panose="020B0604020202020204" pitchFamily="34" charset="0"/>
              </a:rPr>
              <a:t>模式集</a:t>
            </a:r>
            <a:r>
              <a:rPr lang="en-US" altLang="zh-CN" sz="2000" b="1" dirty="0">
                <a:solidFill>
                  <a:srgbClr val="000000"/>
                </a:solidFill>
                <a:latin typeface="Arial" panose="020B0604020202020204" pitchFamily="34" charset="0"/>
              </a:rPr>
              <a:t>{t</a:t>
            </a:r>
            <a:r>
              <a:rPr lang="en-US" altLang="zh-CN" sz="2000" b="1" i="1" dirty="0">
                <a:solidFill>
                  <a:srgbClr val="000000"/>
                </a:solidFill>
                <a:latin typeface="Arial" panose="020B0604020202020204" pitchFamily="34" charset="0"/>
              </a:rPr>
              <a:t>hinner, shining, church, touching, thinking</a:t>
            </a:r>
            <a:r>
              <a:rPr lang="en-US" altLang="zh-CN" sz="2000" b="1" dirty="0">
                <a:solidFill>
                  <a:srgbClr val="000000"/>
                </a:solidFill>
                <a:latin typeface="Arial" panose="020B0604020202020204" pitchFamily="34" charset="0"/>
              </a:rPr>
              <a:t>}</a:t>
            </a:r>
          </a:p>
          <a:p>
            <a:pPr>
              <a:spcBef>
                <a:spcPct val="0"/>
              </a:spcBef>
              <a:buClrTx/>
            </a:pPr>
            <a:endParaRPr lang="en-US" altLang="zh-CN" sz="2000" b="1" dirty="0">
              <a:solidFill>
                <a:srgbClr val="000000"/>
              </a:solidFill>
              <a:latin typeface="Arial" panose="020B0604020202020204" pitchFamily="34" charset="0"/>
            </a:endParaRPr>
          </a:p>
          <a:p>
            <a:pPr>
              <a:spcBef>
                <a:spcPct val="0"/>
              </a:spcBef>
              <a:buClrTx/>
            </a:pPr>
            <a:r>
              <a:rPr lang="zh-CN" altLang="en-US" sz="2000" b="1" i="1" dirty="0">
                <a:solidFill>
                  <a:srgbClr val="000000"/>
                </a:solidFill>
                <a:latin typeface="Arial" panose="020B0604020202020204" pitchFamily="34" charset="0"/>
              </a:rPr>
              <a:t>正文：</a:t>
            </a:r>
            <a:r>
              <a:rPr lang="en-US" altLang="zh-CN" sz="2000" b="1" i="1" dirty="0">
                <a:solidFill>
                  <a:srgbClr val="000000"/>
                </a:solidFill>
                <a:latin typeface="Arial" panose="020B0604020202020204" pitchFamily="34" charset="0"/>
              </a:rPr>
              <a:t>Tom is thinking how to be thinner.</a:t>
            </a:r>
          </a:p>
          <a:p>
            <a:pPr>
              <a:spcBef>
                <a:spcPct val="0"/>
              </a:spcBef>
              <a:buClrTx/>
            </a:pPr>
            <a:r>
              <a:rPr lang="en-US" altLang="zh-CN" sz="2000" b="1" i="1" dirty="0">
                <a:solidFill>
                  <a:srgbClr val="000000"/>
                </a:solidFill>
                <a:latin typeface="Arial" panose="020B0604020202020204" pitchFamily="34" charset="0"/>
              </a:rPr>
              <a:t>Mod 29</a:t>
            </a:r>
            <a:endParaRPr lang="zh-CN" altLang="en-US" sz="2000" b="1" i="1" dirty="0">
              <a:solidFill>
                <a:srgbClr val="000000"/>
              </a:solidFill>
              <a:latin typeface="Arial" panose="020B0604020202020204" pitchFamily="34" charset="0"/>
            </a:endParaRPr>
          </a:p>
          <a:p>
            <a:pPr>
              <a:spcBef>
                <a:spcPct val="0"/>
              </a:spcBef>
              <a:buClrTx/>
            </a:pPr>
            <a:endParaRPr lang="en-US" altLang="zh-CN" sz="2000" b="1" dirty="0">
              <a:solidFill>
                <a:srgbClr val="000000"/>
              </a:solidFill>
              <a:latin typeface="Arial" panose="020B0604020202020204" pitchFamily="34" charset="0"/>
            </a:endParaRPr>
          </a:p>
          <a:p>
            <a:pPr>
              <a:spcBef>
                <a:spcPct val="0"/>
              </a:spcBef>
              <a:buClrTx/>
            </a:pPr>
            <a:endParaRPr lang="en-US" altLang="zh-CN" sz="2000" b="1" dirty="0">
              <a:solidFill>
                <a:srgbClr val="000000"/>
              </a:solidFill>
              <a:latin typeface="Arial" panose="020B0604020202020204" pitchFamily="34" charset="0"/>
            </a:endParaRPr>
          </a:p>
          <a:p>
            <a:pPr>
              <a:spcBef>
                <a:spcPct val="0"/>
              </a:spcBef>
              <a:buClrTx/>
            </a:pPr>
            <a:endParaRPr lang="en-US" altLang="zh-CN" sz="2000" b="1" dirty="0">
              <a:solidFill>
                <a:srgbClr val="000000"/>
              </a:solidFill>
              <a:latin typeface="Arial" panose="020B0604020202020204" pitchFamily="34" charset="0"/>
            </a:endParaRPr>
          </a:p>
          <a:p>
            <a:pPr>
              <a:spcBef>
                <a:spcPct val="0"/>
              </a:spcBef>
              <a:buClrTx/>
            </a:pPr>
            <a:endParaRPr lang="en-US" altLang="zh-CN" sz="2000" b="1" dirty="0">
              <a:solidFill>
                <a:srgbClr val="000000"/>
              </a:solidFill>
              <a:latin typeface="Arial" panose="020B0604020202020204" pitchFamily="34" charset="0"/>
            </a:endParaRPr>
          </a:p>
          <a:p>
            <a:pPr>
              <a:spcBef>
                <a:spcPct val="0"/>
              </a:spcBef>
              <a:buClrTx/>
            </a:pPr>
            <a:endParaRPr lang="zh-CN" altLang="en-US" sz="2000" b="1" dirty="0">
              <a:solidFill>
                <a:srgbClr val="000000"/>
              </a:solidFill>
              <a:latin typeface="Arial" panose="020B0604020202020204" pitchFamily="34" charset="0"/>
            </a:endParaRPr>
          </a:p>
          <a:p>
            <a:pPr>
              <a:spcBef>
                <a:spcPct val="0"/>
              </a:spcBef>
              <a:buClrTx/>
            </a:pPr>
            <a:endParaRPr lang="zh-CN" altLang="en-US" sz="2000" b="1" dirty="0">
              <a:solidFill>
                <a:srgbClr val="000000"/>
              </a:solidFill>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a:p>
            <a:pPr>
              <a:spcBef>
                <a:spcPct val="0"/>
              </a:spcBef>
              <a:buClrTx/>
            </a:pPr>
            <a:endParaRPr lang="en-US" altLang="zh-CN" sz="2000" dirty="0">
              <a:latin typeface="Arial" panose="020B0604020202020204" pitchFamily="34" charset="0"/>
            </a:endParaRPr>
          </a:p>
        </p:txBody>
      </p:sp>
      <p:graphicFrame>
        <p:nvGraphicFramePr>
          <p:cNvPr id="192515" name="表格 192514"/>
          <p:cNvGraphicFramePr/>
          <p:nvPr/>
        </p:nvGraphicFramePr>
        <p:xfrm>
          <a:off x="1116013" y="2593975"/>
          <a:ext cx="6819900" cy="1482725"/>
        </p:xfrm>
        <a:graphic>
          <a:graphicData uri="http://schemas.openxmlformats.org/drawingml/2006/table">
            <a:tbl>
              <a:tblPr/>
              <a:tblGrid>
                <a:gridCol w="523875">
                  <a:extLst>
                    <a:ext uri="{9D8B030D-6E8A-4147-A177-3AD203B41FA5}">
                      <a16:colId xmlns:a16="http://schemas.microsoft.com/office/drawing/2014/main" val="20000"/>
                    </a:ext>
                  </a:extLst>
                </a:gridCol>
                <a:gridCol w="525463">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25463">
                  <a:extLst>
                    <a:ext uri="{9D8B030D-6E8A-4147-A177-3AD203B41FA5}">
                      <a16:colId xmlns:a16="http://schemas.microsoft.com/office/drawing/2014/main" val="20005"/>
                    </a:ext>
                  </a:extLst>
                </a:gridCol>
                <a:gridCol w="523875">
                  <a:extLst>
                    <a:ext uri="{9D8B030D-6E8A-4147-A177-3AD203B41FA5}">
                      <a16:colId xmlns:a16="http://schemas.microsoft.com/office/drawing/2014/main" val="20006"/>
                    </a:ext>
                  </a:extLst>
                </a:gridCol>
                <a:gridCol w="525462">
                  <a:extLst>
                    <a:ext uri="{9D8B030D-6E8A-4147-A177-3AD203B41FA5}">
                      <a16:colId xmlns:a16="http://schemas.microsoft.com/office/drawing/2014/main" val="20007"/>
                    </a:ext>
                  </a:extLst>
                </a:gridCol>
                <a:gridCol w="523875">
                  <a:extLst>
                    <a:ext uri="{9D8B030D-6E8A-4147-A177-3AD203B41FA5}">
                      <a16:colId xmlns:a16="http://schemas.microsoft.com/office/drawing/2014/main" val="20008"/>
                    </a:ext>
                  </a:extLst>
                </a:gridCol>
                <a:gridCol w="525463">
                  <a:extLst>
                    <a:ext uri="{9D8B030D-6E8A-4147-A177-3AD203B41FA5}">
                      <a16:colId xmlns:a16="http://schemas.microsoft.com/office/drawing/2014/main" val="20009"/>
                    </a:ext>
                  </a:extLst>
                </a:gridCol>
                <a:gridCol w="523875">
                  <a:extLst>
                    <a:ext uri="{9D8B030D-6E8A-4147-A177-3AD203B41FA5}">
                      <a16:colId xmlns:a16="http://schemas.microsoft.com/office/drawing/2014/main" val="20010"/>
                    </a:ext>
                  </a:extLst>
                </a:gridCol>
                <a:gridCol w="525462">
                  <a:extLst>
                    <a:ext uri="{9D8B030D-6E8A-4147-A177-3AD203B41FA5}">
                      <a16:colId xmlns:a16="http://schemas.microsoft.com/office/drawing/2014/main" val="20011"/>
                    </a:ext>
                  </a:extLst>
                </a:gridCol>
                <a:gridCol w="523875">
                  <a:extLst>
                    <a:ext uri="{9D8B030D-6E8A-4147-A177-3AD203B41FA5}">
                      <a16:colId xmlns:a16="http://schemas.microsoft.com/office/drawing/2014/main" val="20012"/>
                    </a:ext>
                  </a:extLst>
                </a:gridCol>
              </a:tblGrid>
              <a:tr h="3698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0</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1</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2</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3</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4</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5</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6</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7</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8</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9</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10</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11</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12</a:t>
                      </a:r>
                      <a:endParaRPr lang="zh-CN" altLang="en-US" sz="1800" b="1">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zh-CN" sz="1800">
                          <a:latin typeface="Arial" panose="020B0604020202020204" pitchFamily="34" charset="0"/>
                        </a:rPr>
                        <a:t>a</a:t>
                      </a:r>
                      <a:endParaRPr lang="en-US" altLang="zh-CN"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b</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c</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d</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e</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f</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g</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h</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err="1">
                          <a:latin typeface="Arial" panose="020B0604020202020204" pitchFamily="34" charset="0"/>
                        </a:rPr>
                        <a:t>i</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g</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k</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l</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m</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1"/>
                  </a:ext>
                </a:extLst>
              </a:tr>
              <a:tr h="369887">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solidFill>
                            <a:srgbClr val="59582D"/>
                          </a:solidFill>
                          <a:latin typeface="Arial" panose="020B0604020202020204" pitchFamily="34" charset="0"/>
                        </a:rPr>
                        <a:t>13</a:t>
                      </a:r>
                      <a:endParaRPr lang="zh-CN" altLang="en-US" sz="1800">
                        <a:solidFill>
                          <a:srgbClr val="59582D"/>
                        </a:solidFill>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14</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15</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16</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17</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18</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19</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20</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22</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23</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24</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25</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B2E2FF"/>
                    </a:solidFill>
                  </a:tcPr>
                </a:tc>
                <a:extLst>
                  <a:ext uri="{0D108BD9-81ED-4DB2-BD59-A6C34878D82A}">
                    <a16:rowId xmlns:a16="http://schemas.microsoft.com/office/drawing/2014/main" val="10002"/>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n</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o</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p</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q</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r</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s</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t</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u</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v</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w</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x</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y</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z</a:t>
                      </a:r>
                      <a:endParaRPr lang="zh-CN" altLang="en-US" sz="1800">
                        <a:latin typeface="Arial" panose="020B0604020202020204" pitchFamily="34" charset="0"/>
                      </a:endParaRPr>
                    </a:p>
                  </a:txBody>
                  <a:tcPr marL="91436" marR="91436" marT="45700" marB="4570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3"/>
                  </a:ext>
                </a:extLst>
              </a:tr>
            </a:tbl>
          </a:graphicData>
        </a:graphic>
      </p:graphicFrame>
      <p:graphicFrame>
        <p:nvGraphicFramePr>
          <p:cNvPr id="192587" name="表格 192586"/>
          <p:cNvGraphicFramePr/>
          <p:nvPr>
            <p:custDataLst>
              <p:tags r:id="rId1"/>
            </p:custDataLst>
          </p:nvPr>
        </p:nvGraphicFramePr>
        <p:xfrm>
          <a:off x="1116013" y="4508500"/>
          <a:ext cx="6819900" cy="1484313"/>
        </p:xfrm>
        <a:graphic>
          <a:graphicData uri="http://schemas.openxmlformats.org/drawingml/2006/table">
            <a:tbl>
              <a:tblPr/>
              <a:tblGrid>
                <a:gridCol w="523875">
                  <a:extLst>
                    <a:ext uri="{9D8B030D-6E8A-4147-A177-3AD203B41FA5}">
                      <a16:colId xmlns:a16="http://schemas.microsoft.com/office/drawing/2014/main" val="20000"/>
                    </a:ext>
                  </a:extLst>
                </a:gridCol>
                <a:gridCol w="525463">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25463">
                  <a:extLst>
                    <a:ext uri="{9D8B030D-6E8A-4147-A177-3AD203B41FA5}">
                      <a16:colId xmlns:a16="http://schemas.microsoft.com/office/drawing/2014/main" val="20005"/>
                    </a:ext>
                  </a:extLst>
                </a:gridCol>
                <a:gridCol w="523875">
                  <a:extLst>
                    <a:ext uri="{9D8B030D-6E8A-4147-A177-3AD203B41FA5}">
                      <a16:colId xmlns:a16="http://schemas.microsoft.com/office/drawing/2014/main" val="20006"/>
                    </a:ext>
                  </a:extLst>
                </a:gridCol>
                <a:gridCol w="525462">
                  <a:extLst>
                    <a:ext uri="{9D8B030D-6E8A-4147-A177-3AD203B41FA5}">
                      <a16:colId xmlns:a16="http://schemas.microsoft.com/office/drawing/2014/main" val="20007"/>
                    </a:ext>
                  </a:extLst>
                </a:gridCol>
                <a:gridCol w="523875">
                  <a:extLst>
                    <a:ext uri="{9D8B030D-6E8A-4147-A177-3AD203B41FA5}">
                      <a16:colId xmlns:a16="http://schemas.microsoft.com/office/drawing/2014/main" val="20008"/>
                    </a:ext>
                  </a:extLst>
                </a:gridCol>
                <a:gridCol w="525463">
                  <a:extLst>
                    <a:ext uri="{9D8B030D-6E8A-4147-A177-3AD203B41FA5}">
                      <a16:colId xmlns:a16="http://schemas.microsoft.com/office/drawing/2014/main" val="20009"/>
                    </a:ext>
                  </a:extLst>
                </a:gridCol>
                <a:gridCol w="523875">
                  <a:extLst>
                    <a:ext uri="{9D8B030D-6E8A-4147-A177-3AD203B41FA5}">
                      <a16:colId xmlns:a16="http://schemas.microsoft.com/office/drawing/2014/main" val="20010"/>
                    </a:ext>
                  </a:extLst>
                </a:gridCol>
                <a:gridCol w="525462">
                  <a:extLst>
                    <a:ext uri="{9D8B030D-6E8A-4147-A177-3AD203B41FA5}">
                      <a16:colId xmlns:a16="http://schemas.microsoft.com/office/drawing/2014/main" val="20011"/>
                    </a:ext>
                  </a:extLst>
                </a:gridCol>
                <a:gridCol w="523875">
                  <a:extLst>
                    <a:ext uri="{9D8B030D-6E8A-4147-A177-3AD203B41FA5}">
                      <a16:colId xmlns:a16="http://schemas.microsoft.com/office/drawing/2014/main" val="20012"/>
                    </a:ext>
                  </a:extLst>
                </a:gridCol>
              </a:tblGrid>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th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hi</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in</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zh-CN" sz="1800" b="1">
                          <a:latin typeface="Arial" panose="020B0604020202020204" pitchFamily="34" charset="0"/>
                        </a:rPr>
                        <a:t>n</a:t>
                      </a:r>
                      <a:r>
                        <a:rPr lang="en-US" altLang="zh-CN" sz="1800" b="1">
                          <a:latin typeface="Arial" panose="020B0604020202020204" pitchFamily="34" charset="0"/>
                        </a:rPr>
                        <a:t>n</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ne</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er</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sh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ni</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ng</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ch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hu</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ur</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rc</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8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26</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15</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26</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17</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27</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8</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1"/>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solidFill>
                            <a:schemeClr val="tx1"/>
                          </a:solidFill>
                          <a:latin typeface="Arial" panose="020B0604020202020204" pitchFamily="34" charset="0"/>
                        </a:rPr>
                        <a:t>to</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ou</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uc</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nk</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ki</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2"/>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4</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5</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22</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23</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18</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3"/>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51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2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幻灯片编号占位符 1"/>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98</a:t>
            </a:fld>
            <a:endParaRPr lang="en-US" altLang="zh-CN" sz="1400" dirty="0"/>
          </a:p>
        </p:txBody>
      </p:sp>
      <p:graphicFrame>
        <p:nvGraphicFramePr>
          <p:cNvPr id="193538" name="表格 193537"/>
          <p:cNvGraphicFramePr/>
          <p:nvPr>
            <p:custDataLst>
              <p:tags r:id="rId1"/>
            </p:custDataLst>
          </p:nvPr>
        </p:nvGraphicFramePr>
        <p:xfrm>
          <a:off x="2339975" y="115888"/>
          <a:ext cx="6819900" cy="1484313"/>
        </p:xfrm>
        <a:graphic>
          <a:graphicData uri="http://schemas.openxmlformats.org/drawingml/2006/table">
            <a:tbl>
              <a:tblPr/>
              <a:tblGrid>
                <a:gridCol w="523875">
                  <a:extLst>
                    <a:ext uri="{9D8B030D-6E8A-4147-A177-3AD203B41FA5}">
                      <a16:colId xmlns:a16="http://schemas.microsoft.com/office/drawing/2014/main" val="20000"/>
                    </a:ext>
                  </a:extLst>
                </a:gridCol>
                <a:gridCol w="525463">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25463">
                  <a:extLst>
                    <a:ext uri="{9D8B030D-6E8A-4147-A177-3AD203B41FA5}">
                      <a16:colId xmlns:a16="http://schemas.microsoft.com/office/drawing/2014/main" val="20005"/>
                    </a:ext>
                  </a:extLst>
                </a:gridCol>
                <a:gridCol w="523875">
                  <a:extLst>
                    <a:ext uri="{9D8B030D-6E8A-4147-A177-3AD203B41FA5}">
                      <a16:colId xmlns:a16="http://schemas.microsoft.com/office/drawing/2014/main" val="20006"/>
                    </a:ext>
                  </a:extLst>
                </a:gridCol>
                <a:gridCol w="525462">
                  <a:extLst>
                    <a:ext uri="{9D8B030D-6E8A-4147-A177-3AD203B41FA5}">
                      <a16:colId xmlns:a16="http://schemas.microsoft.com/office/drawing/2014/main" val="20007"/>
                    </a:ext>
                  </a:extLst>
                </a:gridCol>
                <a:gridCol w="523875">
                  <a:extLst>
                    <a:ext uri="{9D8B030D-6E8A-4147-A177-3AD203B41FA5}">
                      <a16:colId xmlns:a16="http://schemas.microsoft.com/office/drawing/2014/main" val="20008"/>
                    </a:ext>
                  </a:extLst>
                </a:gridCol>
                <a:gridCol w="525463">
                  <a:extLst>
                    <a:ext uri="{9D8B030D-6E8A-4147-A177-3AD203B41FA5}">
                      <a16:colId xmlns:a16="http://schemas.microsoft.com/office/drawing/2014/main" val="20009"/>
                    </a:ext>
                  </a:extLst>
                </a:gridCol>
                <a:gridCol w="523875">
                  <a:extLst>
                    <a:ext uri="{9D8B030D-6E8A-4147-A177-3AD203B41FA5}">
                      <a16:colId xmlns:a16="http://schemas.microsoft.com/office/drawing/2014/main" val="20010"/>
                    </a:ext>
                  </a:extLst>
                </a:gridCol>
                <a:gridCol w="525462">
                  <a:extLst>
                    <a:ext uri="{9D8B030D-6E8A-4147-A177-3AD203B41FA5}">
                      <a16:colId xmlns:a16="http://schemas.microsoft.com/office/drawing/2014/main" val="20011"/>
                    </a:ext>
                  </a:extLst>
                </a:gridCol>
                <a:gridCol w="523875">
                  <a:extLst>
                    <a:ext uri="{9D8B030D-6E8A-4147-A177-3AD203B41FA5}">
                      <a16:colId xmlns:a16="http://schemas.microsoft.com/office/drawing/2014/main" val="20012"/>
                    </a:ext>
                  </a:extLst>
                </a:gridCol>
              </a:tblGrid>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th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hi</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in</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zh-CN" altLang="zh-CN" sz="1800" b="1">
                          <a:latin typeface="Arial" panose="020B0604020202020204" pitchFamily="34" charset="0"/>
                        </a:rPr>
                        <a:t>n</a:t>
                      </a:r>
                      <a:r>
                        <a:rPr lang="en-US" altLang="zh-CN" sz="1800" b="1">
                          <a:latin typeface="Arial" panose="020B0604020202020204" pitchFamily="34" charset="0"/>
                        </a:rPr>
                        <a:t>n</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latin typeface="Arial" panose="020B0604020202020204" pitchFamily="34" charset="0"/>
                        </a:rPr>
                        <a:t>ne</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er</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sh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ni</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ng</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ch</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hu</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ur</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latin typeface="Arial" panose="020B0604020202020204" pitchFamily="34" charset="0"/>
                        </a:rPr>
                        <a:t>rc</a:t>
                      </a:r>
                      <a:endParaRPr lang="zh-CN" altLang="en-US" sz="1800" b="1">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26</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15</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26</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17</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21</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27</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8</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19</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1"/>
                  </a:ext>
                </a:extLst>
              </a:tr>
              <a:tr h="369888">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a:solidFill>
                            <a:schemeClr val="tx1"/>
                          </a:solidFill>
                          <a:latin typeface="Arial" panose="020B0604020202020204" pitchFamily="34" charset="0"/>
                        </a:rPr>
                        <a:t>to</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ou</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uc</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nk</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b="1" err="1">
                          <a:solidFill>
                            <a:schemeClr val="tx1"/>
                          </a:solidFill>
                          <a:latin typeface="Arial" panose="020B0604020202020204" pitchFamily="34" charset="0"/>
                        </a:rPr>
                        <a:t>ki</a:t>
                      </a: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solidFill>
                          <a:srgbClr val="59582D"/>
                        </a:solidFill>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2"/>
                  </a:ext>
                </a:extLst>
              </a:tr>
              <a:tr h="371475">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4</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5</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22</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23</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800">
                          <a:latin typeface="Arial" panose="020B0604020202020204" pitchFamily="34" charset="0"/>
                        </a:rPr>
                        <a:t>18</a:t>
                      </a: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endParaRPr lang="zh-CN" altLang="en-US" sz="1800">
                        <a:latin typeface="Arial" panose="020B0604020202020204" pitchFamily="34" charset="0"/>
                      </a:endParaRPr>
                    </a:p>
                  </a:txBody>
                  <a:tcPr marL="91436" marR="91436" marT="45749" marB="45749">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3"/>
                  </a:ext>
                </a:extLst>
              </a:tr>
            </a:tbl>
          </a:graphicData>
        </a:graphic>
      </p:graphicFrame>
      <p:sp>
        <p:nvSpPr>
          <p:cNvPr id="4" name="矩形 3"/>
          <p:cNvSpPr/>
          <p:nvPr/>
        </p:nvSpPr>
        <p:spPr>
          <a:xfrm>
            <a:off x="1043608" y="1715324"/>
            <a:ext cx="8136904" cy="341503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模式集</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a:t>
            </a:r>
            <a:r>
              <a:rPr kumimoji="0" lang="en-US" altLang="zh-CN" sz="24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t</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hinne</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r,</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 shinin</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g, </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church</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touchi</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ng, </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thinki</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ng</a:t>
            </a:r>
            <a:r>
              <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正文：</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Tom is thinking how to be thinner.</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none" strike="noStrike" kern="1200" cap="none" spc="0" normalizeH="0" baseline="0" noProof="0" dirty="0">
                <a:ln>
                  <a:noFill/>
                </a:ln>
                <a:solidFill>
                  <a:schemeClr val="bg1">
                    <a:lumMod val="10000"/>
                  </a:schemeClr>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Tom </a:t>
            </a:r>
            <a:r>
              <a:rPr kumimoji="0" lang="en-US" altLang="zh-CN" sz="2400" b="1" i="1" u="sng"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is</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  thi</a:t>
            </a:r>
            <a:r>
              <a:rPr kumimoji="0" lang="en-US" altLang="zh-CN" sz="2400" b="1" i="1" u="sng"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n</a:t>
            </a:r>
            <a:r>
              <a:rPr kumimoji="0" lang="en-US" altLang="zh-CN" sz="2400" b="1" i="1" u="sng" strike="sng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k</a:t>
            </a:r>
            <a:r>
              <a:rPr kumimoji="0" lang="en-US" altLang="zh-CN" sz="2400" b="1" i="1" u="none" strike="sng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i</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ng</a:t>
            </a:r>
            <a:r>
              <a:rPr kumimoji="0" lang="en-US" altLang="zh-CN" sz="24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 h</a:t>
            </a:r>
            <a:r>
              <a:rPr kumimoji="0" lang="en-US" altLang="zh-CN" sz="2400" b="1" i="1" u="sng"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ow</a:t>
            </a:r>
            <a:r>
              <a:rPr kumimoji="0" lang="en-US" altLang="zh-CN" sz="24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  to</a:t>
            </a:r>
            <a:r>
              <a:rPr kumimoji="0" lang="en-US" altLang="zh-CN" sz="2400" b="1" i="1"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sng"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宋体" panose="02010600030101010101" pitchFamily="2" charset="-122"/>
              </a:rPr>
              <a:t>be</a:t>
            </a:r>
            <a:r>
              <a:rPr kumimoji="0" lang="en-US" altLang="zh-CN" sz="24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 thi</a:t>
            </a:r>
            <a:r>
              <a:rPr kumimoji="0" lang="en-US" altLang="zh-CN" sz="2400" b="1" i="1" u="sng"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nn</a:t>
            </a:r>
            <a:r>
              <a:rPr kumimoji="0" lang="en-US" altLang="zh-CN" sz="24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er</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26      </a:t>
            </a:r>
            <a:r>
              <a:rPr kumimoji="0" lang="en-US" altLang="zh-CN" sz="2000" b="1" i="1"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宋体" panose="02010600030101010101" pitchFamily="2" charset="-122"/>
              </a:rPr>
              <a:t>23 18</a:t>
            </a: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a:t>
            </a:r>
            <a:r>
              <a:rPr kumimoji="0" lang="en-US" altLang="zh-CN" sz="2400" b="1" i="1"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ki</a:t>
            </a: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是p</a:t>
            </a:r>
            <a:r>
              <a:rPr kumimoji="0" lang="en-US" altLang="zh-CN" sz="2400" b="1" i="1" u="none" strike="noStrike" kern="1200" cap="none" spc="0" normalizeH="0" baseline="-2500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5</a:t>
            </a: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的最右块；p</a:t>
            </a:r>
            <a:r>
              <a:rPr kumimoji="0" lang="en-US" altLang="zh-CN" sz="2400" b="1" i="1" u="none" strike="noStrike" kern="1200" cap="none" spc="0" normalizeH="0" baseline="-2500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5</a:t>
            </a: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的最左块</a:t>
            </a:r>
            <a:r>
              <a:rPr kumimoji="0" lang="en-US" altLang="zh-CN" sz="2400" b="1" i="1" u="none" strike="noStrike" kern="120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th</a:t>
            </a: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一</a:t>
            </a:r>
            <a:endPar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宋体" panose="02010600030101010101" pitchFamily="2" charset="-122"/>
              </a:rPr>
              <a:t>    7</a:t>
            </a:r>
          </a:p>
        </p:txBody>
      </p:sp>
      <p:graphicFrame>
        <p:nvGraphicFramePr>
          <p:cNvPr id="193611" name="表格 193610"/>
          <p:cNvGraphicFramePr/>
          <p:nvPr>
            <p:custDataLst>
              <p:tags r:id="rId2"/>
            </p:custDataLst>
          </p:nvPr>
        </p:nvGraphicFramePr>
        <p:xfrm>
          <a:off x="34925" y="44450"/>
          <a:ext cx="2016125" cy="6738938"/>
        </p:xfrm>
        <a:graphic>
          <a:graphicData uri="http://schemas.openxmlformats.org/drawingml/2006/table">
            <a:tbl>
              <a:tblPr/>
              <a:tblGrid>
                <a:gridCol w="503238">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383540">
                  <a:extLst>
                    <a:ext uri="{9D8B030D-6E8A-4147-A177-3AD203B41FA5}">
                      <a16:colId xmlns:a16="http://schemas.microsoft.com/office/drawing/2014/main" val="20002"/>
                    </a:ext>
                  </a:extLst>
                </a:gridCol>
                <a:gridCol w="624522">
                  <a:extLst>
                    <a:ext uri="{9D8B030D-6E8A-4147-A177-3AD203B41FA5}">
                      <a16:colId xmlns:a16="http://schemas.microsoft.com/office/drawing/2014/main" val="20003"/>
                    </a:ext>
                  </a:extLst>
                </a:gridCol>
              </a:tblGrid>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b="1">
                          <a:solidFill>
                            <a:srgbClr val="171717"/>
                          </a:solidFill>
                          <a:latin typeface="Arial" panose="020B0604020202020204" pitchFamily="34" charset="0"/>
                        </a:rPr>
                        <a:t>0</a:t>
                      </a:r>
                      <a:endParaRPr lang="zh-CN" altLang="en-US" sz="1400" b="1">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b="1">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b="1">
                          <a:solidFill>
                            <a:srgbClr val="171717"/>
                          </a:solidFill>
                          <a:latin typeface="Arial" panose="020B0604020202020204" pitchFamily="34" charset="0"/>
                        </a:rPr>
                        <a:t>14</a:t>
                      </a:r>
                      <a:endParaRPr lang="zh-CN" altLang="en-US" sz="1400" b="1">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b="1">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101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15</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1"/>
                  </a:ext>
                </a:extLst>
              </a:tr>
              <a:tr h="4826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4</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16</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dirty="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2"/>
                  </a:ext>
                </a:extLst>
              </a:tr>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17</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3"/>
                  </a:ext>
                </a:extLst>
              </a:tr>
              <a:tr h="48101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4</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4</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18</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4"/>
                  </a:ext>
                </a:extLst>
              </a:tr>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19</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1/5</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5"/>
                  </a:ext>
                </a:extLst>
              </a:tr>
              <a:tr h="4826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6</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dirty="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dirty="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6"/>
                  </a:ext>
                </a:extLst>
              </a:tr>
              <a:tr h="48101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7</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21</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3/0/1</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7"/>
                  </a:ext>
                </a:extLst>
              </a:tr>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8</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22</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08"/>
                  </a:ext>
                </a:extLst>
              </a:tr>
              <a:tr h="48101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9</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09"/>
                  </a:ext>
                </a:extLst>
              </a:tr>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10</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24</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10"/>
                  </a:ext>
                </a:extLst>
              </a:tr>
              <a:tr h="482600">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11</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25</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11"/>
                  </a:ext>
                </a:extLst>
              </a:tr>
              <a:tr h="481012">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12</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26</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4/1</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6FBFF"/>
                    </a:solidFill>
                  </a:tcPr>
                </a:tc>
                <a:extLst>
                  <a:ext uri="{0D108BD9-81ED-4DB2-BD59-A6C34878D82A}">
                    <a16:rowId xmlns:a16="http://schemas.microsoft.com/office/drawing/2014/main" val="10012"/>
                  </a:ext>
                </a:extLst>
              </a:tr>
              <a:tr h="481013">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13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5</a:t>
                      </a: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27</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tc>
                  <a: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spcBef>
                          <a:spcPct val="0"/>
                        </a:spcBef>
                        <a:buClrTx/>
                        <a:buNone/>
                      </a:pPr>
                      <a:r>
                        <a:rPr lang="en-US" altLang="zh-CN" sz="1400">
                          <a:solidFill>
                            <a:srgbClr val="171717"/>
                          </a:solidFill>
                          <a:latin typeface="Arial" panose="020B0604020202020204" pitchFamily="34" charset="0"/>
                        </a:rPr>
                        <a:t>3</a:t>
                      </a:r>
                      <a:endParaRPr lang="zh-CN" altLang="en-US" sz="1400">
                        <a:solidFill>
                          <a:srgbClr val="171717"/>
                        </a:solidFill>
                        <a:latin typeface="Arial" panose="020B0604020202020204" pitchFamily="34" charset="0"/>
                      </a:endParaRPr>
                    </a:p>
                  </a:txBody>
                  <a:tcPr marL="91436" marR="91436" marT="45713" marB="45713">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CF8FF"/>
                    </a:solidFill>
                  </a:tcPr>
                </a:tc>
                <a:extLst>
                  <a:ext uri="{0D108BD9-81ED-4DB2-BD59-A6C34878D82A}">
                    <a16:rowId xmlns:a16="http://schemas.microsoft.com/office/drawing/2014/main" val="10013"/>
                  </a:ext>
                </a:extLst>
              </a:tr>
            </a:tbl>
          </a:graphicData>
        </a:graphic>
      </p:graphicFrame>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99</a:t>
            </a:fld>
            <a:endParaRPr lang="en-US" altLang="zh-CN" sz="1400" dirty="0"/>
          </a:p>
        </p:txBody>
      </p:sp>
      <p:sp>
        <p:nvSpPr>
          <p:cNvPr id="215042" name="Rectangle 3"/>
          <p:cNvSpPr>
            <a:spLocks noGrp="1" noRot="1"/>
          </p:cNvSpPr>
          <p:nvPr>
            <p:ph idx="1"/>
          </p:nvPr>
        </p:nvSpPr>
        <p:spPr>
          <a:xfrm>
            <a:off x="628650" y="913131"/>
            <a:ext cx="7886700" cy="4474845"/>
          </a:xfrm>
        </p:spPr>
        <p:txBody>
          <a:bodyPr vert="horz" wrap="square" lIns="91440" tIns="45720" rIns="91440" bIns="45720" anchor="t"/>
          <a:lstStyle/>
          <a:p>
            <a:pPr eaLnBrk="1" hangingPunct="1"/>
            <a:r>
              <a:rPr lang="zh-CN" altLang="en-US" sz="2400" dirty="0"/>
              <a:t>总的来说，这几个主要数据结构（</a:t>
            </a:r>
            <a:r>
              <a:rPr lang="en-US" altLang="zh-CN" sz="2400" dirty="0"/>
              <a:t>SHIFT</a:t>
            </a:r>
            <a:r>
              <a:rPr lang="zh-CN" altLang="en-US" sz="2400" dirty="0"/>
              <a:t>表、</a:t>
            </a:r>
            <a:r>
              <a:rPr lang="en-US" altLang="zh-CN" sz="2400" dirty="0"/>
              <a:t>HASH</a:t>
            </a:r>
            <a:r>
              <a:rPr lang="zh-CN" altLang="en-US" sz="2400" dirty="0"/>
              <a:t>表、</a:t>
            </a:r>
            <a:r>
              <a:rPr lang="en-US" altLang="zh-CN" sz="2400" dirty="0"/>
              <a:t>PAT_PTR</a:t>
            </a:r>
            <a:r>
              <a:rPr lang="zh-CN" altLang="en-US" sz="2400" dirty="0"/>
              <a:t>表、</a:t>
            </a:r>
            <a:r>
              <a:rPr lang="en-US" altLang="zh-CN" sz="2400" dirty="0"/>
              <a:t>PREFIX</a:t>
            </a:r>
            <a:r>
              <a:rPr lang="zh-CN" altLang="en-US" sz="2400" dirty="0"/>
              <a:t>表）之间的关系见图 </a:t>
            </a:r>
          </a:p>
        </p:txBody>
      </p:sp>
      <p:sp>
        <p:nvSpPr>
          <p:cNvPr id="215043" name="Rectangle 5"/>
          <p:cNvSpPr/>
          <p:nvPr/>
        </p:nvSpPr>
        <p:spPr>
          <a:xfrm>
            <a:off x="0" y="1704975"/>
            <a:ext cx="9144000" cy="0"/>
          </a:xfrm>
          <a:prstGeom prst="rect">
            <a:avLst/>
          </a:prstGeom>
          <a:noFill/>
          <a:ln w="9525">
            <a:noFill/>
          </a:ln>
        </p:spPr>
        <p:txBody>
          <a:bodyPr wrap="none" anchor="ctr">
            <a:spAutoFit/>
          </a:bodyPr>
          <a:lstStyle/>
          <a:p>
            <a:pPr>
              <a:spcBef>
                <a:spcPct val="0"/>
              </a:spcBef>
              <a:buClrTx/>
            </a:pPr>
            <a:endParaRPr lang="zh-CN" altLang="en-US" sz="1800" dirty="0">
              <a:latin typeface="Arial" panose="020B0604020202020204" pitchFamily="34" charset="0"/>
            </a:endParaRPr>
          </a:p>
        </p:txBody>
      </p:sp>
      <p:graphicFrame>
        <p:nvGraphicFramePr>
          <p:cNvPr id="215044" name="Object 4"/>
          <p:cNvGraphicFramePr>
            <a:graphicFrameLocks noChangeAspect="1"/>
          </p:cNvGraphicFramePr>
          <p:nvPr/>
        </p:nvGraphicFramePr>
        <p:xfrm>
          <a:off x="971550" y="1700213"/>
          <a:ext cx="7704138" cy="4752975"/>
        </p:xfrm>
        <a:graphic>
          <a:graphicData uri="http://schemas.openxmlformats.org/presentationml/2006/ole">
            <mc:AlternateContent xmlns:mc="http://schemas.openxmlformats.org/markup-compatibility/2006">
              <mc:Choice xmlns:v="urn:schemas-microsoft-com:vml" Requires="v">
                <p:oleObj r:id="rId3" imgW="5953125" imgH="3371850" progId="Word.Picture.8">
                  <p:embed/>
                </p:oleObj>
              </mc:Choice>
              <mc:Fallback>
                <p:oleObj r:id="rId3" imgW="5953125" imgH="3371850" progId="Word.Picture.8">
                  <p:embed/>
                  <p:pic>
                    <p:nvPicPr>
                      <p:cNvPr id="215044" name="Object 4"/>
                      <p:cNvPicPr/>
                      <p:nvPr/>
                    </p:nvPicPr>
                    <p:blipFill>
                      <a:blip r:embed="rId4"/>
                      <a:stretch>
                        <a:fillRect/>
                      </a:stretch>
                    </p:blipFill>
                    <p:spPr>
                      <a:xfrm>
                        <a:off x="971550" y="1700213"/>
                        <a:ext cx="7704138" cy="4752975"/>
                      </a:xfrm>
                      <a:prstGeom prst="rect">
                        <a:avLst/>
                      </a:prstGeom>
                      <a:noFill/>
                      <a:ln w="38100">
                        <a:noFill/>
                        <a:miter/>
                      </a:ln>
                    </p:spPr>
                  </p:pic>
                </p:oleObj>
              </mc:Fallback>
            </mc:AlternateContent>
          </a:graphicData>
        </a:graphic>
      </p:graphicFrame>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
        <p:nvSpPr>
          <p:cNvPr id="2" name="文本框 1"/>
          <p:cNvSpPr txBox="1"/>
          <p:nvPr/>
        </p:nvSpPr>
        <p:spPr>
          <a:xfrm>
            <a:off x="1864995" y="6487160"/>
            <a:ext cx="2334895" cy="398780"/>
          </a:xfrm>
          <a:prstGeom prst="rect">
            <a:avLst/>
          </a:prstGeom>
          <a:noFill/>
        </p:spPr>
        <p:txBody>
          <a:bodyPr wrap="none" rtlCol="0">
            <a:spAutoFit/>
          </a:bodyPr>
          <a:lstStyle/>
          <a:p>
            <a:r>
              <a:rPr lang="en-US" altLang="zh-CN" sz="2000">
                <a:solidFill>
                  <a:srgbClr val="FF0000"/>
                </a:solidFill>
              </a:rPr>
              <a:t>SHIFT</a:t>
            </a:r>
            <a:r>
              <a:rPr lang="zh-CN" altLang="en-US" sz="2000">
                <a:solidFill>
                  <a:srgbClr val="FF0000"/>
                </a:solidFill>
              </a:rPr>
              <a:t>表的长度</a:t>
            </a:r>
            <a:r>
              <a:rPr lang="en-US" altLang="zh-CN" sz="2000">
                <a:solidFill>
                  <a:srgbClr val="FF0000"/>
                </a:solidFill>
              </a:rPr>
              <a:t>=</a:t>
            </a:r>
            <a:r>
              <a:rPr lang="zh-CN" altLang="en-US" sz="2000">
                <a:solidFill>
                  <a:srgbClr val="FF0000"/>
                </a:solidFill>
              </a:rPr>
              <a:t>？</a:t>
            </a:r>
          </a:p>
        </p:txBody>
      </p:sp>
      <p:sp>
        <p:nvSpPr>
          <p:cNvPr id="3" name="文本框 2"/>
          <p:cNvSpPr txBox="1"/>
          <p:nvPr/>
        </p:nvSpPr>
        <p:spPr>
          <a:xfrm>
            <a:off x="5507990" y="6470650"/>
            <a:ext cx="2519045" cy="398780"/>
          </a:xfrm>
          <a:prstGeom prst="rect">
            <a:avLst/>
          </a:prstGeom>
          <a:noFill/>
        </p:spPr>
        <p:txBody>
          <a:bodyPr wrap="none" rtlCol="0">
            <a:spAutoFit/>
          </a:bodyPr>
          <a:lstStyle/>
          <a:p>
            <a:r>
              <a:rPr lang="en-US" altLang="zh-CN" sz="2000">
                <a:solidFill>
                  <a:srgbClr val="FF0000"/>
                </a:solidFill>
              </a:rPr>
              <a:t>PREFIX</a:t>
            </a:r>
            <a:r>
              <a:rPr lang="zh-CN" altLang="en-US" sz="2000">
                <a:solidFill>
                  <a:srgbClr val="FF0000"/>
                </a:solidFill>
              </a:rPr>
              <a:t>表的长度</a:t>
            </a:r>
            <a:r>
              <a:rPr lang="en-US" altLang="zh-CN" sz="2000">
                <a:solidFill>
                  <a:srgbClr val="FF0000"/>
                </a:solidFill>
              </a:rPr>
              <a:t>=</a:t>
            </a:r>
            <a:r>
              <a:rPr lang="zh-CN" altLang="en-US" sz="2000">
                <a:solidFill>
                  <a:srgbClr val="FF0000"/>
                </a:solidFill>
              </a:rPr>
              <a:t>？</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100</a:t>
            </a:fld>
            <a:endParaRPr lang="en-US" altLang="zh-CN" sz="1400" dirty="0"/>
          </a:p>
        </p:txBody>
      </p:sp>
      <p:sp>
        <p:nvSpPr>
          <p:cNvPr id="194562" name="Rectangle 3"/>
          <p:cNvSpPr>
            <a:spLocks noGrp="1" noRot="1"/>
          </p:cNvSpPr>
          <p:nvPr>
            <p:ph idx="1"/>
          </p:nvPr>
        </p:nvSpPr>
        <p:spPr/>
        <p:txBody>
          <a:bodyPr vert="horz" wrap="square" lIns="91440" tIns="45720" rIns="91440" bIns="45720" anchor="t"/>
          <a:lstStyle/>
          <a:p>
            <a:pPr eaLnBrk="1" hangingPunct="1">
              <a:lnSpc>
                <a:spcPct val="120000"/>
              </a:lnSpc>
            </a:pPr>
            <a:r>
              <a:rPr lang="zh-CN" altLang="en-US" sz="2400" dirty="0"/>
              <a:t>算法主要使用了三个数据结构：</a:t>
            </a:r>
          </a:p>
          <a:p>
            <a:pPr eaLnBrk="1" hangingPunct="1">
              <a:lnSpc>
                <a:spcPct val="120000"/>
              </a:lnSpc>
              <a:buNone/>
            </a:pPr>
            <a:r>
              <a:rPr lang="zh-CN" altLang="en-US" sz="2400" dirty="0"/>
              <a:t>	</a:t>
            </a:r>
            <a:r>
              <a:rPr lang="en-US" altLang="zh-CN" sz="2400" dirty="0"/>
              <a:t>SHIFT</a:t>
            </a:r>
            <a:r>
              <a:rPr lang="zh-CN" altLang="en-US" sz="2400" dirty="0"/>
              <a:t>表</a:t>
            </a:r>
          </a:p>
          <a:p>
            <a:pPr eaLnBrk="1" hangingPunct="1">
              <a:lnSpc>
                <a:spcPct val="120000"/>
              </a:lnSpc>
              <a:buNone/>
            </a:pPr>
            <a:r>
              <a:rPr lang="zh-CN" altLang="en-US" sz="2400" dirty="0"/>
              <a:t>	</a:t>
            </a:r>
            <a:r>
              <a:rPr lang="en-US" altLang="zh-CN" sz="2400" dirty="0"/>
              <a:t>HASH</a:t>
            </a:r>
            <a:r>
              <a:rPr lang="zh-CN" altLang="en-US" sz="2400" dirty="0"/>
              <a:t>表</a:t>
            </a:r>
          </a:p>
          <a:p>
            <a:pPr eaLnBrk="1" hangingPunct="1">
              <a:lnSpc>
                <a:spcPct val="120000"/>
              </a:lnSpc>
              <a:buNone/>
            </a:pPr>
            <a:r>
              <a:rPr lang="zh-CN" altLang="en-US" sz="2400" dirty="0"/>
              <a:t>	</a:t>
            </a:r>
            <a:r>
              <a:rPr lang="en-US" altLang="zh-CN" sz="2400" dirty="0"/>
              <a:t>PREFIX</a:t>
            </a:r>
            <a:r>
              <a:rPr lang="zh-CN" altLang="en-US" sz="2400" dirty="0"/>
              <a:t>表 </a:t>
            </a:r>
          </a:p>
        </p:txBody>
      </p:sp>
      <p:sp>
        <p:nvSpPr>
          <p:cNvPr id="356356" name="Rectangle 4"/>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eaLnBrk="1" hangingPunct="1"/>
            <a:r>
              <a:rPr lang="zh-CN" altLang="en-US" dirty="0">
                <a:effectLst>
                  <a:outerShdw blurRad="38100" dist="38100" dir="2700000">
                    <a:srgbClr val="000000"/>
                  </a:outerShdw>
                </a:effectLst>
              </a:rPr>
              <a:t>预处理过程</a:t>
            </a: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101</a:t>
            </a:fld>
            <a:endParaRPr lang="en-US" altLang="zh-CN" sz="1400" dirty="0"/>
          </a:p>
        </p:txBody>
      </p:sp>
      <p:sp>
        <p:nvSpPr>
          <p:cNvPr id="196610" name="Rectangle 3"/>
          <p:cNvSpPr>
            <a:spLocks noGrp="1" noRot="1"/>
          </p:cNvSpPr>
          <p:nvPr>
            <p:ph idx="1"/>
          </p:nvPr>
        </p:nvSpPr>
        <p:spPr>
          <a:xfrm>
            <a:off x="628650" y="1487171"/>
            <a:ext cx="7886700" cy="4474845"/>
          </a:xfrm>
        </p:spPr>
        <p:txBody>
          <a:bodyPr vert="horz" wrap="square" lIns="91440" tIns="45720" rIns="91440" bIns="45720" anchor="t">
            <a:normAutofit lnSpcReduction="10000"/>
          </a:bodyPr>
          <a:lstStyle/>
          <a:p>
            <a:pPr eaLnBrk="1" hangingPunct="1">
              <a:lnSpc>
                <a:spcPct val="150000"/>
              </a:lnSpc>
            </a:pPr>
            <a:r>
              <a:rPr lang="zh-CN" altLang="en-US" sz="2800" b="1" dirty="0"/>
              <a:t>算法的基本思想：</a:t>
            </a:r>
          </a:p>
          <a:p>
            <a:pPr lvl="1" algn="just" eaLnBrk="1" hangingPunct="1">
              <a:lnSpc>
                <a:spcPct val="150000"/>
              </a:lnSpc>
            </a:pPr>
            <a:r>
              <a:rPr lang="zh-CN" altLang="en-US" sz="2400" b="1" dirty="0"/>
              <a:t>在预处理阶段，算法主要使用了三个数据结构：</a:t>
            </a:r>
            <a:r>
              <a:rPr lang="en-US" altLang="zh-CN" sz="2400" b="1" dirty="0"/>
              <a:t>SHIFT</a:t>
            </a:r>
            <a:r>
              <a:rPr lang="zh-CN" altLang="en-US" sz="2400" b="1" dirty="0"/>
              <a:t>表、</a:t>
            </a:r>
            <a:r>
              <a:rPr lang="en-US" altLang="zh-CN" sz="2400" b="1" dirty="0"/>
              <a:t>HASH</a:t>
            </a:r>
            <a:r>
              <a:rPr lang="zh-CN" altLang="en-US" sz="2400" b="1" dirty="0"/>
              <a:t>表、和</a:t>
            </a:r>
            <a:r>
              <a:rPr lang="en-US" altLang="zh-CN" sz="2400" b="1" dirty="0"/>
              <a:t>PREFIX</a:t>
            </a:r>
            <a:r>
              <a:rPr lang="zh-CN" altLang="en-US" sz="2400" b="1" dirty="0"/>
              <a:t>表 。</a:t>
            </a:r>
          </a:p>
          <a:p>
            <a:pPr lvl="1" algn="just" eaLnBrk="1" hangingPunct="1">
              <a:lnSpc>
                <a:spcPct val="150000"/>
              </a:lnSpc>
            </a:pPr>
            <a:r>
              <a:rPr lang="zh-CN" altLang="en-US" sz="2400" dirty="0"/>
              <a:t>在搜索查找阶段，</a:t>
            </a:r>
            <a:r>
              <a:rPr lang="en-US" altLang="zh-CN" sz="2400" dirty="0"/>
              <a:t>SHIFT</a:t>
            </a:r>
            <a:r>
              <a:rPr lang="zh-CN" altLang="en-US" sz="2400" dirty="0"/>
              <a:t>表用于在扫描文本串的时候</a:t>
            </a:r>
            <a:r>
              <a:rPr lang="en-US" altLang="zh-CN" sz="2400" dirty="0"/>
              <a:t>,</a:t>
            </a:r>
            <a:r>
              <a:rPr lang="zh-CN" altLang="en-US" sz="2400" dirty="0"/>
              <a:t>根据读入字符串决定可以跳过的字符数</a:t>
            </a:r>
            <a:r>
              <a:rPr lang="en-US" altLang="zh-CN" sz="2400" dirty="0"/>
              <a:t>,</a:t>
            </a:r>
            <a:r>
              <a:rPr lang="zh-CN" altLang="en-US" sz="2400" dirty="0"/>
              <a:t>如果相应的跳跃值为</a:t>
            </a:r>
            <a:r>
              <a:rPr lang="en-US" altLang="zh-CN" sz="2400" dirty="0"/>
              <a:t>0,</a:t>
            </a:r>
            <a:r>
              <a:rPr lang="zh-CN" altLang="en-US" sz="2400" dirty="0"/>
              <a:t>则说明可能产生匹配</a:t>
            </a:r>
            <a:r>
              <a:rPr lang="en-US" altLang="zh-CN" sz="2400" dirty="0"/>
              <a:t>,</a:t>
            </a:r>
            <a:r>
              <a:rPr lang="zh-CN" altLang="en-US" sz="2400" dirty="0"/>
              <a:t>就要用到</a:t>
            </a:r>
            <a:r>
              <a:rPr lang="en-US" altLang="zh-CN" sz="2400" dirty="0"/>
              <a:t>HASH</a:t>
            </a:r>
            <a:r>
              <a:rPr lang="zh-CN" altLang="en-US" sz="2400" dirty="0"/>
              <a:t>表和</a:t>
            </a:r>
            <a:r>
              <a:rPr lang="en-US" altLang="zh-CN" sz="2400" dirty="0"/>
              <a:t>PREFIX</a:t>
            </a:r>
            <a:r>
              <a:rPr lang="zh-CN" altLang="en-US" sz="2400" dirty="0"/>
              <a:t>表进一步判断</a:t>
            </a:r>
            <a:r>
              <a:rPr lang="en-US" altLang="zh-CN" sz="2400" dirty="0"/>
              <a:t>,</a:t>
            </a:r>
            <a:r>
              <a:rPr lang="zh-CN" altLang="en-US" sz="2400" dirty="0"/>
              <a:t>以决定有哪些匹配候选模式</a:t>
            </a:r>
            <a:r>
              <a:rPr lang="en-US" altLang="zh-CN" sz="2400" dirty="0"/>
              <a:t>,</a:t>
            </a:r>
            <a:r>
              <a:rPr lang="zh-CN" altLang="en-US" sz="2400" dirty="0"/>
              <a:t>并验证究竟是哪个或者哪些候选模式完全匹配</a:t>
            </a:r>
            <a:r>
              <a:rPr lang="en-US" altLang="zh-CN" sz="2400" dirty="0"/>
              <a:t>.</a:t>
            </a:r>
          </a:p>
          <a:p>
            <a:pPr eaLnBrk="1" hangingPunct="1">
              <a:lnSpc>
                <a:spcPct val="150000"/>
              </a:lnSpc>
              <a:buNone/>
            </a:pPr>
            <a:endParaRPr lang="en-US" altLang="zh-CN" sz="2400" dirty="0"/>
          </a:p>
        </p:txBody>
      </p:sp>
      <p:sp>
        <p:nvSpPr>
          <p:cNvPr id="356356" name="Rectangle 4"/>
          <p:cNvSpPr>
            <a:spLocks noGrp="1" noRot="1" noChangeArrowheads="1"/>
          </p:cNvSpPr>
          <p:nvPr/>
        </p:nvSpPr>
        <p:spPr>
          <a:xfrm>
            <a:off x="628650" y="-17780"/>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dirty="0">
                <a:effectLst>
                  <a:outerShdw blurRad="38100" dist="38100" dir="2700000">
                    <a:srgbClr val="000000"/>
                  </a:outerShdw>
                </a:effectLst>
              </a:rPr>
              <a:t>预处理过程</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102</a:t>
            </a:fld>
            <a:endParaRPr lang="en-US" altLang="zh-CN" sz="1400" dirty="0"/>
          </a:p>
        </p:txBody>
      </p:sp>
      <p:sp>
        <p:nvSpPr>
          <p:cNvPr id="357378" name="Rectangle 2"/>
          <p:cNvSpPr>
            <a:spLocks noGrp="1" noRot="1" noChangeArrowheads="1"/>
          </p:cNvSpPr>
          <p:nvPr>
            <p:ph type="title"/>
          </p:nvPr>
        </p:nvSpPr>
        <p:spPr>
          <a:xfrm>
            <a:off x="54610"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SHIFT</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
        <p:nvSpPr>
          <p:cNvPr id="198659" name="Rectangle 3"/>
          <p:cNvSpPr>
            <a:spLocks noGrp="1" noRot="1"/>
          </p:cNvSpPr>
          <p:nvPr>
            <p:ph idx="1"/>
          </p:nvPr>
        </p:nvSpPr>
        <p:spPr>
          <a:xfrm>
            <a:off x="628650" y="1102360"/>
            <a:ext cx="7886700" cy="5074920"/>
          </a:xfrm>
        </p:spPr>
        <p:txBody>
          <a:bodyPr vert="horz" wrap="square" lIns="91440" tIns="45720" rIns="91440" bIns="45720" anchor="t">
            <a:noAutofit/>
          </a:bodyPr>
          <a:lstStyle/>
          <a:p>
            <a:pPr algn="just" eaLnBrk="1" hangingPunct="1">
              <a:lnSpc>
                <a:spcPct val="110000"/>
              </a:lnSpc>
            </a:pPr>
            <a:r>
              <a:rPr lang="en-US" altLang="zh-CN" sz="2400" dirty="0">
                <a:solidFill>
                  <a:srgbClr val="C00000"/>
                </a:solidFill>
              </a:rPr>
              <a:t>SHIFT</a:t>
            </a:r>
            <a:r>
              <a:rPr lang="zh-CN" altLang="en-US" sz="2400" dirty="0">
                <a:solidFill>
                  <a:srgbClr val="C00000"/>
                </a:solidFill>
              </a:rPr>
              <a:t>表和常规</a:t>
            </a:r>
            <a:r>
              <a:rPr lang="en-US" altLang="zh-CN" sz="2400" dirty="0">
                <a:solidFill>
                  <a:srgbClr val="C00000"/>
                </a:solidFill>
              </a:rPr>
              <a:t>Boyer-Moore</a:t>
            </a:r>
            <a:r>
              <a:rPr lang="zh-CN" altLang="en-US" sz="2400" dirty="0">
                <a:solidFill>
                  <a:srgbClr val="C00000"/>
                </a:solidFill>
              </a:rPr>
              <a:t>类算法的</a:t>
            </a:r>
            <a:r>
              <a:rPr lang="en-US" altLang="zh-CN" sz="2400" dirty="0">
                <a:solidFill>
                  <a:srgbClr val="C00000"/>
                </a:solidFill>
              </a:rPr>
              <a:t>bad-character</a:t>
            </a:r>
            <a:r>
              <a:rPr lang="zh-CN" altLang="en-US" sz="2400" dirty="0">
                <a:solidFill>
                  <a:srgbClr val="C00000"/>
                </a:solidFill>
              </a:rPr>
              <a:t>表相似</a:t>
            </a:r>
            <a:r>
              <a:rPr lang="zh-CN" altLang="en-US" sz="2400" dirty="0"/>
              <a:t>，搜索文本时用来决定文本指针移动（跳过）多少个字符；但又不完全相同：其移动的距离是基于模式最后</a:t>
            </a:r>
            <a:r>
              <a:rPr lang="en-US" altLang="zh-CN" sz="2400" dirty="0"/>
              <a:t>B</a:t>
            </a:r>
            <a:r>
              <a:rPr lang="zh-CN" altLang="en-US" sz="2400" dirty="0"/>
              <a:t>个字符，而不是一个字符。</a:t>
            </a:r>
          </a:p>
          <a:p>
            <a:pPr algn="just" eaLnBrk="1" hangingPunct="1">
              <a:lnSpc>
                <a:spcPct val="110000"/>
              </a:lnSpc>
            </a:pPr>
            <a:r>
              <a:rPr lang="zh-CN" altLang="en-US" sz="2400" dirty="0"/>
              <a:t>例如，若文本中当前长度为</a:t>
            </a:r>
            <a:r>
              <a:rPr lang="en-US" altLang="zh-CN" sz="2400" dirty="0"/>
              <a:t>B</a:t>
            </a:r>
            <a:r>
              <a:rPr lang="zh-CN" altLang="en-US" sz="2400" dirty="0"/>
              <a:t>的子串在任何模式（注意，所有模式“长度”均为</a:t>
            </a:r>
            <a:r>
              <a:rPr lang="en-US" altLang="zh-CN" sz="2400" dirty="0"/>
              <a:t>m</a:t>
            </a:r>
            <a:r>
              <a:rPr lang="zh-CN" altLang="en-US" sz="2400" dirty="0"/>
              <a:t>）中均未出现，则我们可以将文本指针向前移动</a:t>
            </a:r>
            <a:r>
              <a:rPr lang="en-US" altLang="zh-CN" sz="2400" dirty="0"/>
              <a:t>m-B+1</a:t>
            </a:r>
            <a:r>
              <a:rPr lang="zh-CN" altLang="en-US" sz="2400" dirty="0"/>
              <a:t>个字符。现在假定对于每一个长度为</a:t>
            </a:r>
            <a:r>
              <a:rPr lang="en-US" altLang="zh-CN" sz="2400" dirty="0"/>
              <a:t>B</a:t>
            </a:r>
            <a:r>
              <a:rPr lang="zh-CN" altLang="en-US" sz="2400" dirty="0"/>
              <a:t>的子串在</a:t>
            </a:r>
            <a:r>
              <a:rPr lang="en-US" altLang="zh-CN" sz="2400" dirty="0"/>
              <a:t>SHIFT</a:t>
            </a:r>
            <a:r>
              <a:rPr lang="zh-CN" altLang="en-US" sz="2400" dirty="0"/>
              <a:t>表中都有一个入口，则</a:t>
            </a:r>
            <a:r>
              <a:rPr lang="en-US" altLang="zh-CN" sz="2400" dirty="0"/>
              <a:t>SHIFT</a:t>
            </a:r>
            <a:r>
              <a:rPr lang="zh-CN" altLang="en-US" sz="2400" dirty="0"/>
              <a:t>表的大小为</a:t>
            </a:r>
            <a:r>
              <a:rPr lang="en-US" altLang="zh-CN" sz="2400" dirty="0"/>
              <a:t>c^B</a:t>
            </a:r>
            <a:r>
              <a:rPr lang="zh-CN" altLang="en-US" sz="2400" dirty="0"/>
              <a:t>。（算法中实际使用的是压缩的表，让一些子串映射到</a:t>
            </a:r>
            <a:r>
              <a:rPr lang="en-US" altLang="zh-CN" sz="2400" dirty="0"/>
              <a:t>SHIFT</a:t>
            </a:r>
            <a:r>
              <a:rPr lang="zh-CN" altLang="en-US" sz="2400" dirty="0"/>
              <a:t>表同一入口来节省空间。）每个长度为</a:t>
            </a:r>
            <a:r>
              <a:rPr lang="en-US" altLang="zh-CN" sz="2400" dirty="0"/>
              <a:t>B</a:t>
            </a:r>
            <a:r>
              <a:rPr lang="zh-CN" altLang="en-US" sz="2400" dirty="0"/>
              <a:t>的子串映射（哈希函数）为一个整数，作为</a:t>
            </a:r>
            <a:r>
              <a:rPr lang="en-US" altLang="zh-CN" sz="2400" dirty="0"/>
              <a:t>SHIFT</a:t>
            </a:r>
            <a:r>
              <a:rPr lang="zh-CN" altLang="en-US" sz="2400" dirty="0"/>
              <a:t>表的索引。</a:t>
            </a:r>
            <a:r>
              <a:rPr lang="en-US" altLang="zh-CN" sz="2400" dirty="0"/>
              <a:t>SHIFT</a:t>
            </a:r>
            <a:r>
              <a:rPr lang="zh-CN" altLang="en-US" sz="2400" dirty="0"/>
              <a:t>表中的值决定了搜索文本时我们可以向前移动（跳跃）的值。 </a:t>
            </a: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103</a:t>
            </a:fld>
            <a:endParaRPr lang="en-US" altLang="zh-CN" sz="1400" dirty="0"/>
          </a:p>
        </p:txBody>
      </p:sp>
      <p:sp>
        <p:nvSpPr>
          <p:cNvPr id="200706" name="Rectangle 3"/>
          <p:cNvSpPr>
            <a:spLocks noGrp="1" noRot="1"/>
          </p:cNvSpPr>
          <p:nvPr>
            <p:ph idx="1"/>
          </p:nvPr>
        </p:nvSpPr>
        <p:spPr>
          <a:xfrm>
            <a:off x="628650" y="1343661"/>
            <a:ext cx="7886700" cy="4474845"/>
          </a:xfrm>
        </p:spPr>
        <p:txBody>
          <a:bodyPr vert="horz" wrap="square" lIns="91440" tIns="45720" rIns="91440" bIns="45720" anchor="t">
            <a:noAutofit/>
          </a:bodyPr>
          <a:lstStyle/>
          <a:p>
            <a:pPr eaLnBrk="1" hangingPunct="1">
              <a:lnSpc>
                <a:spcPct val="120000"/>
              </a:lnSpc>
              <a:buNone/>
            </a:pPr>
            <a:r>
              <a:rPr lang="en-US" altLang="zh-CN" sz="2400" b="1" dirty="0"/>
              <a:t>	</a:t>
            </a:r>
            <a:r>
              <a:rPr lang="zh-CN" altLang="en-US" sz="2400" b="1" dirty="0"/>
              <a:t>设</a:t>
            </a:r>
            <a:r>
              <a:rPr lang="en-US" altLang="zh-CN" sz="2400" b="1" dirty="0"/>
              <a:t>X=x</a:t>
            </a:r>
            <a:r>
              <a:rPr lang="en-US" altLang="zh-CN" sz="2400" b="1" baseline="-25000" dirty="0"/>
              <a:t>1</a:t>
            </a:r>
            <a:r>
              <a:rPr lang="en-US" altLang="zh-CN" sz="2400" b="1" dirty="0"/>
              <a:t>…x</a:t>
            </a:r>
            <a:r>
              <a:rPr lang="en-US" altLang="zh-CN" sz="2400" b="1" baseline="-25000" dirty="0"/>
              <a:t>B</a:t>
            </a:r>
            <a:r>
              <a:rPr lang="zh-CN" altLang="en-US" sz="2400" b="1" dirty="0"/>
              <a:t>是我们搜索时当前文本指针所指</a:t>
            </a:r>
            <a:r>
              <a:rPr lang="en-US" altLang="zh-CN" sz="2400" b="1" dirty="0"/>
              <a:t>B</a:t>
            </a:r>
            <a:r>
              <a:rPr lang="zh-CN" altLang="en-US" sz="2400" b="1" dirty="0"/>
              <a:t>个字符。假定</a:t>
            </a:r>
            <a:r>
              <a:rPr lang="en-US" altLang="zh-CN" sz="2400" b="1" dirty="0"/>
              <a:t>X</a:t>
            </a:r>
            <a:r>
              <a:rPr lang="zh-CN" altLang="en-US" sz="2400" b="1" dirty="0"/>
              <a:t>被映射到</a:t>
            </a:r>
            <a:r>
              <a:rPr lang="en-US" altLang="zh-CN" sz="2400" b="1" dirty="0"/>
              <a:t>SHIFT</a:t>
            </a:r>
            <a:r>
              <a:rPr lang="zh-CN" altLang="en-US" sz="2400" b="1" dirty="0"/>
              <a:t>表第</a:t>
            </a:r>
            <a:r>
              <a:rPr lang="en-US" altLang="zh-CN" sz="2400" b="1" dirty="0"/>
              <a:t>i</a:t>
            </a:r>
            <a:r>
              <a:rPr lang="zh-CN" altLang="en-US" sz="2400" b="1" dirty="0"/>
              <a:t>个入口，则有两种情况：</a:t>
            </a:r>
          </a:p>
          <a:p>
            <a:pPr eaLnBrk="1" hangingPunct="1">
              <a:lnSpc>
                <a:spcPct val="120000"/>
              </a:lnSpc>
              <a:buNone/>
            </a:pPr>
            <a:r>
              <a:rPr lang="en-US" altLang="zh-CN" sz="2400" b="1" dirty="0"/>
              <a:t>1</a:t>
            </a:r>
            <a:r>
              <a:rPr lang="zh-CN" altLang="en-US" sz="2400" b="1" dirty="0"/>
              <a:t>．子串</a:t>
            </a:r>
            <a:r>
              <a:rPr lang="en-US" altLang="zh-CN" sz="2400" b="1" dirty="0"/>
              <a:t>X</a:t>
            </a:r>
            <a:r>
              <a:rPr lang="zh-CN" altLang="en-US" sz="2400" b="1" dirty="0"/>
              <a:t>未在任何模式中出现。</a:t>
            </a:r>
          </a:p>
          <a:p>
            <a:pPr eaLnBrk="1" hangingPunct="1">
              <a:lnSpc>
                <a:spcPct val="120000"/>
              </a:lnSpc>
              <a:buNone/>
            </a:pPr>
            <a:r>
              <a:rPr lang="zh-CN" altLang="en-US" sz="2400" b="1" dirty="0"/>
              <a:t>	这种情况下，我们可以移动</a:t>
            </a:r>
            <a:r>
              <a:rPr lang="en-US" altLang="zh-CN" sz="2400" b="1" dirty="0"/>
              <a:t>m-B+1</a:t>
            </a:r>
            <a:r>
              <a:rPr lang="zh-CN" altLang="en-US" sz="2400" b="1" dirty="0"/>
              <a:t>个字符。	即</a:t>
            </a:r>
            <a:r>
              <a:rPr lang="en-US" altLang="zh-CN" sz="2400" b="1" dirty="0"/>
              <a:t>SHIFT[i]=m-B+1</a:t>
            </a:r>
            <a:r>
              <a:rPr lang="zh-CN" altLang="en-US" sz="2400" b="1" dirty="0"/>
              <a:t>。</a:t>
            </a:r>
          </a:p>
          <a:p>
            <a:pPr eaLnBrk="1" hangingPunct="1">
              <a:lnSpc>
                <a:spcPct val="120000"/>
              </a:lnSpc>
              <a:buNone/>
            </a:pPr>
            <a:r>
              <a:rPr lang="en-US" altLang="zh-CN" sz="2400" b="1" dirty="0"/>
              <a:t>2.</a:t>
            </a:r>
            <a:r>
              <a:rPr lang="zh-CN" altLang="en-US" sz="2400" b="1" dirty="0"/>
              <a:t>子串</a:t>
            </a:r>
            <a:r>
              <a:rPr lang="en-US" altLang="zh-CN" sz="2400" b="1" dirty="0"/>
              <a:t>X</a:t>
            </a:r>
            <a:r>
              <a:rPr lang="zh-CN" altLang="en-US" sz="2400" b="1" dirty="0"/>
              <a:t>在某些模式中出现。</a:t>
            </a:r>
          </a:p>
          <a:p>
            <a:pPr eaLnBrk="1" hangingPunct="1">
              <a:lnSpc>
                <a:spcPct val="120000"/>
              </a:lnSpc>
              <a:buNone/>
            </a:pPr>
            <a:r>
              <a:rPr lang="zh-CN" altLang="en-US" sz="2400" b="1" dirty="0"/>
              <a:t>	这种情况下，可以首先找到</a:t>
            </a:r>
            <a:r>
              <a:rPr lang="en-US" altLang="zh-CN" sz="2400" b="1" dirty="0"/>
              <a:t>X</a:t>
            </a:r>
            <a:r>
              <a:rPr lang="zh-CN" altLang="en-US" sz="2400" b="1" dirty="0"/>
              <a:t>在这些模式（注意，这些模式的“长度”均为</a:t>
            </a:r>
            <a:r>
              <a:rPr lang="en-US" altLang="zh-CN" sz="2400" b="1" dirty="0"/>
              <a:t>m</a:t>
            </a:r>
            <a:r>
              <a:rPr lang="zh-CN" altLang="en-US" sz="2400" b="1" dirty="0"/>
              <a:t>）中的最右出现位置；假定</a:t>
            </a:r>
            <a:r>
              <a:rPr lang="en-US" altLang="zh-CN" sz="2400" b="1" dirty="0"/>
              <a:t>X</a:t>
            </a:r>
            <a:r>
              <a:rPr lang="zh-CN" altLang="en-US" sz="2400" b="1" dirty="0"/>
              <a:t>在模式</a:t>
            </a:r>
            <a:r>
              <a:rPr lang="en-US" altLang="zh-CN" sz="2400" b="1" dirty="0"/>
              <a:t>P</a:t>
            </a:r>
            <a:r>
              <a:rPr lang="en-US" altLang="zh-CN" sz="2400" b="1" baseline="-25000" dirty="0"/>
              <a:t>j</a:t>
            </a:r>
            <a:r>
              <a:rPr lang="zh-CN" altLang="en-US" sz="2400" b="1" dirty="0"/>
              <a:t>中位置</a:t>
            </a:r>
            <a:r>
              <a:rPr lang="en-US" altLang="zh-CN" sz="2400" b="1" dirty="0"/>
              <a:t>q</a:t>
            </a:r>
            <a:r>
              <a:rPr lang="zh-CN" altLang="en-US" sz="2400" b="1" dirty="0"/>
              <a:t>结束，并且</a:t>
            </a:r>
            <a:r>
              <a:rPr lang="en-US" altLang="zh-CN" sz="2400" b="1" dirty="0"/>
              <a:t>X</a:t>
            </a:r>
            <a:r>
              <a:rPr lang="zh-CN" altLang="en-US" sz="2400" b="1" dirty="0"/>
              <a:t>在其他模式中结束位置不会大于</a:t>
            </a:r>
            <a:r>
              <a:rPr lang="en-US" altLang="zh-CN" sz="2400" b="1" dirty="0"/>
              <a:t>q</a:t>
            </a:r>
            <a:r>
              <a:rPr lang="zh-CN" altLang="en-US" sz="2400" b="1" dirty="0"/>
              <a:t>，则</a:t>
            </a:r>
            <a:r>
              <a:rPr lang="en-US" altLang="zh-CN" sz="2400" b="1" dirty="0"/>
              <a:t>SHIFT[i]=m-q</a:t>
            </a:r>
            <a:r>
              <a:rPr lang="zh-CN" altLang="en-US" sz="2400" b="1" dirty="0"/>
              <a:t>。</a:t>
            </a:r>
          </a:p>
          <a:p>
            <a:pPr eaLnBrk="1" hangingPunct="1">
              <a:buNone/>
            </a:pPr>
            <a:endParaRPr lang="zh-CN" altLang="en-US" sz="2400" b="1" dirty="0"/>
          </a:p>
        </p:txBody>
      </p:sp>
      <p:sp>
        <p:nvSpPr>
          <p:cNvPr id="358404" name="Rectangle 4"/>
          <p:cNvSpPr>
            <a:spLocks noGrp="1" noRot="1" noChangeArrowheads="1"/>
          </p:cNvSpPr>
          <p:nvPr>
            <p:ph type="title"/>
          </p:nvPr>
        </p:nvSpPr>
        <p:spPr>
          <a:xfrm>
            <a:off x="413385"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SHIFT</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104</a:t>
            </a:fld>
            <a:endParaRPr lang="en-US" altLang="zh-CN" sz="1400" dirty="0"/>
          </a:p>
        </p:txBody>
      </p:sp>
      <p:sp>
        <p:nvSpPr>
          <p:cNvPr id="365570" name="Rectangle 2"/>
          <p:cNvSpPr>
            <a:spLocks noGrp="1" noRot="1" noChangeArrowheads="1"/>
          </p:cNvSpPr>
          <p:nvPr>
            <p:ph type="title"/>
          </p:nvPr>
        </p:nvSpPr>
        <p:spPr>
          <a:xfrm>
            <a:off x="413385" y="-17780"/>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SHIFT</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
        <p:nvSpPr>
          <p:cNvPr id="202755" name="Rectangle 3"/>
          <p:cNvSpPr>
            <a:spLocks noGrp="1" noRot="1"/>
          </p:cNvSpPr>
          <p:nvPr>
            <p:ph idx="1"/>
          </p:nvPr>
        </p:nvSpPr>
        <p:spPr/>
        <p:txBody>
          <a:bodyPr vert="horz" wrap="square" lIns="91440" tIns="45720" rIns="91440" bIns="45720" anchor="t"/>
          <a:lstStyle/>
          <a:p>
            <a:pPr eaLnBrk="1" hangingPunct="1">
              <a:lnSpc>
                <a:spcPct val="170000"/>
              </a:lnSpc>
            </a:pPr>
            <a:r>
              <a:rPr lang="zh-CN" altLang="en-US" sz="2400" b="1" dirty="0"/>
              <a:t>首先，将</a:t>
            </a:r>
            <a:r>
              <a:rPr lang="en-US" altLang="zh-CN" sz="2400" b="1" dirty="0"/>
              <a:t>SHIFT</a:t>
            </a:r>
            <a:r>
              <a:rPr lang="zh-CN" altLang="en-US" sz="2400" b="1" dirty="0"/>
              <a:t>表所有值初始化为</a:t>
            </a:r>
            <a:r>
              <a:rPr lang="en-US" altLang="zh-CN" sz="2400" b="1" dirty="0"/>
              <a:t>m-B+1</a:t>
            </a:r>
            <a:r>
              <a:rPr lang="zh-CN" altLang="en-US" sz="2400" b="1" dirty="0"/>
              <a:t>。为了计算</a:t>
            </a:r>
            <a:r>
              <a:rPr lang="en-US" altLang="zh-CN" sz="2400" b="1" dirty="0"/>
              <a:t>SHIFT</a:t>
            </a:r>
            <a:r>
              <a:rPr lang="zh-CN" altLang="en-US" sz="2400" b="1" dirty="0"/>
              <a:t>表的值，依次考虑每一个模式</a:t>
            </a:r>
            <a:r>
              <a:rPr lang="en-US" altLang="zh-CN" sz="2400" b="1" dirty="0"/>
              <a:t>X</a:t>
            </a:r>
            <a:r>
              <a:rPr lang="en-US" altLang="zh-CN" sz="2400" b="1" baseline="-25000" dirty="0"/>
              <a:t>i</a:t>
            </a:r>
            <a:r>
              <a:rPr lang="en-US" altLang="zh-CN" sz="2400" b="1" dirty="0"/>
              <a:t>=x</a:t>
            </a:r>
            <a:r>
              <a:rPr lang="en-US" altLang="zh-CN" sz="2400" b="1" i="1" baseline="-25000" dirty="0"/>
              <a:t>1</a:t>
            </a:r>
            <a:r>
              <a:rPr lang="en-US" altLang="zh-CN" sz="2400" b="1" i="1" dirty="0"/>
              <a:t>…x</a:t>
            </a:r>
            <a:r>
              <a:rPr lang="en-US" altLang="zh-CN" sz="2400" b="1" i="1" baseline="-25000" dirty="0"/>
              <a:t>m</a:t>
            </a:r>
            <a:r>
              <a:rPr lang="zh-CN" altLang="en-US" sz="2400" b="1" dirty="0"/>
              <a:t>。将模式</a:t>
            </a:r>
            <a:r>
              <a:rPr lang="en-US" altLang="zh-CN" sz="2400" b="1" dirty="0"/>
              <a:t>X</a:t>
            </a:r>
            <a:r>
              <a:rPr lang="en-US" altLang="zh-CN" sz="2400" b="1" baseline="-25000" dirty="0"/>
              <a:t>i</a:t>
            </a:r>
            <a:r>
              <a:rPr lang="zh-CN" altLang="en-US" sz="2400" b="1" dirty="0"/>
              <a:t>中每一个长度为</a:t>
            </a:r>
            <a:r>
              <a:rPr lang="en-US" altLang="zh-CN" sz="2400" b="1" dirty="0"/>
              <a:t>B</a:t>
            </a:r>
            <a:r>
              <a:rPr lang="zh-CN" altLang="en-US" sz="2400" b="1" dirty="0"/>
              <a:t>的子串</a:t>
            </a:r>
            <a:r>
              <a:rPr lang="en-US" altLang="zh-CN" sz="2400" b="1" i="1" dirty="0"/>
              <a:t>x</a:t>
            </a:r>
            <a:r>
              <a:rPr lang="en-US" altLang="zh-CN" sz="2400" b="1" i="1" baseline="-25000" dirty="0"/>
              <a:t>j-B+1</a:t>
            </a:r>
            <a:r>
              <a:rPr lang="en-US" altLang="zh-CN" sz="2400" b="1" i="1" dirty="0"/>
              <a:t>…x</a:t>
            </a:r>
            <a:r>
              <a:rPr lang="en-US" altLang="zh-CN" sz="2400" b="1" i="1" baseline="-25000" dirty="0"/>
              <a:t>j</a:t>
            </a:r>
            <a:r>
              <a:rPr lang="zh-CN" altLang="en-US" sz="2400" b="1" dirty="0"/>
              <a:t>映射到</a:t>
            </a:r>
            <a:r>
              <a:rPr lang="en-US" altLang="zh-CN" sz="2400" b="1" dirty="0"/>
              <a:t>SHIFT</a:t>
            </a:r>
            <a:r>
              <a:rPr lang="zh-CN" altLang="en-US" sz="2400" b="1" dirty="0"/>
              <a:t>，并将其值设为当前值（所有初始值均为</a:t>
            </a:r>
            <a:r>
              <a:rPr lang="en-US" altLang="zh-CN" sz="2400" b="1" dirty="0"/>
              <a:t>m-B+1</a:t>
            </a:r>
            <a:r>
              <a:rPr lang="zh-CN" altLang="en-US" sz="2400" b="1" dirty="0"/>
              <a:t>）和</a:t>
            </a:r>
            <a:r>
              <a:rPr lang="en-US" altLang="zh-CN" sz="2400" b="1" dirty="0"/>
              <a:t>m-q(</a:t>
            </a:r>
            <a:r>
              <a:rPr lang="zh-CN" altLang="en-US" sz="2400" b="1" dirty="0"/>
              <a:t>到达这个子串所需的距离</a:t>
            </a:r>
            <a:r>
              <a:rPr lang="en-US" altLang="zh-CN" sz="2400" b="1" dirty="0"/>
              <a:t>)</a:t>
            </a:r>
            <a:r>
              <a:rPr lang="zh-CN" altLang="en-US" sz="2400" b="1" dirty="0"/>
              <a:t>中较小的。</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105</a:t>
            </a:fld>
            <a:endParaRPr lang="en-US" altLang="zh-CN" sz="1400" dirty="0"/>
          </a:p>
        </p:txBody>
      </p:sp>
      <p:sp>
        <p:nvSpPr>
          <p:cNvPr id="366594"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algn="ctr" eaLnBrk="1" hangingPunct="1"/>
            <a:r>
              <a:rPr lang="en-US" altLang="zh-CN" dirty="0">
                <a:effectLst>
                  <a:outerShdw blurRad="38100" dist="38100" dir="2700000">
                    <a:srgbClr val="000000"/>
                  </a:outerShdw>
                </a:effectLst>
              </a:rPr>
              <a:t>HASH</a:t>
            </a:r>
            <a:r>
              <a:rPr lang="zh-CN" altLang="en-US" dirty="0">
                <a:effectLst>
                  <a:outerShdw blurRad="38100" dist="38100" dir="2700000">
                    <a:srgbClr val="000000"/>
                  </a:outerShdw>
                </a:effectLst>
              </a:rPr>
              <a:t>表 </a:t>
            </a:r>
          </a:p>
        </p:txBody>
      </p:sp>
      <p:sp>
        <p:nvSpPr>
          <p:cNvPr id="204803" name="Rectangle 3"/>
          <p:cNvSpPr>
            <a:spLocks noGrp="1" noRot="1"/>
          </p:cNvSpPr>
          <p:nvPr>
            <p:ph idx="1"/>
          </p:nvPr>
        </p:nvSpPr>
        <p:spPr/>
        <p:txBody>
          <a:bodyPr vert="horz" wrap="square" lIns="91440" tIns="45720" rIns="91440" bIns="45720" anchor="t"/>
          <a:lstStyle/>
          <a:p>
            <a:pPr eaLnBrk="1" hangingPunct="1">
              <a:lnSpc>
                <a:spcPct val="120000"/>
              </a:lnSpc>
            </a:pPr>
            <a:r>
              <a:rPr lang="zh-CN" altLang="en-US" sz="2400" dirty="0"/>
              <a:t>只要</a:t>
            </a:r>
            <a:r>
              <a:rPr lang="en-US" altLang="zh-CN" sz="2400" dirty="0"/>
              <a:t>SHIFT</a:t>
            </a:r>
            <a:r>
              <a:rPr lang="zh-CN" altLang="en-US" sz="2400" dirty="0"/>
              <a:t>表移动值大于</a:t>
            </a:r>
            <a:r>
              <a:rPr lang="en-US" altLang="zh-CN" sz="2400" dirty="0"/>
              <a:t>0</a:t>
            </a:r>
            <a:r>
              <a:rPr lang="zh-CN" altLang="en-US" sz="2400" dirty="0"/>
              <a:t>，就可以安全的向前移动文本指针，继续扫描。实际上大多数情况下都是这样。在一个实验中，模式个数为</a:t>
            </a:r>
            <a:r>
              <a:rPr lang="en-US" altLang="zh-CN" sz="2400" dirty="0"/>
              <a:t>100</a:t>
            </a:r>
            <a:r>
              <a:rPr lang="zh-CN" altLang="en-US" sz="2400" dirty="0"/>
              <a:t>时</a:t>
            </a:r>
            <a:r>
              <a:rPr lang="en-US" altLang="zh-CN" sz="2400" dirty="0"/>
              <a:t>SHIFT</a:t>
            </a:r>
            <a:r>
              <a:rPr lang="zh-CN" altLang="en-US" sz="2400" dirty="0"/>
              <a:t>表值为</a:t>
            </a:r>
            <a:r>
              <a:rPr lang="en-US" altLang="zh-CN" sz="2400" dirty="0"/>
              <a:t>0</a:t>
            </a:r>
            <a:r>
              <a:rPr lang="zh-CN" altLang="en-US" sz="2400" dirty="0"/>
              <a:t>的概率为</a:t>
            </a:r>
            <a:r>
              <a:rPr lang="en-US" altLang="zh-CN" sz="2400" dirty="0"/>
              <a:t>5%</a:t>
            </a:r>
            <a:r>
              <a:rPr lang="zh-CN" altLang="en-US" sz="2400" dirty="0"/>
              <a:t>，</a:t>
            </a:r>
            <a:r>
              <a:rPr lang="en-US" altLang="zh-CN" sz="2400" dirty="0"/>
              <a:t>1000</a:t>
            </a:r>
            <a:r>
              <a:rPr lang="zh-CN" altLang="en-US" sz="2400" dirty="0"/>
              <a:t>时概率为</a:t>
            </a:r>
            <a:r>
              <a:rPr lang="en-US" altLang="zh-CN" sz="2400" dirty="0"/>
              <a:t>27%</a:t>
            </a:r>
            <a:r>
              <a:rPr lang="zh-CN" altLang="en-US" sz="2400" dirty="0"/>
              <a:t>，</a:t>
            </a:r>
            <a:r>
              <a:rPr lang="en-US" altLang="zh-CN" sz="2400" dirty="0"/>
              <a:t>5000</a:t>
            </a:r>
            <a:r>
              <a:rPr lang="zh-CN" altLang="en-US" sz="2400" dirty="0"/>
              <a:t>时概率为</a:t>
            </a:r>
            <a:r>
              <a:rPr lang="en-US" altLang="zh-CN" sz="2400" dirty="0"/>
              <a:t>53%</a:t>
            </a:r>
            <a:r>
              <a:rPr lang="zh-CN" altLang="en-US" sz="2400" dirty="0"/>
              <a:t>。</a:t>
            </a:r>
          </a:p>
          <a:p>
            <a:pPr eaLnBrk="1" hangingPunct="1">
              <a:lnSpc>
                <a:spcPct val="120000"/>
              </a:lnSpc>
            </a:pPr>
            <a:r>
              <a:rPr lang="zh-CN" altLang="en-US" sz="2400" dirty="0"/>
              <a:t>若移动值为</a:t>
            </a:r>
            <a:r>
              <a:rPr lang="en-US" altLang="zh-CN" sz="2400" dirty="0"/>
              <a:t>0</a:t>
            </a:r>
            <a:r>
              <a:rPr lang="zh-CN" altLang="en-US" sz="2400" dirty="0"/>
              <a:t>，则文本中当前子串可能与模式列表中某个模式相匹配，但是是哪一个模式呢？为了避免将子串和模式列表中每一个模式都比较一次，算法使用了哈希技术将要比较的模式个数减到最小。此即</a:t>
            </a:r>
            <a:r>
              <a:rPr lang="en-US" altLang="zh-CN" sz="2400" dirty="0"/>
              <a:t>HASH</a:t>
            </a:r>
            <a:r>
              <a:rPr lang="zh-CN" altLang="en-US" sz="2400" dirty="0"/>
              <a:t>表。</a:t>
            </a:r>
            <a:r>
              <a:rPr lang="zh-CN" altLang="en-US" dirty="0"/>
              <a:t> </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106</a:t>
            </a:fld>
            <a:endParaRPr lang="en-US" altLang="zh-CN" sz="1400" dirty="0"/>
          </a:p>
        </p:txBody>
      </p:sp>
      <p:sp>
        <p:nvSpPr>
          <p:cNvPr id="367618"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HASH</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
        <p:nvSpPr>
          <p:cNvPr id="206851" name="Rectangle 3"/>
          <p:cNvSpPr>
            <a:spLocks noGrp="1" noRot="1"/>
          </p:cNvSpPr>
          <p:nvPr>
            <p:ph idx="1"/>
          </p:nvPr>
        </p:nvSpPr>
        <p:spPr/>
        <p:txBody>
          <a:bodyPr vert="horz" wrap="square" lIns="91440" tIns="45720" rIns="91440" bIns="45720" anchor="t"/>
          <a:lstStyle/>
          <a:p>
            <a:pPr eaLnBrk="1" hangingPunct="1">
              <a:lnSpc>
                <a:spcPct val="120000"/>
              </a:lnSpc>
            </a:pPr>
            <a:r>
              <a:rPr lang="zh-CN" altLang="en-US" sz="2400" dirty="0"/>
              <a:t>我们已经将</a:t>
            </a:r>
            <a:r>
              <a:rPr lang="en-US" altLang="zh-CN" sz="2400" dirty="0"/>
              <a:t>B</a:t>
            </a:r>
            <a:r>
              <a:rPr lang="zh-CN" altLang="en-US" sz="2400" dirty="0"/>
              <a:t>个字符映射为一个整数，这个整数作为</a:t>
            </a:r>
            <a:r>
              <a:rPr lang="en-US" altLang="zh-CN" sz="2400" dirty="0"/>
              <a:t>SHIFT</a:t>
            </a:r>
            <a:r>
              <a:rPr lang="zh-CN" altLang="en-US" sz="2400" dirty="0"/>
              <a:t>表的索引。同时，这个整数又是</a:t>
            </a:r>
            <a:r>
              <a:rPr lang="en-US" altLang="zh-CN" sz="2400" dirty="0"/>
              <a:t>HASH</a:t>
            </a:r>
            <a:r>
              <a:rPr lang="zh-CN" altLang="en-US" sz="2400" dirty="0"/>
              <a:t>表的索引。</a:t>
            </a:r>
            <a:r>
              <a:rPr lang="en-US" altLang="zh-CN" sz="2400" dirty="0"/>
              <a:t>HASH</a:t>
            </a:r>
            <a:r>
              <a:rPr lang="zh-CN" altLang="en-US" sz="2400" dirty="0"/>
              <a:t>表的第</a:t>
            </a:r>
            <a:r>
              <a:rPr lang="en-US" altLang="zh-CN" sz="2400" dirty="0"/>
              <a:t>i</a:t>
            </a:r>
            <a:r>
              <a:rPr lang="zh-CN" altLang="en-US" sz="2400" dirty="0"/>
              <a:t>个入口，</a:t>
            </a:r>
            <a:r>
              <a:rPr lang="en-US" altLang="zh-CN" sz="2400" dirty="0"/>
              <a:t>HASH[i]</a:t>
            </a:r>
            <a:r>
              <a:rPr lang="zh-CN" altLang="en-US" sz="2400" dirty="0"/>
              <a:t>，包含了一个模式列表的指针，其中的模式最后</a:t>
            </a:r>
            <a:r>
              <a:rPr lang="en-US" altLang="zh-CN" sz="2400" dirty="0"/>
              <a:t>B</a:t>
            </a:r>
            <a:r>
              <a:rPr lang="zh-CN" altLang="en-US" sz="2400" dirty="0"/>
              <a:t>个字符的哈希值为</a:t>
            </a:r>
            <a:r>
              <a:rPr lang="en-US" altLang="zh-CN" sz="2400" dirty="0"/>
              <a:t>i</a:t>
            </a:r>
            <a:r>
              <a:rPr lang="zh-CN" altLang="en-US" sz="2400" dirty="0"/>
              <a:t>。</a:t>
            </a:r>
          </a:p>
          <a:p>
            <a:pPr eaLnBrk="1" hangingPunct="1">
              <a:lnSpc>
                <a:spcPct val="120000"/>
              </a:lnSpc>
            </a:pPr>
            <a:r>
              <a:rPr lang="zh-CN" altLang="en-US" sz="2400" dirty="0"/>
              <a:t>一般情况下，</a:t>
            </a:r>
            <a:r>
              <a:rPr lang="en-US" altLang="zh-CN" sz="2400" dirty="0"/>
              <a:t>HASH</a:t>
            </a:r>
            <a:r>
              <a:rPr lang="zh-CN" altLang="en-US" sz="2400" dirty="0"/>
              <a:t>表非常稀疏，因为它只包含各个模式，而</a:t>
            </a:r>
            <a:r>
              <a:rPr lang="en-US" altLang="zh-CN" sz="2400" dirty="0"/>
              <a:t>SHIFT</a:t>
            </a:r>
            <a:r>
              <a:rPr lang="zh-CN" altLang="en-US" sz="2400" dirty="0"/>
              <a:t>表包含所有可能的长度为</a:t>
            </a:r>
            <a:r>
              <a:rPr lang="en-US" altLang="zh-CN" sz="2400" dirty="0"/>
              <a:t>B</a:t>
            </a:r>
            <a:r>
              <a:rPr lang="zh-CN" altLang="en-US" sz="2400" dirty="0"/>
              <a:t>的子串。这样内存使用效率不高，但这使得算法可以重用哈希函数的结果，从而节省了很多计算时间。 </a:t>
            </a: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107</a:t>
            </a:fld>
            <a:endParaRPr lang="en-US" altLang="zh-CN" sz="1400" dirty="0"/>
          </a:p>
        </p:txBody>
      </p:sp>
      <p:sp>
        <p:nvSpPr>
          <p:cNvPr id="368642" name="Rectangle 2"/>
          <p:cNvSpPr>
            <a:spLocks noGrp="1" noRot="1" noChangeArrowheads="1"/>
          </p:cNvSpPr>
          <p:nvPr>
            <p:ph type="title"/>
          </p:nvPr>
        </p:nvSpPr>
        <p:spPr>
          <a:xfrm>
            <a:off x="628650" y="-17780"/>
            <a:ext cx="7886700" cy="1325563"/>
          </a:xfrm>
        </p:spPr>
        <p:txBody>
          <a:bodyPr vert="horz" wrap="square" lIns="91440" tIns="45720" rIns="91440" bIns="45720" numCol="1" anchor="ctr" anchorCtr="0" compatLnSpc="1"/>
          <a:lstStyle/>
          <a:p>
            <a:pPr algn="ctr" eaLnBrk="1" hangingPunct="1"/>
            <a:r>
              <a:rPr lang="en-US" altLang="zh-CN" dirty="0">
                <a:effectLst>
                  <a:outerShdw blurRad="38100" dist="38100" dir="2700000">
                    <a:srgbClr val="000000"/>
                  </a:outerShdw>
                </a:effectLst>
              </a:rPr>
              <a:t>PREFIX</a:t>
            </a:r>
            <a:r>
              <a:rPr lang="zh-CN" altLang="en-US" dirty="0">
                <a:effectLst>
                  <a:outerShdw blurRad="38100" dist="38100" dir="2700000">
                    <a:srgbClr val="000000"/>
                  </a:outerShdw>
                </a:effectLst>
              </a:rPr>
              <a:t>表 </a:t>
            </a:r>
          </a:p>
        </p:txBody>
      </p:sp>
      <p:sp>
        <p:nvSpPr>
          <p:cNvPr id="208899" name="Rectangle 3"/>
          <p:cNvSpPr>
            <a:spLocks noGrp="1" noRot="1"/>
          </p:cNvSpPr>
          <p:nvPr>
            <p:ph idx="1"/>
          </p:nvPr>
        </p:nvSpPr>
        <p:spPr/>
        <p:txBody>
          <a:bodyPr vert="horz" wrap="square" lIns="91440" tIns="45720" rIns="91440" bIns="45720" anchor="t">
            <a:normAutofit lnSpcReduction="10000"/>
          </a:bodyPr>
          <a:lstStyle/>
          <a:p>
            <a:pPr eaLnBrk="1" hangingPunct="1">
              <a:lnSpc>
                <a:spcPct val="120000"/>
              </a:lnSpc>
            </a:pPr>
            <a:r>
              <a:rPr lang="zh-CN" altLang="en-US" sz="2400" dirty="0"/>
              <a:t>注意，自然语言文本并不是随机的。某些后缀，如’</a:t>
            </a:r>
            <a:r>
              <a:rPr lang="en-US" altLang="zh-CN" sz="2400" dirty="0"/>
              <a:t>ion’</a:t>
            </a:r>
            <a:r>
              <a:rPr lang="zh-CN" altLang="en-US" sz="2400" dirty="0"/>
              <a:t>和’</a:t>
            </a:r>
            <a:r>
              <a:rPr lang="en-US" altLang="zh-CN" sz="2400" dirty="0"/>
              <a:t>ing’</a:t>
            </a:r>
            <a:r>
              <a:rPr lang="zh-CN" altLang="en-US" sz="2400" dirty="0"/>
              <a:t>等，在英语中很常见，这些后缀不仅会经常出现在文本中，而且可能出现在一些模式中。这将导致</a:t>
            </a:r>
            <a:r>
              <a:rPr lang="en-US" altLang="zh-CN" sz="2400" dirty="0"/>
              <a:t>HASH</a:t>
            </a:r>
            <a:r>
              <a:rPr lang="zh-CN" altLang="en-US" sz="2400" dirty="0"/>
              <a:t>表冲突，即所有具有相同后缀的模式会被映射到</a:t>
            </a:r>
            <a:r>
              <a:rPr lang="en-US" altLang="zh-CN" sz="2400" dirty="0"/>
              <a:t>HASH</a:t>
            </a:r>
            <a:r>
              <a:rPr lang="zh-CN" altLang="en-US" sz="2400" dirty="0"/>
              <a:t>表的同一入口。</a:t>
            </a:r>
          </a:p>
          <a:p>
            <a:pPr eaLnBrk="1" hangingPunct="1">
              <a:lnSpc>
                <a:spcPct val="120000"/>
              </a:lnSpc>
            </a:pPr>
            <a:r>
              <a:rPr lang="zh-CN" altLang="en-US" sz="2400" dirty="0"/>
              <a:t>当我们在文本中遇到这种子串（后缀）时，我们会发现它的</a:t>
            </a:r>
            <a:r>
              <a:rPr lang="en-US" altLang="zh-CN" sz="2400" dirty="0"/>
              <a:t>SHIFT</a:t>
            </a:r>
            <a:r>
              <a:rPr lang="zh-CN" altLang="en-US" sz="2400" dirty="0"/>
              <a:t>值为</a:t>
            </a:r>
            <a:r>
              <a:rPr lang="en-US" altLang="zh-CN" sz="2400" dirty="0"/>
              <a:t>0</a:t>
            </a:r>
            <a:r>
              <a:rPr lang="zh-CN" altLang="en-US" sz="2400" dirty="0"/>
              <a:t>（假定是某些模式的后缀），那么我们必须比较所有有此后缀的模式，看他们是否和文本子串相匹配。为了加快匹配速度，算法引入了另一个表</a:t>
            </a:r>
            <a:r>
              <a:rPr lang="en-US" altLang="zh-CN" sz="2400" dirty="0"/>
              <a:t>PREFIX</a:t>
            </a:r>
            <a:r>
              <a:rPr lang="zh-CN" altLang="en-US" sz="2400" dirty="0"/>
              <a:t>。</a:t>
            </a:r>
            <a:r>
              <a:rPr lang="zh-CN" altLang="en-US" dirty="0"/>
              <a:t>  </a:t>
            </a: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108</a:t>
            </a:fld>
            <a:endParaRPr lang="en-US" altLang="zh-CN" sz="1400" dirty="0"/>
          </a:p>
        </p:txBody>
      </p:sp>
      <p:sp>
        <p:nvSpPr>
          <p:cNvPr id="369666"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PREFIX</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
        <p:nvSpPr>
          <p:cNvPr id="210947" name="Rectangle 3"/>
          <p:cNvSpPr>
            <a:spLocks noGrp="1" noRot="1"/>
          </p:cNvSpPr>
          <p:nvPr>
            <p:ph idx="1"/>
          </p:nvPr>
        </p:nvSpPr>
        <p:spPr/>
        <p:txBody>
          <a:bodyPr vert="horz" wrap="square" lIns="91440" tIns="45720" rIns="91440" bIns="45720" anchor="t"/>
          <a:lstStyle/>
          <a:p>
            <a:pPr eaLnBrk="1" hangingPunct="1">
              <a:lnSpc>
                <a:spcPct val="120000"/>
              </a:lnSpc>
            </a:pPr>
            <a:r>
              <a:rPr lang="zh-CN" altLang="en-US" sz="2400" dirty="0"/>
              <a:t>对</a:t>
            </a:r>
            <a:r>
              <a:rPr lang="en-US" altLang="zh-CN" sz="2400" dirty="0"/>
              <a:t>SHIFT</a:t>
            </a:r>
            <a:r>
              <a:rPr lang="zh-CN" altLang="en-US" sz="2400" dirty="0"/>
              <a:t>表，我们映射了所有模式的最后</a:t>
            </a:r>
            <a:r>
              <a:rPr lang="en-US" altLang="zh-CN" sz="2400" dirty="0"/>
              <a:t>B</a:t>
            </a:r>
            <a:r>
              <a:rPr lang="zh-CN" altLang="en-US" sz="2400" dirty="0"/>
              <a:t>个字符；对</a:t>
            </a:r>
            <a:r>
              <a:rPr lang="en-US" altLang="zh-CN" sz="2400" dirty="0"/>
              <a:t>PREFIX</a:t>
            </a:r>
            <a:r>
              <a:rPr lang="zh-CN" altLang="en-US" sz="2400" dirty="0"/>
              <a:t>表，则映射所有模式开始的</a:t>
            </a:r>
            <a:r>
              <a:rPr lang="en-US" altLang="zh-CN" sz="2400" dirty="0"/>
              <a:t>B’</a:t>
            </a:r>
            <a:r>
              <a:rPr lang="zh-CN" altLang="en-US" sz="2400" dirty="0"/>
              <a:t>个字符（算法实现中使用</a:t>
            </a:r>
            <a:r>
              <a:rPr lang="en-US" altLang="zh-CN" sz="2400" dirty="0"/>
              <a:t>B’=2</a:t>
            </a:r>
            <a:r>
              <a:rPr lang="zh-CN" altLang="en-US" sz="2400" dirty="0"/>
              <a:t>）。当发现</a:t>
            </a:r>
            <a:r>
              <a:rPr lang="en-US" altLang="zh-CN" sz="2400" dirty="0"/>
              <a:t>SHIFT</a:t>
            </a:r>
            <a:r>
              <a:rPr lang="zh-CN" altLang="en-US" sz="2400" dirty="0"/>
              <a:t>值为</a:t>
            </a:r>
            <a:r>
              <a:rPr lang="en-US" altLang="zh-CN" sz="2400" dirty="0"/>
              <a:t>0</a:t>
            </a:r>
            <a:r>
              <a:rPr lang="zh-CN" altLang="en-US" sz="2400" dirty="0"/>
              <a:t>，到</a:t>
            </a:r>
            <a:r>
              <a:rPr lang="en-US" altLang="zh-CN" sz="2400" dirty="0"/>
              <a:t>HASH</a:t>
            </a:r>
            <a:r>
              <a:rPr lang="zh-CN" altLang="en-US" sz="2400" dirty="0"/>
              <a:t>表入口所指的模式列表中检查是否存在匹配时，首先检查</a:t>
            </a:r>
            <a:r>
              <a:rPr lang="en-US" altLang="zh-CN" sz="2400" dirty="0"/>
              <a:t>PREFIX</a:t>
            </a:r>
            <a:r>
              <a:rPr lang="zh-CN" altLang="en-US" sz="2400" dirty="0"/>
              <a:t>表中的值。对于每一个后缀，</a:t>
            </a:r>
            <a:r>
              <a:rPr lang="en-US" altLang="zh-CN" sz="2400" dirty="0"/>
              <a:t>HASH</a:t>
            </a:r>
            <a:r>
              <a:rPr lang="zh-CN" altLang="en-US" sz="2400" dirty="0"/>
              <a:t>表入口指针不仅指向有此后缀的所有模式的列表，还指向子串前缀在</a:t>
            </a:r>
            <a:r>
              <a:rPr lang="en-US" altLang="zh-CN" sz="2400" dirty="0"/>
              <a:t>PREFIX</a:t>
            </a:r>
            <a:r>
              <a:rPr lang="zh-CN" altLang="en-US" sz="2400" dirty="0"/>
              <a:t>表中的哈希值。</a:t>
            </a:r>
            <a:r>
              <a:rPr lang="zh-CN" altLang="en-US" dirty="0"/>
              <a:t> </a:t>
            </a: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109</a:t>
            </a:fld>
            <a:endParaRPr lang="en-US" altLang="zh-CN" sz="1400" dirty="0"/>
          </a:p>
        </p:txBody>
      </p:sp>
      <p:sp>
        <p:nvSpPr>
          <p:cNvPr id="370690"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PREFIX</a:t>
            </a:r>
            <a:r>
              <a:rPr kumimoji="0" lang="zh-CN" altLang="en-US" sz="32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表</a:t>
            </a:r>
          </a:p>
        </p:txBody>
      </p:sp>
      <p:sp>
        <p:nvSpPr>
          <p:cNvPr id="212995" name="Rectangle 3"/>
          <p:cNvSpPr>
            <a:spLocks noGrp="1" noRot="1"/>
          </p:cNvSpPr>
          <p:nvPr>
            <p:ph idx="1"/>
          </p:nvPr>
        </p:nvSpPr>
        <p:spPr/>
        <p:txBody>
          <a:bodyPr vert="horz" wrap="square" lIns="91440" tIns="45720" rIns="91440" bIns="45720" anchor="t"/>
          <a:lstStyle/>
          <a:p>
            <a:pPr eaLnBrk="1" hangingPunct="1">
              <a:lnSpc>
                <a:spcPct val="120000"/>
              </a:lnSpc>
            </a:pPr>
            <a:r>
              <a:rPr lang="zh-CN" altLang="en-US" sz="2400" dirty="0"/>
              <a:t>在搜索阶段，首先计算当前文本子串（从向左移动</a:t>
            </a:r>
            <a:r>
              <a:rPr lang="en-US" altLang="zh-CN" sz="2400" dirty="0"/>
              <a:t>m-B’</a:t>
            </a:r>
            <a:r>
              <a:rPr lang="zh-CN" altLang="en-US" sz="2400" dirty="0"/>
              <a:t>个字符位置的子串开始）的前缀哈希值，依次来过滤那些后缀哈希值相同而前缀哈希值不同的模式。</a:t>
            </a:r>
            <a:r>
              <a:rPr lang="en-US" altLang="zh-CN" sz="2400" dirty="0"/>
              <a:t>(</a:t>
            </a:r>
            <a:r>
              <a:rPr lang="zh-CN" altLang="en-US" sz="2400" dirty="0"/>
              <a:t>具体的搜索阶段算法流程后面介绍。</a:t>
            </a:r>
            <a:r>
              <a:rPr lang="en-US" altLang="zh-CN" sz="2400" dirty="0"/>
              <a:t>)</a:t>
            </a:r>
          </a:p>
          <a:p>
            <a:pPr eaLnBrk="1" hangingPunct="1">
              <a:lnSpc>
                <a:spcPct val="120000"/>
              </a:lnSpc>
            </a:pPr>
            <a:r>
              <a:rPr lang="zh-CN" altLang="en-US" sz="2400" dirty="0"/>
              <a:t>在英语中，对于不同的模式，前缀、后缀哈希值均相同的情况很少，所以这种过滤方法很有效；在中文中，对于某些情况（</a:t>
            </a:r>
            <a:r>
              <a:rPr lang="en-US" altLang="zh-CN" sz="2400" dirty="0"/>
              <a:t>B’=2</a:t>
            </a:r>
            <a:r>
              <a:rPr lang="zh-CN" altLang="en-US" sz="2400" dirty="0"/>
              <a:t>时，模式的第一个中文子符相同），效果也很好。实际上，</a:t>
            </a:r>
            <a:r>
              <a:rPr lang="en-US" altLang="zh-CN" sz="2400" dirty="0"/>
              <a:t>PRFIX</a:t>
            </a:r>
            <a:r>
              <a:rPr lang="zh-CN" altLang="en-US" sz="2400" dirty="0"/>
              <a:t>表即是一个</a:t>
            </a:r>
            <a:r>
              <a:rPr lang="en-US" altLang="zh-CN" sz="2400" dirty="0"/>
              <a:t>engineering decision</a:t>
            </a:r>
            <a:r>
              <a:rPr lang="zh-CN" altLang="en-US" sz="2400" dirty="0"/>
              <a:t>，完全是针对实际情况采用的。</a:t>
            </a:r>
            <a:r>
              <a:rPr lang="zh-CN" altLang="en-US" dirty="0"/>
              <a:t> </a:t>
            </a: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110</a:t>
            </a:fld>
            <a:endParaRPr lang="en-US" altLang="zh-CN" sz="1400" dirty="0"/>
          </a:p>
        </p:txBody>
      </p:sp>
      <p:sp>
        <p:nvSpPr>
          <p:cNvPr id="215042" name="Rectangle 3"/>
          <p:cNvSpPr>
            <a:spLocks noGrp="1" noRot="1"/>
          </p:cNvSpPr>
          <p:nvPr>
            <p:ph idx="1"/>
          </p:nvPr>
        </p:nvSpPr>
        <p:spPr>
          <a:xfrm>
            <a:off x="628650" y="913131"/>
            <a:ext cx="7886700" cy="4474845"/>
          </a:xfrm>
        </p:spPr>
        <p:txBody>
          <a:bodyPr vert="horz" wrap="square" lIns="91440" tIns="45720" rIns="91440" bIns="45720" anchor="t"/>
          <a:lstStyle/>
          <a:p>
            <a:pPr eaLnBrk="1" hangingPunct="1"/>
            <a:r>
              <a:rPr lang="zh-CN" altLang="en-US" sz="2400" dirty="0"/>
              <a:t>总的来说，这几个主要数据结构（</a:t>
            </a:r>
            <a:r>
              <a:rPr lang="en-US" altLang="zh-CN" sz="2400" dirty="0"/>
              <a:t>SHIFT</a:t>
            </a:r>
            <a:r>
              <a:rPr lang="zh-CN" altLang="en-US" sz="2400" dirty="0"/>
              <a:t>表、</a:t>
            </a:r>
            <a:r>
              <a:rPr lang="en-US" altLang="zh-CN" sz="2400" dirty="0"/>
              <a:t>HASH</a:t>
            </a:r>
            <a:r>
              <a:rPr lang="zh-CN" altLang="en-US" sz="2400" dirty="0"/>
              <a:t>表、</a:t>
            </a:r>
            <a:r>
              <a:rPr lang="en-US" altLang="zh-CN" sz="2400" dirty="0"/>
              <a:t>PAT_PTR</a:t>
            </a:r>
            <a:r>
              <a:rPr lang="zh-CN" altLang="en-US" sz="2400" dirty="0"/>
              <a:t>表、</a:t>
            </a:r>
            <a:r>
              <a:rPr lang="en-US" altLang="zh-CN" sz="2400" dirty="0"/>
              <a:t>PREFIX</a:t>
            </a:r>
            <a:r>
              <a:rPr lang="zh-CN" altLang="en-US" sz="2400" dirty="0"/>
              <a:t>表）之间的关系见图 </a:t>
            </a:r>
          </a:p>
        </p:txBody>
      </p:sp>
      <p:sp>
        <p:nvSpPr>
          <p:cNvPr id="215043" name="Rectangle 5"/>
          <p:cNvSpPr/>
          <p:nvPr/>
        </p:nvSpPr>
        <p:spPr>
          <a:xfrm>
            <a:off x="0" y="1704975"/>
            <a:ext cx="9144000" cy="0"/>
          </a:xfrm>
          <a:prstGeom prst="rect">
            <a:avLst/>
          </a:prstGeom>
          <a:noFill/>
          <a:ln w="9525">
            <a:noFill/>
          </a:ln>
        </p:spPr>
        <p:txBody>
          <a:bodyPr wrap="none" anchor="ctr">
            <a:spAutoFit/>
          </a:bodyPr>
          <a:lstStyle/>
          <a:p>
            <a:pPr>
              <a:spcBef>
                <a:spcPct val="0"/>
              </a:spcBef>
              <a:buClrTx/>
            </a:pPr>
            <a:endParaRPr lang="zh-CN" altLang="en-US" sz="1800" dirty="0">
              <a:latin typeface="Arial" panose="020B0604020202020204" pitchFamily="34" charset="0"/>
            </a:endParaRPr>
          </a:p>
        </p:txBody>
      </p:sp>
      <p:graphicFrame>
        <p:nvGraphicFramePr>
          <p:cNvPr id="215044" name="Object 4"/>
          <p:cNvGraphicFramePr>
            <a:graphicFrameLocks noChangeAspect="1"/>
          </p:cNvGraphicFramePr>
          <p:nvPr/>
        </p:nvGraphicFramePr>
        <p:xfrm>
          <a:off x="971550" y="1700213"/>
          <a:ext cx="7704138" cy="4752975"/>
        </p:xfrm>
        <a:graphic>
          <a:graphicData uri="http://schemas.openxmlformats.org/presentationml/2006/ole">
            <mc:AlternateContent xmlns:mc="http://schemas.openxmlformats.org/markup-compatibility/2006">
              <mc:Choice xmlns:v="urn:schemas-microsoft-com:vml" Requires="v">
                <p:oleObj r:id="rId3" imgW="5953125" imgH="3371850" progId="Word.Picture.8">
                  <p:embed/>
                </p:oleObj>
              </mc:Choice>
              <mc:Fallback>
                <p:oleObj r:id="rId3" imgW="5953125" imgH="3371850" progId="Word.Picture.8">
                  <p:embed/>
                  <p:pic>
                    <p:nvPicPr>
                      <p:cNvPr id="215044" name="Object 4"/>
                      <p:cNvPicPr/>
                      <p:nvPr/>
                    </p:nvPicPr>
                    <p:blipFill>
                      <a:blip r:embed="rId4"/>
                      <a:stretch>
                        <a:fillRect/>
                      </a:stretch>
                    </p:blipFill>
                    <p:spPr>
                      <a:xfrm>
                        <a:off x="971550" y="1700213"/>
                        <a:ext cx="7704138" cy="4752975"/>
                      </a:xfrm>
                      <a:prstGeom prst="rect">
                        <a:avLst/>
                      </a:prstGeom>
                      <a:noFill/>
                      <a:ln w="38100">
                        <a:noFill/>
                        <a:miter/>
                      </a:ln>
                    </p:spPr>
                  </p:pic>
                </p:oleObj>
              </mc:Fallback>
            </mc:AlternateContent>
          </a:graphicData>
        </a:graphic>
      </p:graphicFrame>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111</a:t>
            </a:fld>
            <a:endParaRPr lang="en-US" altLang="zh-CN" sz="1400" dirty="0"/>
          </a:p>
        </p:txBody>
      </p:sp>
      <p:sp>
        <p:nvSpPr>
          <p:cNvPr id="217090" name="Rectangle 3"/>
          <p:cNvSpPr>
            <a:spLocks noGrp="1" noRot="1"/>
          </p:cNvSpPr>
          <p:nvPr>
            <p:ph idx="1"/>
          </p:nvPr>
        </p:nvSpPr>
        <p:spPr>
          <a:xfrm>
            <a:off x="516890" y="1325880"/>
            <a:ext cx="7886700" cy="5029835"/>
          </a:xfrm>
        </p:spPr>
        <p:txBody>
          <a:bodyPr vert="horz" wrap="square" lIns="91440" tIns="45720" rIns="91440" bIns="45720" anchor="t"/>
          <a:lstStyle/>
          <a:p>
            <a:pPr eaLnBrk="1" hangingPunct="1">
              <a:lnSpc>
                <a:spcPct val="140000"/>
              </a:lnSpc>
            </a:pPr>
            <a:r>
              <a:rPr lang="zh-CN" altLang="en-US" sz="2000" dirty="0"/>
              <a:t>下面讨论扫描文本进行比较匹配的过程</a:t>
            </a:r>
            <a:r>
              <a:rPr lang="en-US" altLang="zh-CN" sz="2000" dirty="0"/>
              <a:t>.</a:t>
            </a:r>
            <a:r>
              <a:rPr lang="zh-CN" altLang="en-US" sz="2000" dirty="0"/>
              <a:t>匹配从文本的第</a:t>
            </a:r>
            <a:r>
              <a:rPr lang="en-US" altLang="zh-CN" sz="2000" dirty="0"/>
              <a:t>m</a:t>
            </a:r>
            <a:r>
              <a:rPr lang="zh-CN" altLang="en-US" sz="2000" dirty="0"/>
              <a:t>个字符开始</a:t>
            </a:r>
            <a:r>
              <a:rPr lang="en-US" altLang="zh-CN" sz="2000" dirty="0"/>
              <a:t>,</a:t>
            </a:r>
            <a:r>
              <a:rPr lang="zh-CN" altLang="en-US" sz="2000" dirty="0"/>
              <a:t>文本的扫描从左向右</a:t>
            </a:r>
            <a:r>
              <a:rPr lang="en-US" altLang="zh-CN" sz="2000" dirty="0"/>
              <a:t>;</a:t>
            </a:r>
            <a:r>
              <a:rPr lang="zh-CN" altLang="en-US" sz="2000" dirty="0"/>
              <a:t>对模式的匹配是从模式的后面向前进行的</a:t>
            </a:r>
            <a:r>
              <a:rPr lang="en-US" altLang="zh-CN" sz="2000" dirty="0"/>
              <a:t>,</a:t>
            </a:r>
            <a:r>
              <a:rPr lang="zh-CN" altLang="en-US" sz="2000" dirty="0"/>
              <a:t>即从右向左</a:t>
            </a:r>
            <a:r>
              <a:rPr lang="en-US" altLang="zh-CN" sz="2000" dirty="0"/>
              <a:t>.</a:t>
            </a:r>
            <a:r>
              <a:rPr lang="zh-CN" altLang="en-US" sz="2000" dirty="0"/>
              <a:t>每次扫描</a:t>
            </a:r>
            <a:r>
              <a:rPr lang="en-US" altLang="zh-CN" sz="2000" dirty="0"/>
              <a:t>B</a:t>
            </a:r>
            <a:r>
              <a:rPr lang="zh-CN" altLang="en-US" sz="2000" dirty="0"/>
              <a:t>个字符</a:t>
            </a:r>
            <a:r>
              <a:rPr lang="en-US" altLang="zh-CN" sz="2000" dirty="0"/>
              <a:t>tm−B+1…tm,</a:t>
            </a:r>
            <a:r>
              <a:rPr lang="zh-CN" altLang="en-US" sz="2000" dirty="0"/>
              <a:t>按如下步骤进行</a:t>
            </a:r>
            <a:r>
              <a:rPr lang="en-US" altLang="zh-CN" sz="2000" dirty="0"/>
              <a:t>: </a:t>
            </a:r>
          </a:p>
          <a:p>
            <a:pPr lvl="1" eaLnBrk="1" hangingPunct="1">
              <a:lnSpc>
                <a:spcPct val="140000"/>
              </a:lnSpc>
            </a:pPr>
            <a:r>
              <a:rPr lang="en-US" altLang="zh-CN" sz="2000" dirty="0"/>
              <a:t>1) </a:t>
            </a:r>
            <a:r>
              <a:rPr lang="zh-CN" altLang="en-US" sz="2000" dirty="0"/>
              <a:t>计算这</a:t>
            </a:r>
            <a:r>
              <a:rPr lang="en-US" altLang="zh-CN" sz="2000" dirty="0">
                <a:solidFill>
                  <a:srgbClr val="FF0000"/>
                </a:solidFill>
              </a:rPr>
              <a:t>B</a:t>
            </a:r>
            <a:r>
              <a:rPr lang="zh-CN" altLang="en-US" sz="2000" dirty="0">
                <a:solidFill>
                  <a:srgbClr val="FF0000"/>
                </a:solidFill>
              </a:rPr>
              <a:t>个字符</a:t>
            </a:r>
            <a:r>
              <a:rPr lang="zh-CN" altLang="en-US" sz="2000" dirty="0"/>
              <a:t>的</a:t>
            </a:r>
            <a:r>
              <a:rPr lang="en-US" altLang="zh-CN" sz="2000" dirty="0"/>
              <a:t>hash</a:t>
            </a:r>
            <a:r>
              <a:rPr lang="zh-CN" altLang="en-US" sz="2000" dirty="0"/>
              <a:t>值</a:t>
            </a:r>
            <a:r>
              <a:rPr lang="en-US" altLang="zh-CN" sz="2000" dirty="0"/>
              <a:t>,</a:t>
            </a:r>
            <a:r>
              <a:rPr lang="zh-CN" altLang="en-US" sz="2000" dirty="0"/>
              <a:t>得到</a:t>
            </a:r>
            <a:r>
              <a:rPr lang="en-US" altLang="zh-CN" sz="2000" dirty="0"/>
              <a:t>h; </a:t>
            </a:r>
          </a:p>
          <a:p>
            <a:pPr lvl="1" eaLnBrk="1" hangingPunct="1">
              <a:lnSpc>
                <a:spcPct val="140000"/>
              </a:lnSpc>
            </a:pPr>
            <a:r>
              <a:rPr lang="en-US" altLang="zh-CN" sz="2000" dirty="0"/>
              <a:t>2) </a:t>
            </a:r>
            <a:r>
              <a:rPr lang="zh-CN" altLang="en-US" sz="2000" dirty="0"/>
              <a:t>查</a:t>
            </a:r>
            <a:r>
              <a:rPr lang="en-US" altLang="zh-CN" sz="2000" dirty="0">
                <a:solidFill>
                  <a:srgbClr val="FF0000"/>
                </a:solidFill>
              </a:rPr>
              <a:t>SHIFT</a:t>
            </a:r>
            <a:r>
              <a:rPr lang="zh-CN" altLang="en-US" sz="2000" dirty="0">
                <a:solidFill>
                  <a:srgbClr val="FF0000"/>
                </a:solidFill>
              </a:rPr>
              <a:t>表</a:t>
            </a:r>
            <a:r>
              <a:rPr lang="zh-CN" altLang="en-US" sz="2000" dirty="0"/>
              <a:t>找到</a:t>
            </a:r>
            <a:r>
              <a:rPr lang="en-US" altLang="zh-CN" sz="2000" dirty="0"/>
              <a:t>SHIFT[h]:</a:t>
            </a:r>
            <a:r>
              <a:rPr lang="zh-CN" altLang="en-US" sz="2000" dirty="0"/>
              <a:t>如果大于</a:t>
            </a:r>
            <a:r>
              <a:rPr lang="en-US" altLang="zh-CN" sz="2000" dirty="0"/>
              <a:t>0,</a:t>
            </a:r>
            <a:r>
              <a:rPr lang="zh-CN" altLang="en-US" sz="2000" dirty="0"/>
              <a:t>则根据这个值</a:t>
            </a:r>
            <a:r>
              <a:rPr lang="zh-CN" altLang="en-US" sz="2000" dirty="0">
                <a:solidFill>
                  <a:srgbClr val="FF0000"/>
                </a:solidFill>
              </a:rPr>
              <a:t>向后移动文本相应的长度</a:t>
            </a:r>
            <a:r>
              <a:rPr lang="en-US" altLang="zh-CN" sz="2000" dirty="0"/>
              <a:t>,</a:t>
            </a:r>
            <a:r>
              <a:rPr lang="zh-CN" altLang="en-US" sz="2000" dirty="0"/>
              <a:t>并转到</a:t>
            </a:r>
            <a:r>
              <a:rPr lang="en-US" altLang="zh-CN" sz="2000" dirty="0"/>
              <a:t>1);</a:t>
            </a:r>
            <a:r>
              <a:rPr lang="zh-CN" altLang="en-US" sz="2000" dirty="0"/>
              <a:t>否则继续</a:t>
            </a:r>
            <a:r>
              <a:rPr lang="en-US" altLang="zh-CN" sz="2000" dirty="0"/>
              <a:t>; </a:t>
            </a:r>
          </a:p>
          <a:p>
            <a:pPr lvl="1" eaLnBrk="1" hangingPunct="1">
              <a:lnSpc>
                <a:spcPct val="140000"/>
              </a:lnSpc>
            </a:pPr>
            <a:r>
              <a:rPr lang="en-US" altLang="zh-CN" sz="2000" dirty="0"/>
              <a:t>3) </a:t>
            </a:r>
            <a:r>
              <a:rPr lang="zh-CN" altLang="en-US" sz="2000" dirty="0"/>
              <a:t>计算当前指针往左的</a:t>
            </a:r>
            <a:r>
              <a:rPr lang="en-US" altLang="zh-CN" sz="2000" dirty="0"/>
              <a:t>m</a:t>
            </a:r>
            <a:r>
              <a:rPr lang="zh-CN" altLang="en-US" sz="2000" dirty="0"/>
              <a:t>个字符串长度为</a:t>
            </a:r>
            <a:r>
              <a:rPr lang="en-US" altLang="zh-CN" sz="2000" dirty="0"/>
              <a:t>B′</a:t>
            </a:r>
            <a:r>
              <a:rPr lang="zh-CN" altLang="en-US" sz="2000" dirty="0"/>
              <a:t>的</a:t>
            </a:r>
            <a:r>
              <a:rPr lang="zh-CN" altLang="en-US" sz="2000" dirty="0">
                <a:solidFill>
                  <a:srgbClr val="FF0000"/>
                </a:solidFill>
              </a:rPr>
              <a:t>前缀</a:t>
            </a:r>
            <a:r>
              <a:rPr lang="en-US" altLang="zh-CN" sz="2000" dirty="0">
                <a:solidFill>
                  <a:srgbClr val="FF0000"/>
                </a:solidFill>
              </a:rPr>
              <a:t>hash</a:t>
            </a:r>
            <a:r>
              <a:rPr lang="zh-CN" altLang="en-US" sz="2000" dirty="0">
                <a:solidFill>
                  <a:srgbClr val="FF0000"/>
                </a:solidFill>
              </a:rPr>
              <a:t>值</a:t>
            </a:r>
            <a:r>
              <a:rPr lang="en-US" altLang="zh-CN" sz="2000" dirty="0"/>
              <a:t>; </a:t>
            </a:r>
          </a:p>
          <a:p>
            <a:pPr lvl="1" eaLnBrk="1" hangingPunct="1">
              <a:lnSpc>
                <a:spcPct val="140000"/>
              </a:lnSpc>
            </a:pPr>
            <a:r>
              <a:rPr lang="en-US" altLang="zh-CN" sz="2000" dirty="0"/>
              <a:t>4)</a:t>
            </a:r>
            <a:r>
              <a:rPr lang="zh-CN" altLang="en-US" sz="2000" dirty="0"/>
              <a:t>查</a:t>
            </a:r>
            <a:r>
              <a:rPr lang="en-US" altLang="zh-CN" sz="2000" dirty="0">
                <a:solidFill>
                  <a:srgbClr val="FF0000"/>
                </a:solidFill>
              </a:rPr>
              <a:t>HASH</a:t>
            </a:r>
            <a:r>
              <a:rPr lang="zh-CN" altLang="en-US" sz="2000" dirty="0">
                <a:solidFill>
                  <a:srgbClr val="FF0000"/>
                </a:solidFill>
              </a:rPr>
              <a:t>表</a:t>
            </a:r>
            <a:r>
              <a:rPr lang="en-US" altLang="zh-CN" sz="2000" dirty="0"/>
              <a:t>,</a:t>
            </a:r>
            <a:r>
              <a:rPr lang="zh-CN" altLang="en-US" sz="2000" dirty="0"/>
              <a:t>找到</a:t>
            </a:r>
            <a:r>
              <a:rPr lang="en-US" altLang="zh-CN" sz="2000" dirty="0"/>
              <a:t>HASH[h]</a:t>
            </a:r>
            <a:r>
              <a:rPr lang="zh-CN" altLang="en-US" sz="2000" dirty="0"/>
              <a:t>的指针</a:t>
            </a:r>
            <a:r>
              <a:rPr lang="en-US" altLang="zh-CN" sz="2000" dirty="0"/>
              <a:t>p,</a:t>
            </a:r>
            <a:r>
              <a:rPr lang="zh-CN" altLang="en-US" sz="2000" dirty="0"/>
              <a:t>遍历模式链表</a:t>
            </a:r>
            <a:r>
              <a:rPr lang="en-US" altLang="zh-CN" sz="2000" dirty="0"/>
              <a:t>,</a:t>
            </a:r>
            <a:r>
              <a:rPr lang="zh-CN" altLang="en-US" sz="2000" dirty="0"/>
              <a:t>找到前缀</a:t>
            </a:r>
            <a:r>
              <a:rPr lang="en-US" altLang="zh-CN" sz="2000" dirty="0"/>
              <a:t>hash</a:t>
            </a:r>
            <a:r>
              <a:rPr lang="zh-CN" altLang="en-US" sz="2000" dirty="0"/>
              <a:t>值也相同的模式串</a:t>
            </a:r>
            <a:r>
              <a:rPr lang="en-US" altLang="zh-CN" sz="2000" dirty="0"/>
              <a:t>;</a:t>
            </a:r>
            <a:r>
              <a:rPr lang="zh-CN" altLang="en-US" sz="2000" dirty="0"/>
              <a:t>再将文本串和模式串逐一比较</a:t>
            </a:r>
            <a:r>
              <a:rPr lang="en-US" altLang="zh-CN" sz="2000" dirty="0"/>
              <a:t>,</a:t>
            </a:r>
            <a:r>
              <a:rPr lang="zh-CN" altLang="en-US" sz="2000" dirty="0"/>
              <a:t>判断是否匹配</a:t>
            </a:r>
            <a:r>
              <a:rPr lang="en-US" altLang="zh-CN" sz="2000" dirty="0"/>
              <a:t>.</a:t>
            </a:r>
            <a:r>
              <a:rPr lang="zh-CN" altLang="en-US" sz="2000" dirty="0"/>
              <a:t>如果匹配</a:t>
            </a:r>
            <a:r>
              <a:rPr lang="en-US" altLang="zh-CN" sz="2000" dirty="0"/>
              <a:t>,</a:t>
            </a:r>
            <a:r>
              <a:rPr lang="zh-CN" altLang="en-US" sz="2000" dirty="0"/>
              <a:t>则输出匹配模式串</a:t>
            </a:r>
            <a:r>
              <a:rPr lang="en-US" altLang="zh-CN" sz="2000" dirty="0"/>
              <a:t>,</a:t>
            </a:r>
            <a:r>
              <a:rPr lang="zh-CN" altLang="en-US" sz="2000" dirty="0"/>
              <a:t>并将文本向后移动一位</a:t>
            </a:r>
            <a:r>
              <a:rPr lang="en-US" altLang="zh-CN" sz="2000" dirty="0"/>
              <a:t>,</a:t>
            </a:r>
            <a:r>
              <a:rPr lang="zh-CN" altLang="en-US" sz="2000" dirty="0"/>
              <a:t>转</a:t>
            </a:r>
            <a:r>
              <a:rPr lang="en-US" altLang="zh-CN" sz="2000" dirty="0"/>
              <a:t>1),</a:t>
            </a:r>
            <a:r>
              <a:rPr lang="zh-CN" altLang="en-US" sz="2000" dirty="0"/>
              <a:t>直到文本结束</a:t>
            </a:r>
            <a:r>
              <a:rPr lang="en-US" altLang="zh-CN" sz="2000" dirty="0"/>
              <a:t>.</a:t>
            </a:r>
            <a:r>
              <a:rPr lang="en-US" altLang="zh-CN" sz="2000" b="0" dirty="0"/>
              <a:t> </a:t>
            </a:r>
          </a:p>
        </p:txBody>
      </p:sp>
      <p:sp>
        <p:nvSpPr>
          <p:cNvPr id="337922" name="Rectangle 2"/>
          <p:cNvSpPr>
            <a:spLocks noGrp="1" noRot="1" noChangeArrowheads="1"/>
          </p:cNvSpPr>
          <p:nvPr>
            <p:ph type="title"/>
          </p:nvPr>
        </p:nvSpPr>
        <p:spPr>
          <a:xfrm>
            <a:off x="628650" y="-89535"/>
            <a:ext cx="7886700" cy="1325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1913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112</a:t>
            </a:fld>
            <a:endParaRPr lang="en-US" altLang="zh-CN" sz="1400" dirty="0"/>
          </a:p>
        </p:txBody>
      </p:sp>
      <p:pic>
        <p:nvPicPr>
          <p:cNvPr id="219138" name="Picture 4"/>
          <p:cNvPicPr>
            <a:picLocks noChangeAspect="1"/>
          </p:cNvPicPr>
          <p:nvPr/>
        </p:nvPicPr>
        <p:blipFill>
          <a:blip r:embed="rId3"/>
          <a:stretch>
            <a:fillRect/>
          </a:stretch>
        </p:blipFill>
        <p:spPr>
          <a:xfrm>
            <a:off x="611188" y="908050"/>
            <a:ext cx="7920037" cy="5473700"/>
          </a:xfrm>
          <a:prstGeom prst="rect">
            <a:avLst/>
          </a:prstGeom>
          <a:noFill/>
          <a:ln w="9525">
            <a:noFill/>
          </a:ln>
        </p:spPr>
      </p:pic>
      <p:sp>
        <p:nvSpPr>
          <p:cNvPr id="337922"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113</a:t>
            </a:fld>
            <a:endParaRPr lang="en-US" altLang="zh-CN" sz="1400" dirty="0"/>
          </a:p>
        </p:txBody>
      </p:sp>
      <p:sp>
        <p:nvSpPr>
          <p:cNvPr id="221186" name="Rectangle 3"/>
          <p:cNvSpPr>
            <a:spLocks noGrp="1" noRot="1"/>
          </p:cNvSpPr>
          <p:nvPr>
            <p:ph idx="1"/>
          </p:nvPr>
        </p:nvSpPr>
        <p:spPr/>
        <p:txBody>
          <a:bodyPr vert="horz" wrap="square" lIns="91440" tIns="45720" rIns="91440" bIns="45720" anchor="t">
            <a:normAutofit/>
          </a:bodyPr>
          <a:lstStyle/>
          <a:p>
            <a:pPr algn="just" eaLnBrk="1" hangingPunct="1">
              <a:lnSpc>
                <a:spcPct val="150000"/>
              </a:lnSpc>
              <a:spcBef>
                <a:spcPct val="0"/>
              </a:spcBef>
            </a:pPr>
            <a:r>
              <a:rPr lang="en-US" altLang="zh-CN" sz="2400" dirty="0">
                <a:solidFill>
                  <a:srgbClr val="C00000"/>
                </a:solidFill>
              </a:rPr>
              <a:t>Wu-Manber</a:t>
            </a:r>
            <a:r>
              <a:rPr lang="zh-CN" altLang="en-US" sz="2400" dirty="0">
                <a:solidFill>
                  <a:srgbClr val="C00000"/>
                </a:solidFill>
              </a:rPr>
              <a:t>算法的时间复杂度平均情况是</a:t>
            </a:r>
            <a:r>
              <a:rPr lang="en-US" altLang="zh-CN" sz="2400" dirty="0">
                <a:solidFill>
                  <a:srgbClr val="C00000"/>
                </a:solidFill>
              </a:rPr>
              <a:t>O(B*n/m)</a:t>
            </a:r>
            <a:r>
              <a:rPr lang="zh-CN" altLang="en-US" sz="2400" dirty="0"/>
              <a:t>。</a:t>
            </a:r>
            <a:r>
              <a:rPr lang="en-US" altLang="zh-CN" sz="2400" dirty="0"/>
              <a:t>B</a:t>
            </a:r>
            <a:r>
              <a:rPr lang="zh-CN" altLang="en-US" sz="2400" dirty="0"/>
              <a:t>是块字符的长度，而</a:t>
            </a:r>
            <a:r>
              <a:rPr lang="en-US" altLang="zh-CN" sz="2400" dirty="0"/>
              <a:t>n</a:t>
            </a:r>
            <a:r>
              <a:rPr lang="zh-CN" altLang="en-US" sz="2400" dirty="0"/>
              <a:t>是文本的长度，</a:t>
            </a:r>
            <a:r>
              <a:rPr lang="en-US" altLang="zh-CN" sz="2400" dirty="0"/>
              <a:t>m</a:t>
            </a:r>
            <a:r>
              <a:rPr lang="zh-CN" altLang="en-US" sz="2400" dirty="0"/>
              <a:t>是模式的最短长度。</a:t>
            </a:r>
          </a:p>
          <a:p>
            <a:pPr algn="just" eaLnBrk="1" hangingPunct="1">
              <a:lnSpc>
                <a:spcPct val="150000"/>
              </a:lnSpc>
              <a:spcBef>
                <a:spcPct val="0"/>
              </a:spcBef>
            </a:pPr>
            <a:r>
              <a:rPr lang="en-US" altLang="zh-CN" sz="2400" dirty="0">
                <a:sym typeface="+mn-ea"/>
              </a:rPr>
              <a:t>SHIFT</a:t>
            </a:r>
            <a:r>
              <a:rPr lang="zh-CN" altLang="en-US" sz="2400" dirty="0">
                <a:sym typeface="+mn-ea"/>
              </a:rPr>
              <a:t>函数的最大值受最短模式长度的限制</a:t>
            </a:r>
            <a:endParaRPr lang="zh-CN" altLang="en-US" sz="2400" dirty="0"/>
          </a:p>
          <a:p>
            <a:pPr algn="just" eaLnBrk="1" hangingPunct="1">
              <a:lnSpc>
                <a:spcPct val="150000"/>
              </a:lnSpc>
              <a:spcBef>
                <a:spcPct val="0"/>
              </a:spcBef>
            </a:pPr>
            <a:r>
              <a:rPr lang="zh-CN" altLang="en-US" sz="2400" dirty="0"/>
              <a:t>该算法对最短模式长度敏感</a:t>
            </a:r>
          </a:p>
          <a:p>
            <a:pPr algn="just" eaLnBrk="1" hangingPunct="1">
              <a:lnSpc>
                <a:spcPct val="150000"/>
              </a:lnSpc>
              <a:spcBef>
                <a:spcPct val="0"/>
              </a:spcBef>
            </a:pPr>
            <a:r>
              <a:rPr lang="zh-CN" altLang="en-US" sz="2400" dirty="0">
                <a:solidFill>
                  <a:srgbClr val="C00000"/>
                </a:solidFill>
              </a:rPr>
              <a:t>如果最短模式长度很短</a:t>
            </a:r>
            <a:r>
              <a:rPr lang="zh-CN" altLang="en-US" sz="2400" dirty="0"/>
              <a:t>，则移位的值不可能很大，因此对匹配过程的</a:t>
            </a:r>
            <a:r>
              <a:rPr lang="zh-CN" altLang="en-US" sz="2400" dirty="0">
                <a:solidFill>
                  <a:srgbClr val="C00000"/>
                </a:solidFill>
              </a:rPr>
              <a:t>加速有限</a:t>
            </a:r>
            <a:r>
              <a:rPr lang="zh-CN" altLang="en-US" sz="2400" dirty="0"/>
              <a:t>。 </a:t>
            </a:r>
          </a:p>
          <a:p>
            <a:pPr eaLnBrk="1" hangingPunct="1">
              <a:lnSpc>
                <a:spcPct val="150000"/>
              </a:lnSpc>
            </a:pPr>
            <a:endParaRPr lang="zh-CN" altLang="en-US" sz="2400" dirty="0"/>
          </a:p>
        </p:txBody>
      </p:sp>
      <p:sp>
        <p:nvSpPr>
          <p:cNvPr id="337922"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22323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114</a:t>
            </a:fld>
            <a:endParaRPr lang="en-US" altLang="zh-CN" sz="1400" dirty="0"/>
          </a:p>
        </p:txBody>
      </p:sp>
      <p:pic>
        <p:nvPicPr>
          <p:cNvPr id="223234" name="Picture 4"/>
          <p:cNvPicPr>
            <a:picLocks noChangeAspect="1"/>
          </p:cNvPicPr>
          <p:nvPr/>
        </p:nvPicPr>
        <p:blipFill>
          <a:blip r:embed="rId3"/>
          <a:stretch>
            <a:fillRect/>
          </a:stretch>
        </p:blipFill>
        <p:spPr>
          <a:xfrm>
            <a:off x="611188" y="1340803"/>
            <a:ext cx="7920037" cy="4895850"/>
          </a:xfrm>
          <a:prstGeom prst="rect">
            <a:avLst/>
          </a:prstGeom>
          <a:noFill/>
          <a:ln w="9525">
            <a:noFill/>
          </a:ln>
        </p:spPr>
      </p:pic>
      <p:sp>
        <p:nvSpPr>
          <p:cNvPr id="337922" name="Rectangle 2"/>
          <p:cNvSpPr>
            <a:spLocks noGrp="1" noRot="1" noChangeArrowheads="1"/>
          </p:cNvSpPr>
          <p:nvPr/>
        </p:nvSpPr>
        <p:spPr>
          <a:xfrm>
            <a:off x="827405" y="-9969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2528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115</a:t>
            </a:fld>
            <a:endParaRPr lang="en-US" altLang="zh-CN" sz="1400" dirty="0"/>
          </a:p>
        </p:txBody>
      </p:sp>
      <p:pic>
        <p:nvPicPr>
          <p:cNvPr id="225282" name="Picture 4"/>
          <p:cNvPicPr>
            <a:picLocks noChangeAspect="1"/>
          </p:cNvPicPr>
          <p:nvPr/>
        </p:nvPicPr>
        <p:blipFill>
          <a:blip r:embed="rId3"/>
          <a:stretch>
            <a:fillRect/>
          </a:stretch>
        </p:blipFill>
        <p:spPr>
          <a:xfrm>
            <a:off x="590550" y="981075"/>
            <a:ext cx="7908290" cy="5295900"/>
          </a:xfrm>
          <a:prstGeom prst="rect">
            <a:avLst/>
          </a:prstGeom>
          <a:noFill/>
          <a:ln w="9525">
            <a:noFill/>
          </a:ln>
        </p:spPr>
      </p:pic>
      <p:sp>
        <p:nvSpPr>
          <p:cNvPr id="337922"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2732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116</a:t>
            </a:fld>
            <a:endParaRPr lang="en-US" altLang="zh-CN" sz="1400" dirty="0"/>
          </a:p>
        </p:txBody>
      </p:sp>
      <p:pic>
        <p:nvPicPr>
          <p:cNvPr id="227330" name="Picture 4"/>
          <p:cNvPicPr>
            <a:picLocks noChangeAspect="1"/>
          </p:cNvPicPr>
          <p:nvPr/>
        </p:nvPicPr>
        <p:blipFill>
          <a:blip r:embed="rId3"/>
          <a:stretch>
            <a:fillRect/>
          </a:stretch>
        </p:blipFill>
        <p:spPr>
          <a:xfrm>
            <a:off x="757238" y="908050"/>
            <a:ext cx="7559675" cy="5257800"/>
          </a:xfrm>
          <a:prstGeom prst="rect">
            <a:avLst/>
          </a:prstGeom>
          <a:noFill/>
          <a:ln w="9525">
            <a:noFill/>
          </a:ln>
        </p:spPr>
      </p:pic>
      <p:sp>
        <p:nvSpPr>
          <p:cNvPr id="337922" name="Rectangle 2"/>
          <p:cNvSpPr>
            <a:spLocks noGrp="1" noRot="1" noChangeArrowheads="1"/>
          </p:cNvSpPr>
          <p:nvPr/>
        </p:nvSpPr>
        <p:spPr>
          <a:xfrm>
            <a:off x="628650" y="-89535"/>
            <a:ext cx="7886700" cy="1325563"/>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Wu-Manber</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算法</a:t>
            </a:r>
            <a:r>
              <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快速的多模式匹配算法</a:t>
            </a:r>
          </a:p>
        </p:txBody>
      </p:sp>
    </p:spTree>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rcRect l="24157" t="26374" r="11603" b="53946"/>
          <a:stretch>
            <a:fillRect/>
          </a:stretch>
        </p:blipFill>
        <p:spPr>
          <a:xfrm>
            <a:off x="133350" y="1701165"/>
            <a:ext cx="8900795" cy="2045335"/>
          </a:xfrm>
          <a:prstGeom prst="rect">
            <a:avLst/>
          </a:prstGeom>
        </p:spPr>
      </p:pic>
      <p:sp>
        <p:nvSpPr>
          <p:cNvPr id="2" name="内容占位符 2"/>
          <p:cNvSpPr>
            <a:spLocks noGrp="1"/>
          </p:cNvSpPr>
          <p:nvPr/>
        </p:nvSpPr>
        <p:spPr>
          <a:xfrm>
            <a:off x="628650" y="4490085"/>
            <a:ext cx="7886700" cy="168719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zh-CN" dirty="0"/>
              <a:t>AC</a:t>
            </a:r>
            <a:r>
              <a:rPr lang="zh-CN" altLang="en-US" dirty="0"/>
              <a:t>算法和</a:t>
            </a:r>
            <a:r>
              <a:rPr lang="en-US" altLang="zh-CN" dirty="0"/>
              <a:t>WM</a:t>
            </a:r>
            <a:r>
              <a:rPr lang="zh-CN" altLang="en-US" dirty="0"/>
              <a:t>算法的异同？各自适合什么应用场景？</a:t>
            </a:r>
          </a:p>
          <a:p>
            <a:pPr>
              <a:lnSpc>
                <a:spcPct val="150000"/>
              </a:lnSpc>
            </a:pPr>
            <a:r>
              <a:rPr lang="zh-CN" altLang="en-US" dirty="0"/>
              <a:t>如何进一步提高串匹配算法的性能？</a:t>
            </a: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118</a:t>
            </a:fld>
            <a:endParaRPr lang="en-US" altLang="zh-CN" sz="1400" dirty="0"/>
          </a:p>
        </p:txBody>
      </p:sp>
      <p:sp>
        <p:nvSpPr>
          <p:cNvPr id="392194" name="Rectangle 2"/>
          <p:cNvSpPr>
            <a:spLocks noGrp="1" noRot="1" noChangeArrowheads="1"/>
          </p:cNvSpPr>
          <p:nvPr>
            <p:ph type="title"/>
          </p:nvPr>
        </p:nvSpPr>
        <p:spPr>
          <a:xfrm>
            <a:off x="120269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AC</a:t>
            </a:r>
            <a:r>
              <a:rPr lang="zh-CN" altLang="en-US" dirty="0">
                <a:effectLst>
                  <a:outerShdw blurRad="38100" dist="38100" dir="2700000">
                    <a:srgbClr val="000000"/>
                  </a:outerShdw>
                </a:effectLst>
              </a:rPr>
              <a:t>算法与</a:t>
            </a:r>
            <a:r>
              <a:rPr lang="en-US" altLang="zh-CN" dirty="0">
                <a:effectLst>
                  <a:outerShdw blurRad="38100" dist="38100" dir="2700000">
                    <a:srgbClr val="000000"/>
                  </a:outerShdw>
                </a:effectLst>
              </a:rPr>
              <a:t>Wu-Manber</a:t>
            </a:r>
            <a:r>
              <a:rPr lang="zh-CN" altLang="en-US" dirty="0">
                <a:effectLst>
                  <a:outerShdw blurRad="38100" dist="38100" dir="2700000">
                    <a:srgbClr val="000000"/>
                  </a:outerShdw>
                </a:effectLst>
              </a:rPr>
              <a:t>算法比较</a:t>
            </a:r>
          </a:p>
        </p:txBody>
      </p:sp>
      <p:sp>
        <p:nvSpPr>
          <p:cNvPr id="229379" name="Rectangle 3"/>
          <p:cNvSpPr>
            <a:spLocks noGrp="1" noRot="1"/>
          </p:cNvSpPr>
          <p:nvPr>
            <p:ph idx="1"/>
          </p:nvPr>
        </p:nvSpPr>
        <p:spPr/>
        <p:txBody>
          <a:bodyPr vert="horz" wrap="square" lIns="91440" tIns="45720" rIns="91440" bIns="45720" anchor="t"/>
          <a:lstStyle/>
          <a:p>
            <a:pPr eaLnBrk="1" hangingPunct="1">
              <a:lnSpc>
                <a:spcPct val="120000"/>
              </a:lnSpc>
              <a:buNone/>
            </a:pPr>
            <a:r>
              <a:rPr lang="en-US" altLang="zh-CN" sz="2400" dirty="0"/>
              <a:t>(1) </a:t>
            </a:r>
            <a:r>
              <a:rPr lang="zh-CN" altLang="en-US" sz="2400" dirty="0"/>
              <a:t>测试环境</a:t>
            </a:r>
          </a:p>
          <a:p>
            <a:pPr eaLnBrk="1" hangingPunct="1">
              <a:lnSpc>
                <a:spcPct val="120000"/>
              </a:lnSpc>
              <a:buNone/>
            </a:pPr>
            <a:r>
              <a:rPr lang="zh-CN" altLang="en-US" sz="2400" dirty="0"/>
              <a:t>		方正个人电脑</a:t>
            </a:r>
            <a:r>
              <a:rPr lang="en-US" altLang="zh-CN" sz="2400" dirty="0"/>
              <a:t>, </a:t>
            </a:r>
            <a:r>
              <a:rPr lang="zh-CN" altLang="en-US" sz="2400" dirty="0"/>
              <a:t>配置如下</a:t>
            </a:r>
            <a:r>
              <a:rPr lang="en-US" altLang="zh-CN" sz="2400" dirty="0"/>
              <a:t>: CPU </a:t>
            </a:r>
            <a:r>
              <a:rPr lang="zh-CN" altLang="en-US" sz="2400" dirty="0"/>
              <a:t>是</a:t>
            </a:r>
            <a:r>
              <a:rPr lang="en-US" altLang="zh-CN" sz="2400" dirty="0"/>
              <a:t>Intel Pentinum IV2. 4GHz ,</a:t>
            </a:r>
            <a:r>
              <a:rPr lang="zh-CN" altLang="en-US" sz="2400" dirty="0"/>
              <a:t>内存</a:t>
            </a:r>
            <a:r>
              <a:rPr lang="en-US" altLang="zh-CN" sz="2400" dirty="0"/>
              <a:t>512M , </a:t>
            </a:r>
            <a:r>
              <a:rPr lang="zh-CN" altLang="en-US" sz="2400" dirty="0"/>
              <a:t>硬盘</a:t>
            </a:r>
            <a:r>
              <a:rPr lang="en-US" altLang="zh-CN" sz="2400" dirty="0"/>
              <a:t>80G, </a:t>
            </a:r>
            <a:r>
              <a:rPr lang="zh-CN" altLang="en-US" sz="2400" dirty="0"/>
              <a:t>操作系统</a:t>
            </a:r>
            <a:r>
              <a:rPr lang="en-US" altLang="zh-CN" sz="2400" dirty="0"/>
              <a:t>Windows 2000 Server ,</a:t>
            </a:r>
            <a:r>
              <a:rPr lang="zh-CN" altLang="en-US" sz="2400" dirty="0"/>
              <a:t>算法实现环境是</a:t>
            </a:r>
            <a:r>
              <a:rPr lang="en-US" altLang="zh-CN" sz="2400" dirty="0"/>
              <a:t>Visual C+ + 6. 0 </a:t>
            </a:r>
            <a:r>
              <a:rPr lang="zh-CN" altLang="en-US" sz="2400" dirty="0"/>
              <a:t>。</a:t>
            </a:r>
          </a:p>
          <a:p>
            <a:pPr eaLnBrk="1" hangingPunct="1">
              <a:lnSpc>
                <a:spcPct val="120000"/>
              </a:lnSpc>
              <a:buNone/>
            </a:pPr>
            <a:r>
              <a:rPr lang="zh-CN" altLang="en-US" sz="2400" dirty="0"/>
              <a:t>		测试</a:t>
            </a:r>
            <a:r>
              <a:rPr lang="en-US" altLang="zh-CN" sz="2400" dirty="0"/>
              <a:t>Aho-Corasick </a:t>
            </a:r>
            <a:r>
              <a:rPr lang="zh-CN" altLang="en-US" sz="2400" dirty="0"/>
              <a:t>和</a:t>
            </a:r>
            <a:r>
              <a:rPr lang="en-US" altLang="zh-CN" sz="2400" dirty="0"/>
              <a:t>Wu-Manber </a:t>
            </a:r>
            <a:r>
              <a:rPr lang="zh-CN" altLang="en-US" sz="2400" dirty="0"/>
              <a:t>两种算法</a:t>
            </a:r>
            <a:r>
              <a:rPr lang="en-US" altLang="zh-CN" sz="2400" dirty="0"/>
              <a:t>,</a:t>
            </a:r>
            <a:r>
              <a:rPr lang="zh-CN" altLang="en-US" sz="2400" dirty="0"/>
              <a:t>所使用的中文语料长度为</a:t>
            </a:r>
            <a:r>
              <a:rPr lang="en-US" altLang="zh-CN" sz="2400" dirty="0"/>
              <a:t>5 ,797 ,998 </a:t>
            </a:r>
            <a:r>
              <a:rPr lang="zh-CN" altLang="en-US" sz="2400" dirty="0"/>
              <a:t>字节</a:t>
            </a:r>
            <a:r>
              <a:rPr lang="en-US" altLang="zh-CN" sz="2400" dirty="0"/>
              <a:t>;</a:t>
            </a:r>
            <a:r>
              <a:rPr lang="zh-CN" altLang="en-US" sz="2400" dirty="0"/>
              <a:t>英文语料长度为</a:t>
            </a:r>
            <a:r>
              <a:rPr lang="en-US" altLang="zh-CN" sz="2400" dirty="0"/>
              <a:t>4 ,296 ,532 </a:t>
            </a:r>
            <a:r>
              <a:rPr lang="zh-CN" altLang="en-US" sz="2400" dirty="0"/>
              <a:t>字节。</a:t>
            </a:r>
          </a:p>
        </p:txBody>
      </p:sp>
    </p:spTree>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119</a:t>
            </a:fld>
            <a:endParaRPr lang="en-US" altLang="zh-CN" sz="1400" dirty="0"/>
          </a:p>
        </p:txBody>
      </p:sp>
      <p:sp>
        <p:nvSpPr>
          <p:cNvPr id="393218" name="Rectangle 2"/>
          <p:cNvSpPr>
            <a:spLocks noGrp="1" noRot="1" noChangeArrowheads="1"/>
          </p:cNvSpPr>
          <p:nvPr>
            <p:ph type="title"/>
          </p:nvPr>
        </p:nvSpPr>
        <p:spPr>
          <a:xfrm>
            <a:off x="1202690" y="-17780"/>
            <a:ext cx="7886700" cy="1325563"/>
          </a:xfrm>
        </p:spPr>
        <p:txBody>
          <a:bodyPr vert="horz" wrap="square" lIns="91440" tIns="45720" rIns="91440" bIns="45720" numCol="1" anchor="ctr" anchorCtr="0" compatLnSpc="1"/>
          <a:lstStyle/>
          <a:p>
            <a:pPr eaLnBrk="1" hangingPunct="1"/>
            <a:r>
              <a:rPr lang="en-US" altLang="zh-CN" dirty="0">
                <a:effectLst>
                  <a:outerShdw blurRad="38100" dist="38100" dir="2700000">
                    <a:srgbClr val="000000"/>
                  </a:outerShdw>
                </a:effectLst>
              </a:rPr>
              <a:t>AC</a:t>
            </a:r>
            <a:r>
              <a:rPr lang="zh-CN" altLang="en-US" dirty="0">
                <a:effectLst>
                  <a:outerShdw blurRad="38100" dist="38100" dir="2700000">
                    <a:srgbClr val="000000"/>
                  </a:outerShdw>
                </a:effectLst>
              </a:rPr>
              <a:t>算法与</a:t>
            </a:r>
            <a:r>
              <a:rPr lang="en-US" altLang="zh-CN" dirty="0">
                <a:effectLst>
                  <a:outerShdw blurRad="38100" dist="38100" dir="2700000">
                    <a:srgbClr val="000000"/>
                  </a:outerShdw>
                </a:effectLst>
              </a:rPr>
              <a:t>Wu-Manber</a:t>
            </a:r>
            <a:r>
              <a:rPr lang="zh-CN" altLang="en-US" dirty="0">
                <a:effectLst>
                  <a:outerShdw blurRad="38100" dist="38100" dir="2700000">
                    <a:srgbClr val="000000"/>
                  </a:outerShdw>
                </a:effectLst>
              </a:rPr>
              <a:t>算法比较</a:t>
            </a:r>
          </a:p>
        </p:txBody>
      </p:sp>
      <p:sp>
        <p:nvSpPr>
          <p:cNvPr id="231427" name="Rectangle 3"/>
          <p:cNvSpPr>
            <a:spLocks noGrp="1" noRot="1"/>
          </p:cNvSpPr>
          <p:nvPr>
            <p:ph idx="1"/>
          </p:nvPr>
        </p:nvSpPr>
        <p:spPr/>
        <p:txBody>
          <a:bodyPr vert="horz" wrap="square" lIns="91440" tIns="45720" rIns="91440" bIns="45720" anchor="t"/>
          <a:lstStyle/>
          <a:p>
            <a:pPr eaLnBrk="1" hangingPunct="1">
              <a:lnSpc>
                <a:spcPct val="120000"/>
              </a:lnSpc>
              <a:buNone/>
            </a:pPr>
            <a:r>
              <a:rPr lang="en-US" altLang="zh-CN" sz="2400" dirty="0"/>
              <a:t>(2) </a:t>
            </a:r>
            <a:r>
              <a:rPr lang="zh-CN" altLang="en-US" sz="2400" dirty="0"/>
              <a:t>模式串个数对算法性能的影响</a:t>
            </a:r>
          </a:p>
          <a:p>
            <a:pPr eaLnBrk="1" hangingPunct="1">
              <a:lnSpc>
                <a:spcPct val="120000"/>
              </a:lnSpc>
              <a:buNone/>
            </a:pPr>
            <a:r>
              <a:rPr lang="zh-CN" altLang="en-US" sz="2400" dirty="0"/>
              <a:t>		使用英文语料作为测试文本</a:t>
            </a:r>
            <a:r>
              <a:rPr lang="en-US" altLang="zh-CN" sz="2400" dirty="0"/>
              <a:t>,</a:t>
            </a:r>
            <a:r>
              <a:rPr lang="zh-CN" altLang="en-US" sz="2400" dirty="0"/>
              <a:t>测试当模式串个数分别为</a:t>
            </a:r>
            <a:r>
              <a:rPr lang="en-US" altLang="zh-CN" sz="2400" dirty="0"/>
              <a:t>1 ,100 ,500 ,1000 ,5000 </a:t>
            </a:r>
            <a:r>
              <a:rPr lang="zh-CN" altLang="en-US" sz="2400" dirty="0"/>
              <a:t>时的算法性能。测试结果如表</a:t>
            </a:r>
            <a:r>
              <a:rPr lang="en-US" altLang="zh-CN" sz="2400" dirty="0"/>
              <a:t>1 </a:t>
            </a:r>
            <a:r>
              <a:rPr lang="zh-CN" altLang="en-US" sz="2400" dirty="0"/>
              <a:t>所示。</a:t>
            </a:r>
            <a:endParaRPr lang="zh-CN" altLang="en-US" dirty="0"/>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33473"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120</a:t>
            </a:fld>
            <a:endParaRPr lang="en-US" altLang="zh-CN" sz="1400" dirty="0"/>
          </a:p>
        </p:txBody>
      </p:sp>
      <p:pic>
        <p:nvPicPr>
          <p:cNvPr id="233474" name="Picture 4"/>
          <p:cNvPicPr>
            <a:picLocks noChangeAspect="1"/>
          </p:cNvPicPr>
          <p:nvPr/>
        </p:nvPicPr>
        <p:blipFill>
          <a:blip r:embed="rId3"/>
          <a:stretch>
            <a:fillRect/>
          </a:stretch>
        </p:blipFill>
        <p:spPr>
          <a:xfrm>
            <a:off x="971550" y="765175"/>
            <a:ext cx="7056438" cy="2944813"/>
          </a:xfrm>
          <a:prstGeom prst="rect">
            <a:avLst/>
          </a:prstGeom>
          <a:noFill/>
          <a:ln w="9525">
            <a:noFill/>
          </a:ln>
        </p:spPr>
      </p:pic>
      <p:sp>
        <p:nvSpPr>
          <p:cNvPr id="233475" name="Text Box 5"/>
          <p:cNvSpPr txBox="1"/>
          <p:nvPr/>
        </p:nvSpPr>
        <p:spPr>
          <a:xfrm>
            <a:off x="539750" y="3789363"/>
            <a:ext cx="8064500" cy="2720975"/>
          </a:xfrm>
          <a:prstGeom prst="rect">
            <a:avLst/>
          </a:prstGeom>
          <a:noFill/>
          <a:ln w="9525">
            <a:noFill/>
          </a:ln>
        </p:spPr>
        <p:txBody>
          <a:bodyPr>
            <a:spAutoFit/>
          </a:bodyPr>
          <a:lstStyle/>
          <a:p>
            <a:pPr>
              <a:lnSpc>
                <a:spcPct val="120000"/>
              </a:lnSpc>
              <a:spcBef>
                <a:spcPct val="0"/>
              </a:spcBef>
              <a:buClrTx/>
            </a:pPr>
            <a:r>
              <a:rPr lang="en-US" altLang="zh-CN" b="1" dirty="0">
                <a:solidFill>
                  <a:srgbClr val="030301"/>
                </a:solidFill>
                <a:latin typeface="Arial" panose="020B0604020202020204" pitchFamily="34" charset="0"/>
              </a:rPr>
              <a:t>       </a:t>
            </a:r>
            <a:r>
              <a:rPr lang="zh-CN" altLang="en-US" b="1" dirty="0">
                <a:solidFill>
                  <a:srgbClr val="030301"/>
                </a:solidFill>
                <a:latin typeface="Arial" panose="020B0604020202020204" pitchFamily="34" charset="0"/>
              </a:rPr>
              <a:t>从表</a:t>
            </a:r>
            <a:r>
              <a:rPr lang="en-US" altLang="zh-CN" b="1" dirty="0">
                <a:solidFill>
                  <a:srgbClr val="030301"/>
                </a:solidFill>
                <a:latin typeface="Arial" panose="020B0604020202020204" pitchFamily="34" charset="0"/>
              </a:rPr>
              <a:t>1 </a:t>
            </a:r>
            <a:r>
              <a:rPr lang="zh-CN" altLang="en-US" b="1" dirty="0">
                <a:solidFill>
                  <a:srgbClr val="030301"/>
                </a:solidFill>
                <a:latin typeface="Arial" panose="020B0604020202020204" pitchFamily="34" charset="0"/>
              </a:rPr>
              <a:t>可以看出</a:t>
            </a:r>
            <a:r>
              <a:rPr lang="en-US" altLang="zh-CN" b="1" dirty="0">
                <a:solidFill>
                  <a:srgbClr val="030301"/>
                </a:solidFill>
                <a:latin typeface="Arial" panose="020B0604020202020204" pitchFamily="34" charset="0"/>
              </a:rPr>
              <a:t>,Wu-Manber </a:t>
            </a:r>
            <a:r>
              <a:rPr lang="zh-CN" altLang="en-US" b="1" dirty="0">
                <a:solidFill>
                  <a:srgbClr val="030301"/>
                </a:solidFill>
                <a:latin typeface="Arial" panose="020B0604020202020204" pitchFamily="34" charset="0"/>
              </a:rPr>
              <a:t>算法的匹配速度明显要快于</a:t>
            </a:r>
            <a:r>
              <a:rPr lang="en-US" altLang="zh-CN" b="1" dirty="0">
                <a:solidFill>
                  <a:srgbClr val="030301"/>
                </a:solidFill>
                <a:latin typeface="Arial" panose="020B0604020202020204" pitchFamily="34" charset="0"/>
              </a:rPr>
              <a:t>Aho-Corasick </a:t>
            </a:r>
            <a:r>
              <a:rPr lang="zh-CN" altLang="en-US" b="1" dirty="0">
                <a:solidFill>
                  <a:srgbClr val="030301"/>
                </a:solidFill>
                <a:latin typeface="Arial" panose="020B0604020202020204" pitchFamily="34" charset="0"/>
              </a:rPr>
              <a:t>算法</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最好情况下快了将近</a:t>
            </a:r>
            <a:r>
              <a:rPr lang="en-US" altLang="zh-CN" b="1" dirty="0">
                <a:solidFill>
                  <a:srgbClr val="030301"/>
                </a:solidFill>
                <a:latin typeface="Arial" panose="020B0604020202020204" pitchFamily="34" charset="0"/>
              </a:rPr>
              <a:t>40 </a:t>
            </a:r>
            <a:r>
              <a:rPr lang="zh-CN" altLang="en-US" b="1" dirty="0">
                <a:solidFill>
                  <a:srgbClr val="030301"/>
                </a:solidFill>
                <a:latin typeface="Arial" panose="020B0604020202020204" pitchFamily="34" charset="0"/>
              </a:rPr>
              <a:t>倍左右。对于</a:t>
            </a:r>
            <a:r>
              <a:rPr lang="en-US" altLang="zh-CN" b="1" dirty="0">
                <a:solidFill>
                  <a:srgbClr val="030301"/>
                </a:solidFill>
                <a:latin typeface="Arial" panose="020B0604020202020204" pitchFamily="34" charset="0"/>
              </a:rPr>
              <a:t>Wu-Manber </a:t>
            </a:r>
            <a:r>
              <a:rPr lang="zh-CN" altLang="en-US" b="1" dirty="0">
                <a:solidFill>
                  <a:srgbClr val="030301"/>
                </a:solidFill>
                <a:latin typeface="Arial" panose="020B0604020202020204" pitchFamily="34" charset="0"/>
              </a:rPr>
              <a:t>算法</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当模式串增加到</a:t>
            </a:r>
            <a:r>
              <a:rPr lang="en-US" altLang="zh-CN" b="1" dirty="0">
                <a:solidFill>
                  <a:srgbClr val="030301"/>
                </a:solidFill>
                <a:latin typeface="Arial" panose="020B0604020202020204" pitchFamily="34" charset="0"/>
              </a:rPr>
              <a:t>5000 </a:t>
            </a:r>
            <a:r>
              <a:rPr lang="zh-CN" altLang="en-US" b="1" dirty="0">
                <a:solidFill>
                  <a:srgbClr val="030301"/>
                </a:solidFill>
                <a:latin typeface="Arial" panose="020B0604020202020204" pitchFamily="34" charset="0"/>
              </a:rPr>
              <a:t>个时</a:t>
            </a:r>
            <a:r>
              <a:rPr lang="en-US" altLang="zh-CN" b="1" dirty="0">
                <a:solidFill>
                  <a:srgbClr val="030301"/>
                </a:solidFill>
                <a:latin typeface="Arial" panose="020B0604020202020204" pitchFamily="34" charset="0"/>
              </a:rPr>
              <a:t>,hash </a:t>
            </a:r>
            <a:r>
              <a:rPr lang="zh-CN" altLang="en-US" b="1" dirty="0">
                <a:solidFill>
                  <a:srgbClr val="030301"/>
                </a:solidFill>
                <a:latin typeface="Arial" panose="020B0604020202020204" pitchFamily="34" charset="0"/>
              </a:rPr>
              <a:t>值相同的模式串个数大量增加</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导致进入前缀匹配的模式串的数目增加</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最终进入完全匹配的模式串数目增加</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因此匹配时间急剧上升。</a:t>
            </a:r>
            <a:endParaRPr lang="zh-CN" altLang="en-US" sz="1800" dirty="0">
              <a:latin typeface="Arial" panose="020B0604020202020204" pitchFamily="34" charset="0"/>
            </a:endParaRP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121</a:t>
            </a:fld>
            <a:endParaRPr lang="en-US" altLang="zh-CN" sz="1400" dirty="0"/>
          </a:p>
        </p:txBody>
      </p:sp>
      <p:sp>
        <p:nvSpPr>
          <p:cNvPr id="395266" name="Rectangle 2"/>
          <p:cNvSpPr>
            <a:spLocks noGrp="1" noRot="1" noChangeArrowheads="1"/>
          </p:cNvSpPr>
          <p:nvPr>
            <p:ph type="title"/>
          </p:nvPr>
        </p:nvSpPr>
        <p:spPr>
          <a:xfrm>
            <a:off x="628650" y="53975"/>
            <a:ext cx="7886700" cy="1325563"/>
          </a:xfrm>
        </p:spPr>
        <p:txBody>
          <a:bodyPr vert="horz" wrap="square" lIns="91440" tIns="45720" rIns="91440" bIns="45720" numCol="1" anchor="ctr" anchorCtr="0" compatLnSpc="1"/>
          <a:lstStyle/>
          <a:p>
            <a:pPr algn="ctr" eaLnBrk="1" hangingPunct="1"/>
            <a:r>
              <a:rPr lang="en-US" altLang="zh-CN" dirty="0">
                <a:effectLst>
                  <a:outerShdw blurRad="38100" dist="38100" dir="2700000">
                    <a:srgbClr val="000000"/>
                  </a:outerShdw>
                </a:effectLst>
              </a:rPr>
              <a:t>AC</a:t>
            </a:r>
            <a:r>
              <a:rPr lang="zh-CN" altLang="en-US" dirty="0">
                <a:effectLst>
                  <a:outerShdw blurRad="38100" dist="38100" dir="2700000">
                    <a:srgbClr val="000000"/>
                  </a:outerShdw>
                </a:effectLst>
              </a:rPr>
              <a:t>算法与</a:t>
            </a:r>
            <a:r>
              <a:rPr lang="en-US" altLang="zh-CN" dirty="0">
                <a:effectLst>
                  <a:outerShdw blurRad="38100" dist="38100" dir="2700000">
                    <a:srgbClr val="000000"/>
                  </a:outerShdw>
                </a:effectLst>
              </a:rPr>
              <a:t>Wu-Manber</a:t>
            </a:r>
            <a:r>
              <a:rPr lang="zh-CN" altLang="en-US" dirty="0">
                <a:effectLst>
                  <a:outerShdw blurRad="38100" dist="38100" dir="2700000">
                    <a:srgbClr val="000000"/>
                  </a:outerShdw>
                </a:effectLst>
              </a:rPr>
              <a:t>算法比较</a:t>
            </a:r>
          </a:p>
        </p:txBody>
      </p:sp>
      <p:sp>
        <p:nvSpPr>
          <p:cNvPr id="235523" name="Rectangle 3"/>
          <p:cNvSpPr>
            <a:spLocks noGrp="1" noRot="1"/>
          </p:cNvSpPr>
          <p:nvPr>
            <p:ph idx="1"/>
          </p:nvPr>
        </p:nvSpPr>
        <p:spPr/>
        <p:txBody>
          <a:bodyPr vert="horz" wrap="square" lIns="91440" tIns="45720" rIns="91440" bIns="45720" anchor="t"/>
          <a:lstStyle/>
          <a:p>
            <a:pPr eaLnBrk="1" hangingPunct="1">
              <a:lnSpc>
                <a:spcPct val="120000"/>
              </a:lnSpc>
              <a:buNone/>
            </a:pPr>
            <a:r>
              <a:rPr lang="en-US" altLang="zh-CN" sz="2400" dirty="0"/>
              <a:t>(3) </a:t>
            </a:r>
            <a:r>
              <a:rPr lang="zh-CN" altLang="en-US" sz="2400" dirty="0"/>
              <a:t>模式串长度对算法性能的影响</a:t>
            </a:r>
          </a:p>
          <a:p>
            <a:pPr eaLnBrk="1" hangingPunct="1">
              <a:lnSpc>
                <a:spcPct val="120000"/>
              </a:lnSpc>
              <a:buNone/>
            </a:pPr>
            <a:r>
              <a:rPr lang="zh-CN" altLang="en-US" sz="2400" dirty="0"/>
              <a:t>		使用中文语料作为测试文本</a:t>
            </a:r>
            <a:r>
              <a:rPr lang="en-US" altLang="zh-CN" sz="2400" dirty="0"/>
              <a:t>,</a:t>
            </a:r>
            <a:r>
              <a:rPr lang="zh-CN" altLang="en-US" sz="2400" dirty="0"/>
              <a:t>测试当模式串个数为</a:t>
            </a:r>
            <a:r>
              <a:rPr lang="en-US" altLang="zh-CN" sz="2400" dirty="0"/>
              <a:t>10 ,</a:t>
            </a:r>
            <a:r>
              <a:rPr lang="zh-CN" altLang="en-US" sz="2400" dirty="0"/>
              <a:t>模式串长度分别为</a:t>
            </a:r>
            <a:r>
              <a:rPr lang="en-US" altLang="zh-CN" sz="2400" dirty="0"/>
              <a:t>1 ,10 ,100 ,500 </a:t>
            </a:r>
            <a:r>
              <a:rPr lang="zh-CN" altLang="en-US" sz="2400" dirty="0"/>
              <a:t>个汉字时的算法性能。测试结果如表</a:t>
            </a:r>
            <a:r>
              <a:rPr lang="en-US" altLang="zh-CN" sz="2400" dirty="0"/>
              <a:t>2 </a:t>
            </a:r>
            <a:r>
              <a:rPr lang="zh-CN" altLang="en-US" sz="2400" dirty="0"/>
              <a:t>所示。</a:t>
            </a:r>
          </a:p>
          <a:p>
            <a:pPr eaLnBrk="1" hangingPunct="1"/>
            <a:endParaRPr lang="en-US" altLang="zh-CN" sz="2400" dirty="0"/>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237569" name="灯片编号占位符 3"/>
          <p:cNvSpPr txBox="1">
            <a:spLocks noGrp="1"/>
          </p:cNvSpPr>
          <p:nvPr>
            <p:ph type="sldNum" sz="quarter" idx="12"/>
          </p:nvPr>
        </p:nvSpPr>
        <p:spPr/>
        <p:txBody>
          <a:bodyPr/>
          <a:lstStyle>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Bef>
                <a:spcPct val="0"/>
              </a:spcBef>
              <a:buClrTx/>
            </a:pPr>
            <a:fld id="{9A0DB2DC-4C9A-4742-B13C-FB6460FD3503}" type="slidenum">
              <a:rPr lang="en-US" altLang="zh-CN" sz="1400" dirty="0"/>
              <a:t>122</a:t>
            </a:fld>
            <a:endParaRPr lang="en-US" altLang="zh-CN" sz="1400" dirty="0"/>
          </a:p>
        </p:txBody>
      </p:sp>
      <p:pic>
        <p:nvPicPr>
          <p:cNvPr id="237570" name="Picture 4"/>
          <p:cNvPicPr>
            <a:picLocks noChangeAspect="1"/>
          </p:cNvPicPr>
          <p:nvPr/>
        </p:nvPicPr>
        <p:blipFill>
          <a:blip r:embed="rId3"/>
          <a:stretch>
            <a:fillRect/>
          </a:stretch>
        </p:blipFill>
        <p:spPr>
          <a:xfrm>
            <a:off x="1294606" y="1125537"/>
            <a:ext cx="6697663" cy="3024188"/>
          </a:xfrm>
          <a:prstGeom prst="rect">
            <a:avLst/>
          </a:prstGeom>
          <a:noFill/>
          <a:ln w="9525">
            <a:noFill/>
          </a:ln>
        </p:spPr>
      </p:pic>
      <p:sp>
        <p:nvSpPr>
          <p:cNvPr id="237571" name="Text Box 5"/>
          <p:cNvSpPr txBox="1"/>
          <p:nvPr/>
        </p:nvSpPr>
        <p:spPr>
          <a:xfrm>
            <a:off x="611188" y="4149725"/>
            <a:ext cx="8064500" cy="1954213"/>
          </a:xfrm>
          <a:prstGeom prst="rect">
            <a:avLst/>
          </a:prstGeom>
          <a:noFill/>
          <a:ln w="9525">
            <a:noFill/>
          </a:ln>
        </p:spPr>
        <p:txBody>
          <a:bodyPr>
            <a:spAutoFit/>
          </a:bodyPr>
          <a:lstStyle/>
          <a:p>
            <a:pPr>
              <a:lnSpc>
                <a:spcPct val="120000"/>
              </a:lnSpc>
              <a:spcBef>
                <a:spcPct val="0"/>
              </a:spcBef>
              <a:buClrTx/>
            </a:pPr>
            <a:r>
              <a:rPr lang="en-US" altLang="zh-CN" sz="1800" dirty="0">
                <a:latin typeface="Arial" panose="020B0604020202020204" pitchFamily="34" charset="0"/>
              </a:rPr>
              <a:t>       </a:t>
            </a:r>
            <a:r>
              <a:rPr lang="zh-CN" altLang="en-US" b="1" dirty="0">
                <a:solidFill>
                  <a:srgbClr val="030301"/>
                </a:solidFill>
                <a:latin typeface="Arial" panose="020B0604020202020204" pitchFamily="34" charset="0"/>
              </a:rPr>
              <a:t>从表</a:t>
            </a:r>
            <a:r>
              <a:rPr lang="en-US" altLang="zh-CN" b="1" dirty="0">
                <a:solidFill>
                  <a:srgbClr val="030301"/>
                </a:solidFill>
                <a:latin typeface="Arial" panose="020B0604020202020204" pitchFamily="34" charset="0"/>
              </a:rPr>
              <a:t>2 </a:t>
            </a:r>
            <a:r>
              <a:rPr lang="zh-CN" altLang="en-US" b="1" dirty="0">
                <a:solidFill>
                  <a:srgbClr val="030301"/>
                </a:solidFill>
                <a:latin typeface="Arial" panose="020B0604020202020204" pitchFamily="34" charset="0"/>
              </a:rPr>
              <a:t>可以看出</a:t>
            </a:r>
            <a:r>
              <a:rPr lang="en-US" altLang="zh-CN" b="1" dirty="0">
                <a:solidFill>
                  <a:srgbClr val="030301"/>
                </a:solidFill>
                <a:latin typeface="Arial" panose="020B0604020202020204" pitchFamily="34" charset="0"/>
              </a:rPr>
              <a:t>,Wu-Manber </a:t>
            </a:r>
            <a:r>
              <a:rPr lang="zh-CN" altLang="en-US" b="1" dirty="0">
                <a:solidFill>
                  <a:srgbClr val="030301"/>
                </a:solidFill>
                <a:latin typeface="Arial" panose="020B0604020202020204" pitchFamily="34" charset="0"/>
              </a:rPr>
              <a:t>算法不仅匹配速度快</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而且匹配时间不随模式串长度的增加而有明显的增长</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性能很稳定。一般情况下</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模式串长度越大</a:t>
            </a:r>
            <a:r>
              <a:rPr lang="en-US" altLang="zh-CN" b="1" dirty="0">
                <a:solidFill>
                  <a:srgbClr val="030301"/>
                </a:solidFill>
                <a:latin typeface="Arial" panose="020B0604020202020204" pitchFamily="34" charset="0"/>
              </a:rPr>
              <a:t>,</a:t>
            </a:r>
            <a:r>
              <a:rPr lang="zh-CN" altLang="en-US" b="1" dirty="0">
                <a:solidFill>
                  <a:srgbClr val="030301"/>
                </a:solidFill>
                <a:latin typeface="Arial" panose="020B0604020202020204" pitchFamily="34" charset="0"/>
              </a:rPr>
              <a:t>算法的匹配速度越快。</a:t>
            </a:r>
          </a:p>
          <a:p>
            <a:pPr>
              <a:buClrTx/>
            </a:pPr>
            <a:endParaRPr lang="en-US" altLang="zh-CN" b="1" dirty="0">
              <a:solidFill>
                <a:srgbClr val="030301"/>
              </a:solidFill>
              <a:latin typeface="Arial" panose="020B0604020202020204" pitchFamily="34" charset="0"/>
            </a:endParaRP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串匹配算法并行化</a:t>
            </a:r>
          </a:p>
        </p:txBody>
      </p:sp>
      <p:sp>
        <p:nvSpPr>
          <p:cNvPr id="3" name="内容占位符 2"/>
          <p:cNvSpPr>
            <a:spLocks noGrp="1"/>
          </p:cNvSpPr>
          <p:nvPr>
            <p:ph idx="1"/>
          </p:nvPr>
        </p:nvSpPr>
        <p:spPr/>
        <p:txBody>
          <a:bodyPr/>
          <a:lstStyle/>
          <a:p>
            <a:endParaRPr lang="zh-CN" altLang="en-US" sz="2800"/>
          </a:p>
          <a:p>
            <a:pPr lvl="1">
              <a:lnSpc>
                <a:spcPct val="130000"/>
              </a:lnSpc>
            </a:pPr>
            <a:r>
              <a:rPr lang="zh-CN" altLang="en-US" sz="2400"/>
              <a:t>任务并行：程序不同，正文数据相同（不同的匹配算法，不同的模式集）</a:t>
            </a:r>
          </a:p>
          <a:p>
            <a:pPr lvl="1">
              <a:lnSpc>
                <a:spcPct val="130000"/>
              </a:lnSpc>
            </a:pPr>
            <a:r>
              <a:rPr lang="zh-CN" altLang="en-US" sz="2400"/>
              <a:t>数据并行：程序相同，正文数据不同（正文数据分块、模式集分块）</a:t>
            </a:r>
          </a:p>
          <a:p>
            <a:pPr lvl="1">
              <a:lnSpc>
                <a:spcPct val="130000"/>
              </a:lnSpc>
            </a:pPr>
            <a:r>
              <a:rPr lang="zh-CN" altLang="en-US" sz="2400"/>
              <a:t>基于硬件的向量指令集的并行化</a:t>
            </a:r>
          </a:p>
          <a:p>
            <a:pPr lvl="1">
              <a:lnSpc>
                <a:spcPct val="130000"/>
              </a:lnSpc>
            </a:pPr>
            <a:r>
              <a:rPr lang="zh-CN" altLang="en-US" sz="2400"/>
              <a:t>基于</a:t>
            </a:r>
            <a:r>
              <a:rPr lang="en-US" altLang="zh-CN" sz="2400"/>
              <a:t>FPGA</a:t>
            </a:r>
            <a:r>
              <a:rPr lang="zh-CN" altLang="en-US" sz="2400"/>
              <a:t>的并行化</a:t>
            </a:r>
          </a:p>
          <a:p>
            <a:pPr lvl="1">
              <a:lnSpc>
                <a:spcPct val="130000"/>
              </a:lnSpc>
            </a:pPr>
            <a:r>
              <a:rPr lang="zh-CN" altLang="en-US" sz="2400"/>
              <a:t>基于</a:t>
            </a:r>
            <a:r>
              <a:rPr lang="en-US" altLang="zh-CN" sz="2400"/>
              <a:t>GPU</a:t>
            </a:r>
            <a:r>
              <a:rPr lang="zh-CN" altLang="en-US" sz="2400"/>
              <a:t>的并行化</a:t>
            </a:r>
          </a:p>
          <a:p>
            <a:pPr lvl="1">
              <a:lnSpc>
                <a:spcPct val="130000"/>
              </a:lnSpc>
            </a:pPr>
            <a:endParaRPr lang="zh-CN" altLang="en-US" sz="2400"/>
          </a:p>
          <a:p>
            <a:pPr lvl="1">
              <a:lnSpc>
                <a:spcPct val="130000"/>
              </a:lnSpc>
            </a:pPr>
            <a:endParaRPr lang="zh-CN" altLang="en-US" sz="2400"/>
          </a:p>
          <a:p>
            <a:pPr lvl="1">
              <a:lnSpc>
                <a:spcPct val="130000"/>
              </a:lnSpc>
            </a:pPr>
            <a:endParaRPr lang="zh-CN" altLang="en-US" sz="2400"/>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b6de6b0b-dfb0-4746-a7e6-87c6dfa71921}"/>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41b0db69-4762-4081-82ae-763523ef1d42}"/>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ac871e4b-f066-47ac-9623-134bd73d6371}"/>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ad6e2dc4-4ff9-48ea-9ce7-49a97f441f4b}"/>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699e6387-ee08-49a3-9c0b-135c24c93aa0}"/>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ad6e2dc4-4ff9-48ea-9ce7-49a97f441f4b}"/>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699e6387-ee08-49a3-9c0b-135c24c93aa0}"/>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ce748d62-815b-4198-bc6d-4ed0657c0a04}"/>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ad6e2dc4-4ff9-48ea-9ce7-49a97f441f4b}"/>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699e6387-ee08-49a3-9c0b-135c24c93aa0}"/>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ce748d62-815b-4198-bc6d-4ed0657c0a04}"/>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ce748d62-815b-4198-bc6d-4ed0657c0a04}"/>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ac871e4b-f066-47ac-9623-134bd73d6371}"/>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cc3950e4-3c69-4fa3-9acb-eb92b60e1a1c}"/>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d42677b2-91b0-43d0-ac6e-91f44900c036}"/>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7bd9bbff-5f01-431e-b335-6a2cc4e8d74d}"/>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7bd9bbff-5f01-431e-b335-6a2cc4e8d74d}"/>
  <p:tag name="TABLE_ENDDRAG_ORIGIN_RECT" val="515*103"/>
  <p:tag name="TABLE_ENDDRAG_RECT" val="80*5*515*103"/>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5343b1d2-9426-46e5-96ce-4d1e9ce37609}"/>
  <p:tag name="TABLE_ENDDRAG_ORIGIN_RECT" val="699*80"/>
  <p:tag name="TABLE_ENDDRAG_RECT" val="11*462*699*80"/>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de95eb5d-8abc-4e75-a41e-893c63309782}"/>
  <p:tag name="TABLE_ENDDRAG_ORIGIN_RECT" val="636*72"/>
  <p:tag name="TABLE_ENDDRAG_RECT" val="41*223*636*72"/>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ed2a6aff-9897-45f2-b413-df6dc35a8d83}"/>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8febf655-3e3f-4fc0-b757-15f188bd44ee}"/>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2f4ee3aa-3377-4da6-911a-54f2602b65b3}"/>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57af0046-4faf-4548-8828-000b6af9136a}"/>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d7bb4db0-1b89-4ff5-bf50-e179140f42e0}"/>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41a2ad17-742e-4d8d-a95d-eecaa73108f5}"/>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dce08a76-be44-490a-a2aa-0f1b89fbccb2}"/>
</p:tagLst>
</file>

<file path=ppt/tags/tag2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221,&quot;width&quot;:14017}"/>
</p:tagLst>
</file>

<file path=ppt/tags/tag2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221,&quot;width&quot;:14017}"/>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ea951d60-2d40-4408-a767-4fa71c295549}"/>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45958f30-b5a3-4ace-9f5d-d042417a3bab}"/>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7a3f48f9-1301-4363-82e3-e11170e7d6c4}"/>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9cac8da4-1f1c-4d4b-b970-710084b71ce6}"/>
  <p:tag name="TABLE_ENDDRAG_ORIGIN_RECT" val="158*533"/>
  <p:tag name="TABLE_ENDDRAG_RECT" val="2*3*158*530"/>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信息内容安全技术</Template>
  <TotalTime>1657</TotalTime>
  <Words>13285</Words>
  <Application>Microsoft Office PowerPoint</Application>
  <PresentationFormat>全屏显示(4:3)</PresentationFormat>
  <Paragraphs>3366</Paragraphs>
  <Slides>123</Slides>
  <Notes>104</Notes>
  <HiddenSlides>3</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123</vt:i4>
      </vt:variant>
    </vt:vector>
  </HeadingPairs>
  <TitlesOfParts>
    <vt:vector size="133" baseType="lpstr">
      <vt:lpstr>Arial Unicode MS</vt:lpstr>
      <vt:lpstr>楷体_GB2312</vt:lpstr>
      <vt:lpstr>宋体</vt:lpstr>
      <vt:lpstr>Arial</vt:lpstr>
      <vt:lpstr>Franklin Gothic Medium</vt:lpstr>
      <vt:lpstr>Times New Roman</vt:lpstr>
      <vt:lpstr>Wingdings</vt:lpstr>
      <vt:lpstr>1_Office 主题</vt:lpstr>
      <vt:lpstr>Equation.3</vt:lpstr>
      <vt:lpstr>Microsoft Word Picture</vt:lpstr>
      <vt:lpstr>PowerPoint 演示文稿</vt:lpstr>
      <vt:lpstr>PowerPoint 演示文稿</vt:lpstr>
      <vt:lpstr>PowerPoint 演示文稿</vt:lpstr>
      <vt:lpstr>PowerPoint 演示文稿</vt:lpstr>
      <vt:lpstr>PowerPoint 演示文稿</vt:lpstr>
      <vt:lpstr>模式匹配的分类 </vt:lpstr>
      <vt:lpstr>PowerPoint 演示文稿</vt:lpstr>
      <vt:lpstr>PowerPoint 演示文稿</vt:lpstr>
      <vt:lpstr>PowerPoint 演示文稿</vt:lpstr>
      <vt:lpstr>PowerPoint 演示文稿</vt:lpstr>
      <vt:lpstr>BF 算法</vt:lpstr>
      <vt:lpstr>举例：</vt:lpstr>
      <vt:lpstr>举例：</vt:lpstr>
      <vt:lpstr>PowerPoint 演示文稿</vt:lpstr>
      <vt:lpstr>PowerPoint 演示文稿</vt:lpstr>
      <vt:lpstr>PowerPoint 演示文稿</vt:lpstr>
      <vt:lpstr>PowerPoint 演示文稿</vt:lpstr>
      <vt:lpstr>PowerPoint 演示文稿</vt:lpstr>
      <vt:lpstr>PowerPoint 演示文稿</vt:lpstr>
      <vt:lpstr>KMP算法</vt:lpstr>
      <vt:lpstr>PowerPoint 演示文稿</vt:lpstr>
      <vt:lpstr>PowerPoint 演示文稿</vt:lpstr>
      <vt:lpstr>KMP算法</vt:lpstr>
      <vt:lpstr>举例：</vt:lpstr>
      <vt:lpstr>KMP算法</vt:lpstr>
      <vt:lpstr>KMP算法</vt:lpstr>
      <vt:lpstr>KMP算法</vt:lpstr>
      <vt:lpstr>KMP算法的优化：首字母的Next[i]赋值为-1</vt:lpstr>
      <vt:lpstr>PowerPoint 演示文稿</vt:lpstr>
      <vt:lpstr>PowerPoint 演示文稿</vt:lpstr>
      <vt:lpstr>PowerPoint 演示文稿</vt:lpstr>
      <vt:lpstr>PowerPoint 演示文稿</vt:lpstr>
      <vt:lpstr>PowerPoint 演示文稿</vt:lpstr>
      <vt:lpstr>PowerPoint 演示文稿</vt:lpstr>
      <vt:lpstr>KMP算法的优化：首字母的Next[i]赋值为-1</vt:lpstr>
      <vt:lpstr>作业</vt:lpstr>
      <vt:lpstr>KMP算法</vt:lpstr>
      <vt:lpstr>PowerPoint 演示文稿</vt:lpstr>
      <vt:lpstr>代码</vt:lpstr>
      <vt:lpstr>PowerPoint 演示文稿</vt:lpstr>
      <vt:lpstr>BM算法 </vt:lpstr>
      <vt:lpstr>PowerPoint 演示文稿</vt:lpstr>
      <vt:lpstr>BM算法 </vt:lpstr>
      <vt:lpstr>PowerPoint 演示文稿</vt:lpstr>
      <vt:lpstr>PowerPoint 演示文稿</vt:lpstr>
      <vt:lpstr>BM算法 </vt:lpstr>
      <vt:lpstr>PowerPoint 演示文稿</vt:lpstr>
      <vt:lpstr>BM算法 </vt:lpstr>
      <vt:lpstr>PowerPoint 演示文稿</vt:lpstr>
      <vt:lpstr>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多模式匹配算法</vt:lpstr>
      <vt:lpstr>AC算法----有限自动机的多模式匹配算法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Wu-Manber算法----快速的多模式匹配算法</vt:lpstr>
      <vt:lpstr>Wu-Manber算法----快速的多模式匹配算法</vt:lpstr>
      <vt:lpstr>Wu-Manber算法----快速的多模式匹配算法</vt:lpstr>
      <vt:lpstr>Wu-Manber算法----快速的多模式匹配算法</vt:lpstr>
      <vt:lpstr>PowerPoint 演示文稿</vt:lpstr>
      <vt:lpstr>PowerPoint 演示文稿</vt:lpstr>
      <vt:lpstr>Wu-Manber算法----快速的多模式匹配算法</vt:lpstr>
      <vt:lpstr>预处理过程</vt:lpstr>
      <vt:lpstr>PowerPoint 演示文稿</vt:lpstr>
      <vt:lpstr>SHIFT表</vt:lpstr>
      <vt:lpstr>SHIFT表</vt:lpstr>
      <vt:lpstr>SHIFT表</vt:lpstr>
      <vt:lpstr>HASH表 </vt:lpstr>
      <vt:lpstr>HASH表</vt:lpstr>
      <vt:lpstr>PREFIX表 </vt:lpstr>
      <vt:lpstr>PREFIX表</vt:lpstr>
      <vt:lpstr>PREFIX表</vt:lpstr>
      <vt:lpstr>Wu-Manber算法----快速的多模式匹配算法</vt:lpstr>
      <vt:lpstr>Wu-Manber算法----快速的多模式匹配算法</vt:lpstr>
      <vt:lpstr>PowerPoint 演示文稿</vt:lpstr>
      <vt:lpstr>PowerPoint 演示文稿</vt:lpstr>
      <vt:lpstr>PowerPoint 演示文稿</vt:lpstr>
      <vt:lpstr>PowerPoint 演示文稿</vt:lpstr>
      <vt:lpstr>PowerPoint 演示文稿</vt:lpstr>
      <vt:lpstr>PowerPoint 演示文稿</vt:lpstr>
      <vt:lpstr>AC算法与Wu-Manber算法比较</vt:lpstr>
      <vt:lpstr>AC算法与Wu-Manber算法比较</vt:lpstr>
      <vt:lpstr>PowerPoint 演示文稿</vt:lpstr>
      <vt:lpstr>AC算法与Wu-Manber算法比较</vt:lpstr>
      <vt:lpstr>PowerPoint 演示文稿</vt:lpstr>
      <vt:lpstr>串匹配算法并行化</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张冬艳</dc:creator>
  <cp:lastModifiedBy>Ziming Guo</cp:lastModifiedBy>
  <cp:revision>269</cp:revision>
  <dcterms:created xsi:type="dcterms:W3CDTF">2004-08-18T02:07:00Z</dcterms:created>
  <dcterms:modified xsi:type="dcterms:W3CDTF">2025-08-29T16:16:27Z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E466FADA31734D06A0B21D6389AF71EB</vt:lpwstr>
  </property>
</Properties>
</file>